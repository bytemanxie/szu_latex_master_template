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37fa7862e4501" /><Relationship Type="http://schemas.openxmlformats.org/officeDocument/2006/relationships/extended-properties" Target="/docProps/app.xml" Id="R76fff7868a524e11" /><Relationship Type="http://schemas.openxmlformats.org/officeDocument/2006/relationships/officeDocument" Target="/ppt/presentation.xml" Id="Rf9341f293de0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f3de484b84062"/>
  </p:sldMasterIdLst>
  <p:notesMasterIdLst>
    <p:notesMasterId xmlns:r="http://schemas.openxmlformats.org/officeDocument/2006/relationships" r:id="Re2c88082c0bb4aef"/>
  </p:notesMasterIdLst>
  <p:sldIdLst>
    <p:sldId xmlns:r="http://schemas.openxmlformats.org/officeDocument/2006/relationships" id="256" r:id="R90c37316532341b4"/>
    <p:sldId xmlns:r="http://schemas.openxmlformats.org/officeDocument/2006/relationships" id="257" r:id="R8b603a5aac494b3b"/>
    <p:sldId xmlns:r="http://schemas.openxmlformats.org/officeDocument/2006/relationships" id="258" r:id="R2b4ce34b22e44066"/>
    <p:sldId xmlns:r="http://schemas.openxmlformats.org/officeDocument/2006/relationships" id="259" r:id="R31ddb5b2f4ad4892"/>
    <p:sldId xmlns:r="http://schemas.openxmlformats.org/officeDocument/2006/relationships" id="260" r:id="Rf4d9cf4bcde84bd5"/>
    <p:sldId xmlns:r="http://schemas.openxmlformats.org/officeDocument/2006/relationships" id="261" r:id="Ree67701b3e9f4e18"/>
    <p:sldId xmlns:r="http://schemas.openxmlformats.org/officeDocument/2006/relationships" id="262" r:id="R447fc47180ce4a6d"/>
    <p:sldId xmlns:r="http://schemas.openxmlformats.org/officeDocument/2006/relationships" id="263" r:id="R4cb14cd6203c46c6"/>
    <p:sldId xmlns:r="http://schemas.openxmlformats.org/officeDocument/2006/relationships" id="264" r:id="Rcda258c248fd457f"/>
    <p:sldId xmlns:r="http://schemas.openxmlformats.org/officeDocument/2006/relationships" id="265" r:id="R048bb2f58a944580"/>
    <p:sldId xmlns:r="http://schemas.openxmlformats.org/officeDocument/2006/relationships" id="266" r:id="R022614d3bc194ee6"/>
    <p:sldId xmlns:r="http://schemas.openxmlformats.org/officeDocument/2006/relationships" id="267" r:id="Rbc7c83a1e9994e79"/>
    <p:sldId xmlns:r="http://schemas.openxmlformats.org/officeDocument/2006/relationships" id="268" r:id="Re02b73817bce4efd"/>
    <p:sldId xmlns:r="http://schemas.openxmlformats.org/officeDocument/2006/relationships" id="269" r:id="Rb752f933e673498e"/>
    <p:sldId xmlns:r="http://schemas.openxmlformats.org/officeDocument/2006/relationships" id="270" r:id="R04b7af33bac94149"/>
    <p:sldId xmlns:r="http://schemas.openxmlformats.org/officeDocument/2006/relationships" id="271" r:id="Rb7894e056c6f42fc"/>
    <p:sldId xmlns:r="http://schemas.openxmlformats.org/officeDocument/2006/relationships" id="272" r:id="R39b0473bd1b8404c"/>
    <p:sldId xmlns:r="http://schemas.openxmlformats.org/officeDocument/2006/relationships" id="273" r:id="R6d1f5e3cdc56488e"/>
    <p:sldId xmlns:r="http://schemas.openxmlformats.org/officeDocument/2006/relationships" id="274" r:id="R65ab169c0eee4b91"/>
    <p:sldId xmlns:r="http://schemas.openxmlformats.org/officeDocument/2006/relationships" id="275" r:id="R0d77c4c9854947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f3de484b84062" /><Relationship Type="http://schemas.openxmlformats.org/officeDocument/2006/relationships/theme" Target="/ppt/theme/theme1.xml" Id="R96ffb7fa22114ef2" /><Relationship Type="http://schemas.openxmlformats.org/officeDocument/2006/relationships/notesMaster" Target="/ppt/notesMasters/notesMaster1.xml" Id="Re2c88082c0bb4aef" /><Relationship Type="http://schemas.openxmlformats.org/officeDocument/2006/relationships/presProps" Target="/ppt/presProps.xml" Id="R4ed3b379cd074522" /><Relationship Type="http://schemas.openxmlformats.org/officeDocument/2006/relationships/viewProps" Target="/ppt/viewProps.xml" Id="Rcf64bfeaa292425a" /><Relationship Type="http://schemas.openxmlformats.org/officeDocument/2006/relationships/tableStyles" Target="/ppt/tableStyles.xml" Id="R1b00fbf10e044142" /><Relationship Type="http://schemas.openxmlformats.org/officeDocument/2006/relationships/slide" Target="/ppt/slides/slide1.xml" Id="R90c37316532341b4" /><Relationship Type="http://schemas.openxmlformats.org/officeDocument/2006/relationships/slide" Target="/ppt/slides/slide2.xml" Id="R8b603a5aac494b3b" /><Relationship Type="http://schemas.openxmlformats.org/officeDocument/2006/relationships/slide" Target="/ppt/slides/slide3.xml" Id="R2b4ce34b22e44066" /><Relationship Type="http://schemas.openxmlformats.org/officeDocument/2006/relationships/slide" Target="/ppt/slides/slide4.xml" Id="R31ddb5b2f4ad4892" /><Relationship Type="http://schemas.openxmlformats.org/officeDocument/2006/relationships/slide" Target="/ppt/slides/slide5.xml" Id="Rf4d9cf4bcde84bd5" /><Relationship Type="http://schemas.openxmlformats.org/officeDocument/2006/relationships/slide" Target="/ppt/slides/slide6.xml" Id="Ree67701b3e9f4e18" /><Relationship Type="http://schemas.openxmlformats.org/officeDocument/2006/relationships/slide" Target="/ppt/slides/slide7.xml" Id="R447fc47180ce4a6d" /><Relationship Type="http://schemas.openxmlformats.org/officeDocument/2006/relationships/slide" Target="/ppt/slides/slide8.xml" Id="R4cb14cd6203c46c6" /><Relationship Type="http://schemas.openxmlformats.org/officeDocument/2006/relationships/slide" Target="/ppt/slides/slide9.xml" Id="Rcda258c248fd457f" /><Relationship Type="http://schemas.openxmlformats.org/officeDocument/2006/relationships/slide" Target="/ppt/slides/slide10.xml" Id="R048bb2f58a944580" /><Relationship Type="http://schemas.openxmlformats.org/officeDocument/2006/relationships/slide" Target="/ppt/slides/slide11.xml" Id="R022614d3bc194ee6" /><Relationship Type="http://schemas.openxmlformats.org/officeDocument/2006/relationships/slide" Target="/ppt/slides/slide12.xml" Id="Rbc7c83a1e9994e79" /><Relationship Type="http://schemas.openxmlformats.org/officeDocument/2006/relationships/slide" Target="/ppt/slides/slide13.xml" Id="Re02b73817bce4efd" /><Relationship Type="http://schemas.openxmlformats.org/officeDocument/2006/relationships/slide" Target="/ppt/slides/slide14.xml" Id="Rb752f933e673498e" /><Relationship Type="http://schemas.openxmlformats.org/officeDocument/2006/relationships/slide" Target="/ppt/slides/slide15.xml" Id="R04b7af33bac94149" /><Relationship Type="http://schemas.openxmlformats.org/officeDocument/2006/relationships/slide" Target="/ppt/slides/slide16.xml" Id="Rb7894e056c6f42fc" /><Relationship Type="http://schemas.openxmlformats.org/officeDocument/2006/relationships/slide" Target="/ppt/slides/slide17.xml" Id="R39b0473bd1b8404c" /><Relationship Type="http://schemas.openxmlformats.org/officeDocument/2006/relationships/slide" Target="/ppt/slides/slide18.xml" Id="R6d1f5e3cdc56488e" /><Relationship Type="http://schemas.openxmlformats.org/officeDocument/2006/relationships/slide" Target="/ppt/slides/slide19.xml" Id="R65ab169c0eee4b91" /><Relationship Type="http://schemas.openxmlformats.org/officeDocument/2006/relationships/slide" Target="/ppt/slides/slide20.xml" Id="R0d77c4c9854947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c4a1954582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5c32cac92e4c1c" /><Relationship Type="http://schemas.openxmlformats.org/officeDocument/2006/relationships/notesMaster" Target="/ppt/notesMasters/notesMaster1.xml" Id="Rbc1dbbdfb9b545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365d50bc2454f" /><Relationship Type="http://schemas.openxmlformats.org/officeDocument/2006/relationships/notesMaster" Target="/ppt/notesMasters/notesMaster1.xml" Id="Rd4d5f3696a8a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665287b29b4b0d" /><Relationship Type="http://schemas.openxmlformats.org/officeDocument/2006/relationships/notesMaster" Target="/ppt/notesMasters/notesMaster1.xml" Id="R844523ed8872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b3176e80643d5" /><Relationship Type="http://schemas.openxmlformats.org/officeDocument/2006/relationships/notesMaster" Target="/ppt/notesMasters/notesMaster1.xml" Id="Rf291c4f83342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95554794a4da0" /><Relationship Type="http://schemas.openxmlformats.org/officeDocument/2006/relationships/notesMaster" Target="/ppt/notesMasters/notesMaster1.xml" Id="R996045ebb49c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3ebe695b974ab6" /><Relationship Type="http://schemas.openxmlformats.org/officeDocument/2006/relationships/notesMaster" Target="/ppt/notesMasters/notesMaster1.xml" Id="R792b1379653a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6ff8c8b74846aa" /><Relationship Type="http://schemas.openxmlformats.org/officeDocument/2006/relationships/notesMaster" Target="/ppt/notesMasters/notesMaster1.xml" Id="Rec1cc797db0d4d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eda8fd01b8444d" /><Relationship Type="http://schemas.openxmlformats.org/officeDocument/2006/relationships/notesMaster" Target="/ppt/notesMasters/notesMaster1.xml" Id="R0bd21f084c744b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f9d4d949394712" /><Relationship Type="http://schemas.openxmlformats.org/officeDocument/2006/relationships/notesMaster" Target="/ppt/notesMasters/notesMaster1.xml" Id="Re16e82d6179b4a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5bc700a4c74436" /><Relationship Type="http://schemas.openxmlformats.org/officeDocument/2006/relationships/notesMaster" Target="/ppt/notesMasters/notesMaster1.xml" Id="R7ec9de1c784f48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2d8bfef5a94e53" /><Relationship Type="http://schemas.openxmlformats.org/officeDocument/2006/relationships/notesMaster" Target="/ppt/notesMasters/notesMaster1.xml" Id="Rd7d6c723948e45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5ddd5a4f9c42e3" /><Relationship Type="http://schemas.openxmlformats.org/officeDocument/2006/relationships/notesMaster" Target="/ppt/notesMasters/notesMaster1.xml" Id="R843b9a701e53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669e44c5f34252" /><Relationship Type="http://schemas.openxmlformats.org/officeDocument/2006/relationships/notesMaster" Target="/ppt/notesMasters/notesMaster1.xml" Id="R1058635115214e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4121741312416a" /><Relationship Type="http://schemas.openxmlformats.org/officeDocument/2006/relationships/notesMaster" Target="/ppt/notesMasters/notesMaster1.xml" Id="R63acacc512ae4e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fdd3625f42482c" /><Relationship Type="http://schemas.openxmlformats.org/officeDocument/2006/relationships/notesMaster" Target="/ppt/notesMasters/notesMaster1.xml" Id="R30dc0e30e2db45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6979ce40f84789" /><Relationship Type="http://schemas.openxmlformats.org/officeDocument/2006/relationships/notesMaster" Target="/ppt/notesMasters/notesMaster1.xml" Id="Rd03b431d5c0d43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5fc6ee2ede4d60" /><Relationship Type="http://schemas.openxmlformats.org/officeDocument/2006/relationships/notesMaster" Target="/ppt/notesMasters/notesMaster1.xml" Id="Rf83e082f866444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5ecedade88431a" /><Relationship Type="http://schemas.openxmlformats.org/officeDocument/2006/relationships/notesMaster" Target="/ppt/notesMasters/notesMaster1.xml" Id="R1387477688b246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987c56022e4f25" /><Relationship Type="http://schemas.openxmlformats.org/officeDocument/2006/relationships/notesMaster" Target="/ppt/notesMasters/notesMaster1.xml" Id="Rc5035b453ce84d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393c9f09054697" /><Relationship Type="http://schemas.openxmlformats.org/officeDocument/2006/relationships/notesMaster" Target="/ppt/notesMasters/notesMaster1.xml" Id="Rcdbb2ab48fe1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5faeabbe742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d77c8797b7499b" /><Relationship Type="http://schemas.openxmlformats.org/officeDocument/2006/relationships/slideLayout" Target="/ppt/slideLayouts/slideLayout2.xml" Id="Rad94cabaaad944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94cabaaad944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a1b66518e74deb" /><Relationship Type="http://schemas.openxmlformats.org/officeDocument/2006/relationships/image" Target="/ppt/media/image.png" Id="R444b2dc63fa74762" /><Relationship Type="http://schemas.openxmlformats.org/officeDocument/2006/relationships/notesSlide" Target="/ppt/notesSlides/notesSlide1.xml" Id="R0ab3b6f77fc34e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fc9fbd3f054812" /><Relationship Type="http://schemas.openxmlformats.org/officeDocument/2006/relationships/image" Target="/ppt/media/image2.png" Id="R814dce7195314d8d" /><Relationship Type="http://schemas.openxmlformats.org/officeDocument/2006/relationships/image" Target="/ppt/media/image3.png" Id="R2002372003514337" /><Relationship Type="http://schemas.openxmlformats.org/officeDocument/2006/relationships/notesSlide" Target="/ppt/notesSlides/notesSlide2.xml" Id="R67c1cac9c74a41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e4f53907e421f" /><Relationship Type="http://schemas.openxmlformats.org/officeDocument/2006/relationships/notesSlide" Target="/ppt/notesSlides/notesSlide3.xml" Id="R55573af3bd214f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4911526a54d6f" /><Relationship Type="http://schemas.openxmlformats.org/officeDocument/2006/relationships/image" Target="/ppt/media/image4.png" Id="Rdcfe7d63c7c34d0b" /><Relationship Type="http://schemas.openxmlformats.org/officeDocument/2006/relationships/image" Target="/ppt/media/image5.png" Id="Rc57c9525be3e4867" /><Relationship Type="http://schemas.openxmlformats.org/officeDocument/2006/relationships/notesSlide" Target="/ppt/notesSlides/notesSlide4.xml" Id="R604455846e67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58e45f7f304986" /><Relationship Type="http://schemas.openxmlformats.org/officeDocument/2006/relationships/image" Target="/ppt/media/image6.png" Id="R7a33a473102f4a33" /><Relationship Type="http://schemas.openxmlformats.org/officeDocument/2006/relationships/notesSlide" Target="/ppt/notesSlides/notesSlide5.xml" Id="R8ee470a6b2bc4c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2e926d04c4418" /><Relationship Type="http://schemas.openxmlformats.org/officeDocument/2006/relationships/image" Target="/ppt/media/image7.png" Id="Rfb5b7cc8fcf142dd" /><Relationship Type="http://schemas.openxmlformats.org/officeDocument/2006/relationships/notesSlide" Target="/ppt/notesSlides/notesSlide6.xml" Id="Rda0a4a767d8f4e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045ec9c414291" /><Relationship Type="http://schemas.openxmlformats.org/officeDocument/2006/relationships/notesSlide" Target="/ppt/notesSlides/notesSlide7.xml" Id="R6f3bea3c887749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d79f51a19c498d" /><Relationship Type="http://schemas.openxmlformats.org/officeDocument/2006/relationships/notesSlide" Target="/ppt/notesSlides/notesSlide8.xml" Id="R782f9ded2fa24e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8f4c24446744c0" /><Relationship Type="http://schemas.openxmlformats.org/officeDocument/2006/relationships/notesSlide" Target="/ppt/notesSlides/notesSlide9.xml" Id="R9f4a3a2e302e44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eca55bc2548de" /><Relationship Type="http://schemas.openxmlformats.org/officeDocument/2006/relationships/image" Target="/ppt/media/image8.png" Id="R790f03499da84eb6" /><Relationship Type="http://schemas.openxmlformats.org/officeDocument/2006/relationships/notesSlide" Target="/ppt/notesSlides/notesSlide10.xml" Id="R2adb0339597c44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7abf37ec754ec5" /><Relationship Type="http://schemas.openxmlformats.org/officeDocument/2006/relationships/image" Target="/ppt/media/image9.png" Id="R068aee7ded384922" /><Relationship Type="http://schemas.openxmlformats.org/officeDocument/2006/relationships/notesSlide" Target="/ppt/notesSlides/notesSlide11.xml" Id="R167b53b3c7dd40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12cbd7e5554f19" /><Relationship Type="http://schemas.openxmlformats.org/officeDocument/2006/relationships/image" Target="/ppt/media/image10.png" Id="Rd77e697c77a64912" /><Relationship Type="http://schemas.openxmlformats.org/officeDocument/2006/relationships/notesSlide" Target="/ppt/notesSlides/notesSlide12.xml" Id="R78856eeb66d5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a60f038284dbc" /><Relationship Type="http://schemas.openxmlformats.org/officeDocument/2006/relationships/notesSlide" Target="/ppt/notesSlides/notesSlide13.xml" Id="R4c9b7ab477834e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f2a2df3e94572" /><Relationship Type="http://schemas.openxmlformats.org/officeDocument/2006/relationships/notesSlide" Target="/ppt/notesSlides/notesSlide14.xml" Id="Rf817658d370e4e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6b4d441be4382" /><Relationship Type="http://schemas.openxmlformats.org/officeDocument/2006/relationships/image" Target="/ppt/media/image11.png" Id="R59f9bd457ba14030" /><Relationship Type="http://schemas.openxmlformats.org/officeDocument/2006/relationships/image" Target="/ppt/media/image12.png" Id="Rf0963668b4b34e92" /><Relationship Type="http://schemas.openxmlformats.org/officeDocument/2006/relationships/image" Target="/ppt/media/image13.png" Id="R175c862f806b42f3" /><Relationship Type="http://schemas.openxmlformats.org/officeDocument/2006/relationships/image" Target="/ppt/media/image14.png" Id="Rc3aa03aaa67b43d2" /><Relationship Type="http://schemas.openxmlformats.org/officeDocument/2006/relationships/image" Target="/ppt/media/image15.png" Id="R8288535018f74139" /><Relationship Type="http://schemas.openxmlformats.org/officeDocument/2006/relationships/image" Target="/ppt/media/image16.png" Id="R983b2cf2c28845d1" /><Relationship Type="http://schemas.openxmlformats.org/officeDocument/2006/relationships/notesSlide" Target="/ppt/notesSlides/notesSlide15.xml" Id="Rdab7f088dec247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03df1c30c42a0" /><Relationship Type="http://schemas.openxmlformats.org/officeDocument/2006/relationships/notesSlide" Target="/ppt/notesSlides/notesSlide16.xml" Id="R447fc62f5c6e4d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0a89dfcb8d4f86" /><Relationship Type="http://schemas.openxmlformats.org/officeDocument/2006/relationships/notesSlide" Target="/ppt/notesSlides/notesSlide17.xml" Id="R67cc6186029348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263060d9e43a6" /><Relationship Type="http://schemas.openxmlformats.org/officeDocument/2006/relationships/notesSlide" Target="/ppt/notesSlides/notesSlide18.xml" Id="R302b43ff247c48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242b7dfafe4abe" /><Relationship Type="http://schemas.openxmlformats.org/officeDocument/2006/relationships/notesSlide" Target="/ppt/notesSlides/notesSlide19.xml" Id="Rcd1af375dcd54b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203b774cc4029" /><Relationship Type="http://schemas.openxmlformats.org/officeDocument/2006/relationships/image" Target="/ppt/media/image17.png" Id="Ra1f8d8ec817d4488" /><Relationship Type="http://schemas.openxmlformats.org/officeDocument/2006/relationships/notesSlide" Target="/ppt/notesSlides/notesSlide20.xml" Id="R80cd5638b4884a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B0227-6156-4059-910F-6F8FE628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D5DB6-8D68-4865-ABFA-E839F7F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b2dc63fa74762"/>
          <a:srcRect xmlns:a="http://schemas.openxmlformats.org/drawingml/2006/main" l="10952" t="0" r="10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666750"/>
            <a:ext cx="4591050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B6AC2-DB9A-4E0A-ACC7-7EF59A6B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4591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4344E-741B-4F76-84E5-8853F09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23978-F16A-406F-BA15-1D65D8F4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C1EE7-C978-4B62-AFE0-B9F3128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0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BD0D8"/>
                </a:solidFill>
                <a:latin typeface="PingFang SC"/>
                <a:ea typeface="PingFang SC"/>
                <a:cs typeface="PingFang SC"/>
              </a:rPr>
              <a:t>硕士学位论文答辩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49E31-E807-4B08-B2ED-5BEEA5A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3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激光焊接OCT图像重建与语义分割方法研究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4FF3E-239A-4EEC-A958-EB728B1F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3D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C6D3DB"/>
                </a:solidFill>
                <a:latin typeface="Avenir Next"/>
                <a:ea typeface="Avenir Next"/>
                <a:cs typeface="Avenir Next"/>
              </a:rPr>
              <a:t>Research on OCT Image Reconstruction and Semantic Segmentation for Laser Welding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99D0E-93D3-4851-83B1-6F5645B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EEF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4EEF3"/>
                </a:solidFill>
                <a:latin typeface="PingFang SC"/>
                <a:ea typeface="PingFang SC"/>
                <a:cs typeface="PingFang SC"/>
              </a:rPr>
              <a:t>谢智捷  |  导师：万明明  |  深圳大学  | 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00C3D-DB02-4BA2-A3D8-3D1C98FA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F78EE-D719-4F0B-B140-9DA42E87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1351k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5EA42-0614-4174-A65B-47F02542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A-line/s CUDA 重建速率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1B9B6-A99F-4F7A-B612-F74B6D2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331E0-5074-4C9F-98FA-5B30ABF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3A5DE-F46F-419A-AB56-E559E88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2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改进模型 mIoU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BB50C-0FF3-45CF-9C54-6B95B98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00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6D904-28EA-4ADF-9DC2-C9627327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34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-53.3%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BCF21-9425-424E-AA31-CA416DF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72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972E4-AF00-486E-97E6-13307D20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482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8FA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3F8FA"/>
                </a:solidFill>
                <a:latin typeface="Songti SC"/>
                <a:ea typeface="Songti SC"/>
                <a:cs typeface="Songti SC"/>
              </a:rPr>
              <a:t>从干涉谱到匙孔掩膜：把在线监测链路中“算不动”和“分不准”的问题拆开解决。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95F13-94E6-41EF-B6E1-E868F5E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rPr>
              <a:t>Source: thesis abstract and Chapter 3-4 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97CCF-CDB0-4AF9-8616-E9099C9B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8311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0D561C-005D-4417-AA24-0D354F0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E5FD6-76A6-46DF-8BE4-E17C954E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0B63-8971-4526-81DD-FDA87E0F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518D6-43C6-48C2-8F35-6ACFEB62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01 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998A-79FF-41F4-B8C1-02A1BF51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熔深在线测量不能只看得到，还必须算得快、分得稳。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dce7195314d8d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952625"/>
            <a:ext cx="3905250" cy="24193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2372003514337"/>
          <a:srcRect xmlns:a="http://schemas.openxmlformats.org/drawingml/2006/main" l="47" t="0" r="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952625"/>
            <a:ext cx="3905250" cy="2419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53B9B-92FC-481B-AA43-9950ED8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 OCT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051E9-764B-4E78-BD35-33346CBF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95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F88E9-E430-47A9-88DF-3AB97FF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5C95F-88F9-49BC-8F06-66AD9B29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CFBFC-9E39-4B10-830B-9FA91259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05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重建瓶颈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AB109-1470-44B7-9102-B3B477B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90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干涉谱到深度图像需经过 8 个后处理步骤，CPU 串行无法匹配 82 kHz A 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76843-368A-45EB-A67B-9D46ED0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9037E-7BD8-473A-8F56-9292CA9D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EC0C5-AE00-40BF-A6BB-6AF00CF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图像瓶颈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80E79-DDC5-49F3-8DDE-0E19B3E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散斑噪声、边界模糊、目标与背景对比低，使匙孔区域难稳定提取。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0F24A-6E3C-4546-B8C7-1DC7641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8147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1EEEA-2DB5-40D3-9BA6-50940BF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814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82B5C-6860-4CB6-ABB3-D9A09CB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33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控制需求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B6D27-BCDC-41D1-9801-3613E5AC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96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焊接闭环控制需要毫秒级反馈，分割误差会直接传递到熔深估计。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8A666-3373-4F89-9FE3-B66A815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答辩主线：实时重建链路 + 高精度匙孔语义分割。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0BA51-380C-456C-AD22-77219A62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chapter/cp1.tex; OCT keyhole examples from figure/cp1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65DA4-41AA-4A22-84E9-4C46696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72757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89F35-B42D-4CED-AA92-A1041CE8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8E10B-335E-4E62-8493-5804A37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65181-C92D-40C0-9931-74AEBF2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ECDF2-F4CE-411B-8F49-E90FE27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 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586DD-6947-4426-9EC4-BD10E5A1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技术路线把采集、重建、标注和分割串成一条在线监测链。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71E0C-211A-4C09-A668-E2DEE56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42BB9-1EF1-4138-957E-38B7173C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CE9A1-69DD-4041-A95D-83D7955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原始干涉谱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B473F-0BDA-43BB-A548-466F8F5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SD-OCT 采集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N=2048 采样点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B3F08-104B-4C06-BAFF-6182EE9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C6AAB-8C4E-427B-983F-1C6F2F9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BF297-4C8D-4F96-8298-E041826A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2658E-67DA-4BD0-A824-CACF02C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49F93-B060-472F-82FA-D49769D6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重建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E92CC-66FA-4952-9B51-40B1ED6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步后处理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K 线性化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53B57-E9A1-4E65-A2FD-36C55E0D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7903E-D845-4CE4-8202-E44B755C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7A955-7A02-4903-8F85-892A44A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CCDA7-0D9C-4A92-9E54-BCD2793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BDF76-953A-41BC-84C1-8EFB192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深度图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FCDAF-CBDE-4C8C-B95C-148C6D6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GPU 端输出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 B 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C6BD6-F582-45FE-B156-CEFAA486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E5927-FC50-48EF-A85A-D81F8DD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61B38-D597-4D5E-B526-6FFD44D4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17FAC-5B22-4E56-9308-FAACDD3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61375-7A27-427A-B668-3067C390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数据集标注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8A65B-D73C-461D-A291-615022E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912 训练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228 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513D1-92CA-4D27-922F-76C7ADF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53DF74-A952-47C2-9CFD-D84A793F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7CA2F-6A79-4125-93E5-455DDFB9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DD146-B08B-4E8E-A4ED-DF69106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30A9B-241D-4CC5-BA11-900CF7F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 分割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0C3938-0384-413B-9EF5-C498F08A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全局连续性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58C3D-0F02-4116-B1FB-F9CB090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AEC8C-394D-43E7-817D-75BC6A94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194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4E381-2B5F-4DAD-9C8E-68D7956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E7B9E8-5BD9-4820-8A24-3B91DF76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E7BC72-00C9-457A-AD8D-E6140B36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289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熔深估计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4BDFB-1578-445F-B329-3DF7CD0A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146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在线质量评价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B5EBB5-AAB2-4425-9D19-C9F09742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8323C2-A535-4425-8280-5D682A3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506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C21F80-FE26-4EB9-B536-E8195B14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贡献一：重建实时化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2CDD84-CDD7-4231-A870-BBFBA86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流水线 + PCR 并行求解 + 统一内存优化。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4848C9-5081-4A71-82F6-3D1CF24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贡献二：分割鲁棒化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A160CA-9C55-496A-B8D4-7426B45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编码端 TR 建结构，解码端 SAE 强边界。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045905-2CF4-4261-9369-E9F43BFB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thesis abstract; Chapter 3 and Chapter 4 method structure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D269DC-1576-4CEE-87EB-2B860CC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4504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C3B4E-0EC0-4E20-8538-E8E2BC2B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8C082-87EE-4A2E-8CE4-48CE5316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767E6-143F-46DE-8F95-C7B7094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D7828-E67F-4C4E-87DB-9796A532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 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CE0A0-1E80-4E13-86B2-DB1F3EA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自建焊接 OCT 数据集把任务定义为像素级匙孔提取。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96735-03C2-4A72-BBA7-00607BD6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A54C0-5A32-4AAB-8328-827C20C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912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F3BEA-3131-4421-B779-8EAE2020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训练图像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80B6-3596-44CF-B400-E93F50CA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00C5B-82C3-4C2B-88B7-969536E9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66DF6-D04C-4699-B0AD-FBEEF81A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测试图像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9DC00-8A68-490B-8E58-D382E94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05754-68FC-4BBA-9A03-61CC710F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512×512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E391C-C304-43AF-8B45-12BB138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模型输入尺寸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062ED-421F-4E27-831A-BD46297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43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2F0ED-B533-458B-B60F-D12B0E55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BCE + 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B461B-DC29-4448-B637-7ABDEAA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146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混合损失缓解类别不平衡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544C8-8B72-420B-91F5-ACDF332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A7761-3C0C-40FD-9BF8-A7C6E67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4762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e7d63c7c34d0b"/>
          <a:stretch xmlns:a="http://schemas.openxmlformats.org/drawingml/2006/main"/>
        </p:blipFill>
        <p:spPr>
          <a:xfrm xmlns:a="http://schemas.openxmlformats.org/drawingml/2006/main">
            <a:off x="1836305" y="3486150"/>
            <a:ext cx="2309091" cy="1428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c9525be3e4867"/>
          <a:stretch xmlns:a="http://schemas.openxmlformats.org/drawingml/2006/main"/>
        </p:blipFill>
        <p:spPr>
          <a:xfrm xmlns:a="http://schemas.openxmlformats.org/drawingml/2006/main">
            <a:off x="7096162" y="3486150"/>
            <a:ext cx="2304976" cy="1428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43A2E-EFF8-49A1-AB0D-DB8B99F8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输入：重建后的 OCT 图像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B0ABC-3167-4706-B90E-F37ED19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0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输出：匙孔区域二值掩膜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D5488-6FBF-482A-8147-A03228E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评价指标覆盖区域重叠、类别准确率、Dice 与边界距离，避免只用单一精度指标评价弱边界分割。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6E801-27AB-44C0-B017-7B99299E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chapter/abstract.tex and chapter/cp4.tex training configuration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F24F2-671F-4CD9-B393-6D18358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35708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DDE93-D848-445F-B881-D1C8968C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2995C-9E99-4CCE-B8C8-441EEAB5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BF645-98D9-485E-8A95-5FD04A7D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2C9BE-D27E-40EA-AD01-826620DA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04  CUDA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3CB1-B2D3-4D3E-AE35-1B1D4DA1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8 步 SD-OCT 后处理全部迁移到 GPU，瓶颈集中在 K 线性化与 FFT。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A003-B7FF-41D7-B145-EB22B5E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7905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3a473102f4a33"/>
          <a:stretch xmlns:a="http://schemas.openxmlformats.org/drawingml/2006/main"/>
        </p:blipFill>
        <p:spPr>
          <a:xfrm xmlns:a="http://schemas.openxmlformats.org/drawingml/2006/main">
            <a:off x="1842253" y="2000250"/>
            <a:ext cx="5326144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76304-3D0A-406E-9960-0EEEAB7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10B98-E022-45B8-BD4C-2F21622E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F73AE-DDC2-4947-A076-BBCE85B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计算密集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B50CC-551B-4F21-A6A8-95346E9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K 线性化要求每条 A 扫求解 2048 阶三对角方程组。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840B-0B9C-4FAA-BCD7-015A558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0CED8-8386-4F04-B2E9-6E8305B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F15FD-7684-4619-99BF-07A21867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数据驻留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F22F4-C2E2-45C8-B056-AA8815E7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单次输入、全程设备端、单次输出，减少 PCIe 往返。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7DFA2-5AC0-405E-BE8F-83E40E4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340E0-B99F-4B45-8062-02F6F901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62984-D846-4FFA-98AE-2B9584E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存储层次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99D24-5CA0-417A-B529-718A5A08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常量内存存节点，共享内存做 PCR，只读缓存读信号。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4DFF6-FA9C-4C19-9984-9544ED3D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设计重点不是单个 kernel 更快，而是整条链路不被串行求解、显式拷贝和全局同步拖住。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B25A3-472C-46AF-9C99-F4AB7F0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figure/cp3/fig3-1_cuda_pipeline.png; chapter/cp3.tex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43486-EEDA-41D3-BAA4-C6B44462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27236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2ED73-BB46-4F9A-9B50-A972203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6C519-ADAC-4B4C-AA8D-4528E764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C0480-015F-4825-BCAD-035A0A5C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6A0F4-BE7B-435E-9438-DE4EA8E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  PCR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015DB-9B10-4EBC-8E73-9D3455F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PCR 把 K 线性化中的串行三对角求解改成 11 层并行迭代。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A0553-163E-475C-BA82-783F41A9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23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b7cc8fcf142dd"/>
          <a:stretch xmlns:a="http://schemas.openxmlformats.org/drawingml/2006/main"/>
        </p:blipFill>
        <p:spPr>
          <a:xfrm xmlns:a="http://schemas.openxmlformats.org/drawingml/2006/main">
            <a:off x="1864126" y="2000250"/>
            <a:ext cx="4653747" cy="152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15B8F-BE41-4E49-A011-850AD56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Thomas：1 个线程串行求解，其余线程等待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A7794-94B7-40FA-BDD1-4DCF759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48075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PCR：256 线程参与，log2(2048)=11 层迭代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D0664-740E-495A-A046-0B99131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E43E6-7CE8-4682-8623-164FD6F4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4C704-04F0-43D8-BF27-8B7DAB1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并行迭代层数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C88D4-B648-448C-9B67-14A488EB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3208E-8ABE-48A0-80D8-FB37B40D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8C2F7-EB0D-4644-BC40-54E0AF4E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290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vs MATLAB spline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732B8-7D2A-4896-9A46-9B277A7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53BD1-DDD9-4533-949B-E44BFFA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255/256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7CCD0-5D39-4016-9D31-B4764993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原串行实现中的线程空等被消除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EAFB8-58A5-463C-8131-8DDDB6F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9862E-9322-4243-A6A5-6B1A089A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7C69B-D155-4190-BBEB-F068D7A3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最大绝对误差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4F35E-5D41-423C-82F1-A690F615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0535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RMSE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BACF2-611A-458A-8089-977B7517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7B7CC-89CB-4B53-A144-9DFCF52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68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PCR vs MATLAB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A23AF-E81F-4D67-B00D-771559B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768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3.8e-5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79332-33B1-4111-B0A9-05E103D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768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DA247-12A7-4511-8026-CD9436A7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65B61-33EB-451F-8DE6-75218583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Thomas vs MATLAB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0D2735-8077-4D38-8C94-DF9B1BF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768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2.1e-5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157457-E782-48E8-9633-35CC72FF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768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8.7e-6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F4FBB4-5D6C-4467-A213-C11FBA68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902D8-8D26-401A-AEA7-64F2E69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Linear vs MATLAB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6C526-463D-43CC-8DD1-8B268801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769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4.6e-2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E9428-668E-4382-A297-F7CDC78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769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1.8e-2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35D69-73B5-4EC3-BAB1-30FDB32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figure/cp3/fig3-2_pcr_scheme.png; table cp3 PCR accuracy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A17AA-75BC-4941-91E4-6120586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24864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A879A2-02C6-4F34-88A2-1541923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4EA2-4BE6-45B5-AE02-DC2A47F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0988D-8BC2-4B9B-97E5-B5DDECB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2B791-5766-4587-8684-C28C34B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06 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28C13-D1FE-409C-87AA-74782227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CUDA 重建速率达到 1351k A-line/s，远高于 82 kHz 采集速率。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F500D-1B9E-4D47-900F-CB73D1DA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折合 A-line/s（k）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0AF1A-25D7-4B22-9401-6D1DE5FB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F7DD1-9443-4352-805C-2AC754D6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5397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5B29-A22E-4A5C-8C14-F07B609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MATLAB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115DA-B1A4-4FF7-8457-7CEB673C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11.6k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30601-12F5-4709-867E-A9A39C90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9C56B-5F2F-4F5F-81BC-5D8D6406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8841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A6CEB-225C-4740-906F-D530206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C++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3F7B4-187F-4D2B-831F-A320D10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19k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569F7-1785-4CB0-B125-B120E7A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CC5F8-1D5E-405F-A45F-058716A8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E1A45-3850-4D82-9362-573D410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RTX 4090D CUDA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58023-6F15-4E3B-A8F5-899D8818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1351k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288F7-FB9C-49D9-970D-5D7059AC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64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BFA3-6090-48FC-A7AF-6B15896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64" y="4857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82 kHz 采集速率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F9FD6-362A-49FC-B35D-A1C2A54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7530A-D55E-4695-A360-1DC829B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0.74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2DEB-F2A2-4470-91C6-892F71F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单帧耗时 M=1000, N=2048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9DDD5-9E03-40F7-9F01-0B2C3C4C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783EA-5A34-4A73-870A-78056257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117×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6AB32-3BBA-43B4-B706-F9CDA71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MATLAB 加速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C5739-C7DB-4232-B945-03DE2FF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005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E2CD8-D367-46DB-AF6C-65BCA8F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33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71×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C0776A-1C12-4CB0-98A5-CDE7714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72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C++ 加速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8C09F-53A9-46EE-A793-CCC664A5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结果说明：GPU 后处理不再是采集链路的吞吐瓶颈，后续可把注意力转向小批量延迟与闭环同步。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99D14-BFC2-4A52-846E-49B312B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chapter/cp3.tex table cpu_gpu_compare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330EB9-BC4E-4E13-9AF0-DA40E673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01126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B096A-296C-4EC8-8A9A-8B10909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B6AA8-1BAE-45AE-8550-FA96A02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E590-1A98-4762-843A-69FC74B0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07C9D-6722-4570-A6CE-7A47057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07  SMALL B-SCAN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DCA25-6F31-406F-A4CB-C8873F3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71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细粒度 B 扫下，统一内存把固定拷贝与同步开销压下来。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0B30D-0350-44EE-A9B0-7C0BE59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614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E7ABB-6E54-405C-9CE9-3C5E786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00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扫粒度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152B1-DC46-4D1A-9D18-68EB387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764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传统方案 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BAFFA-DA5A-41F5-8774-6FB403F9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统一内存 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87C9D-8CC4-4602-9F8D-BAE625B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764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加速比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7F741-6A9C-4301-877E-39F3C20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5E327-A4E3-4731-9E97-64D5027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B61B3-EFFE-4A1D-A6FE-FB7B324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24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E43A7-C153-471F-931A-8EA2F30E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24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EB3AE-C288-4BEA-B5FD-A33D11DF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241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35C35-1735-4BFB-94B9-73E73495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3DF26-9D29-4692-8E10-AC39B65C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4C319-11B1-4020-9E38-983A88E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003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498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6E3FC-DDAB-4858-A455-F0FD552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003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4BA88-9B76-481E-8E74-B904579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003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764E7-F5DD-47FD-BABE-7A87E491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D232A-2FEB-47C9-9701-E1C888E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9FD7A-B917-4E60-9355-90F82D95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76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FDBC1-A027-4FCA-98A9-93B7607B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76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268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16CDA-2878-48EB-9625-2448310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766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CBEBB-6A19-4A2C-9110-FBB62A3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596D7-AE0C-4BF7-A8EB-E65CA76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A111A-69A5-4526-992F-39FDFA5A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528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9435F-5CAD-42E2-8B40-2519C79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528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1579F-9720-402A-8C9F-56F025D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9528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43182-9332-487D-8CD3-0E98A6E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D156A-11D9-4A15-8C55-A0DC57A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400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EEAA1-1C09-4DAA-8839-1776094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29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289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E6802-7C35-47C9-85DF-230A8494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4291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1A572-A2AC-4A3F-B6B0-A10004F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291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1.62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F1AFA-0FDA-4BAF-B85E-73F6CA61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713BB1-4D19-4F8A-B98B-97AC08D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C6F9D3-8008-468C-A0A7-F3B50C6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241784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D94309-F3C4-4AB6-86E0-66DB2A67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77A9F-A527-4C6D-9840-67ACA1B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742 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4D238D-A8C5-4F27-B8F7-53A8653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33C8D4-436E-4CBA-96CA-D78799F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23210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C44BAB-6A92-4890-BFB2-746CCD7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D50D1F-2E66-4027-8F86-829863C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43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685 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76651-7A93-4A83-9763-9473D596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612C1F-334C-49B5-A539-4A9ECB79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7D62FB-6E8C-4EC2-823B-E1D7419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6227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373D17-24C6-4677-82B4-9F4645D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68A671-BCF1-4713-8CA3-6BD3352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498 us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527C8-61B5-4AEF-B296-137CA15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2A3CA-FE6E-44A4-83A0-FA3CD31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37185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930938-3226-4B98-A353-90998347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65AB2F-A10C-4B47-8206-0BC6516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421 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A91ED3-AF97-424F-A3EB-3094328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C00A1F-1E0E-40BE-88C0-B0902F8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892D19-BE35-45F8-9D5E-D31C378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1160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7B1C10-670D-4B3B-945D-A23C7DB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342A28-7638-4A97-B1E4-3282393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71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356 us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21AF09-537F-4018-9005-ED826759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CF5244-AA7C-41F2-9392-8B05BC5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8732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8992C5-409B-40FA-82CB-DD38207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0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85E778-EAB6-4265-8F8E-E7BCB53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00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268 us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94F857-0E78-4961-B730-33C64660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E89B48-0F66-4C08-B9B9-AE241322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BF83AD-71A6-4B8F-9E95-29B83F79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10166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651AD6-8FF6-49EE-9AFC-51FA2D6F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B33A38-42EE-47A3-BE61-FB5381C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005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312 us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C77027-9587-4C8E-BE3F-D269DF45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68AEF9-DA4B-4E1A-97DA-C1EB50C8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66148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6D784B-A1A8-4845-91A0-3E16E47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EBDD01-5693-4611-8CE6-33F5994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29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203 us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401578-C039-4407-8601-602AD30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053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8ADF2B-1386-47C8-8665-5BB4CDB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7232F9-0D3F-4AC4-9779-D8946BF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9417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8A691A-8465-4B26-9EB5-B5F18D0B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EAA6FD-CE19-4E67-91DA-80C42CB4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29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289 us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CDAC79-894F-46EA-80D8-4B46EE9F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388E50-FD64-4FC6-AF04-3A3A51CA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5800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81C8C0B-C363-4ECD-A17E-31166A18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577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1EE2E1-6A54-4B97-8D07-4525B128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57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178 us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7D2E57-A69E-40A9-8A47-1DB4C465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959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E5527F-CDB3-436E-B174-1CDA283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传统方案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E8EB6F-9086-46A4-9C03-11A2E64C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4355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012D402-705A-4483-A778-4E50194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864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23AADD-1143-4641-B5CE-006D48E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47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M=50 时延迟从 289 us 降至 178 us，适合闭环控制中低延迟、小批量的处理模式。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3B4C0F-DD49-4DC3-8B43-9A95ED0D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chapter/cp3.tex table unified_mem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0A27A8D-2F19-44B4-8F21-5874DD0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84998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DBDA8-4ED4-430F-A334-DED9F95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E865B-60B1-488C-BF7F-A5C720D5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5250-78C1-4A49-B330-6FA3F72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6857-58E1-4C23-86D7-5C102EEF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08 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E5D5D-7940-4690-80E4-0607B9F7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OCT 图像的三个视觉难点，直接决定了 TR 与 SAE 的分工。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6F00-89AA-4D69-940F-FA8FEB0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06D44-6343-4109-8B85-8CEC7F05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OCT 图像特点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06E54-AEF4-488E-8065-4998519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分割影响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021F6-3873-4422-B5E0-EEC23C6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478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对应方案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2F59F-DEF5-4BA5-8B8B-2859A55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F858D-D4B8-4352-975A-DDDA288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散斑噪声强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92464-FFBB-4E1E-A764-763356CF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5272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局部特征不稳定，边界响应容易被颗粒纹理扰动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C7B43-38DF-4304-9CD0-360F6187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272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区域级路由平均 Q/K；SAE 一维池化抑制随机颗粒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AECA7-9700-45D8-8C9C-2B4F29C0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966A1-E00F-4DFC-A4B9-894B259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目标细长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884B6-4A65-48FD-928F-2A70CE2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匙孔纵向跨度大，卷积局部感受野易导致断裂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71A72-51B9-4EBD-B77F-ED54B503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1947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建立长距离依赖，保持整体连续性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76758-C2E1-40FB-A9B0-C1A2180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90293-7DBC-4DA3-8602-A7F265F2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边界模糊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56F33-25C4-47EE-8E6D-9320589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8622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低对比弱边界使上采样后轮廓不精确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694C2-05EF-43A9-94EB-498E489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8622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SAE 坐标注意力编码水平/垂直位置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96B2D-68B5-45B6-98B2-912AD78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0E56B-7E7E-4E53-AAAB-1FA8B10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类别不平衡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07FBD-D30E-4883-8F81-363C2C54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52975"/>
            <a:ext cx="354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背景占比高，前景学习不足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7C157-609B-43D1-9574-4A3D3C4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478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+ Dice 混合损失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4D34D-DC65-4381-A674-C286380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设计原则：不要把 OCT 当普通二分类图像处理，而要把噪声、形态和边界问题放进网络结构。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EBF2-7E05-47E0-A9C4-C553B43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table oct_module_relation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8A223-3ABD-4892-AA38-53BB43B2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40312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B24AEC-B3D5-4833-8898-68237F58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7CEDF-F10B-419A-8F85-F199754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D3AE0-FABE-4602-9062-D06F568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0A35F-2B4C-41D6-83A7-10F5F5C3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09 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CE32D-9A39-4D29-960F-54A21EB4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改进 DeepLabV3+ 的核心是编码端重结构、解码端重细节。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72DC4-0C8C-4876-A723-8A1F371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6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f03499da84eb6"/>
          <a:stretch xmlns:a="http://schemas.openxmlformats.org/drawingml/2006/main"/>
        </p:blipFill>
        <p:spPr>
          <a:xfrm xmlns:a="http://schemas.openxmlformats.org/drawingml/2006/main">
            <a:off x="1506163" y="1924050"/>
            <a:ext cx="5712573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578EB-B859-4C2E-9E7E-F4A8F6F2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20258-DFD2-42B3-9B92-49A2FF80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AB402-1AF5-4E24-8A8E-7C061D3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 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E7047-5DFC-4062-8AD0-8A3D710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 ASPP 输出之后，用双层路由注意力建立长程依赖。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84091-AC46-4404-AF23-73EC45D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7B016-9D9F-4701-8B7D-BB97A305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E185B-A8C5-4BCE-9881-2DF7532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 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DF67E-7CD8-47EA-B97A-4D7F1D7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位于解码器融合特征后，用坐标与通道注意力增强边界。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183A1-EAF9-49B9-8175-AF8F26B5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09BE5-E074-4293-AF4D-534B635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B793C-4573-425D-83B6-7A5160AB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混合损失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30F42-AFEC-4861-A63F-62F78BC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提供像素梯度，Dice 直接优化区域重叠。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255BD-CDC4-4375-9E9E-2F9ECB1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这不是简单堆模块：TR 解决“细长结构是否连贯”，SAE 解决“边界是否落准”。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F265D-65DB-4B92-AA3C-1989766E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figure/cp4/fig4-2_improved_model_structure.png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02C7E-8739-4092-836A-790A7479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49124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66085-A734-47BB-B82F-8BA6D6F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346AB-3E68-4885-B732-A141CA54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0B2DF-CFD5-4A1C-BFEE-90EFC56D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7F4A-3BDE-410E-8E5B-1A5F3525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  TR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36A03-B092-4D7A-95FF-17ABEE6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TR 用 TopK 区域路由保留长程依赖，同时避免全局注意力的二次开销。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050A1-56E3-4931-96B8-54F9088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67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aee7ded384922"/>
          <a:stretch xmlns:a="http://schemas.openxmlformats.org/drawingml/2006/main"/>
        </p:blipFill>
        <p:spPr>
          <a:xfrm xmlns:a="http://schemas.openxmlformats.org/drawingml/2006/main">
            <a:off x="999160" y="1943100"/>
            <a:ext cx="6917081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D5E46-B170-42B7-B50B-0DB98AE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952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74009-2AE4-4461-94C2-AB63512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7165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TopK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C8258-A073-4355-B818-9E738A4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571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mIoU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5657E-9D53-48C0-9650-F7CD6B2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71650"/>
            <a:ext cx="571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HD95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8A129-03AF-48D9-9BDD-0E44F952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771650"/>
            <a:ext cx="609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推理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D7AB7-D36D-4DD8-AE45-667231F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AD70A-9D6A-4804-8738-8757A3B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FE340-9AA1-4CB7-A0A3-EEB1E764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0.897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CC3EB-B5DA-47AF-A13E-676EEFB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7170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C0E76-C228-4818-B1E8-C27DF34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71700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EE841-37C7-4956-8F97-9E48161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14942-B8E7-4023-AFFB-892A3B1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032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D8667-0821-4CEC-B135-E1BA4804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0032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78A29-ACD8-40FC-8EB1-39D5ECB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032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B12C1-BC83-47A3-BFD7-47C61AE1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00325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12.4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B892A-9781-46A4-8E44-2316AE57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29769-97BF-49DF-AA0F-719A71B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4A699-FD9D-45AF-BEF7-0AB4FA97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EF52E-0E1D-4A50-ABFA-91E97BC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10.72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6F84C-CF0F-4745-9F3E-30107DD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28950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ADC74-30E5-426A-9789-517E7EB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11678-7F79-4F6E-ABCA-5CA70114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63E15-CD3A-4A5A-B933-4E322891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5757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CD398-7C8D-495A-8A40-879B1848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57575"/>
            <a:ext cx="571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10.91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811A6-E8A5-4177-8832-B7C9840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57575"/>
            <a:ext cx="609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7E394-04AA-4748-99BC-CB571F2C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71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TopK=4 是精度-效率拐点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6C2F0-4B44-4685-A570-0CB2979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686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覆盖窗口比例 25%，mIoU 与 HD95 同时最优，继续增大 TopK 后精度趋于饱和而推理时间上升。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1AD87-DAE2-49AE-A27C-C4F15A4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FD8839-E0F9-402B-BC8C-7611C0DB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434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EEB508-64F1-466D-81B8-E5645D9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78AA0D-824A-4B2F-AD50-35A7B4CF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区域级路由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7F2092-CB60-409E-AE5C-9A2A546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窗口平均 Q/K，削弱局部散斑扰动。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F0985-C81B-492E-95BF-E94525C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33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TopK 稀疏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1C0D4B-1EC7-492B-B7C9-488745C3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81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只对相关窗口做 token 注意力。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362B91-E104-4871-9724-1636D7B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长程结构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5C192C-D855-41CF-9474-AF391BD7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改善细长匙孔的断裂分割。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F14D49-FA55-409C-8C91-63D95B2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figure/cp4/fig4-3_tr_module.png; table topk_sensitivity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97D0E7-FE5F-4FFA-BB4D-19A9C95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09694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4B244-DD8E-4063-A12F-4A71FED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3BCF-0E85-403C-B9E8-D08CACB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9514F-B63D-4F84-AC1B-C440EED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AD7C2-22AD-4452-9A16-19F3D49C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  SAE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5BC2D-EB86-4F98-B60E-A5E167D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62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SAE 在解码端把空间位置和通道选择用于边界精炼。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3D8A7-F190-4072-9609-A0DDDFF8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00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e697c77a64912"/>
          <a:stretch xmlns:a="http://schemas.openxmlformats.org/drawingml/2006/main"/>
        </p:blipFill>
        <p:spPr>
          <a:xfrm xmlns:a="http://schemas.openxmlformats.org/drawingml/2006/main">
            <a:off x="895764" y="1962150"/>
            <a:ext cx="7238172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B6FED-AE5C-44A1-B251-756F02C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EE6EE-B04F-42E6-B7F2-7F1DC85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A3B1E-DDE3-4D1E-A979-C076002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坐标注意力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E1A32-B3BA-4B96-AFE6-34A16917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沿水平和垂直方向分别池化，显式保存位置信息。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C01AB-9E61-46B1-8A41-29EF598D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338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171C1-EE36-4526-8A3A-2E1C3FB8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52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24AFD-B229-48FC-B016-6A5E7FA0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特征精炼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D8FE2-F699-474B-B1CD-95B2879A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两层 3×3 卷积融合局部邻域上下文，补回细节。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D560E-F540-455D-B8B6-BA02044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5D737-D0D3-46B9-9498-14BBA16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A0E9D-8E47-49E5-ABBD-C63F3B30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通道注意力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782DF-1450-4072-B776-460FF756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多基数 SE 学习边界相关通道权重。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E5624-2C19-4FAF-A98A-A8EF66F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5BC22-812A-45D3-855B-9AC465BF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14557-4E5D-48AC-8E8D-C9733C9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05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为什么放在解码器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A9C6D-C43F-477F-A52D-F8634FA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此处融合浅层空间细节和高层语义，最适合纠正上采样后的边界模糊。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8A406-AA91-478C-988E-9ADA917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48DA1-FF34-48D0-931A-1F2D4B99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59ADE-6078-4A36-B70E-7587C65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参数代价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771090-128C-4048-933D-62693C45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5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单独 SAE 带来 mIoU +5.9%，HD95 从 12.22 降至 11.45。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C1278-A4C3-4F84-8C50-4CA6099A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figure/cp4/fig4-5_sae_module.png; ablation 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28819-7425-4C2E-928D-A6884B6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52693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47FA9-AD72-4466-9D33-D9CE12C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75AD-95C9-4F57-BF40-1171B8E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E6570-32C4-4E3D-B232-383FA59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A3B1-5A74-42F1-AB4F-8B7E9AD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12  ABLATION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B4999-64AF-48AF-AB5A-7F8B30E0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消融结果显示：TR 与 SAE 联合使用在区域和边界指标上同时最优。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45614-8237-4E4F-8360-6B44FB5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 越高越好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4D14A-7A50-4A02-86D6-52AFBC7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5875B-ED43-4F3F-A259-9278CB5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3798"/>
            <a:ext cx="666750" cy="620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BB31B-4086-4055-A88D-886B3C3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5198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5ED4C-1DBE-483F-8F71-3CDE5D89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200C7-9D2E-4338-8513-380488C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C3D93-1A4D-4847-A547-D7DF3F2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53715"/>
            <a:ext cx="6667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6B1D3-A490-43BE-9C7E-AA16296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2511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64D28-B59A-4654-81A2-CDB7276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ED3B4-2064-4042-AF78-A7B6770C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526C8-4332-4EA5-B903-69B1B5F9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3673"/>
            <a:ext cx="666750" cy="162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71EDF-6A1A-44F7-9AD5-A36DE8A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85073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0.901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BCF86-6ACD-46A4-ACDD-6A70B5F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35EB6-46B5-4992-87E7-59225AE2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8D0A3-87BB-4E3C-A5F4-6D12DDA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3648"/>
            <a:ext cx="666750" cy="1820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B8DD5-5F48-4FA0-9318-B8BB5A49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5048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47B28-BCF8-4EB4-BDDF-B6A6C8E9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5FE9C-1EF6-44E8-9EC6-8428FAC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HD95 越低越好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3562F-B3CE-4CFC-A3DB-2E560BE6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BF200-01DE-4520-B607-9EBE5F86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666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0B0FB-AC91-4603-AEF2-0E55574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12.22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CC217-BEED-4001-9336-477262DC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27B4C-B716-465F-81E8-C34C4A3C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47D1A-6D82-4F47-87A3-0A9B95F0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9922"/>
            <a:ext cx="666750" cy="853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61EB1-1BAB-4F09-BA5F-52EC1F9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1322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11.89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F657D-9C51-46AB-8F7A-528A314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5EA3D-3CE6-4CDE-AA03-4166F02B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87727-0415-43C0-A0D6-6E34CBC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1418"/>
            <a:ext cx="666750" cy="11924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52586-F1F9-4F6A-A652-1B5E0DA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2818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11.45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91F91B-9045-4F10-AEC3-44862A3F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EACA12-E411-4222-A9F5-A675BFE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66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9BBDD-D796-4DBA-AA8F-75CE1FC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9037"/>
            <a:ext cx="666750" cy="178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F5819-7F7D-48C2-A27E-0D2A37E3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20437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10.68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705D08-8AC5-4E9E-B1C0-BC76CE68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48175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4364A8-F495-40A5-86F5-EB64E17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153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DB193A-299D-400E-B29C-EC1507C9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关键结论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67F415-94E2-40FD-A0B2-412BFCC5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00650"/>
            <a:ext cx="771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E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7EEF4"/>
                </a:solidFill>
                <a:latin typeface="PingFang SC"/>
                <a:ea typeface="PingFang SC"/>
                <a:cs typeface="PingFang SC"/>
              </a:rPr>
              <a:t>TR 主要改善细长结构连续性；SAE 主要改善边界定位；组合后 mIoU=0.911，HD95=10.68。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7166BC-BFB8-48AD-AD27-E8371E89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ablation and boundary tables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FF7BB9-3594-4213-9070-BE51A44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215597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D6D3D-D199-4079-891B-46187EA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A72CE-EF78-404A-91D7-B2FA5CB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57145-6838-4553-8953-6EC0C00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391EC-A813-4365-B893-FD4C5F8E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13 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8F942-2A72-4168-949B-E4BB342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与主流分割模型相比，本文方法取得最高 mIoU 和目标类别 IoU。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7A178-6972-4CE7-8057-F1A2936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BBBCB-15A0-49BC-8A4E-9B6482F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F3318-86DB-4222-9BB3-515FEC6B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43066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3E44F-7659-46D0-92CA-AD77ECB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ResUNet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0441A-C78B-42AA-B981-8331256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5840A-70FF-4905-A2AE-616CC59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1684C-8BD2-4A7F-9F5C-F64BBA54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61501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D630-E319-463B-A498-991AA613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UNet++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DD1A5-1300-4BBB-AC3C-381F44E1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0.751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A28E1-4253-44C5-8DBC-13FE4C64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DC93C-1C63-4E7E-A981-97C57BF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94685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05BF9-CA48-4198-B725-7387C80F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3C7F1-8389-4052-9721-D93FE55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DD108-CBA7-4DE5-B063-93A3FF2B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CF5B6-1302-4696-A06A-378C3DAD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97758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107BE-6342-4B28-9EA7-C544D87B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AC896-A262-4EEE-A5BA-AE0CB871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62663-3AA9-46DB-A805-BC97A3D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1FFE6-A3A4-446F-B564-C59A779F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522953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B74ED-0379-41C3-AC8C-5E02E54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DeepLabV3+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3D2EB-85AD-400B-A8C2-80FB6C0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298C8-06B2-4BD0-AE56-1BC0B1A0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02C8E-F98C-4927-9BBE-A7D4924F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559824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2A50B-D0F4-41F8-B2AC-D3865A0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5CC17-8B3C-4749-94B3-52B8F56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3D5B2-E326-4F36-88A1-C01042A1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目标类别 IoU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4EE26-85C3-4464-9B6B-2482AF2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6A649-013C-46CA-8585-7510931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111353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0A970-DA91-4430-B67D-B3D3989A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574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0.457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5F1216-0108-40B0-9C63-1657E71A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97BDC-9151-46AA-A9DB-E21DEC9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126217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DCAC0-F72A-404C-97E1-AE5D5149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98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0.518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3A9012-9279-47E3-A0C5-A6B5D07F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668D24-EC44-4915-A40F-9D5B587D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151070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86BD4F-4C36-47C4-A7B5-A2350977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23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0.620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B694EF-AC21-4ACE-8B67-116CC67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D63465-0114-4526-8C2F-119D27B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153994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EBFEC8-7AA7-40D5-A442-6DA6C83C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147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0.632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9C4C7F-FD53-4927-A44C-4C22C202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BB4F0-AC26-4173-9EBD-625CE79C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173000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57596C-F4CA-4B0B-9AD6-BE05CC8D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672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404DB4-5EFC-4C11-B9BB-31F27B10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48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240B06-7B92-4E1E-9142-15EB80BB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48250"/>
            <a:ext cx="201265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C303CD-A3B4-400B-A107-E3EC549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196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1D5428-6D40-4F33-933E-FAF8394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目标 IoU 从 0.710 提升到 0.826，说明提升主要落在匙孔前景区域，而不是由背景类“抬高”平均值。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7D014F-1FE6-472C-AF37-A6903C5D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comparison and class_performance tables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3B37EA-BAF7-41C9-9555-FBAD70B5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71663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FC7FC-7005-4E11-ABFE-F3CAE05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F246E-2ADF-4F41-8BE2-2D1257F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1FC99-4981-43E8-A811-CC6BFB39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665F4-4B09-4CC7-B8A5-D00FA68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14  VISUAL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F8F9F-CBED-4AF2-9059-39DD4B0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可视化对比能看出：连续性来自 TR，边界锐度来自 SAE。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7AE55-6FF6-42C7-B1BC-57E215A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914B-94FD-418C-8B8B-DD252781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573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9bd457ba14030"/>
          <a:stretch xmlns:a="http://schemas.openxmlformats.org/drawingml/2006/main"/>
        </p:blipFill>
        <p:spPr>
          <a:xfrm xmlns:a="http://schemas.openxmlformats.org/drawingml/2006/main">
            <a:off x="5140951" y="17145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7F23C-48EE-4975-AEEF-8450EBFF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标签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F22F5-02FF-4515-981C-FF624F5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63668b4b34e92"/>
          <a:stretch xmlns:a="http://schemas.openxmlformats.org/drawingml/2006/main"/>
        </p:blipFill>
        <p:spPr>
          <a:xfrm xmlns:a="http://schemas.openxmlformats.org/drawingml/2006/main">
            <a:off x="5140951" y="24003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0363D-B5AF-4EDC-AE5D-343DEF0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DeepLabV3+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CF05-1826-4C3C-889C-8FD2B8A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862f806b42f3"/>
          <a:stretch xmlns:a="http://schemas.openxmlformats.org/drawingml/2006/main"/>
        </p:blipFill>
        <p:spPr>
          <a:xfrm xmlns:a="http://schemas.openxmlformats.org/drawingml/2006/main">
            <a:off x="5170252" y="3086100"/>
            <a:ext cx="1470496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1F050-A74F-4C78-8E30-B82D284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+ TR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FFABE-8437-4B79-B40F-E04D291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a03aaa67b43d2"/>
          <a:stretch xmlns:a="http://schemas.openxmlformats.org/drawingml/2006/main"/>
        </p:blipFill>
        <p:spPr>
          <a:xfrm xmlns:a="http://schemas.openxmlformats.org/drawingml/2006/main">
            <a:off x="5140951" y="37719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0EF9B-38EC-4B5E-A911-ECFB549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+ SAE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87A45-A10E-493D-B198-DE2AD23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8535018f74139"/>
          <a:stretch xmlns:a="http://schemas.openxmlformats.org/drawingml/2006/main"/>
        </p:blipFill>
        <p:spPr>
          <a:xfrm xmlns:a="http://schemas.openxmlformats.org/drawingml/2006/main">
            <a:off x="5140951" y="4457700"/>
            <a:ext cx="1529097" cy="4000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41B2F-0907-42FB-A5CF-61CFA33A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+ TR + SAE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F8BE0-E0AF-4EC8-9166-77A1FCE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863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b2cf2c28845d1"/>
          <a:stretch xmlns:a="http://schemas.openxmlformats.org/drawingml/2006/main"/>
        </p:blipFill>
        <p:spPr>
          <a:xfrm xmlns:a="http://schemas.openxmlformats.org/drawingml/2006/main">
            <a:off x="5170252" y="5143500"/>
            <a:ext cx="1470496" cy="4000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CED10-6DA2-415A-BB90-2E8E24A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6215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15945-D77D-4111-A543-7ABBD63F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621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13238-4DF9-4FAC-A94F-2C53CB6B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26B71-8186-43DC-B01C-9D7E432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03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细长结构的断裂减少，目标整体更连贯。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CA154-2F17-47DA-A9B8-E97A62C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3850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15DD0-662C-4E45-80F2-1AA2A59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385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81EE72-33FE-4BE5-8C88-13081C5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90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93CA88-C817-480C-9446-5C5CF74F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766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边界定位更接近标签，粘连与毛刺减少。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0AEBC-5DD6-4FA2-9E33-6ADB9C5D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1485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779A8-944B-4BDE-8382-A5D0B6D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148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1D55F-E64F-4733-97BF-4FEBE690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67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联合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859364-3668-4F20-A0A7-16F9812D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9530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兼顾连续性与边界精度，最终掩膜最接近标签。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62C6DF-4502-4835-9BD3-15EEFE5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figure/cp4/4-3 visual comparison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D74FE1-EA57-49DA-8F84-8F71D92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45736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0460B-7F96-44FE-8A52-FE968FDA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9A7D6-86E4-4B8F-9ABB-29DCC89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4DB5D-53F6-47FE-945A-5C3963C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F291-58D1-4C69-B43B-4D4388D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15  ROBUSTNESS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CA765-A143-456B-81F4-7093AAF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双重注意力在强散斑下衰减更小，同时比 TransUNet 更省显存。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78DD3-6D92-468A-B3A3-7D1F6B1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不同散斑方差下 mIoU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8710-401B-4DA1-95B2-07EB483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387D9-5C0E-4F90-A84F-CAFBA2A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0726"/>
            <a:ext cx="400050" cy="1176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E7200-C6D4-47F6-87B5-3A6124B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62126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E35C7-A15D-4234-817C-600CCE6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E5F7A-028C-4C6D-BD97-F5FB5D56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FB292-0723-42CD-8A6D-DB7EE41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1884"/>
            <a:ext cx="400050" cy="1715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4EB9-89F5-4052-BFCC-C34DA34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323284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F2CE3-EC4E-48C2-BD1B-BAC66EF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17EB1-AECC-4B3A-84CC-FEBE5A22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0D470-4135-4887-9D37-6206D54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07476"/>
            <a:ext cx="400050" cy="1059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7ACCB-6CE7-4004-AB3E-BF782CB9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78876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F7BA5-7B06-44EC-977D-A97B764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2AAF4-3C71-42A8-8684-6F0677D5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B1F41-B4FE-4064-8E58-5A86C3BD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23729"/>
            <a:ext cx="400050" cy="1643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DFC8F-2ABD-450F-8018-05A4086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95129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3C00-AADF-4B6A-B8FC-0BE3626E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2A0F6-5859-4E0C-B2E2-82737A8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8DDBA-F916-4B0D-B43A-D39AF460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94859"/>
            <a:ext cx="400050" cy="772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F79A6-07D5-4287-9BEF-099444E5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66259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800CA-03AF-4C0B-A83C-EF892383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31A1E-2C32-4EE2-9D82-B8841A69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AC974-8D0D-454E-A1D5-F734D5F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76401"/>
            <a:ext cx="400050" cy="1490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6BFCC-83FB-4BAE-A2F4-45D0B46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47801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EE1DD-18D3-431B-9655-66F7F2D3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3DA10-A52E-406C-9CDA-DDE1FA1E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2A3A0-15D6-4D7C-8E6D-8919D518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90010"/>
            <a:ext cx="40005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3B1389-0DFE-4D65-BB59-83488704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6141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65133-FAFD-4BE0-B4F2-C42F9F3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3774D-AA2A-48DB-8064-C2B3F146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81250"/>
            <a:ext cx="4000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3F954-639D-4C57-914E-1745F462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36842"/>
            <a:ext cx="400050" cy="1230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978B50-9E56-4019-A52E-8B28698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08242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FE80B-2187-4F1C-977A-CDD52AD9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815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1D7C9-CEF6-4208-B13B-81B10A8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52767C-1FAE-4A94-BA1D-B4C906F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339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DeepLabV3+ 基线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2119F3-2919-4195-9A6B-9E33143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0E646E-BE7E-498A-A48B-2F0032A2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339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本文方法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038B93-B09F-46FE-908A-97EA3149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σ²=0.10 时，基线 mIoU 衰减 10.5%，本文方法衰减 5.9%。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B47B20-705E-4645-B976-2110AD5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显存占用对比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571BDF-C91B-41B3-926D-FC3655C6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BBBA08-A5CF-4829-84E7-42A56EE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976372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C37B7B-E4DA-49DE-B7A0-11A83765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9721E8-1B9C-4E0F-AB77-25B7C9CB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28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19530 MB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1DCACD-CE65-44D9-8369-14D1160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950355-AED8-469C-8D1C-6A79309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138790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2CAEE9-5F4A-4DCD-AF7B-D5594C4E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0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CB448D-4442-4CA3-A8D6-F74F366E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00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9107 MB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0C2631-5FAB-434D-8376-D61B714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52DBA4-B70B-4636-A4D6-5CF0066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-53.3%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CC36AC-472D-4D1A-BDD3-7CBA760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D5AF1D-6EAB-452C-86D1-29CA1673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chapter/cp4.tex robustness and efficiency tables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76E74E-2B5F-4B81-8668-701D9CC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710321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3FEC0-4E80-4778-9C91-B4804AEA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8DC9-F3B7-4FC1-9389-E74C6237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1E8CA-8A63-4FBC-BBA2-0B05746B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5607F-D634-4B28-B933-6E881E6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16  DEPLOYMENT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E4A72-CDED-424D-8740-C35DEEC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两条方法链最终服务于同一个工程目标：在线、稳定地估计熔深。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7C6A1-387F-4D0E-B309-6E1F970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BB9C3-DC68-4A8A-8B10-3A70DCF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5DAA3-F549-40F7-9568-EA0F0111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光谱仪采集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7762D-47B7-44E3-A791-121F73E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82 kHz A 扫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6639A-F766-469A-810F-030C361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DB19C-F2BE-4695-BA4E-366C7FE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D6FC1-26DE-4083-A6B6-7F7D6AC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A9CD7-3291-4729-AE1D-830DC2D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03D3C-C686-4DEE-922E-CDDE456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GPU 重建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7387C-F78B-437C-90F1-DAB1E8C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0.74 ms / 帧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1351k A-line/s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F6119-D66F-42F0-BFAF-7F59D3A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0375F-27D4-43CB-9F02-F9005C21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2296D-AAF6-406D-AF8F-8D035B2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47FB8-3484-4DB3-A49A-4C010E4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58764-90BD-414B-A32F-0E2C60D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图像缓存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2FED7-A02D-4C1A-8EDF-1AC1036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事件同步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17DAF-E8CF-44EF-872C-035E4AF7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B2550-A2CF-445D-913F-F12E1F5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3E467-C937-4583-AE71-EF21491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A6C58-C6FA-4913-81F6-5B74B1A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07166-58CA-4362-99ED-A018291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语义分割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19D13-5F1A-4344-9980-921BC9F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+ SAE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mIoU 0.911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A14CF-9730-4A78-927A-428A64D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5778E-3B9F-42A1-8624-0B2D04EB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337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43502-327D-42BF-9CBB-50FEF3C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571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EA91-44C2-488A-AFE7-F07040CF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54BE7-926D-4AE8-9B8F-854508F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24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36D5C-9D2F-4716-9C18-468C963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09900"/>
            <a:ext cx="128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</a:p>
          <a:p xmlns:a="http://schemas.openxmlformats.org/drawingml/2006/main">
            <a:pPr algn="l"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在线质量反馈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82420-E10D-44A0-8528-16AD0FDE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1C42D2-480B-48C7-9F2A-F58C1C4A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实时性链路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1C517-6CEC-4DD7-8DCB-ADB13FF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CUDA 流水线 + PCR + 统一内存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0944B-2E45-4C3D-8EEE-B8DBBA70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00600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61043E-6DD1-4D1B-B6FE-EB33D1A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53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准确性链路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E8356D-1BFC-4589-9524-9543E0F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建结构 + SAE 强边界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E58CD9-EFA0-4973-8BEC-5ABCD163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thesis method chapters; deployment synthesis from reported pipeline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1D0147-8A01-4019-8860-2BEC689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941331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7AEEE-032C-4FFB-B3BE-8C8959F2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CFC89-D0AB-47A9-93FA-ACC0340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107F5-AD4A-493C-B98F-00608B04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A3A9B-1294-4E5D-8777-BD5D6CD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17  CONTRIBUTIONS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9A7D3-B3F8-4CCA-B84D-87DBC76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52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本文贡献可以归纳为三点：实时重建、鲁棒分割、工程验证。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1F5AE-05D1-421E-801E-5F98A16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74549-772D-4354-8841-0297F25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955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9484-0445-4CE4-8E9B-274037E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CUDA 加速重建流水线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47790-BF02-4B81-AE91-DCCDEAD8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将 SD-OCT 8 个后处理步骤迁移到 GPU；PCR 并行求解 K 线性化；1351k A-line/s。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1DC0-AB19-4C1A-B3A4-91BB2A6F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6710F-1B5F-4DB4-A64B-0AC1DEAA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909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A2FAD-29D6-4115-B1DC-A2AAC7C8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双重注意力分割模型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5F167-733E-46DF-A0A9-9BDA736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DeepLabV3+ 上加入 TR 与 SAE；mIoU 0.911，目标 IoU 0.826，HD95 10.68。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12C93-75F4-4B93-8CE9-A0A8E1D5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AF2E0-C1FC-47BB-8EB8-0DCCA78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F164F-56E0-43CC-A6EB-4E68752E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面向焊接 OCT 的系统实验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526B1-DC99-4547-B662-61C0C6E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自建 912/228 数据集；消融、对比、鲁棒性和效率分析共同验证方法有效性。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1606F-B9EC-4B82-B1F0-664BC88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这三点分别对应答辩时最关键的三个问题：能不能实时、能不能分准、证据是否充分。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5E3B4-6E62-4433-9646-E4911B02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chapter/cp5.tex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F589B-D9B8-40F6-9DA3-74FA99A9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890502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B73B8-7FEF-4ACC-96BD-195BEB1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1A0D5-6332-4F2D-99C5-602C048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064B-109A-4D19-8980-F87961A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1381-85BF-464A-92F2-A0EB4741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18  OUTLOOK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DB576-0624-4CF3-B4B3-C99BF1E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后续工作应集中在更低资源占用、更强泛化和端到端部署。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72B15-776E-413B-97FB-9B37598E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952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5585B-B4D3-4BA1-B106-929B67CA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2321A-27E4-4032-A3E7-A4236B8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96733-DD1F-4570-AED1-3CC53C0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PCR 共享内存接近上限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056D4-54AF-4DCA-9981-D7F6A7E1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尝试混合精度、分段求解或更紧凑的共享内存布局。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034F1-7034-4D63-9D3E-8A2F800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952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1D799-4A42-4DF6-A278-845CA9D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F2372-7A55-4903-99F8-8606962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3929C-D406-41DA-934B-3A7CA9A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数据集工况覆盖有限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5B8A0-4EE8-4991-BAA3-D477F1C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扩充材料、功率、速度和焊接状态，验证未见工况泛化。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0155F-4708-4160-ABBE-1410A7E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2952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4010B-3923-4AF9-B564-6F69CD9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AF800-180A-49C7-B0FA-AF88D51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C856E-9594-4B63-A867-98799D7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重建与分割仍独立运行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B730-F7F0-4773-80D0-5F76D635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串联 CUDA 重建与模型推理，形成从干涉谱到分割结果的端到端链路。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4DFA2-5751-4D04-8467-C76EFADB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展望的重点不是换一个更大的模型，而是围绕产线实时性和跨工况可靠性继续收敛。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E5A9C-83CC-4BCB-BDEC-2D8048E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Source: chapter/cp5.tex outlook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CE34A-3C27-4A04-8C88-714E5B2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544134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CFD6A-6536-432A-8ECC-1A2868A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2AB6-90E6-4753-BEA8-708820F6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AE53C-2024-4A41-83DA-874BF41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感谢各位老师批评指正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98FAD-4E15-46D3-8B94-7FAC5CC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630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9200E-3B7E-4D33-9227-B94DC2F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FD9E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FD9E2"/>
                </a:solidFill>
                <a:latin typeface="PingFang SC"/>
                <a:ea typeface="PingFang SC"/>
                <a:cs typeface="PingFang SC"/>
              </a:rPr>
              <a:t>激光焊接 OCT 图像重建与语义分割方法研究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C4E23-23A7-4917-B061-C017ED1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20A06-3EDA-43A6-B75E-FD88B09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0.74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30278-C66A-43CB-BAF9-795AE9B6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CUDA 单帧重建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04B3D-189E-4727-99EC-923C3CD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405D1-647F-44DF-A8EE-49D8DCC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6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D9E61-5748-43FF-B272-404B98BB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分割 mIoU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4554C-EF0C-4BDE-A7A9-C57E611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883D0-C644-4F03-804F-166D771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86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10.68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ECF83-2F2E-4ABE-9823-029BF69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2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HD95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8d8ec817d4488"/>
          <a:stretch xmlns:a="http://schemas.openxmlformats.org/drawingml/2006/main"/>
        </p:blipFill>
        <p:spPr>
          <a:xfrm xmlns:a="http://schemas.openxmlformats.org/drawingml/2006/main">
            <a:off x="7239000" y="1297586"/>
            <a:ext cx="3905250" cy="106242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E6FC3-123A-410B-A955-7D72D3FE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53CDB-3369-4FD4-8F99-CDF0ECD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从工程链路看：GPU 重建解决吞吐，双重注意力解决弱边界分割，两者共同服务在线熔深监测。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41414-9CFC-47FB-A947-47338F2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BA9B6"/>
                </a:solidFill>
                <a:latin typeface="PingFang SC"/>
                <a:ea typeface="PingFang SC"/>
                <a:cs typeface="PingFang SC"/>
              </a:rPr>
              <a:t>Defense deck generated from thesis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0F521-F422-4E62-AEC7-3B1E8F7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70848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2026-05-15T06:55:55.1720000Z</dcterms:created>
  <dcterms:modified xsi:type="dcterms:W3CDTF">2026-05-15T06:55:55.1720000Z</dcterms:modified>
</coreProperties>
</file>