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d66b847ec8479a" /><Relationship Type="http://schemas.openxmlformats.org/officeDocument/2006/relationships/extended-properties" Target="/docProps/app.xml" Id="R9af9e0179d28479b" /><Relationship Type="http://schemas.openxmlformats.org/officeDocument/2006/relationships/officeDocument" Target="/ppt/presentation.xml" Id="Rcf06d11fa52648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71260852a54d21"/>
  </p:sldMasterIdLst>
  <p:notesMasterIdLst>
    <p:notesMasterId xmlns:r="http://schemas.openxmlformats.org/officeDocument/2006/relationships" r:id="Rb88ef08a84bd4e0e"/>
  </p:notesMasterIdLst>
  <p:sldIdLst>
    <p:sldId xmlns:r="http://schemas.openxmlformats.org/officeDocument/2006/relationships" id="256" r:id="Re93e07b5e6124bea"/>
    <p:sldId xmlns:r="http://schemas.openxmlformats.org/officeDocument/2006/relationships" id="257" r:id="R3b572f9cce794cb8"/>
    <p:sldId xmlns:r="http://schemas.openxmlformats.org/officeDocument/2006/relationships" id="258" r:id="R1efc283545724df9"/>
    <p:sldId xmlns:r="http://schemas.openxmlformats.org/officeDocument/2006/relationships" id="259" r:id="Rd3118754bba9480a"/>
    <p:sldId xmlns:r="http://schemas.openxmlformats.org/officeDocument/2006/relationships" id="260" r:id="R63888e43d533429a"/>
    <p:sldId xmlns:r="http://schemas.openxmlformats.org/officeDocument/2006/relationships" id="261" r:id="R7cda5f9b95b44d90"/>
    <p:sldId xmlns:r="http://schemas.openxmlformats.org/officeDocument/2006/relationships" id="262" r:id="Rc8fe69cfbfa142c2"/>
    <p:sldId xmlns:r="http://schemas.openxmlformats.org/officeDocument/2006/relationships" id="263" r:id="R9188e445601d41b8"/>
    <p:sldId xmlns:r="http://schemas.openxmlformats.org/officeDocument/2006/relationships" id="264" r:id="R23ebb227dc3544ee"/>
    <p:sldId xmlns:r="http://schemas.openxmlformats.org/officeDocument/2006/relationships" id="265" r:id="Rab3f48fc2de145dc"/>
    <p:sldId xmlns:r="http://schemas.openxmlformats.org/officeDocument/2006/relationships" id="266" r:id="R63cf89859f1445f2"/>
    <p:sldId xmlns:r="http://schemas.openxmlformats.org/officeDocument/2006/relationships" id="267" r:id="Rce28a18fe8244d21"/>
    <p:sldId xmlns:r="http://schemas.openxmlformats.org/officeDocument/2006/relationships" id="268" r:id="R3e51803ef8e54b8f"/>
    <p:sldId xmlns:r="http://schemas.openxmlformats.org/officeDocument/2006/relationships" id="269" r:id="Reb4346c4eadd49af"/>
    <p:sldId xmlns:r="http://schemas.openxmlformats.org/officeDocument/2006/relationships" id="270" r:id="Re4c8a16d4c04415c"/>
    <p:sldId xmlns:r="http://schemas.openxmlformats.org/officeDocument/2006/relationships" id="271" r:id="R2a9849b2e8ba439f"/>
    <p:sldId xmlns:r="http://schemas.openxmlformats.org/officeDocument/2006/relationships" id="272" r:id="R05611ec9c1604642"/>
    <p:sldId xmlns:r="http://schemas.openxmlformats.org/officeDocument/2006/relationships" id="273" r:id="R3eba41d46e074d90"/>
    <p:sldId xmlns:r="http://schemas.openxmlformats.org/officeDocument/2006/relationships" id="274" r:id="R14da1542d19348f4"/>
    <p:sldId xmlns:r="http://schemas.openxmlformats.org/officeDocument/2006/relationships" id="275" r:id="R468bacffab6c46b5"/>
    <p:sldId xmlns:r="http://schemas.openxmlformats.org/officeDocument/2006/relationships" id="276" r:id="Rd70998f9633f46b8"/>
    <p:sldId xmlns:r="http://schemas.openxmlformats.org/officeDocument/2006/relationships" id="277" r:id="R0ea67950472c4380"/>
    <p:sldId xmlns:r="http://schemas.openxmlformats.org/officeDocument/2006/relationships" id="278" r:id="R9278c0931a4f4e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1260852a54d21" /><Relationship Type="http://schemas.openxmlformats.org/officeDocument/2006/relationships/theme" Target="/ppt/theme/theme1.xml" Id="R049d4d8cbfce4ea8" /><Relationship Type="http://schemas.openxmlformats.org/officeDocument/2006/relationships/notesMaster" Target="/ppt/notesMasters/notesMaster1.xml" Id="Rb88ef08a84bd4e0e" /><Relationship Type="http://schemas.openxmlformats.org/officeDocument/2006/relationships/presProps" Target="/ppt/presProps.xml" Id="Re5e7ed56cf9440bf" /><Relationship Type="http://schemas.openxmlformats.org/officeDocument/2006/relationships/viewProps" Target="/ppt/viewProps.xml" Id="R974c3e41951a4537" /><Relationship Type="http://schemas.openxmlformats.org/officeDocument/2006/relationships/tableStyles" Target="/ppt/tableStyles.xml" Id="R14496016bfc34231" /><Relationship Type="http://schemas.openxmlformats.org/officeDocument/2006/relationships/slide" Target="/ppt/slides/slide1.xml" Id="Re93e07b5e6124bea" /><Relationship Type="http://schemas.openxmlformats.org/officeDocument/2006/relationships/slide" Target="/ppt/slides/slide2.xml" Id="R3b572f9cce794cb8" /><Relationship Type="http://schemas.openxmlformats.org/officeDocument/2006/relationships/slide" Target="/ppt/slides/slide3.xml" Id="R1efc283545724df9" /><Relationship Type="http://schemas.openxmlformats.org/officeDocument/2006/relationships/slide" Target="/ppt/slides/slide4.xml" Id="Rd3118754bba9480a" /><Relationship Type="http://schemas.openxmlformats.org/officeDocument/2006/relationships/slide" Target="/ppt/slides/slide5.xml" Id="R63888e43d533429a" /><Relationship Type="http://schemas.openxmlformats.org/officeDocument/2006/relationships/slide" Target="/ppt/slides/slide6.xml" Id="R7cda5f9b95b44d90" /><Relationship Type="http://schemas.openxmlformats.org/officeDocument/2006/relationships/slide" Target="/ppt/slides/slide7.xml" Id="Rc8fe69cfbfa142c2" /><Relationship Type="http://schemas.openxmlformats.org/officeDocument/2006/relationships/slide" Target="/ppt/slides/slide8.xml" Id="R9188e445601d41b8" /><Relationship Type="http://schemas.openxmlformats.org/officeDocument/2006/relationships/slide" Target="/ppt/slides/slide9.xml" Id="R23ebb227dc3544ee" /><Relationship Type="http://schemas.openxmlformats.org/officeDocument/2006/relationships/slide" Target="/ppt/slides/slide10.xml" Id="Rab3f48fc2de145dc" /><Relationship Type="http://schemas.openxmlformats.org/officeDocument/2006/relationships/slide" Target="/ppt/slides/slide11.xml" Id="R63cf89859f1445f2" /><Relationship Type="http://schemas.openxmlformats.org/officeDocument/2006/relationships/slide" Target="/ppt/slides/slide12.xml" Id="Rce28a18fe8244d21" /><Relationship Type="http://schemas.openxmlformats.org/officeDocument/2006/relationships/slide" Target="/ppt/slides/slide13.xml" Id="R3e51803ef8e54b8f" /><Relationship Type="http://schemas.openxmlformats.org/officeDocument/2006/relationships/slide" Target="/ppt/slides/slide14.xml" Id="Reb4346c4eadd49af" /><Relationship Type="http://schemas.openxmlformats.org/officeDocument/2006/relationships/slide" Target="/ppt/slides/slide15.xml" Id="Re4c8a16d4c04415c" /><Relationship Type="http://schemas.openxmlformats.org/officeDocument/2006/relationships/slide" Target="/ppt/slides/slide16.xml" Id="R2a9849b2e8ba439f" /><Relationship Type="http://schemas.openxmlformats.org/officeDocument/2006/relationships/slide" Target="/ppt/slides/slide17.xml" Id="R05611ec9c1604642" /><Relationship Type="http://schemas.openxmlformats.org/officeDocument/2006/relationships/slide" Target="/ppt/slides/slide18.xml" Id="R3eba41d46e074d90" /><Relationship Type="http://schemas.openxmlformats.org/officeDocument/2006/relationships/slide" Target="/ppt/slides/slide19.xml" Id="R14da1542d19348f4" /><Relationship Type="http://schemas.openxmlformats.org/officeDocument/2006/relationships/slide" Target="/ppt/slides/slide20.xml" Id="R468bacffab6c46b5" /><Relationship Type="http://schemas.openxmlformats.org/officeDocument/2006/relationships/slide" Target="/ppt/slides/slide21.xml" Id="Rd70998f9633f46b8" /><Relationship Type="http://schemas.openxmlformats.org/officeDocument/2006/relationships/slide" Target="/ppt/slides/slide22.xml" Id="R0ea67950472c4380" /><Relationship Type="http://schemas.openxmlformats.org/officeDocument/2006/relationships/slide" Target="/ppt/slides/slide23.xml" Id="R9278c0931a4f4e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955f5a1ff3c47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9e6304e57747d8" /><Relationship Type="http://schemas.openxmlformats.org/officeDocument/2006/relationships/notesMaster" Target="/ppt/notesMasters/notesMaster1.xml" Id="R5aa83799014a42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dd7f5a842d4b61" /><Relationship Type="http://schemas.openxmlformats.org/officeDocument/2006/relationships/notesMaster" Target="/ppt/notesMasters/notesMaster1.xml" Id="R9913e896390f4a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4e40a348684570" /><Relationship Type="http://schemas.openxmlformats.org/officeDocument/2006/relationships/notesMaster" Target="/ppt/notesMasters/notesMaster1.xml" Id="R19bd3464ae854d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2449577e0a4b30" /><Relationship Type="http://schemas.openxmlformats.org/officeDocument/2006/relationships/notesMaster" Target="/ppt/notesMasters/notesMaster1.xml" Id="R8d07478920fe40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e6405beb734a47" /><Relationship Type="http://schemas.openxmlformats.org/officeDocument/2006/relationships/notesMaster" Target="/ppt/notesMasters/notesMaster1.xml" Id="R0417f103535d47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cae5fd07064734" /><Relationship Type="http://schemas.openxmlformats.org/officeDocument/2006/relationships/notesMaster" Target="/ppt/notesMasters/notesMaster1.xml" Id="R3cfa9bb0db5c41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1b3348238e4246" /><Relationship Type="http://schemas.openxmlformats.org/officeDocument/2006/relationships/notesMaster" Target="/ppt/notesMasters/notesMaster1.xml" Id="R4ac60d418e144e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066c4f50934a4e" /><Relationship Type="http://schemas.openxmlformats.org/officeDocument/2006/relationships/notesMaster" Target="/ppt/notesMasters/notesMaster1.xml" Id="R33d196d4c3f447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236448ce574bcb" /><Relationship Type="http://schemas.openxmlformats.org/officeDocument/2006/relationships/notesMaster" Target="/ppt/notesMasters/notesMaster1.xml" Id="Re97c1b37641c4c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a7f182f5e84dce" /><Relationship Type="http://schemas.openxmlformats.org/officeDocument/2006/relationships/notesMaster" Target="/ppt/notesMasters/notesMaster1.xml" Id="Rfb7ce90962a048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28baf0f62141b5" /><Relationship Type="http://schemas.openxmlformats.org/officeDocument/2006/relationships/notesMaster" Target="/ppt/notesMasters/notesMaster1.xml" Id="R1081f59d5f4048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1ad2639b9a4718" /><Relationship Type="http://schemas.openxmlformats.org/officeDocument/2006/relationships/notesMaster" Target="/ppt/notesMasters/notesMaster1.xml" Id="R4663790a1ef94f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37582cca6e40d0" /><Relationship Type="http://schemas.openxmlformats.org/officeDocument/2006/relationships/notesMaster" Target="/ppt/notesMasters/notesMaster1.xml" Id="R83aeaeea60ac46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e7d7ed6c304564" /><Relationship Type="http://schemas.openxmlformats.org/officeDocument/2006/relationships/notesMaster" Target="/ppt/notesMasters/notesMaster1.xml" Id="R694def9a42ee4a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a6f491c5d44123" /><Relationship Type="http://schemas.openxmlformats.org/officeDocument/2006/relationships/notesMaster" Target="/ppt/notesMasters/notesMaster1.xml" Id="R0958b85840884a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21111db0ba4311" /><Relationship Type="http://schemas.openxmlformats.org/officeDocument/2006/relationships/notesMaster" Target="/ppt/notesMasters/notesMaster1.xml" Id="Raf17cabf0d124a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5d60a7b91841ea" /><Relationship Type="http://schemas.openxmlformats.org/officeDocument/2006/relationships/notesMaster" Target="/ppt/notesMasters/notesMaster1.xml" Id="Racdbd5b2b2d447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d54af779b94f41" /><Relationship Type="http://schemas.openxmlformats.org/officeDocument/2006/relationships/notesMaster" Target="/ppt/notesMasters/notesMaster1.xml" Id="R3371af8715904a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dc9362800047f3" /><Relationship Type="http://schemas.openxmlformats.org/officeDocument/2006/relationships/notesMaster" Target="/ppt/notesMasters/notesMaster1.xml" Id="Rfd368e91271e48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132570c16e747f5" /><Relationship Type="http://schemas.openxmlformats.org/officeDocument/2006/relationships/notesMaster" Target="/ppt/notesMasters/notesMaster1.xml" Id="R77be5a9a19a849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5edc4a274649fb" /><Relationship Type="http://schemas.openxmlformats.org/officeDocument/2006/relationships/notesMaster" Target="/ppt/notesMasters/notesMaster1.xml" Id="R267d12c511a043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9ead4b8e564717" /><Relationship Type="http://schemas.openxmlformats.org/officeDocument/2006/relationships/notesMaster" Target="/ppt/notesMasters/notesMaster1.xml" Id="Re6a4c814e14645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c759d3ec8184419" /><Relationship Type="http://schemas.openxmlformats.org/officeDocument/2006/relationships/notesMaster" Target="/ppt/notesMasters/notesMaster1.xml" Id="R9a448f19adc6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f6ddd600c4ad6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b7aead98f4755" /><Relationship Type="http://schemas.openxmlformats.org/officeDocument/2006/relationships/theme" Target="/ppt/theme/theme1.xml" Id="R79b03804bcc049da" /><Relationship Type="http://schemas.openxmlformats.org/officeDocument/2006/relationships/slideLayout" Target="/ppt/slideLayouts/slideLayout2.xml" Id="Rfb65e2b1bde043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f88b7aead98f4755"/>
    <p:sldLayoutId xmlns:r="http://schemas.openxmlformats.org/officeDocument/2006/relationships" id="2147483649" r:id="Rfb65e2b1bde043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cd53dd360c4f53" /><Relationship Type="http://schemas.openxmlformats.org/officeDocument/2006/relationships/image" Target="/ppt/media/image.png" Id="R64f77bedf26e4847" /><Relationship Type="http://schemas.openxmlformats.org/officeDocument/2006/relationships/notesSlide" Target="/ppt/notesSlides/notesSlide1.xml" Id="Rd0492152808740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d75a4a0d604718" /><Relationship Type="http://schemas.openxmlformats.org/officeDocument/2006/relationships/image" Target="/ppt/media/image2.png" Id="R67ae5c2057e9478a" /><Relationship Type="http://schemas.openxmlformats.org/officeDocument/2006/relationships/image" Target="/ppt/media/image3.png" Id="R7e2de56449154f80" /><Relationship Type="http://schemas.openxmlformats.org/officeDocument/2006/relationships/notesSlide" Target="/ppt/notesSlides/notesSlide2.xml" Id="R79606cc60005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45e8e321e4b96" /><Relationship Type="http://schemas.openxmlformats.org/officeDocument/2006/relationships/notesSlide" Target="/ppt/notesSlides/notesSlide3.xml" Id="Ra6cda0e49aa844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82fc8383d04a7c" /><Relationship Type="http://schemas.openxmlformats.org/officeDocument/2006/relationships/notesSlide" Target="/ppt/notesSlides/notesSlide4.xml" Id="R9d2f65b0a2d84f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ed7afdbe64303" /><Relationship Type="http://schemas.openxmlformats.org/officeDocument/2006/relationships/notesSlide" Target="/ppt/notesSlides/notesSlide5.xml" Id="Rf3b41cfd304847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4e6c9fc8934b3c" /><Relationship Type="http://schemas.openxmlformats.org/officeDocument/2006/relationships/image" Target="/ppt/media/image4.png" Id="Rbeff8829be084bb9" /><Relationship Type="http://schemas.openxmlformats.org/officeDocument/2006/relationships/image" Target="/ppt/media/image5.png" Id="R4eced30efc784244" /><Relationship Type="http://schemas.openxmlformats.org/officeDocument/2006/relationships/notesSlide" Target="/ppt/notesSlides/notesSlide6.xml" Id="Rae8818f3701947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26a26192724f81" /><Relationship Type="http://schemas.openxmlformats.org/officeDocument/2006/relationships/image" Target="/ppt/media/image6.png" Id="Rff8608069b2341f4" /><Relationship Type="http://schemas.openxmlformats.org/officeDocument/2006/relationships/notesSlide" Target="/ppt/notesSlides/notesSlide7.xml" Id="R6843081fecda4b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3242d8eb54dab" /><Relationship Type="http://schemas.openxmlformats.org/officeDocument/2006/relationships/notesSlide" Target="/ppt/notesSlides/notesSlide8.xml" Id="Rb514dd23b77c48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e57b977ca0430d" /><Relationship Type="http://schemas.openxmlformats.org/officeDocument/2006/relationships/image" Target="/ppt/media/image7.png" Id="R87aee99558fe479a" /><Relationship Type="http://schemas.openxmlformats.org/officeDocument/2006/relationships/notesSlide" Target="/ppt/notesSlides/notesSlide9.xml" Id="Rd9bf3dd7d37d41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0e8c8756cd4d59" /><Relationship Type="http://schemas.openxmlformats.org/officeDocument/2006/relationships/notesSlide" Target="/ppt/notesSlides/notesSlide10.xml" Id="R570f9b853f2f48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7de53d37594d24" /><Relationship Type="http://schemas.openxmlformats.org/officeDocument/2006/relationships/notesSlide" Target="/ppt/notesSlides/notesSlide11.xml" Id="R920b93e7e93a43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7cc61354234a65" /><Relationship Type="http://schemas.openxmlformats.org/officeDocument/2006/relationships/notesSlide" Target="/ppt/notesSlides/notesSlide12.xml" Id="R19ee2657bd6640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1be9e0d97943b1" /><Relationship Type="http://schemas.openxmlformats.org/officeDocument/2006/relationships/image" Target="/ppt/media/image8.png" Id="R523362c6f4114d9c" /><Relationship Type="http://schemas.openxmlformats.org/officeDocument/2006/relationships/notesSlide" Target="/ppt/notesSlides/notesSlide13.xml" Id="R36c49ba82dbf4f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e9a15f1fc549fc" /><Relationship Type="http://schemas.openxmlformats.org/officeDocument/2006/relationships/image" Target="/ppt/media/image9.png" Id="R2389f4111ec74340" /><Relationship Type="http://schemas.openxmlformats.org/officeDocument/2006/relationships/notesSlide" Target="/ppt/notesSlides/notesSlide14.xml" Id="Raf9b7c8ba1c84f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c46556de124b20" /><Relationship Type="http://schemas.openxmlformats.org/officeDocument/2006/relationships/image" Target="/ppt/media/image10.png" Id="R785bff9cf1074f35" /><Relationship Type="http://schemas.openxmlformats.org/officeDocument/2006/relationships/notesSlide" Target="/ppt/notesSlides/notesSlide15.xml" Id="Raf8b7916baa344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124d5ef98a472d" /><Relationship Type="http://schemas.openxmlformats.org/officeDocument/2006/relationships/notesSlide" Target="/ppt/notesSlides/notesSlide16.xml" Id="Ra9f257f0531c4b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c829868b604873" /><Relationship Type="http://schemas.openxmlformats.org/officeDocument/2006/relationships/notesSlide" Target="/ppt/notesSlides/notesSlide17.xml" Id="Rd70247e12e2f4b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af485ee3be4bbe" /><Relationship Type="http://schemas.openxmlformats.org/officeDocument/2006/relationships/image" Target="/ppt/media/image11.png" Id="R5e8f6ff587014f07" /><Relationship Type="http://schemas.openxmlformats.org/officeDocument/2006/relationships/image" Target="/ppt/media/image12.png" Id="Rdacdc2c16db14498" /><Relationship Type="http://schemas.openxmlformats.org/officeDocument/2006/relationships/image" Target="/ppt/media/image13.png" Id="Rff9f760a11e54fb5" /><Relationship Type="http://schemas.openxmlformats.org/officeDocument/2006/relationships/image" Target="/ppt/media/image14.png" Id="R3f9bef98cb764975" /><Relationship Type="http://schemas.openxmlformats.org/officeDocument/2006/relationships/image" Target="/ppt/media/image15.png" Id="R0be87979ad284d8d" /><Relationship Type="http://schemas.openxmlformats.org/officeDocument/2006/relationships/image" Target="/ppt/media/image16.png" Id="R6a8bb12840924681" /><Relationship Type="http://schemas.openxmlformats.org/officeDocument/2006/relationships/notesSlide" Target="/ppt/notesSlides/notesSlide18.xml" Id="R10f0b017c9ee4b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a6057939542b2" /><Relationship Type="http://schemas.openxmlformats.org/officeDocument/2006/relationships/notesSlide" Target="/ppt/notesSlides/notesSlide19.xml" Id="R4c78d2be9cb24a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5a00c8800f418a" /><Relationship Type="http://schemas.openxmlformats.org/officeDocument/2006/relationships/notesSlide" Target="/ppt/notesSlides/notesSlide20.xml" Id="R96a13db78af04e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24dd1beba34ed6" /><Relationship Type="http://schemas.openxmlformats.org/officeDocument/2006/relationships/notesSlide" Target="/ppt/notesSlides/notesSlide21.xml" Id="R59ce345b7ec447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775d8fc21a4cdb" /><Relationship Type="http://schemas.openxmlformats.org/officeDocument/2006/relationships/notesSlide" Target="/ppt/notesSlides/notesSlide22.xml" Id="Ra761075d41754c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fa8b0f94224c8e" /><Relationship Type="http://schemas.openxmlformats.org/officeDocument/2006/relationships/image" Target="/ppt/media/image17.png" Id="R254680d2d7fd4fde" /><Relationship Type="http://schemas.openxmlformats.org/officeDocument/2006/relationships/notesSlide" Target="/ppt/notesSlides/notesSlide23.xml" Id="Rf8cd0cc2ecf347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B0227-6156-4059-910F-6F8FE628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D5DB6-8D68-4865-ABFA-E839F7F0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77bedf26e4847"/>
          <a:srcRect xmlns:a="http://schemas.openxmlformats.org/drawingml/2006/main" l="10952" t="0" r="109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666750"/>
            <a:ext cx="4591050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B6AC2-DB9A-4E0A-ACC7-7EF59A6B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4591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4344E-741B-4F76-84E5-8853F09C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459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23978-F16A-406F-BA15-1D65D8F4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C1EE7-C978-4B62-AFE0-B9F3128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BD0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BD0D8"/>
                </a:solidFill>
                <a:latin typeface="PingFang SC"/>
                <a:ea typeface="PingFang SC"/>
                <a:cs typeface="PingFang SC"/>
              </a:rPr>
              <a:t>硕士学位论文答辩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49E31-E807-4B08-B2ED-5BEEA5A2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609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3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激光焊接OCT图像重建与语义分割方法研究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4FF3E-239A-4EEC-A958-EB728B1F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6D3D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C6D3DB"/>
                </a:solidFill>
                <a:latin typeface="Avenir Next"/>
                <a:ea typeface="Avenir Next"/>
                <a:cs typeface="Avenir Next"/>
              </a:rPr>
              <a:t>Research on OCT Image Reconstruction and Semantic Segmentation for Laser Welding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99D0E-93D3-4851-83B1-6F5645B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4EEF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4EEF3"/>
                </a:solidFill>
                <a:latin typeface="PingFang SC"/>
                <a:ea typeface="PingFang SC"/>
                <a:cs typeface="PingFang SC"/>
              </a:rPr>
              <a:t>谢智捷  |  导师：万明明  |  深圳大学  | 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00C3D-DB02-4BA2-A3D8-3D1C98FA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F78EE-D719-4F0B-B140-9DA42E87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1351k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5EA42-0614-4174-A65B-47F02542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A-line/s CUDA 重建速率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1B9B6-A99F-4F7A-B612-F74B6D26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331E0-5074-4C9F-98FA-5B30ABF8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3A5DE-F46F-419A-AB56-E559E88E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721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改进模型 mIoU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BB50C-0FF3-45CF-9C54-6B95B985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00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6D904-28EA-4ADF-9DC2-C9627327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34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-53.3%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BCF21-9425-424E-AA31-CA416DF9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721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相对 TransUNet 显存占用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972E4-AF00-486E-97E6-13307D20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4825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3F8FA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3F8FA"/>
                </a:solidFill>
                <a:latin typeface="Songti SC"/>
                <a:ea typeface="Songti SC"/>
                <a:cs typeface="Songti SC"/>
              </a:rPr>
              <a:t>从干涉谱到匙孔掩膜：把在线监测链路中“算不动”和“分不准”的问题拆开解决。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95F13-94E6-41EF-B6E1-E868F5E8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BA9B6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BA9B6"/>
                </a:solidFill>
                <a:latin typeface="PingFang SC"/>
                <a:ea typeface="PingFang SC"/>
                <a:cs typeface="PingFang SC"/>
              </a:rPr>
              <a:t>Source: thesis abstract and Chapter 3-4 metrics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97CCF-CDB0-4AF9-8616-E9099C9B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983119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0D561C-005D-4417-AA24-0D354F0D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E5FD6-76A6-46DF-8BE4-E17C954E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50B63-8971-4526-81DD-FDA87E0F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518D6-43C6-48C2-8F35-6ACFEB62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01 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2998A-79FF-41F4-B8C1-02A1BF51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熔深在线测量不能只看得到，还必须算得快、分得稳。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e5c2057e9478a"/>
          <a:srcRect xmlns:a="http://schemas.openxmlformats.org/drawingml/2006/main" l="62" t="0" r="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952625"/>
            <a:ext cx="3905250" cy="24193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de56449154f80"/>
          <a:srcRect xmlns:a="http://schemas.openxmlformats.org/drawingml/2006/main" l="47" t="0" r="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952625"/>
            <a:ext cx="3905250" cy="2419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53B9B-92FC-481B-AA43-9950ED8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 OCT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051E9-764B-4E78-BD35-33346CBF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95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匙孔标注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F88E9-E430-47A9-88DF-3AB97FFE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5C95F-88F9-49BC-8F06-66AD9B29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CFBFC-9E39-4B10-830B-9FA91259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050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重建瓶颈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AB109-1470-44B7-9102-B3B477BF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90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干涉谱到深度图像需经过 8 个后处理步骤，CPU 串行无法匹配 82 kHz A 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76843-368A-45EB-A67B-9D46ED06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9037E-7BD8-473A-8F56-9292CA9D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EC0C5-AE00-40BF-A6BB-6AF00CF3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图像瓶颈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80E79-DDC5-49F3-8DDE-0E19B3E8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05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散斑噪声、边界模糊、目标与背景对比低，使匙孔区域难稳定提取。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0F24A-6E3C-4546-B8C7-1DC7641E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8147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1EEEA-2DB5-40D3-9BA6-50940BF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814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82B5C-6860-4CB6-ABB3-D9A09CB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338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控制需求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B6D27-BCDC-41D1-9801-3613E5AC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96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焊接闭环控制需要毫秒级反馈，分割误差会直接传递到熔深估计。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8A666-3373-4F89-9FE3-B66A8156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答辩主线：实时重建链路 + 高精度匙孔语义分割。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0BA51-380C-456C-AD22-77219A62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chapter/cp1.tex; OCT keyhole examples from figure/cp1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65DA4-41AA-4A22-84E9-4C46696B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72757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958B39-7333-4E4B-9FA2-AD48659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681F3-A26C-4D80-9CB2-00461885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3815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654F4-6189-45DC-B8B2-3F73F9D6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02A  OCT ACQUISITION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E2255-2DAF-454A-A6A0-B075684B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7810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OCT 图像采集系统可以被讲成“光源、干涉、探测、焊接匙孔”四个部分。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0193A-6B26-4A56-8AD3-8175F812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F5D7C-95C0-472E-90C1-A648C9E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615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02A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2B211-6833-49BF-9AD2-430228E8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19250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80CE9-AD56-4181-8539-D60EFCFE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1695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270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4EEC5-20C2-48AC-A502-3CBF3E4B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0975" y="17145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03987-BD59-4AAF-96D1-53BBAD3E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1695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宽带光源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47718-ACE6-4C15-9FAF-7B078EE7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1924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Light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20CE8-8F45-4196-9700-0FA51BD3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2324100"/>
            <a:ext cx="8382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D0E8">
              <a:alpha val="31373"/>
            </a:srgbClr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186F0-4100-4276-BB34-0E7BF594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2000250"/>
            <a:ext cx="171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8AD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D051B-A894-4C4C-8630-2F514418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67175" y="2562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F38ED-9B55-4286-B1E9-E3F35A6A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914775" y="32385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46713-6B94-4365-90E0-EF807D99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3676650" y="310515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8CE"/>
          </a:solidFill>
          <a:ln xmlns:a="http://schemas.openxmlformats.org/drawingml/2006/main" w="9525">
            <a:solidFill>
              <a:srgbClr val="2B6F9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5AD68-3CBD-4639-98F7-43FBEB33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298132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分束器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8CA0C-194B-48B5-8DFB-475D7B0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31813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Beamsplitter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D6D1B-5E32-4CE1-9CE9-FA4BB922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175" y="31051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8AD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E6916-DA88-4033-9D67-DE8A0BBF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714750" y="3267075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A7551-D00F-4AF1-A299-2FB201C8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228850" y="32004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B3664-AECA-4849-A29A-209F1835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962150" y="262890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A72106-95E7-4FE4-9337-3E6BA1A9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26860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传感器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00B66-B27C-4AF5-A5EF-FB2077E5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29146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Sensor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551C9-ADF5-41BD-87D6-1C279F7B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37338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B48B5-11DF-49E6-A212-8787B71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3105150"/>
            <a:ext cx="2228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8AD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84322-64A8-4B9B-8AB0-D3AB0A98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267075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4006D0-CCB9-4012-8236-5419AC8A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57950" y="32004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CAEABA-1DA2-4484-B989-93B6683C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714625"/>
            <a:ext cx="20955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D0E8">
              <a:alpha val="31373"/>
            </a:srgbClr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CC60A-698C-4AD2-B9D9-F6ED80E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300" y="2724150"/>
            <a:ext cx="285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DE571-439E-481E-AACC-24EB2930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6860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参考镜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7D804-BCA9-45AC-86FC-567FB355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9146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Reference mirror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CFD062-A961-474F-98EE-B826E64A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4005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激光器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9796AE-3F3D-4E51-A978-94DE9FDC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629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Laser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3CDD05-44DE-4264-AEA0-A5B85BA8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45339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CB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294B66-C853-4215-B01B-1BFABF3A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343400"/>
            <a:ext cx="2286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D0E8">
              <a:alpha val="31373"/>
            </a:srgbClr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01CA3D-986C-4321-BE8A-D0C7B19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411480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8A0ECC-7380-40BE-B498-E1A11E8D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44005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焊接头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456DB1-5A78-49D6-B069-EC63B569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46291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Welding head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A78864-E565-42C3-AE92-56FFC8ED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5010150"/>
            <a:ext cx="83820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D0E8">
              <a:alpha val="31373"/>
            </a:srgbClr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AA288B-538E-4953-B1C3-7D612977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3238500"/>
            <a:ext cx="1714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8AD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F9DDDD-5C6E-430F-8B7C-7357BFEE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91025" y="46767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50DECE-45D7-4FBE-84ED-646191CC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38625" y="52768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029CEB-9D44-4339-8278-80386D13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5581650"/>
            <a:ext cx="2305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255A99-0E6F-4BC4-B487-CFD3AD6F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558165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715BDC-8C22-441B-805F-DAE0DA5E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5476875"/>
            <a:ext cx="5334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44A">
              <a:alpha val="56471"/>
            </a:srgbClr>
          </a:solidFill>
          <a:ln xmlns:a="http://schemas.openxmlformats.org/drawingml/2006/main" w="9525">
            <a:solidFill>
              <a:srgbClr val="A66F1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1DD88C-EE7C-4E86-89F7-F43B2B6A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676900"/>
            <a:ext cx="4381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19050">
            <a:solidFill>
              <a:srgbClr val="2F5C8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58FA75-C11E-4B4F-9F87-88189E7F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6388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BAD387-84E6-4F19-9AD9-464B1C28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57531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样品 / 匙孔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3D6877-93AE-4224-8B62-956111EA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5981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Sample / keyhole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1158E5-AF4D-41D2-9115-38821FA7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1790700"/>
            <a:ext cx="2514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6359E0-C19F-4CB8-A861-6E3EED09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1790700"/>
            <a:ext cx="2514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0C407F-8D13-4D1F-8A6C-D0EEB92D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19621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采集核心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FB9804-7C59-4A09-8469-72909BA0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2669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参考光与样品反射光在分束器处形成干涉，传感器获得光谱干涉信号。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1F76F4-4A82-40FD-B172-B1F5F26F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2990850"/>
            <a:ext cx="2514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286877-4DE2-473D-9356-76127923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2990850"/>
            <a:ext cx="2514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3E52BF-FDB2-43C6-B8BB-8DAED281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31623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焊接场景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8753D0-388C-466A-A613-0DA30FA1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34671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OCT 测量光进入匙孔，反射信息提供熔深在线测量依据。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03EBCA-47C7-436E-B27E-D1CE365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191000"/>
            <a:ext cx="2514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844137-7E9B-4B81-B078-9EEB4209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191000"/>
            <a:ext cx="2514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C56156-6B13-47BD-8F18-2C7EE482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43624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答辩讲法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569C4D-E1E9-44C8-9477-5F742473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46672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这张图用于说明：OCT 是主动探测深度结构，不只是表面视觉监测。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6563AA-C6A3-420C-9E5F-214D428D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65341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新增示意图：根据论文 OCT 采集原理重绘，采用 PPT 原生形状，便于答辩现场编辑。</a:t>
            </a:r>
          </a:p>
        </p:txBody>
      </p:sp>
    </p:spTree>
    <p:extLst>
      <p:ext uri="{BB962C8B-B14F-4D97-AF65-F5344CB8AC3E}">
        <p14:creationId xmlns:p14="http://schemas.microsoft.com/office/powerpoint/2010/main" val="21474270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789F35-B42D-4CED-AA92-A1041CE8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8E10B-335E-4E62-8493-5804A378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65181-C92D-40C0-9931-74AEBF2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ECDF2-F4CE-411B-8F49-E90FE27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02 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586DD-6947-4426-9EC4-BD10E5A1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技术路线把采集、重建、标注和分割串成一条在线监测链。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71E0C-211A-4C09-A668-E2DEE56D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42BB9-1EF1-4138-957E-38B7173C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CE9A1-69DD-4041-A95D-83D79551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原始干涉谱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B473F-0BDA-43BB-A548-466F8F5C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SD-OCT 采集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N=2048 采样点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B3F08-104B-4C06-BAFF-6182EE9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C6AAB-8C4E-427B-983F-1C6F2F97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194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BF297-4C8D-4F96-8298-E041826A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2658E-67DA-4BD0-A824-CACF02CA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49F93-B060-472F-82FA-D49769D6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重建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E92CC-66FA-4952-9B51-40B1ED69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 步后处理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K 线性化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53B57-E9A1-4E65-A2FD-36C55E0D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7903E-D845-4CE4-8202-E44B755C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194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7A955-7A02-4903-8F85-892A44A4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CCDA7-0D9C-4A92-9E54-BCD27931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BDF76-953A-41BC-84C1-8EFB1921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OCT 深度图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FCDAF-CBDE-4C8C-B95C-148C6D63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GPU 端输出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灰度 B 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C6BD6-F582-45FE-B156-CEFAA486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E5927-FC50-48EF-A85A-D81F8DD9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194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61B38-D597-4D5E-B526-6FFD44D4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17FAC-5B22-4E56-9308-FAACDD34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861375-7A27-427A-B668-3067C390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数据集标注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8A65B-D73C-461D-A291-615022E2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912 训练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228 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513D1-92CA-4D27-922F-76C7ADF0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53DF74-A952-47C2-9CFD-D84A793F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77CA2F-6A79-4125-93E5-455DDFB9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DD146-B08B-4E8E-A4ED-DF69106E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30A9B-241D-4CC5-BA11-900CF7FF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+ SAE 分割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0C3938-0384-413B-9EF5-C498F08A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全局连续性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边界精度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58C3D-0F02-4116-B1FB-F9CB090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0AEC8C-394D-43E7-817D-75BC6A94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194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4E381-2B5F-4DAD-9C8E-68D7956E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E7B9E8-5BD9-4820-8A24-3B91DF76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E7BC72-00C9-457A-AD8D-E6140B36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熔深估计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34BDFB-1578-445F-B329-3DF7CD0A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匙孔掩膜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在线质量评价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B5EBB5-AAB2-4425-9D19-C9F09742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506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8323C2-A535-4425-8280-5D682A31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91050"/>
            <a:ext cx="506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C21F80-FE26-4EB9-B536-E8195B14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贡献一：重建实时化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2CDD84-CDD7-4231-A870-BBFBA868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流水线 + PCR 并行求解 + 统一内存优化。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4848C9-5081-4A71-82F6-3D1CF24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贡献二：分割鲁棒化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A160CA-9C55-496A-B8D4-7426B45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编码端 TR 建结构，解码端 SAE 强边界。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045905-2CF4-4261-9369-E9F43BFB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thesis abstract; Chapter 3 and Chapter 4 method structure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D269DC-1576-4CEE-87EB-2B860CC1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45043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37B89-418E-4077-9F43-0D2704E6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D4EAC-66F3-43F9-97F0-4CF947B6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3815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CDBEA-58F0-47CF-B440-2466F9B2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03A  DATA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9A1FE-2847-4F05-9838-64D3D541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7810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从 OCT 采集到匙孔掩膜，是一条“光谱数据 → 重建图像 → 语义分割”的处理链。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B1D01-C85E-4CFF-899B-C00D5158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0EAB3-9AA9-4E28-AF30-371E631E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615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03A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35D8B-7B0F-44D3-9314-E56CD192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247900"/>
            <a:ext cx="1466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DC96F-32FB-4C0D-BE78-C8C012D8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2479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7DB7D-8DE7-4248-824D-CCA30AA2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4193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OCT 采集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B98A9-5C58-4449-82CD-2DD95424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724150"/>
            <a:ext cx="1162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光谱仪获取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原始干涉谱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82DD4-991B-455D-9BFB-E62DD294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29051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43949-C70B-4A89-8B5B-5625F8D0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09800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A9654-4852-45D6-9F8B-779DAB92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247900"/>
            <a:ext cx="1466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9B07B-86ED-4BDC-8B42-D8D90970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2479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BAD52-7E81-431E-9317-44856703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24193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原始矩阵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F8304-4138-40FF-B160-9E6892E1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2724150"/>
            <a:ext cx="1162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M × N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N = 2048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0F339-63D8-4789-97CD-904F23BF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29051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CC381-88EF-4961-A002-3AD17F0D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02ED9-FB23-44BE-B2D4-BBFEAA92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2247900"/>
            <a:ext cx="1466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C0C01-BDDE-459A-B0DF-A548232C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22479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717C5-4D76-40BC-A6CC-F6989726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4193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后处理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B8417-BFBD-443F-8B3F-EE859C46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724150"/>
            <a:ext cx="1162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光谱整形 / 背景扣除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K 线性化 / FFT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AF38B-0D23-4E52-BD29-10406E78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29051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893C06-9B63-4D16-B93A-3E9C7825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81700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6EBF82-BEAF-43F7-9E77-03CB0880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247900"/>
            <a:ext cx="1466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614D7-6CEB-4F55-8B6D-D300EAC4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2479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A1377-B4CD-4240-834A-921B6DE2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4193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 扫深度图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A6A52C-827A-4491-9EAB-C99DDFFD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724150"/>
            <a:ext cx="1162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幅值提取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灰度映射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40C23-1FFE-4B47-B6D7-73A2A39E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29051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6572D0-EF42-417D-AE2D-071FEC84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67650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B51D68-5A2B-416C-B967-FDCD3F73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247900"/>
            <a:ext cx="1466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59DDB7-4ADD-4797-A2B6-E19836EB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2479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BA4FF9-3394-4FB3-ADBA-B6EFFFA9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4193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+ SAE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7BFED0-7978-4C56-8927-001DE678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724150"/>
            <a:ext cx="1162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结构连续性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边界精度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EF18C3-F75F-4370-80CC-3481B198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9051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209F56-5B7B-4C8E-9C21-9A456E8F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53600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45CA33-5440-474B-B7A8-D6C17D99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247900"/>
            <a:ext cx="1466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7D8644-4538-4571-B332-FC94AB9D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2479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5B47C8-C78B-448C-8A2C-6EF95E5B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24193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匙孔掩膜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982764-3F7F-4696-B108-6D827905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2724150"/>
            <a:ext cx="1162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熔深估计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质量反馈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43BF91-F593-4447-88BC-2FF53176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41960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60CDF4-0A9F-491A-9284-68C45390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41960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92B23D-9D90-41D2-B065-60600AD4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629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重建链路解决实时性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2FDDD2-D0B6-443A-8E6F-620B828B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46291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 个后处理步骤全部迁移到 GPU；M=1000 时 0.74 ms / 帧，1351k A-line/s。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56A6E8-BB3E-4B7B-9230-E9F5D071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41960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1B563C-FCEB-4015-9669-983F281D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41960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EDE0CD-9924-4544-BB8E-CCCAEE5C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4629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分割链路解决稳定性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9B0329-1B0F-42F7-8DE0-F34FB51D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6291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建立全局连续性，SAE 提升边界定位；最终 mIoU = 0.911。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683CB7-B3D2-4AED-8A01-EEA0D9EC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56769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讲解建议：先讲左半段为什么“算得动”，再讲右半段为什么“分得准”。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4D40D6-7CFB-4C04-A281-3B62B43F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65341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新增流程图：把论文第三章和第四章合并成一条答辩叙事链。</a:t>
            </a:r>
          </a:p>
        </p:txBody>
      </p:sp>
    </p:spTree>
    <p:extLst>
      <p:ext uri="{BB962C8B-B14F-4D97-AF65-F5344CB8AC3E}">
        <p14:creationId xmlns:p14="http://schemas.microsoft.com/office/powerpoint/2010/main" val="16717101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C3B4E-0EC0-4E20-8538-E8E2BC2B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8C082-87EE-4A2E-8CE4-48CE5316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767E6-143F-46DE-8F95-C7B70948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D7828-E67F-4C4E-87DB-9796A532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03 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CE0A0-1E80-4E13-86B2-DB1F3EAD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自建焊接 OCT 数据集把任务定义为像素级匙孔提取。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96735-03C2-4A72-BBA7-00607BD6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A54C0-5A32-4AAB-8328-827C20CF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912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F3BEA-3131-4421-B779-8EAE2020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训练图像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480B6-3596-44CF-B400-E93F50CA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43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00C5B-82C3-4C2B-88B7-969536E9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66DF6-D04C-4699-B0AD-FBEEF81A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146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测试图像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9DC00-8A68-490B-8E58-D382E944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05754-68FC-4BBA-9A03-61CC710F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512×512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E391C-C304-43AF-8B45-12BB138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模型输入尺寸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062ED-421F-4E27-831A-BD462971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43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2F0ED-B533-458B-B60F-D12B0E55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BCE + Dice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B461B-DC29-4448-B637-7ABDEAAA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146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混合损失缓解类别不平衡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544C8-8B72-420B-91F5-ACDF3323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762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A7761-3C0C-40FD-9BF8-A7C6E678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95650"/>
            <a:ext cx="4762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f8829be084bb9"/>
          <a:stretch xmlns:a="http://schemas.openxmlformats.org/drawingml/2006/main"/>
        </p:blipFill>
        <p:spPr>
          <a:xfrm xmlns:a="http://schemas.openxmlformats.org/drawingml/2006/main">
            <a:off x="1836305" y="3486150"/>
            <a:ext cx="2309091" cy="14287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ed30efc784244"/>
          <a:stretch xmlns:a="http://schemas.openxmlformats.org/drawingml/2006/main"/>
        </p:blipFill>
        <p:spPr>
          <a:xfrm xmlns:a="http://schemas.openxmlformats.org/drawingml/2006/main">
            <a:off x="7096162" y="3486150"/>
            <a:ext cx="2304976" cy="1428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43A2E-EFF8-49A1-AB0D-DB8B99F8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输入：重建后的 OCT 图像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B0ABC-3167-4706-B90E-F37ED192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10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输出：匙孔区域二值掩膜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2D5488-6FBF-482A-8147-A03228E7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评价指标覆盖区域重叠、类别准确率、Dice 与边界距离，避免只用单一精度指标评价弱边界分割。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B6E801-27AB-44C0-B017-7B99299E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chapter/abstract.tex and chapter/cp4.tex training configuration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F24F2-671F-4CD9-B393-6D18358C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35708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2DDE93-D848-445F-B881-D1C8968C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2995C-9E99-4CCE-B8C8-441EEAB5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BF645-98D9-485E-8A95-5FD04A7D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2C9BE-D27E-40EA-AD01-826620DA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04  CUDA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83CB1-B2D3-4D3E-AE35-1B1D4DA1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8 步 SD-OCT 后处理全部迁移到 GPU，瓶颈集中在 K 线性化与 FFT。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2A003-B7FF-41D7-B145-EB22B5EA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7905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608069b2341f4"/>
          <a:stretch xmlns:a="http://schemas.openxmlformats.org/drawingml/2006/main"/>
        </p:blipFill>
        <p:spPr>
          <a:xfrm xmlns:a="http://schemas.openxmlformats.org/drawingml/2006/main">
            <a:off x="1842253" y="2000250"/>
            <a:ext cx="5326144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76304-3D0A-406E-9960-0EEEAB75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10B98-E022-45B8-BD4C-2F21622E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F73AE-DDC2-4947-A076-BBCE85B1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19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计算密集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B50CC-551B-4F21-A6A8-95346E9C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K 线性化要求每条 A 扫求解 2048 阶三对角方程组。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6840B-0B9C-4FAA-BCD7-015A5589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0CED8-8386-4F04-B2E9-6E8305B9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F15FD-7684-4619-99BF-07A21867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数据驻留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F22F4-C2E2-45C8-B056-AA8815E7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67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单次输入、全程设备端、单次输出，减少 PCIe 往返。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7DFA2-5AC0-405E-BE8F-83E40E47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340E0-B99F-4B45-8062-02F6F901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62984-D846-4FFA-98AE-2B9584E2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434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存储层次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99D24-5CA0-417A-B529-718A5A08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常量内存存节点，共享内存做 PCR，只读缓存读信号。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4DFF6-FA9C-4C19-9984-9544ED3D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设计重点不是单个 kernel 更快，而是整条链路不被串行求解、显式拷贝和全局同步拖住。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B25A3-472C-46AF-9C99-F4AB7F03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figure/cp3/fig3-1_cuda_pipeline.png; chapter/cp3.tex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43486-EEDA-41D3-BAA4-C6B44462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27236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6F88F-2DB9-464B-987D-CBDD468C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5769D-A99A-4176-8773-DDA17519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3815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84A74-453C-4316-9C54-40BEE7E6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05A  CUDA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F37BB-CCD0-405B-AFCE-16127BEA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7810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CUDA 配图重点讲清楚：数据留在 GPU，kernel 串成流水线，PCR 解决串行瓶颈。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F0668-F4C6-408E-B960-82D3386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B3662-2A28-45B9-A6A9-AC913F17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615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05A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79898-4D8F-4E2C-BABF-AAD3BDDF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733550"/>
            <a:ext cx="10382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691C3-CA3B-47DB-A700-EBD50AC6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266950"/>
            <a:ext cx="14668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B8B28-43CC-435F-9089-1C644F28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2669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F9F90-8DBB-428A-99D9-173D77F2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4384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Host 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A4606-FBA6-474B-9694-13A60387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743200"/>
            <a:ext cx="116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采集卡输入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统一内存指针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0E23A-2E46-4772-9C67-F3DD64DF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27527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8F660-F0F6-47EC-8A1E-DD57DB6C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43200" y="2686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1529A-9375-4267-A3D3-7E54C867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2038350"/>
            <a:ext cx="6115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C0050-D67D-4D53-9DD4-387AA8E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2209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GPU 端后处理流水线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092D7-D7D8-4BBE-B4EA-C0EFCB46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268605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C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04D77-34DD-4BC9-B31B-7DBB99FF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28003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类型转换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74D3B-D245-4E58-8041-2F7E6FDA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2880360"/>
            <a:ext cx="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64611-CF9B-487F-932C-307A625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52850" y="2809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E9305-ED16-4DC3-9A95-4CDFDB86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268605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98ADB-B3CA-4601-B070-1CBBE8F9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925" y="28003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光谱整形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4A29C-34F4-4907-88B1-3C6EF941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880360"/>
            <a:ext cx="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E2C3D-8A6A-404D-B668-9473501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52950" y="2809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F38D8-5515-43B2-B4C5-808E2CE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268605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FFAF5-A2E8-45AA-AB10-640103A5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28003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背景扣除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5F5B6-5AFB-466B-AD96-7DAF7EE2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2880360"/>
            <a:ext cx="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ABB26-88AC-45FB-AFF1-A65A4EEF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53050" y="2809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8B568-C440-4547-B83B-46877FDD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268605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7D1"/>
          </a:solidFill>
          <a:ln xmlns:a="http://schemas.openxmlformats.org/drawingml/2006/main" w="11430">
            <a:solidFill>
              <a:srgbClr val="D94F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7372B5-EFB2-423A-AA7C-BA797AE9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28003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PCR K线性化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430F8-5AEF-4107-80A0-C9E38205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880360"/>
            <a:ext cx="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C6172D-ED2C-4F9A-B07A-C565D848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53150" y="2809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1A1B0C-9E2B-4A9B-9C1B-7AF88FC2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268605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49A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74C33D-BCC1-4491-81E8-E47D5D01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28003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色差补偿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9ED9E-6D82-4409-930E-360A9B7A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2880360"/>
            <a:ext cx="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8C1223-A631-463B-97AF-895C5E42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53250" y="2809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0BE989-4FAB-4C95-849D-9B3A561C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268605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C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78436A-CBCD-4F50-A840-37F6C1E2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2325" y="28003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cuFFT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8284FD-8813-454D-A482-90F19CCB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2880360"/>
            <a:ext cx="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A17A7A-79BF-47CF-9DB1-E6941251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53350" y="2809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A6DDBF-5D80-4304-949A-DBE47161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68605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B9B6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85D17F-7B6E-4FC8-B4F4-DCB1A821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8003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4B9B68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4B9B68"/>
                </a:solidFill>
                <a:latin typeface="PingFang SC"/>
                <a:ea typeface="PingFang SC"/>
                <a:cs typeface="PingFang SC"/>
              </a:rPr>
              <a:t>幅值映射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D36F9E-2C5F-441D-AA21-4D9214A9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50" y="27527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A1C086-74C5-402C-B2BC-BBA1957D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48800" y="2686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9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86C4E3-5603-4A3E-97FA-67234D82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266950"/>
            <a:ext cx="1066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B9AD87-A5B5-46E2-B99D-B54F1DA5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2669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85EBE6-A231-4BD8-B0C3-F3E3066B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24384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62F657-3BF4-4E6C-8035-F14172AB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27432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OCT 深度图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B 扫帧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E910E9-CE8E-403C-BD71-B6ED1098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88620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BCB97D-F70A-44BE-B9A4-5909517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038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统一内存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8F4B80-8B7E-48BC-9FDB-6781CD43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4010025"/>
            <a:ext cx="800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消除显式 H2D / D2H 拷贝，小 B 扫粒度下收益更明显。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D3BC22-C637-40B1-A629-3E726DEB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388620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E39E4B-8DA7-4D35-BB6C-9C5BD553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4038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共享内存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2CE07C-DFFE-48BC-97BB-2A99EFE6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010025"/>
            <a:ext cx="800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核函数在 block 内维护三对角系数和二阶导数。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80D096-FF0E-4D8C-9056-E070D4A1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388620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40263C-AA68-4741-9C11-499917F8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0386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常量/只读缓存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DEB1AE-65FE-4CEB-B7C2-BC3C3957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010025"/>
            <a:ext cx="60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插值节点广播读取，信号值走只读缓存路径。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02087D-721E-48BD-B85D-554E9A65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388620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5F065E-AB5B-4303-9FE5-0E5E3284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4038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事件同步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425DD7-155D-4B5C-BAB9-04C6021D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4305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替代全局同步。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B949BE-C0BF-4675-A071-01E4BDBB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5391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block 内 256 线程并行参与 PCR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18AEAA-C8F7-4774-9253-01F23C93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D24BFD-10EE-4E75-8D3D-14EDDAA9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E9954E-6F53-41D9-8118-819E93AA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CB08C1-0513-4BD8-8924-C99C850A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E8F9A9-5515-4A4B-9E13-EE54880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8E9077-6FE7-47F3-AE64-58451B5B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86C6DE-955E-4E2E-97A0-31AF3785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E11987-09DD-45DA-8B71-D78DB56F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82F1BB-83FE-4486-91FF-50DD7A40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1E4DC0-B2B2-4DDB-8BF0-0EAF9232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C00852-ECC9-4E03-BB9A-7C44BBCC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C0E912F-3FC8-41D2-87CA-97D52E00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6B7A2E-BF15-46B6-9F31-6400B193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E7511E-CB14-4046-8AC3-13BF84C8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D0E9D7F-FA02-4547-9458-B11EC9DF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8D75B56-45C4-425A-B92D-DE5A7AC9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534CC23-8A95-4551-A2F5-F549666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BC4A5F-B6C2-47FF-8CF2-105CF0ED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0B7AE7-D917-40D1-8B85-A7072D9E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0C12C96-1106-47A8-8302-2FD7901D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279F1BC-324F-45DE-BD3F-08C6B83E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B48D9A9-FB7F-4A24-B99F-05ED0231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ED50673-CCE6-4F24-A3DF-58867FE7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A4A7961-C43B-4346-80A6-540F6C6A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38F84E-DF09-4959-B43F-4DD9A1B4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5F9E246-6256-42BA-BB23-23DD6B68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BCF19A-73AC-4ADB-87DB-550DC2EF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AB4E3DC-826B-4C64-A99D-F663AAEB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826AFC0-097B-4E40-9B2C-229809C7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412C53A-E2E0-4E6F-BD6C-F7A052F4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D8AEA47-EEE3-42E0-99F3-188A1652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16D94B2-C7AF-4690-9A72-F6419EF8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7AC0BE5-1DED-46DA-9F37-41E10F8C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1D6E1AE-53D3-478C-94EA-E7B51EB3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BD5CD1B-00BD-4109-8334-179BFC0A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3ED4032-CB27-44E4-BC3C-8F6AE752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8C34280-E84B-4D72-ACED-C1BCCE48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A420D0-FBC3-4A73-A501-38D6AA7B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76EE7A1-CB7E-4B0C-A508-051697D9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D78A31B-52E5-4AA8-A027-1A259195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E92D4FB-8106-4502-8F7D-366F986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76C2F79-4C7A-431F-A25E-EE012F1D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BD3D58F-F2BC-470E-9E0E-9A8EA93A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08E448D-C410-4FE1-B98C-BED6D46E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032179D-05E2-4601-8AD4-F57F161E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5B8F59F-81D7-4C77-9BE9-321BE48A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F9A4FAA-2F71-47CA-A49A-C5BE71F9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3BAE09C-24C2-4EDD-BA16-EAA22091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CCAF394-BB14-42FC-A6BD-5AB0DCAF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2D272A7-A271-4661-9D19-E31F4F55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CE2F62D-F0A7-4829-9A3D-A65D89E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DF9105B-0EA9-4896-818F-26B757B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91FFE76-6897-42E7-971C-952A9FBD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B1ECB4A-049F-4516-9A2F-442ADC14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599F519-60F6-4BE1-BCC9-8CD13F8E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374B980-94D8-47F4-800D-DCF3EBEB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21BE4D0-BD28-42E4-BB6F-CD30B9E9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7A67502-2BEE-4713-AA1A-65B36B0C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AB532E3-2490-4ABB-B5FC-94BBC1CD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62475C4-D619-48F7-B601-8F01F3AA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4CC87E2-5277-47CA-9359-B936AE4F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2AE6373-600B-4208-AC7C-2E02F6AC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BA913CC-C351-42A9-A3B5-B4425C5D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2B4C86F-A204-4161-8E3E-A508AE4C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581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A76B2B0-7C20-4F78-857C-F01E6AB9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53340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4F3D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7EE8ED3-10BA-42E6-AD8B-336C519B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54006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11 层迭代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F70B16C-0864-45C2-A397-B81CE4E7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53340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9B1CA70-7DC0-4390-B4BA-9840680D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54006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0.74 ms / 帧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FD89FDD-C242-4B26-B756-2CA9F204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53340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C8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48CF0A8-CE66-4237-AFB5-13716A9D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54006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1351k A-line/s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41AA7D7-A525-4C43-83E1-19F8352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65341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新增 CUDA 示意图：用流程图讲清 GPU 端数据驻留、核函数顺序和 PCR 并行化位置。</a:t>
            </a:r>
          </a:p>
        </p:txBody>
      </p:sp>
    </p:spTree>
    <p:extLst>
      <p:ext uri="{BB962C8B-B14F-4D97-AF65-F5344CB8AC3E}">
        <p14:creationId xmlns:p14="http://schemas.microsoft.com/office/powerpoint/2010/main" val="4191137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2ED73-BB46-4F9A-9B50-A972203E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6C519-ADAC-4B4C-AA8D-4528E764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C0480-015F-4825-BCAD-035A0A5C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6A0F4-BE7B-435E-9438-DE4EA8E1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05  PCR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015DB-9B10-4EBC-8E73-9D3455F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81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PCR 把 K 线性化中的串行三对角求解改成 11 层并行迭代。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A0553-163E-475C-BA82-783F41A9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23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ee99558fe479a"/>
          <a:stretch xmlns:a="http://schemas.openxmlformats.org/drawingml/2006/main"/>
        </p:blipFill>
        <p:spPr>
          <a:xfrm xmlns:a="http://schemas.openxmlformats.org/drawingml/2006/main">
            <a:off x="1864126" y="2000250"/>
            <a:ext cx="4653747" cy="1524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15B8F-BE41-4E49-A011-850AD56F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Thomas：1 个线程串行求解，其余线程等待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A7794-94B7-40FA-BDD1-4DCF7591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48075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PCR：256 线程参与，log2(2048)=11 层迭代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D0664-740E-495A-A046-0B99131F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E43E6-7CE8-4682-8623-164FD6F4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4C704-04F0-43D8-BF27-8B7DAB1E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并行迭代层数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C88D4-B648-448C-9B67-14A488EB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3208E-8ABE-48A0-80D8-FB37B40D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1.2e-5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8C2F7-EB0D-4644-BC40-54E0AF4E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290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vs MATLAB spline RMSE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732B8-7D2A-4896-9A46-9B277A7E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243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53BD1-DDD9-4533-949B-E44BFFA3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576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255/256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7CCD0-5D39-4016-9D31-B4764993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958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原串行实现中的线程空等被消除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EAFB8-58A5-463C-8131-8DDDB6FD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9862E-9322-4243-A6A5-6B1A089A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7C69B-D155-4190-BBEB-F068D7A3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最大绝对误差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4F35E-5D41-423C-82F1-A690F615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0535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RMSE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BACF2-611A-458A-8089-977B7517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7B7CC-89CB-4B53-A144-9DFCF521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68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PCR vs MATLAB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A23AF-E81F-4D67-B00D-771559B3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7682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3.8e-5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79332-33B1-4111-B0A9-05E103D4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768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1.2e-5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DA247-12A7-4511-8026-CD9436A7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65B61-33EB-451F-8DE6-75218583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Thomas vs MATLAB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0D2735-8077-4D38-8C94-DF9B1BFF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768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2.1e-5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157457-E782-48E8-9633-35CC72FF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768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8.7e-6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F4FBB4-5D6C-4467-A213-C11FBA68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0902D8-8D26-401A-AEA7-64F2E69B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Linear vs MATLAB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6C526-463D-43CC-8DD1-8B268801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7692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4.6e-2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CE9428-668E-4382-A297-F7CDC78A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8769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1.8e-2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35D69-73B5-4EC3-BAB1-30FDB32C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figure/cp3/fig3-2_pcr_scheme.png; table cp3 PCR accuracy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6A17AA-75BC-4941-91E4-61205869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24864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A879A2-02C6-4F34-88A2-15419234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24EA2-4BE6-45B5-AE02-DC2A47FB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0988D-8BC2-4B9B-97E5-B5DDECB4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2B791-5766-4587-8684-C28C34BC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06  SPEED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28C13-D1FE-409C-87AA-74782227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CUDA 重建速率达到 1351k A-line/s，远高于 82 kHz 采集速率。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F500D-1B9E-4D47-900F-CB73D1DA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折合 A-line/s（k）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0AF1A-25D7-4B22-9401-6D1DE5FB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F7DD1-9443-4352-805C-2AC754D6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5397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65B29-A22E-4A5C-8C14-F07B609C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02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CPU MATLAB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115DA-B1A4-4FF7-8457-7CEB673C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11.6k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30601-12F5-4709-867E-A9A39C90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9C56B-5F2F-4F5F-81BC-5D8D6406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88411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A6CEB-225C-4740-906F-D530206E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CPU C++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3F7B4-187F-4D2B-831F-A320D10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194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19k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569F7-1785-4CB0-B125-B120E7A2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CC5F8-1D5E-405F-A45F-058716A8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E1A45-3850-4D82-9362-573D4107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RTX 4090D CUDA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58023-6F15-4E3B-A8F5-899D8818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1351k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288F7-FB9C-49D9-970D-5D7059AC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64" y="21907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4BFA3-6090-48FC-A7AF-6B15896F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064" y="4857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82 kHz 采集速率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F9FD6-362A-49FC-B35D-A1C2A548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7530A-D55E-4695-A360-1DC829B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0.74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72DEB-F2A2-4470-91C6-892F71F1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单帧耗时 M=1000, N=2048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9DDD5-9E03-40F7-9F01-0B2C3C4C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1783EA-5A34-4A73-870A-78056257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117×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6AB32-3BBA-43B4-B706-F9CDA715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29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MATLAB 加速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C5739-C7DB-4232-B945-03DE2FF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005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1E2CD8-D367-46DB-AF6C-65BCA8FA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339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71×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C0776A-1C12-4CB0-98A5-CDE7714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72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C++ 加速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38C09F-53A9-46EE-A793-CCC664A5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923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结果说明：GPU 后处理不再是采集链路的吞吐瓶颈，后续可把注意力转向小批量延迟与闭环同步。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599D14-BFC2-4A52-846E-49B312BD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chapter/cp3.tex table cpu_gpu_compare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330EB9-BC4E-4E13-9AF0-DA40E673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01126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B096A-296C-4EC8-8A9A-8B10909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B6AA8-1BAE-45AE-8550-FA96A02A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EE590-1A98-4762-843A-69FC74B0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07C9D-6722-4570-A6CE-7A47057B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07  SMALL B-SCAN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DCA25-6F31-406F-A4CB-C8873F3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71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细粒度 B 扫下，统一内存把固定拷贝与同步开销压下来。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0B30D-0350-44EE-A9B0-7C0BE592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614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E7ABB-6E54-405C-9CE9-3C5E7866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400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 扫粒度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152B1-DC46-4D1A-9D18-68EB387C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0764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传统方案 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BAFFA-DA5A-41F5-8774-6FB403F9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统一内存 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87C9D-8CC4-4602-9F8D-BAE625B9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764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加速比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7F741-6A9C-4301-877E-39F3C206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5E327-A4E3-4731-9E97-64D50275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1400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1000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B61B3-EFFE-4A1D-A6FE-FB7B324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5241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742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E43A7-C153-471F-931A-8EA2F30E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241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685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EB3AE-C288-4BEA-B5FD-A33D11DF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2412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35C35-1735-4BFB-94B9-73E73495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3DF26-9D29-4692-8E10-AC39B65C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400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4C319-11B1-4020-9E38-983A88E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003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498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6E3FC-DDAB-4858-A455-F0FD5525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0003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4BA88-9B76-481E-8E74-B904579D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0037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764E7-F5DD-47FD-BABE-7A87E491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D232A-2FEB-47C9-9701-E1C888EE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400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A9FD7A-B917-4E60-9355-90F82D95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4766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FDBC1-A027-4FCA-98A9-93B7607B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766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268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916CDA-2878-48EB-9625-2448310F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7662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1.33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CBEBB-6A19-4A2C-9110-FBB62A3A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B596D7-AE0C-4BF7-A8EB-E65CA765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400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CA111A-69A5-4526-992F-39FDFA5A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9528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D9435F-5CAD-42E2-8B40-2519C79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9528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1579F-9720-402A-8C9F-56F025D1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95287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1.54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43182-9332-487D-8CD3-0E98A6E7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D156A-11D9-4A15-8C55-A0DC57A1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400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EEAA1-1C09-4DAA-8839-17760946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4291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289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0E6802-7C35-47C9-85DF-230A8494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4291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178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D1A572-A2AC-4A3F-B6B0-A10004F5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42912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1.62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9F1AFA-0FDA-4BAF-B85E-73F6CA61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713BB1-4D19-4F8A-B98B-97AC08DE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C6F9D3-8008-468C-A0A7-F3B50C68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241784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D94309-F3C4-4AB6-86E0-66DB2A67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145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C77A9F-A527-4C6D-9840-67ACA1B2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145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742 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4D238D-A8C5-4F27-B8F7-53A8653B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33C8D4-436E-4CBA-96CA-D78799F3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223210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C44BAB-6A92-4890-BFB2-746CCD79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D50D1F-2E66-4027-8F86-829863CC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43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685 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E76651-7A93-4A83-9763-9473D596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194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500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612C1F-334C-49B5-A539-4A9ECB79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7D62FB-6E8C-4EC2-823B-E1D7419F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162275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373D17-24C6-4677-82B4-9F4645DA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431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68A671-BCF1-4713-8CA3-6BD3352F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43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498 us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F527C8-61B5-4AEF-B296-137CA15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62A3CA-FE6E-44A4-83A0-FA3CD31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37185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930938-3226-4B98-A353-90998347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65AB2F-A10C-4B47-8206-0BC6516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421 us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A91ED3-AF97-424F-A3EB-3094328B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480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C00A1F-1E0E-40BE-88C0-B0902F8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892D19-BE35-45F8-9D5E-D31C378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116004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7B1C10-670D-4B3B-945D-A23C7DB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342A28-7638-4A97-B1E4-32823937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718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356 us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21AF09-537F-4018-9005-ED826759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CF5244-AA7C-41F2-9392-8B05BC5A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8732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8992C5-409B-40FA-82CB-DD382078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04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85E778-EAB6-4265-8F8E-E7BCB53B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004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268 us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94F857-0E78-4961-B730-33C64660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E89B48-0F66-4C08-B9B9-AE241322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BF83AD-71A6-4B8F-9E95-29B83F79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10166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651AD6-8FF6-49EE-9AFC-51FA2D6F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004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B33A38-42EE-47A3-BE61-FB5381C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005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312 us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9C77027-9587-4C8E-BE3F-D269DF45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68AEF9-DA4B-4E1A-97DA-C1EB50C8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66148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6D784B-A1A8-4845-91A0-3E16E47D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90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EBDD01-5693-4611-8CE6-33F59943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291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203 us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401578-C039-4407-8601-602AD30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053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50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8ADF2B-1386-47C8-8665-5BB4CDBD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7232F9-0D3F-4AC4-9779-D8946BFF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9417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8A691A-8465-4B26-9EB5-B5F18D0B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291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EAA6FD-CE19-4E67-91DA-80C42CB4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29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289 us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CDAC79-894F-46EA-80D8-4B46EE9F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388E50-FD64-4FC6-AF04-3A3A51CA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5800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81C8C0B-C363-4ECD-A17E-31166A18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577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11EE2E1-6A54-4B97-8D07-4525B128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8577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178 us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D7D2E57-A69E-40A9-8A47-1DB4C465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95900"/>
            <a:ext cx="152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E5527F-CDB3-436E-B174-1CDA2832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传统方案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9E8EB6F-9086-46A4-9C03-11A2E64C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543550"/>
            <a:ext cx="152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012D402-705A-4483-A778-4E50194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864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E23AADD-1143-4641-B5CE-006D48EE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847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M=50 时延迟从 289 us 降至 178 us，适合闭环控制中低延迟、小批量的处理模式。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3B4C0F-DD49-4DC3-8B43-9A95ED0D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chapter/cp3.tex table unified_mem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0A27A8D-2F19-44B4-8F21-5874DD01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84998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DDBDA8-4ED4-430F-A334-DED9F95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E865B-60B1-488C-BF7F-A5C720D5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05250-78C1-4A49-B330-6FA3F72F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46857-58E1-4C23-86D7-5C102EEF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08  SEGMENTATION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E5D5D-7940-4690-80E4-0607B9F7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81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OCT 图像的三个视觉难点，直接决定了 TR 与 SAE 的分工。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D6F00-89AA-4D69-940F-FA8FEB03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06D44-6343-4109-8B85-8CEC7F05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OCT 图像特点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06E54-AEF4-488E-8065-4998519D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分割影响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021F6-3873-4422-B5E0-EEC23C65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478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对应方案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2F59F-DEF5-4BA5-8B8B-2859A551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F858D-D4B8-4352-975A-DDDA2881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散斑噪声强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92464-FFBB-4E1E-A764-763356CF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52725"/>
            <a:ext cx="354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局部特征不稳定，边界响应容易被颗粒纹理扰动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C7B43-38DF-4304-9CD0-360F6187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52725"/>
            <a:ext cx="478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区域级路由平均 Q/K；SAE 一维池化抑制随机颗粒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AECA7-9700-45D8-8C9C-2B4F29C0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966A1-E00F-4DFC-A4B9-894B2594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目标细长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884B6-4A65-48FD-928F-2A70CE2A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19475"/>
            <a:ext cx="354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匙孔纵向跨度大，卷积局部感受野易导致断裂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71A72-51B9-4EBD-B77F-ED54B503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19475"/>
            <a:ext cx="478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建立长距离依赖，保持整体连续性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76758-C2E1-40FB-A9B0-C1A21809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90293-7DBC-4DA3-8602-A7F265F2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边界模糊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56F33-25C4-47EE-8E6D-9320589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86225"/>
            <a:ext cx="354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低对比弱边界使上采样后轮廓不精确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694C2-05EF-43A9-94EB-498E4896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86225"/>
            <a:ext cx="478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SAE 坐标注意力编码水平/垂直位置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96B2D-68B5-45B6-98B2-912AD78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0E56B-7E7E-4E53-AAAB-1FA8B10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类别不平衡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07FBD-D30E-4883-8F81-363C2C54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52975"/>
            <a:ext cx="354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背景占比高，前景学习不足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7C157-609B-43D1-9574-4A3D3C4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478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BCE + Dice 混合损失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4D34D-DC65-4381-A674-C2863805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设计原则：不要把 OCT 当普通二分类图像处理，而要把噪声、形态和边界问题放进网络结构。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7EBF2-7E05-47E0-A9C4-C553B435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chapter/cp4.tex table oct_module_relation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A8A223-3ABD-4892-AA38-53BB43B2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40312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B24AEC-B3D5-4833-8898-68237F58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7CEDF-F10B-419A-8F85-F1997541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D3AE0-FABE-4602-9062-D06F568C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0A35F-2B4C-41D6-83A7-10F5F5C3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09 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CE32D-9A39-4D29-960F-54A21EB4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改进 DeepLabV3+ 的核心是编码端重结构、解码端重细节。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72DC4-0C8C-4876-A723-8A1F3713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66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362c6f4114d9c"/>
          <a:stretch xmlns:a="http://schemas.openxmlformats.org/drawingml/2006/main"/>
        </p:blipFill>
        <p:spPr>
          <a:xfrm xmlns:a="http://schemas.openxmlformats.org/drawingml/2006/main">
            <a:off x="1506163" y="1924050"/>
            <a:ext cx="5712573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578EB-B859-4C2E-9E7E-F4A8F6F2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2400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20258-DFD2-42B3-9B92-49A2FF80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AB402-1AF5-4E24-8A8E-7C061D38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TR 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E7047-5DFC-4062-8AD0-8A3D7107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位于 ASPP 输出之后，用双层路由注意力建立长程依赖。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84091-AC46-4404-AF23-73EC45D0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400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7B016-9D9F-4701-8B7D-BB97A305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E185B-A8C5-4BCE-9881-2DF7532E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SAE 模块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DF67E-7CD8-47EA-B97A-4D7F1D76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位于解码器融合特征后，用坐标与通道注意力增强边界。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183A1-EAF9-49B9-8175-AF8F26B5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400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09BE5-E074-4293-AF4D-534B635B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B793C-4573-425D-83B6-7A5160AB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混合损失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30F42-AFEC-4861-A63F-62F78BC2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672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BCE 提供像素梯度，Dice 直接优化区域重叠。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3255BD-CDC4-4375-9E9E-2F9ECB1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这不是简单堆模块：TR 解决“细长结构是否连贯”，SAE 解决“边界是否落准”。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F265D-65DB-4B92-AA3C-1989766E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figure/cp4/fig4-2_improved_model_structure.png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02C7E-8739-4092-836A-790A7479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49124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866085-A734-47BB-B82F-8BA6D6F2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346AB-3E68-4885-B732-A141CA54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0B2DF-CFD5-4A1C-BFEE-90EFC56D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A7F4A-3BDE-410E-8E5B-1A5F3525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  TR 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36A03-B092-4D7A-95FF-17ABEE67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TR 用 TopK 区域路由保留长程依赖，同时避免全局注意力的二次开销。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050A1-56E3-4931-96B8-54F9088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867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9f4111ec74340"/>
          <a:stretch xmlns:a="http://schemas.openxmlformats.org/drawingml/2006/main"/>
        </p:blipFill>
        <p:spPr>
          <a:xfrm xmlns:a="http://schemas.openxmlformats.org/drawingml/2006/main">
            <a:off x="999160" y="1943100"/>
            <a:ext cx="6917081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D5E46-B170-42B7-B50B-0DB98AE5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2952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74009-2AE4-4461-94C2-AB63512C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71650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TopK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C8258-A073-4355-B818-9E738A4B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71650"/>
            <a:ext cx="571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mIoU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5657E-9D53-48C0-9650-F7CD6B29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71650"/>
            <a:ext cx="571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HD95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8A129-03AF-48D9-9BDD-0E44F952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771650"/>
            <a:ext cx="609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推理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D7AB7-D36D-4DD8-AE45-667231F5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AD70A-9D6A-4804-8738-8757A3B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71700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FE340-9AA1-4CB7-A0A3-EEB1E764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71700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0.897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CC3EB-B5DA-47AF-A13E-676EEFB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71700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11.86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C0E76-C228-4818-B1E8-C27DF34F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171700"/>
            <a:ext cx="609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EE841-37C7-4956-8F97-9E48161C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14942-B8E7-4023-AFFB-892A3B1A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0325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D8667-0821-4CEC-B135-E1BA4804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00325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78A29-ACD8-40FC-8EB1-39D5ECBA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00325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10.68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B12C1-BC83-47A3-BFD7-47C61AE1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00325"/>
            <a:ext cx="609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12.4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B892A-9781-46A4-8E44-2316AE57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147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929769-97BF-49DF-AA0F-719A71BC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4A699-FD9D-45AF-BEF7-0AB4FA97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28950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4EF52E-0E1D-4A50-ABFA-91E97BC8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10.72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6F84C-CF0F-4745-9F3E-30107DD6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28950"/>
            <a:ext cx="609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14.1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ADC74-30E5-426A-9789-517E7EB4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433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11678-7F79-4F6E-ABCA-5CA70114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57575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063E15-CD3A-4A5A-B933-4E322891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57575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FCD398-7C8D-495A-8A40-879B1848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57575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10.91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811A6-E8A5-4177-8832-B7C9840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57575"/>
            <a:ext cx="609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7E394-04AA-4748-99BC-CB571F2C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71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TopK=4 是精度-效率拐点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56C2F0-4B44-4685-A570-0CB2979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52900"/>
            <a:ext cx="2686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覆盖窗口比例 25%，mIoU 与 HD95 同时最优，继续增大 TopK 后精度趋于饱和而推理时间上升。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B1AD87-DAE2-49AE-A27C-C4F15A43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FD8839-E0F9-402B-BC8C-7611C0DB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434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EEB508-64F1-466D-81B8-E5645D92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434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78AA0D-824A-4B2F-AD50-35A7B4CF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区域级路由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7F2092-CB60-409E-AE5C-9A2A5467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窗口平均 Q/K，削弱局部散斑扰动。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8F0985-C81B-492E-95BF-E94525C0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33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TopK 稀疏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1C0D4B-1EC7-492B-B7C9-488745C3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81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只对相关窗口做 token 注意力。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362B91-E104-4871-9724-1636D7BA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长程结构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5C192C-D855-41CF-9474-AF391BD7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81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改善细长匙孔的断裂分割。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F14D49-FA55-409C-8C91-63D95B29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figure/cp4/fig4-3_tr_module.png; table topk_sensitivity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97D0E7-FE5F-4FFA-BB4D-19A9C95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096946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84B244-DD8E-4063-A12F-4A71FED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33BCF-0E85-403C-B9E8-D08CACB9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9514F-B63D-4F84-AC1B-C440EEDE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AD7C2-22AD-4452-9A16-19F3D49C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11  SAE 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5BC2D-EB86-4F98-B60E-A5E167D9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SAE 在解码端把空间位置和通道选择用于边界精炼。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3D8A7-F190-4072-9609-A0DDDFF8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001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bff9cf1074f35"/>
          <a:stretch xmlns:a="http://schemas.openxmlformats.org/drawingml/2006/main"/>
        </p:blipFill>
        <p:spPr>
          <a:xfrm xmlns:a="http://schemas.openxmlformats.org/drawingml/2006/main">
            <a:off x="895764" y="1962150"/>
            <a:ext cx="7238172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B6FED-AE5C-44A1-B251-756F02C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276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EE6EE-B04F-42E6-B7F2-7F1DC85A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A3B1E-DDE3-4D1E-A979-C0760021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坐标注意力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E1A32-B3BA-4B96-AFE6-34A16917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43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沿水平和垂直方向分别池化，显式保存位置信息。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C01AB-9E61-46B1-8A41-29EF598D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33875"/>
            <a:ext cx="276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171C1-EE36-4526-8A3A-2E1C3FB8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52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24AFD-B229-48FC-B016-6A5E7FA0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76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特征精炼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D8FE2-F699-474B-B1CD-95B2879A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43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两层 3×3 卷积融合局部邻域上下文，补回细节。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D560E-F540-455D-B8B6-BA02044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276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5D737-D0D3-46B9-9498-14BBA16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52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A0E9D-8E47-49E5-ABBD-C63F3B30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通道注意力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782DF-1450-4072-B776-460FF756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43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多基数 SE 学习边界相关通道权重。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E5624-2C19-4FAF-A98A-A8EF66F8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5BC22-812A-45D3-855B-9AC465BF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14557-4E5D-48AC-8E8D-C9733C97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05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5B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5BA7"/>
                </a:solidFill>
                <a:latin typeface="PingFang SC"/>
                <a:ea typeface="PingFang SC"/>
                <a:cs typeface="PingFang SC"/>
              </a:rPr>
              <a:t>为什么放在解码器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A9C6D-C43F-477F-A52D-F8634FA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此处融合浅层空间细节和高层语义，最适合纠正上采样后的边界模糊。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8A406-AA91-478C-988E-9ADA917D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48DA1-FF34-48D0-931A-1F2D4B99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59ADE-6078-4A36-B70E-7587C655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09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参数代价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771090-128C-4048-933D-62693C45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957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单独 SAE 带来 mIoU +5.9%，HD95 从 12.22 降至 11.45。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C1278-A4C3-4F84-8C50-4CA6099A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figure/cp4/fig4-5_sae_module.png; ablation table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428819-7425-4C2E-928D-A6884B68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52693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B47FA9-AD72-4466-9D33-D9CE12C8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275AD-95C9-4F57-BF40-1171B8E4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E6570-32C4-4E3D-B232-383FA59D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BA3B1-5A74-42F1-AB4F-8B7E9AD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12  ABLATION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B4999-64AF-48AF-AB5A-7F8B30E0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消融结果显示：TR 与 SAE 联合使用在区域和边界指标上同时最优。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45614-8237-4E4F-8360-6B44FB57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mIoU 越高越好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4D14A-7A50-4A02-86D6-52AFBC79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5875B-ED43-4F3F-A259-9278CB5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3798"/>
            <a:ext cx="666750" cy="620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BB31B-4086-4055-A88D-886B3C3F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5198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5ED4C-1DBE-483F-8F71-3CDE5D89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200C7-9D2E-4338-8513-380488C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C3D93-1A4D-4847-A547-D7DF3F2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53715"/>
            <a:ext cx="6667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6B1D3-A490-43BE-9C7E-AA162966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2511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0.884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64D28-B59A-4654-81A2-CDB7276A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ED3B4-2064-4042-AF78-A7B6770C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526C8-4332-4EA5-B903-69B1B5F9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13673"/>
            <a:ext cx="666750" cy="1620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71EDF-6A1A-44F7-9AD5-A36DE8AC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85073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0.901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BCF86-6ACD-46A4-ACDD-6A70B5F4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+SAE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35EB6-46B5-4992-87E7-59225AE2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8D0A3-87BB-4E3C-A5F4-6D12DDA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3648"/>
            <a:ext cx="666750" cy="1820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B8DD5-5F48-4FA0-9318-B8BB5A49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85048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47B28-BCF8-4EB4-BDDF-B6A6C8E9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+TR+SAE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5FE9C-1EF6-44E8-9EC6-8428FACA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66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HD95 越低越好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3562F-B3CE-4CFC-A3DB-2E560BE6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BF200-01DE-4520-B607-9EBE5F86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666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0B0FB-AC91-4603-AEF2-0E55574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12.22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CC217-BEED-4001-9336-477262DC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基线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27B4C-B716-465F-81E8-C34C4A3C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47D1A-6D82-4F47-87A3-0A9B95F0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9922"/>
            <a:ext cx="666750" cy="853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261EB1-1BAB-4F09-BA5F-52EC1F91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1322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11.89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1F657D-9C51-46AB-8F7A-528A3144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5EA3D-3CE6-4CDE-AA03-4166F02B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687727-0415-43C0-A0D6-6E34CBC3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1418"/>
            <a:ext cx="666750" cy="11924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52586-F1F9-4F6A-A652-1B5E0DAA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2818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11.45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91F91B-9045-4F10-AEC3-44862A3F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+SAE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EACA12-E411-4222-A9F5-A675BFE3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49BBDD-D796-4DBA-AA8F-75CE1FCB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9037"/>
            <a:ext cx="666750" cy="178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AF5819-7F7D-48C2-A27E-0D2A37E3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20437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10.68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705D08-8AC5-4E9E-B1C0-BC76CE68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+TR+SAE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4364A8-F495-40A5-86F5-EB64E17E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153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DB193A-299D-400E-B29C-EC1507C9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关键结论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67F415-94E2-40FD-A0B2-412BFCC5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00650"/>
            <a:ext cx="771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7EE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7EEF4"/>
                </a:solidFill>
                <a:latin typeface="PingFang SC"/>
                <a:ea typeface="PingFang SC"/>
                <a:cs typeface="PingFang SC"/>
              </a:rPr>
              <a:t>TR 主要改善细长结构连续性；SAE 主要改善边界定位；组合后 mIoU=0.911，HD95=10.68。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7166BC-BFB8-48AD-AD27-E8371E89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chapter/cp4.tex ablation and boundary tables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FF7BB9-3594-4213-9070-BE51A44E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2155976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5D6D3D-D199-4079-891B-46187EA0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A72CE-EF78-404A-91D7-B2FA5CB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57145-6838-4553-8953-6EC0C006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391EC-A813-4365-B893-FD4C5F8E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13 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8F942-2A72-4168-949B-E4BB342E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与主流分割模型相比，本文方法取得最高 mIoU 和目标类别 IoU。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7A178-6972-4CE7-8057-F1A2936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mIoU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BBBCB-15A0-49BC-8A4E-9B6482FE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F3318-86DB-4222-9BB3-515FEC6B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443066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3E44F-7659-46D0-92CA-AD77ECBF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ResUNet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0441A-C78B-42AA-B981-8331256F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0.721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5840A-70FF-4905-A2AE-616CC59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1684C-8BD2-4A7F-9F5C-F64BBA54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461501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DD630-E319-463B-A498-991AA613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UNet++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DD1A5-1300-4BBB-AC3C-381F44E1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0.751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A28E1-4253-44C5-8DBC-13FE4C64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DC93C-1C63-4E7E-A981-97C57BF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494685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05BF9-CA48-4198-B725-7387C80F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718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UNet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3C7F1-8389-4052-9721-D93FE551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DD108-CBA7-4DE5-B063-93A3FF2B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CF5B6-1302-4696-A06A-378C3DAD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97758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107BE-6342-4B28-9EA7-C544D87B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242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TransUNet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AC896-A262-4EEE-A5BA-AE0CB871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0.81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E62663-3AA9-46DB-A805-BC97A3DA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1FFE6-A3A4-446F-B564-C59A779F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522953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B74ED-0379-41C3-AC8C-5E02E54C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767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DeepLabV3+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3D2EB-85AD-400B-A8C2-80FB6C06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0.851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6298C8-06B2-4BD0-AE56-1BC0B1A0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B02C8E-F98C-4927-9BBE-A7D4924F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559824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62A50B-D0F4-41F8-B2AC-D3865A08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本文方法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5CC17-8B3C-4749-94B3-52B8F56C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29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D3D5B2-E326-4F36-88A1-C01042A1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目标类别 IoU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A4EE26-85C3-4464-9B6B-2482AF22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66A649-013C-46CA-8585-7510931A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111353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0A970-DA91-4430-B67D-B3D3989A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574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0.457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5F1216-0108-40B0-9C63-1657E71A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38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897BDC-9151-46AA-A9DB-E21DEC9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38450"/>
            <a:ext cx="126217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2DCAC0-F72A-404C-97E1-AE5D5149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98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0.518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3A9012-9279-47E3-A0C5-A6B5D07F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668D24-EC44-4915-A40F-9D5B587D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151070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86BD4F-4C36-47C4-A7B5-A2350977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23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0.620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B694EF-AC21-4ACE-8B67-116CC67C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D63465-0114-4526-8C2F-119D27BA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153994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EBFEC8-7AA7-40D5-A442-6DA6C83C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147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0.632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9C4C7F-FD53-4927-A44C-4C22C202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FBB4F0-AC26-4173-9EBD-625CE79C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173000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57596C-F4CA-4B0B-9AD6-BE05CC8D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672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0.710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404DB4-5EFC-4C11-B9BB-31F27B10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48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240B06-7B92-4E1E-9142-15EB80BB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48250"/>
            <a:ext cx="201265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C303CD-A3B4-400B-A107-E3EC5497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196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0.826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1D5428-6D40-4F33-933E-FAF8394B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目标 IoU 从 0.710 提升到 0.826，说明提升主要落在匙孔前景区域，而不是由背景类“抬高”平均值。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7D014F-1FE6-472C-AF37-A6903C5D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chapter/cp4.tex comparison and class_performance tables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3B37EA-BAF7-41C9-9555-FBAD70B5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0716636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FC7FC-7005-4E11-ABFE-F3CAE054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F246E-2ADF-4F41-8BE2-2D1257FF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1FC99-4981-43E8-A811-CC6BFB39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665F4-4B09-4CC7-B8A5-D00FA68E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14  VISUAL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F8F9F-CBED-4AF2-9059-39DD4B0A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可视化对比能看出：连续性来自 TR，边界锐度来自 SAE。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7AE55-6FF6-42C7-B1BC-57E215A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C914B-94FD-418C-8B8B-DD252781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573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f6ff587014f07"/>
          <a:stretch xmlns:a="http://schemas.openxmlformats.org/drawingml/2006/main"/>
        </p:blipFill>
        <p:spPr>
          <a:xfrm xmlns:a="http://schemas.openxmlformats.org/drawingml/2006/main">
            <a:off x="5140951" y="1714500"/>
            <a:ext cx="1529097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7F23C-48EE-4975-AEEF-8450EBFF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标签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F22F5-02FF-4515-981C-FF624F5D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431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dc2c16db14498"/>
          <a:stretch xmlns:a="http://schemas.openxmlformats.org/drawingml/2006/main"/>
        </p:blipFill>
        <p:spPr>
          <a:xfrm xmlns:a="http://schemas.openxmlformats.org/drawingml/2006/main">
            <a:off x="5140951" y="2400300"/>
            <a:ext cx="1529097" cy="400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0363D-B5AF-4EDC-AE5D-343DEF0B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DeepLabV3+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4CF05-1826-4C3C-889C-8FD2B8AF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f760a11e54fb5"/>
          <a:stretch xmlns:a="http://schemas.openxmlformats.org/drawingml/2006/main"/>
        </p:blipFill>
        <p:spPr>
          <a:xfrm xmlns:a="http://schemas.openxmlformats.org/drawingml/2006/main">
            <a:off x="5170252" y="3086100"/>
            <a:ext cx="1470496" cy="4000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1F050-A74F-4C78-8E30-B82D284F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+ TR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FFABE-8437-4B79-B40F-E04D291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bef98cb764975"/>
          <a:stretch xmlns:a="http://schemas.openxmlformats.org/drawingml/2006/main"/>
        </p:blipFill>
        <p:spPr>
          <a:xfrm xmlns:a="http://schemas.openxmlformats.org/drawingml/2006/main">
            <a:off x="5140951" y="3771900"/>
            <a:ext cx="1529097" cy="400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0EF9B-38EC-4B5E-A911-ECFB5499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5BA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F5BA7"/>
                </a:solidFill>
                <a:latin typeface="PingFang SC"/>
                <a:ea typeface="PingFang SC"/>
                <a:cs typeface="PingFang SC"/>
              </a:rPr>
              <a:t>+ SAE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87A45-A10E-493D-B198-DE2AD231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87979ad284d8d"/>
          <a:stretch xmlns:a="http://schemas.openxmlformats.org/drawingml/2006/main"/>
        </p:blipFill>
        <p:spPr>
          <a:xfrm xmlns:a="http://schemas.openxmlformats.org/drawingml/2006/main">
            <a:off x="5140951" y="4457700"/>
            <a:ext cx="1529097" cy="4000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41B2F-0907-42FB-A5CF-61CFA33A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+ TR + SAE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F8BE0-E0AF-4EC8-9166-77A1FCE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863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bb12840924681"/>
          <a:stretch xmlns:a="http://schemas.openxmlformats.org/drawingml/2006/main"/>
        </p:blipFill>
        <p:spPr>
          <a:xfrm xmlns:a="http://schemas.openxmlformats.org/drawingml/2006/main">
            <a:off x="5170252" y="5143500"/>
            <a:ext cx="1470496" cy="4000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CED10-6DA2-415A-BB90-2E8E24AE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62150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15945-D77D-4111-A543-7ABBD63F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6215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13238-4DF9-4FAC-A94F-2C53CB6B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TR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26B71-8186-43DC-B01C-9D7E4326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003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细长结构的断裂减少，目标整体更连贯。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CA154-2F17-47DA-A9B8-E97A62C4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38500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415DD0-662C-4E45-80F2-1AA2A59C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385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81EE72-33FE-4BE5-8C88-13081C5B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909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SAE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93CA88-C817-480C-9446-5C5CF74F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766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边界定位更接近标签，粘连与毛刺减少。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50AEBC-5DD6-4FA2-9E33-6ADB9C5D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14850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8779A8-944B-4BDE-8382-A5D0B6DB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1485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11D55F-E64F-4733-97BF-4FEBE690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67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联合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859364-3668-4F20-A0A7-16F9812D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9530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兼顾连续性与边界精度，最终掩膜最接近标签。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62C6DF-4502-4835-9BD3-15EEFE5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figure/cp4/4-3 visual comparison images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D74FE1-EA57-49DA-8F84-8F71D922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457362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D0460B-7F96-44FE-8A52-FE968FDA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9A7D6-86E4-4B8F-9ABB-29DCC89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4DB5D-53F6-47FE-945A-5C3963C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BF291-58D1-4C69-B43B-4D4388D4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15  ROBUSTNESS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CA765-A143-456B-81F4-7093AAF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双重注意力在强散斑下衰减更小，同时比 TransUNet 更省显存。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78DD3-6D92-468A-B3A3-7D1F6B1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不同散斑方差下 mIoU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A8710-401B-4DA1-95B2-07EB483C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387D9-5C0E-4F90-A84F-CAFBA2AA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0726"/>
            <a:ext cx="400050" cy="1176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E7200-C6D4-47F6-87B5-3A6124B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62126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E35C7-A15D-4234-817C-600CCE6E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E5F7A-028C-4C6D-BD97-F5FB5D56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FB292-0723-42CD-8A6D-DB7EE41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51884"/>
            <a:ext cx="400050" cy="1715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04EB9-89F5-4052-BFCC-C34DA34A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323284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F2CE3-EC4E-48C2-BD1B-BAC66EF8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17EB1-AECC-4B3A-84CC-FEBE5A22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0D470-4135-4887-9D37-6206D54E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07476"/>
            <a:ext cx="400050" cy="1059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7ACCB-6CE7-4004-AB3E-BF782CB9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78876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F7BA5-7B06-44EC-977D-A97B7646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2AAF4-3C71-42A8-8684-6F0677D5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B1F41-B4FE-4064-8E58-5A86C3BD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23729"/>
            <a:ext cx="400050" cy="1643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DFC8F-2ABD-450F-8018-05A4086A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95129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F3C00-AADF-4B6A-B8FC-0BE3626E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2A0F6-5859-4E0C-B2E2-82737A8F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8DDBA-F916-4B0D-B43A-D39AF460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94859"/>
            <a:ext cx="400050" cy="772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F79A6-07D5-4287-9BEF-099444E5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66259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800CA-03AF-4C0B-A83C-EF892383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31A1E-2C32-4EE2-9D82-B8841A69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DAC974-8D0D-454E-A1D5-F734D5F3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76401"/>
            <a:ext cx="400050" cy="1490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16BFCC-83FB-4BAE-A2F4-45D0B46E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47801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0.886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EE1DD-18D3-431B-9655-66F7F2D3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23DA10-A52E-406C-9CDA-DDE1FA1E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2A3A0-15D6-4D7C-8E6D-8919D518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90010"/>
            <a:ext cx="40005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3B1389-0DFE-4D65-BB59-83488704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6141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0.762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865133-FAFD-4BE0-B4F2-C42F9F3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23774D-AA2A-48DB-8064-C2B3F146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F3F954-639D-4C57-914E-1745F462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36842"/>
            <a:ext cx="400050" cy="1230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978B50-9E56-4019-A52E-8B28698C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08242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0.857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2FE80B-2187-4F1C-977A-CDD52AD9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E1D7C9-CEF6-4208-B13B-81B10A8D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152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52767C-1FAE-4A94-BA1D-B4C906F8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339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DeepLabV3+ 基线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2119F3-2919-4195-9A6B-9E331433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152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0E646E-BE7E-498A-A48B-2F0032A2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339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本文方法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038B93-B09F-46FE-908A-97EA3149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σ²=0.10 时，基线 mIoU 衰减 10.5%，本文方法衰减 5.9%。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B47B20-705E-4645-B976-2110AD51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显存占用对比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571BDF-C91B-41B3-926D-FC3655C6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BBBA08-A5CF-4829-84E7-42A56EE5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2976372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C37B7B-E4DA-49DE-B7A0-11A83765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TransUNet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9721E8-1B9C-4E0F-AB77-25B7C9CB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28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19530 MB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1DCACD-CE65-44D9-8369-14D1160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950355-AED8-469C-8D1C-6A79309A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138790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2CAEE9-5F4A-4DCD-AF7B-D5594C4E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04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本文方法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CB448D-4442-4CA3-A8D6-F74F366E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004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9107 MB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0C2631-5FAB-434D-8376-D61B7148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43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52DBA4-B70B-4636-A4D6-5CF00665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-53.3%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CC36AC-472D-4D1A-BDD3-7CBA7600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149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TransUNet 显存占用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D5AF1D-6EAB-452C-86D1-29CA1673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chapter/cp4.tex robustness and efficiency tables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76E74E-2B5F-4B81-8668-701D9CCA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7103217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3FEC0-4E80-4778-9C91-B4804AEA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28DC9-F3B7-4FC1-9389-E74C6237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1E8CA-8A63-4FBC-BBA2-0B05746B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5607F-D634-4B28-B933-6E881E6B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16  DEPLOYMENT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E4A72-CDED-424D-8740-C35DEEC7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两条方法链最终服务于同一个工程目标：在线、稳定地估计熔深。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7C6A1-387F-4D0E-B309-6E1F9709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571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BB9C3-DC68-4A8A-8B10-3A70DCFF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5DAA3-F549-40F7-9568-EA0F0111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24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光谱仪采集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7762D-47B7-44E3-A791-121F73E7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09900"/>
            <a:ext cx="128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82 kHz A 扫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原始干涉谱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6639A-F766-469A-810F-030C361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DB19C-F2BE-4695-BA4E-366C7FE8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337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D6FC1-26DE-4083-A6B6-7F7D6ACC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1571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A9CD7-3291-4729-AE1D-830DC2D0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03D3C-C686-4DEE-922E-CDDE4564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GPU 重建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7387C-F78B-437C-90F1-DAB1E8CC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09900"/>
            <a:ext cx="128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0.74 ms / 帧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1351k A-line/s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F6119-D66F-42F0-BFAF-7F59D3A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0375F-27D4-43CB-9F02-F9005C21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337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2296D-AAF6-406D-AF8F-8D035B2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52700"/>
            <a:ext cx="1571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47FB8-3484-4DB3-A49A-4C010E41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58764-90BD-414B-A32F-0E2C60D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24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图像缓存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62FED7-A02D-4C1A-8EDF-1AC10368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9900"/>
            <a:ext cx="128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事件同步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17DAF-E8CF-44EF-872C-035E4AF7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B2550-A2CF-445D-913F-F12E1F56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337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3E467-C937-4583-AE71-EF21491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1571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A6C58-C6FA-4913-81F6-5B74B1AE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B07166-58CA-4362-99ED-A0182917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24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语义分割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19D13-5F1A-4344-9980-921BC9F2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09900"/>
            <a:ext cx="128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+ SAE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mIoU 0.911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5A14CF-9730-4A78-927A-428A64D8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5778E-3B9F-42A1-8624-0B2D04EB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337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43502-327D-42BF-9CBB-50FEF3C5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2700"/>
            <a:ext cx="1571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DEA91-44C2-488A-AFE7-F07040CF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54BE7-926D-4AE8-9B8F-854508F7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24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熔深输出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36D5C-9D2F-4716-9C18-468C963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09900"/>
            <a:ext cx="128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匙孔掩膜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在线质量反馈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482420-E10D-44A0-8528-16AD0FDE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1C42D2-480B-48C7-9F2A-F58C1C4A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实时性链路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71C517-6CEC-4DD7-8DCB-ADB13FF1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CUDA 流水线 + PCR + 统一内存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D0944B-2E45-4C3D-8EEE-B8DBBA70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00600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61043E-6DD1-4D1B-B6FE-EB33D1A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53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准确性链路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E8356D-1BFC-4589-9524-9543E0F5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建结构 + SAE 强边界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E58CD9-EFA0-4973-8BEC-5ABCD163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thesis method chapters; deployment synthesis from reported pipeline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1D0147-8A01-4019-8860-2BEC6895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9413313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7AEEE-032C-4FFB-B3BE-8C8959F2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CFC89-D0AB-47A9-93FA-ACC03401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107F5-AD4A-493C-B98F-00608B04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A3A9B-1294-4E5D-8777-BD5D6CD2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17  CONTRIBUTIONS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9A7D3-B3F8-4CCA-B84D-87DBC762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52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本文贡献可以归纳为三点：实时重建、鲁棒分割、工程验证。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1F5AE-05D1-421E-801E-5F98A168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70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74549-772D-4354-8841-0297F25C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955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A9484-0445-4CE4-8E9B-274037EC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CUDA 加速重建流水线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47790-BF02-4B81-AE91-DCCDEAD8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将 SD-OCT 8 个后处理步骤迁移到 GPU；PCR 并行求解 K 线性化；1351k A-line/s。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41DC0-AB19-4C1A-B3A4-91BB2A6F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70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6710F-1B5F-4DB4-A64B-0AC1DEAA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909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A2FAD-29D6-4115-B1DC-A2AAC7C8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双重注意力分割模型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5F167-733E-46DF-A0A9-9BDA736B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DeepLabV3+ 上加入 TR 与 SAE；mIoU 0.911，目标 IoU 0.826，HD95 10.68。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12C93-75F4-4B93-8CE9-A0A8E1D5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70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AF2E0-C1FC-47BB-8EB8-0DCCA783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863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F164F-56E0-43CC-A6EB-4E68752E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面向焊接 OCT 的系统实验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526B1-DC99-4547-B662-61C0C6E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自建 912/228 数据集；消融、对比、鲁棒性和效率分析共同验证方法有效性。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1606F-B9EC-4B82-B1F0-664BC88D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这三点分别对应答辩时最关键的三个问题：能不能实时、能不能分准、证据是否充分。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5E3B4-6E62-4433-9646-E4911B02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chapter/cp5.tex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F589B-D9B8-40F6-9DA3-74FA99A9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4890502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B73B8-7FEF-4ACC-96BD-195BEB10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1A0D5-6332-4F2D-99C5-602C0485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3064B-109A-4D19-8980-F87961A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C1381-85BF-464A-92F2-A0EB4741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18  OUTLOOK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DB576-0624-4CF3-B4B3-C99BF1E3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后续工作应集中在更低资源占用、更强泛化和端到端部署。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72B15-776E-413B-97FB-9B37598E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952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5585B-B4D3-4BA1-B106-929B67CA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2321A-27E4-4032-A3E7-A4236B82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96733-DD1F-4570-AED1-3CC53C06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PCR 共享内存接近上限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056D4-54AF-4DCA-9981-D7F6A7E1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尝试混合精度、分段求解或更紧凑的共享内存布局。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034F1-7034-4D63-9D3E-8A2F800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2952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1D799-4A42-4DF6-A278-845CA9DF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F2372-7A55-4903-99F8-86069620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3929C-D406-41DA-934B-3A7CA9A4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86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数据集工况覆盖有限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5B8A0-4EE8-4991-BAA3-D477F1CD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扩充材料、功率、速度和焊接状态，验证未见工况泛化。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0155F-4708-4160-ABBE-1410A7E2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2952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4010B-3923-4AF9-B564-6F69CD9B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AF800-180A-49C7-B0FA-AF88D51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C856E-9594-4B63-A867-98799D71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重建与分割仍独立运行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8B730-F7F0-4773-80D0-5F76D635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串联 CUDA 重建与模型推理，形成从干涉谱到分割结果的端到端链路。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4DFA2-5751-4D04-8467-C76EFADB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展望的重点不是换一个更大的模型，而是围绕产线实时性和跨工况可靠性继续收敛。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E5A9C-83CC-4BCB-BDEC-2D8048E9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chapter/cp5.tex outlook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9CE34A-3C27-4A04-8C88-714E5B26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5441346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CFD6A-6536-432A-8ECC-1A2868AB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02AB6-90E6-4753-BEA8-708820F6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AE53C-2024-4A41-83DA-874BF41E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1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感谢各位老师批评指正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98FAD-4E15-46D3-8B94-7FAC5CCD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0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630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9200E-3B7E-4D33-9227-B94DC2F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FD9E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FD9E2"/>
                </a:solidFill>
                <a:latin typeface="PingFang SC"/>
                <a:ea typeface="PingFang SC"/>
                <a:cs typeface="PingFang SC"/>
              </a:rPr>
              <a:t>激光焊接 OCT 图像重建与语义分割方法研究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C4E23-23A7-4917-B061-C017ED1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20A06-3EDA-43A6-B75E-FD88B09F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0.74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30278-C66A-43CB-BAF9-795AE9B6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CUDA 单帧重建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04B3D-189E-4727-99EC-923C3CDD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405D1-647F-44DF-A8EE-49D8DCC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86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D9E61-5748-43FF-B272-404B98BB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分割 mIoU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4554C-EF0C-4BDE-A7A9-C57E611E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883D0-C644-4F03-804F-166D771B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86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10.68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ECF83-2F2E-4ABE-9823-029BF699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524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HD95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680d2d7fd4fde"/>
          <a:stretch xmlns:a="http://schemas.openxmlformats.org/drawingml/2006/main"/>
        </p:blipFill>
        <p:spPr>
          <a:xfrm xmlns:a="http://schemas.openxmlformats.org/drawingml/2006/main">
            <a:off x="7239000" y="1297586"/>
            <a:ext cx="3905250" cy="1062427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E6FC3-123A-410B-A955-7D72D3FE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53CDB-3369-4FD4-8F99-CDF0ECD3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361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从工程链路看：GPU 重建解决吞吐，双重注意力解决弱边界分割，两者共同服务在线熔深监测。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41414-9CFC-47FB-A947-47338F22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BA9B6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BA9B6"/>
                </a:solidFill>
                <a:latin typeface="PingFang SC"/>
                <a:ea typeface="PingFang SC"/>
                <a:cs typeface="PingFang SC"/>
              </a:rPr>
              <a:t>Defense deck generated from thesis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0F521-F422-4E62-AEC7-3B1E8F7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70848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2026-05-15T07:21:08.5970000Z</dcterms:created>
  <dcterms:modified xsi:type="dcterms:W3CDTF">2026-05-15T07:21:08.5970000Z</dcterms:modified>
</coreProperties>
</file>