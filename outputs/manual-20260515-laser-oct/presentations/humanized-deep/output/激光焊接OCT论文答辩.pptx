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notesSlides/notesSlide27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18.xml" ContentType="application/vnd.openxmlformats-officedocument.presentationml.notesSlid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4.xml" ContentType="application/vnd.openxmlformats-officedocument.presentationml.notesSlide+xml"/>
  <Override PartName="/ppt/notesSlides/notesSlide22.xml" ContentType="application/vnd.openxmlformats-officedocument.presentationml.notesSlide+xml"/>
  <Override PartName="/docProps/app.xml" ContentType="application/vnd.openxmlformats-officedocument.extended-properties+xml"/>
  <Override PartName="/ppt/notesSlides/notesSlide2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slides/slide11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7.xml" ContentType="application/vnd.openxmlformats-officedocument.presentationml.notesSlide+xml"/>
  <Override PartName="/ppt/theme/theme2.xml" ContentType="application/vnd.openxmlformats-officedocument.theme+xml"/>
  <Override PartName="/ppt/notesSlides/notesSlide8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9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28.xml" ContentType="application/vnd.openxmlformats-officedocument.presentationml.slide+xml"/>
  <Override PartName="/ppt/slides/slide26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3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5" Type="http://schemas.openxmlformats.org/officeDocument/2006/relationships/slide" Target="slides/slide5.xml" /><Relationship Id="rId32" Type="http://schemas.openxmlformats.org/officeDocument/2006/relationships/tableStyles" Target="tableStyles.xml" /><Relationship Id="rId31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9" Type="http://schemas.openxmlformats.org/officeDocument/2006/relationships/slide" Target="slides/slide29.xml" /><Relationship Id="rId26" Type="http://schemas.openxmlformats.org/officeDocument/2006/relationships/slide" Target="slides/slide26.xml" /><Relationship Id="rId25" Type="http://schemas.openxmlformats.org/officeDocument/2006/relationships/slide" Target="slides/slide25.xml" /><Relationship Id="rId21" Type="http://schemas.openxmlformats.org/officeDocument/2006/relationships/slide" Target="slides/slide21.xml" /><Relationship Id="rId27" Type="http://schemas.openxmlformats.org/officeDocument/2006/relationships/slide" Target="slides/slide27.xml" /><Relationship Id="rId28" Type="http://schemas.openxmlformats.org/officeDocument/2006/relationships/slide" Target="slides/slide28.xml" /><Relationship Id="rId24" Type="http://schemas.openxmlformats.org/officeDocument/2006/relationships/slide" Target="slides/slide24.xml" /><Relationship Id="rId23" Type="http://schemas.openxmlformats.org/officeDocument/2006/relationships/slide" Target="slides/slide23.xml" /><Relationship Id="rId22" Type="http://schemas.openxmlformats.org/officeDocument/2006/relationships/slide" Target="slides/slide22.xml" /><Relationship Id="rId6" Type="http://schemas.openxmlformats.org/officeDocument/2006/relationships/slide" Target="slides/slide6.xml" /><Relationship Id="rId0" Type="http://schemas.openxmlformats.org/officeDocument/2006/relationships/slideMaster" Target="slideMasters/slideMaster1.xml" /><Relationship Id="rId18" Type="http://schemas.openxmlformats.org/officeDocument/2006/relationships/slide" Target="slides/slide18.xml" /><Relationship Id="rId20" Type="http://schemas.openxmlformats.org/officeDocument/2006/relationships/slide" Target="slides/slide20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30" Type="http://schemas.openxmlformats.org/officeDocument/2006/relationships/slide" Target="slides/slide30.xml" /><Relationship Id="rId16" Type="http://schemas.openxmlformats.org/officeDocument/2006/relationships/slide" Target="slides/slide16.xml" /><Relationship Id="rId8" Type="http://schemas.openxmlformats.org/officeDocument/2006/relationships/slide" Target="slides/slide8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9" Type="http://schemas.openxmlformats.org/officeDocument/2006/relationships/slide" Target="slides/slide19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/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.xml" 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0.xml" 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1.xml" 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2.xml" 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3.xml" 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4.xml" 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5.xml" 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6.xml" 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7.xml" 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8.xml" 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19.xml" 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.xml" 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0.xml" 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1.xml" 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2.xml" 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3.xml" 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4.xml" 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5.xml" 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6.xml" 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7.xml" 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8.xml" 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29.xml" 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.xml" 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30.xml" 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4.xml" 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5.xml" 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6.xml" 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7.xml" 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8.xml" 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 /><Relationship Id="rId0" Type="http://schemas.openxmlformats.org/officeDocument/2006/relationships/slide" Target="../slides/slide9.xml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8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8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9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9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0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0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08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2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6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lide Image Placeholder 1"/>
          <p:cNvSpPr>
            <a:spLocks noGrp="1"/>
          </p:cNvSpPr>
          <p:nvPr>
            <p:ph type="sldImg" idx="0"/>
          </p:nvPr>
        </p:nvSpPr>
        <p:spPr/>
        <p:txBody>
          <a:bodyPr/>
          <a:p>
            <a:pPr/>
            <a:endParaRPr/>
          </a:p>
        </p:txBody>
      </p:sp>
      <p:sp>
        <p:nvSpPr>
          <p:cNvPr id="1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20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/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>
  <p:cSld>
    <p:spTree>
      <p:nvGrpSpPr>
        <p:cNvPr id="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1" Type="http://schemas.openxmlformats.org/officeDocument/2006/relationships/slideLayout" Target="../slideLayouts/slideLayout2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1.png" /><Relationship Id="rId1" Type="http://schemas.openxmlformats.org/officeDocument/2006/relationships/notesSlide" Target="../notesSlides/notesSlide1.xml" /><Relationship Id="rId0" Type="http://schemas.openxmlformats.org/officeDocument/2006/relationships/slideLayout" Target="../slideLayouts/slideLayout3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2.xml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3.xml" /><Relationship Id="rId3" Type="http://schemas.openxmlformats.org/officeDocument/2006/relationships/image" Target="media/image13.png" /><Relationship Id="rId2" Type="http://schemas.openxmlformats.org/officeDocument/2006/relationships/image" Target="media/image12.png" /><Relationship Id="rId0" Type="http://schemas.openxmlformats.org/officeDocument/2006/relationships/slideLayout" Target="../slideLayouts/slideLayout3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5.xml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6.xml" /><Relationship Id="rId0" Type="http://schemas.openxmlformats.org/officeDocument/2006/relationships/slideLayout" Target="../slideLayouts/slideLayout3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7.xml" /><Relationship Id="rId0" Type="http://schemas.openxmlformats.org/officeDocument/2006/relationships/slideLayout" Target="../slideLayouts/slideLayout2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16.png" /><Relationship Id="rId2" Type="http://schemas.openxmlformats.org/officeDocument/2006/relationships/image" Target="media/image15.png" /><Relationship Id="rId1" Type="http://schemas.openxmlformats.org/officeDocument/2006/relationships/notesSlide" Target="../notesSlides/notesSlide28.xml" /><Relationship Id="rId0" Type="http://schemas.openxmlformats.org/officeDocument/2006/relationships/slideLayout" Target="../slideLayouts/slideLayout3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9.xml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17.png" /><Relationship Id="rId1" Type="http://schemas.openxmlformats.org/officeDocument/2006/relationships/notesSlide" Target="../notesSlides/notesSlide30.xml" /><Relationship Id="rId0" Type="http://schemas.openxmlformats.org/officeDocument/2006/relationships/slideLayout" Target="../slideLayouts/slideLayout3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 /><Relationship Id="rId0" Type="http://schemas.openxmlformats.org/officeDocument/2006/relationships/slideLayout" Target="../slideLayouts/slideLayout2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4.xml" /><Relationship Id="rId2" Type="http://schemas.openxmlformats.org/officeDocument/2006/relationships/image" Target="media/image2.png" /><Relationship Id="rId0" Type="http://schemas.openxmlformats.org/officeDocument/2006/relationships/slideLayout" Target="../slideLayouts/slideLayout3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 /><Relationship Id="rId0" Type="http://schemas.openxmlformats.org/officeDocument/2006/relationships/slideLayout" Target="../slideLayouts/slideLayout3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6.xml" /><Relationship Id="rId0" Type="http://schemas.openxmlformats.org/officeDocument/2006/relationships/slideLayout" Target="../slideLayouts/slideLayout3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8.xml" /><Relationship Id="rId0" Type="http://schemas.openxmlformats.org/officeDocument/2006/relationships/slideLayout" Target="../slideLayouts/slideLayout3.xml" 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 /><Relationship Id="rId2" Type="http://schemas.openxmlformats.org/officeDocument/2006/relationships/image" Target="media/image3.png" /><Relationship Id="rId0" Type="http://schemas.openxmlformats.org/officeDocument/2006/relationships/slideLayout" Target="../slideLayouts/slideLayout3.xml" 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0.xml" /><Relationship Id="rId0" Type="http://schemas.openxmlformats.org/officeDocument/2006/relationships/slideLayout" Target="../slideLayouts/slideLayout1.xml" 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1.xml" /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3.xml" 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3.xml" /><Relationship Id="rId0" Type="http://schemas.openxmlformats.org/officeDocument/2006/relationships/slideLayout" Target="../slideLayouts/slideLayout1.xml" /></Relationships>
</file>

<file path=ppt/slides/_rels/slide21.xml.rels><?xml version="1.0" encoding="UTF-8" standalone="yes"?><Relationships xmlns="http://schemas.openxmlformats.org/package/2006/relationships"><Relationship Id="rId2" Type="http://schemas.openxmlformats.org/officeDocument/2006/relationships/image" Target="media/image5.png" /><Relationship Id="rId1" Type="http://schemas.openxmlformats.org/officeDocument/2006/relationships/notesSlide" Target="../notesSlides/notesSlide14.xml" /><Relationship Id="rId0" Type="http://schemas.openxmlformats.org/officeDocument/2006/relationships/slideLayout" Target="../slideLayouts/slideLayout3.xml" 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5.xml" /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6.xml" /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7.xml" /><Relationship Id="rId0" Type="http://schemas.openxmlformats.org/officeDocument/2006/relationships/slideLayout" Target="../slideLayouts/slideLayout3.xml" 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18.xml" /><Relationship Id="rId0" Type="http://schemas.openxmlformats.org/officeDocument/2006/relationships/slideLayout" Target="../slideLayouts/slideLayout3.xml" /></Relationships>
</file>

<file path=ppt/slides/_rels/slide26.xml.rels><?xml version="1.0" encoding="UTF-8" standalone="yes"?><Relationships xmlns="http://schemas.openxmlformats.org/package/2006/relationships"><Relationship Id="rId6" Type="http://schemas.openxmlformats.org/officeDocument/2006/relationships/image" Target="media/image10.png" /><Relationship Id="rId5" Type="http://schemas.openxmlformats.org/officeDocument/2006/relationships/image" Target="media/image9.png" /><Relationship Id="rId4" Type="http://schemas.openxmlformats.org/officeDocument/2006/relationships/image" Target="media/image8.png" /><Relationship Id="rId1" Type="http://schemas.openxmlformats.org/officeDocument/2006/relationships/notesSlide" Target="../notesSlides/notesSlide19.xml" /><Relationship Id="rId3" Type="http://schemas.openxmlformats.org/officeDocument/2006/relationships/image" Target="media/image7.png" /><Relationship Id="rId7" Type="http://schemas.openxmlformats.org/officeDocument/2006/relationships/image" Target="media/image11.png" /><Relationship Id="rId2" Type="http://schemas.openxmlformats.org/officeDocument/2006/relationships/image" Target="media/image6.png" /><Relationship Id="rId0" Type="http://schemas.openxmlformats.org/officeDocument/2006/relationships/slideLayout" Target="../slideLayouts/slideLayout3.xml" 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0.xml" /><Relationship Id="rId0" Type="http://schemas.openxmlformats.org/officeDocument/2006/relationships/slideLayout" Target="../slideLayouts/slideLayout3.xml" 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1.xml" /><Relationship Id="rId0" Type="http://schemas.openxmlformats.org/officeDocument/2006/relationships/slideLayout" Target="../slideLayouts/slideLayout3.xml" 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2.xml" /><Relationship Id="rId0" Type="http://schemas.openxmlformats.org/officeDocument/2006/relationships/slideLayout" Target="../slideLayouts/slideLayout3.xml" /></Relationships>
</file>

<file path=ppt/slides/_rels/slide30.xml.rels><?xml version="1.0" encoding="UTF-8" standalone="yes"?><Relationships xmlns="http://schemas.openxmlformats.org/package/2006/relationships"><Relationship Id="rId2" Type="http://schemas.openxmlformats.org/officeDocument/2006/relationships/image" Target="media/image14.png" /><Relationship Id="rId1" Type="http://schemas.openxmlformats.org/officeDocument/2006/relationships/notesSlide" Target="../notesSlides/notesSlide24.xml" /><Relationship Id="rId0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" name=""/>
          <p:cNvSpPr>
            <a:spLocks noGrp="1"/>
          </p:cNvSpPr>
          <p:nvPr/>
        </p:nvSpPr>
        <p:spPr>
          <a:xfrm>
            <a:off x="7067550" y="0"/>
            <a:ext cx="5124450" cy="6858000"/>
          </a:xfrm>
          <a:prstGeom prst="rect">
            <a:avLst/>
          </a:prstGeom>
          <a:solidFill>
            <a:srgbClr val="0B121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" name=""/>
          <p:cNvPicPr>
            <a:picLocks noChangeAspect="1"/>
          </p:cNvPicPr>
          <p:nvPr/>
        </p:nvPicPr>
        <p:blipFill>
          <a:blip r:embed="rId2"/>
          <a:srcRect l="10952" t="0" r="10952" b="0"/>
          <a:stretch>
            <a:fillRect l="0" t="0" r="0" b="0"/>
          </a:stretch>
        </p:blipFill>
        <p:spPr>
          <a:xfrm>
            <a:off x="7239000" y="666750"/>
            <a:ext cx="4591050" cy="3638550"/>
          </a:xfrm>
          <a:prstGeom prst="rect">
            <a:avLst/>
          </a:prstGeom>
        </p:spPr>
      </p:pic>
      <p:sp>
        <p:nvSpPr>
          <p:cNvPr id="5" name=""/>
          <p:cNvSpPr>
            <a:spLocks noGrp="1"/>
          </p:cNvSpPr>
          <p:nvPr/>
        </p:nvSpPr>
        <p:spPr>
          <a:xfrm>
            <a:off x="7239000" y="666750"/>
            <a:ext cx="4591050" cy="3638550"/>
          </a:xfrm>
          <a:prstGeom prst="rect">
            <a:avLst/>
          </a:prstGeom>
          <a:solidFill>
            <a:srgbClr val="101820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" name=""/>
          <p:cNvSpPr>
            <a:spLocks noGrp="1"/>
          </p:cNvSpPr>
          <p:nvPr/>
        </p:nvSpPr>
        <p:spPr>
          <a:xfrm>
            <a:off x="7239000" y="4705350"/>
            <a:ext cx="4591050" cy="1905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" name=""/>
          <p:cNvSpPr>
            <a:spLocks noGrp="1"/>
          </p:cNvSpPr>
          <p:nvPr/>
        </p:nvSpPr>
        <p:spPr>
          <a:xfrm>
            <a:off x="590550" y="609600"/>
            <a:ext cx="609600" cy="3810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" name=""/>
          <p:cNvSpPr>
            <a:spLocks noGrp="1"/>
          </p:cNvSpPr>
          <p:nvPr/>
        </p:nvSpPr>
        <p:spPr>
          <a:xfrm>
            <a:off x="590550" y="857250"/>
            <a:ext cx="2286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BBD0D8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BBD0D8"/>
                </a:solidFill>
                <a:latin typeface="PingFang SC"/>
                <a:ea typeface="PingFang SC"/>
                <a:cs typeface="PingFang SC"/>
              </a:rPr>
              <a:t>硕士学位论文答辩</a:t>
            </a:r>
            <a:endParaRPr/>
          </a:p>
        </p:txBody>
      </p:sp>
      <p:sp>
        <p:nvSpPr>
          <p:cNvPr id="9" name=""/>
          <p:cNvSpPr>
            <a:spLocks noGrp="1"/>
          </p:cNvSpPr>
          <p:nvPr/>
        </p:nvSpPr>
        <p:spPr>
          <a:xfrm>
            <a:off x="590550" y="1657350"/>
            <a:ext cx="609600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375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375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激光焊接OCT图像重建与语义分割方法研究</a:t>
            </a:r>
            <a:endParaRPr/>
          </a:p>
        </p:txBody>
      </p:sp>
      <p:sp>
        <p:nvSpPr>
          <p:cNvPr id="10" name=""/>
          <p:cNvSpPr>
            <a:spLocks noGrp="1"/>
          </p:cNvSpPr>
          <p:nvPr/>
        </p:nvSpPr>
        <p:spPr>
          <a:xfrm>
            <a:off x="619125" y="3219450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C6D3DB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C6D3DB"/>
                </a:solidFill>
                <a:latin typeface="Avenir Next"/>
                <a:ea typeface="Avenir Next"/>
                <a:cs typeface="Avenir Next"/>
              </a:rPr>
              <a:t>Research on OCT Image Reconstruction and Semantic Segmentation for Laser Welding</a:t>
            </a:r>
            <a:endParaRPr/>
          </a:p>
        </p:txBody>
      </p:sp>
      <p:sp>
        <p:nvSpPr>
          <p:cNvPr id="11" name=""/>
          <p:cNvSpPr>
            <a:spLocks noGrp="1"/>
          </p:cNvSpPr>
          <p:nvPr/>
        </p:nvSpPr>
        <p:spPr>
          <a:xfrm>
            <a:off x="619125" y="3848100"/>
            <a:ext cx="581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E4EEF3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E4EEF3"/>
                </a:solidFill>
                <a:latin typeface="PingFang SC"/>
                <a:ea typeface="PingFang SC"/>
                <a:cs typeface="PingFang SC"/>
              </a:rPr>
              <a:t>谢智捷  |  导师：万明明  |  深圳大学  |  2026</a:t>
            </a:r>
            <a:endParaRPr/>
          </a:p>
        </p:txBody>
      </p:sp>
      <p:sp>
        <p:nvSpPr>
          <p:cNvPr id="12" name=""/>
          <p:cNvSpPr>
            <a:spLocks noGrp="1"/>
          </p:cNvSpPr>
          <p:nvPr/>
        </p:nvSpPr>
        <p:spPr>
          <a:xfrm>
            <a:off x="619125" y="5200650"/>
            <a:ext cx="495300" cy="28575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" name=""/>
          <p:cNvSpPr>
            <a:spLocks noGrp="1"/>
          </p:cNvSpPr>
          <p:nvPr/>
        </p:nvSpPr>
        <p:spPr>
          <a:xfrm>
            <a:off x="619125" y="53340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1351k</a:t>
            </a:r>
            <a:endParaRPr/>
          </a:p>
        </p:txBody>
      </p:sp>
      <p:sp>
        <p:nvSpPr>
          <p:cNvPr id="14" name=""/>
          <p:cNvSpPr>
            <a:spLocks noGrp="1"/>
          </p:cNvSpPr>
          <p:nvPr/>
        </p:nvSpPr>
        <p:spPr>
          <a:xfrm>
            <a:off x="619125" y="57721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A-line/s CUDA 重建速率</a:t>
            </a:r>
            <a:endParaRPr/>
          </a:p>
        </p:txBody>
      </p:sp>
      <p:sp>
        <p:nvSpPr>
          <p:cNvPr id="15" name=""/>
          <p:cNvSpPr>
            <a:spLocks noGrp="1"/>
          </p:cNvSpPr>
          <p:nvPr/>
        </p:nvSpPr>
        <p:spPr>
          <a:xfrm>
            <a:off x="2857500" y="520065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" name=""/>
          <p:cNvSpPr>
            <a:spLocks noGrp="1"/>
          </p:cNvSpPr>
          <p:nvPr/>
        </p:nvSpPr>
        <p:spPr>
          <a:xfrm>
            <a:off x="2857500" y="53340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17" name=""/>
          <p:cNvSpPr>
            <a:spLocks noGrp="1"/>
          </p:cNvSpPr>
          <p:nvPr/>
        </p:nvSpPr>
        <p:spPr>
          <a:xfrm>
            <a:off x="2857500" y="57721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改进模型 mIoU</a:t>
            </a:r>
            <a:endParaRPr/>
          </a:p>
        </p:txBody>
      </p:sp>
      <p:sp>
        <p:nvSpPr>
          <p:cNvPr id="18" name=""/>
          <p:cNvSpPr>
            <a:spLocks noGrp="1"/>
          </p:cNvSpPr>
          <p:nvPr/>
        </p:nvSpPr>
        <p:spPr>
          <a:xfrm>
            <a:off x="5095875" y="520065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" name=""/>
          <p:cNvSpPr>
            <a:spLocks noGrp="1"/>
          </p:cNvSpPr>
          <p:nvPr/>
        </p:nvSpPr>
        <p:spPr>
          <a:xfrm>
            <a:off x="5095875" y="533400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-53.3%</a:t>
            </a:r>
            <a:endParaRPr/>
          </a:p>
        </p:txBody>
      </p:sp>
      <p:sp>
        <p:nvSpPr>
          <p:cNvPr id="20" name=""/>
          <p:cNvSpPr>
            <a:spLocks noGrp="1"/>
          </p:cNvSpPr>
          <p:nvPr/>
        </p:nvSpPr>
        <p:spPr>
          <a:xfrm>
            <a:off x="5095875" y="577215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  <a:endParaRPr/>
          </a:p>
        </p:txBody>
      </p:sp>
      <p:sp>
        <p:nvSpPr>
          <p:cNvPr id="21" name=""/>
          <p:cNvSpPr>
            <a:spLocks noGrp="1"/>
          </p:cNvSpPr>
          <p:nvPr/>
        </p:nvSpPr>
        <p:spPr>
          <a:xfrm>
            <a:off x="7391400" y="5048250"/>
            <a:ext cx="3714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F3F8FA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F3F8FA"/>
                </a:solidFill>
                <a:latin typeface="Songti SC"/>
                <a:ea typeface="Songti SC"/>
                <a:cs typeface="Songti SC"/>
              </a:rPr>
              <a:t>这项工作围绕一条链路展开：先把 OCT 图像实时重建出来，再把匙孔区域稳定分出来。</a:t>
            </a:r>
            <a:endParaRPr/>
          </a:p>
        </p:txBody>
      </p:sp>
      <p:sp>
        <p:nvSpPr>
          <p:cNvPr id="22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01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5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4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5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6" name=""/>
          <p:cNvSpPr>
            <a:spLocks noGrp="1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PART 01</a:t>
            </a:r>
            <a:endParaRPr/>
          </a:p>
        </p:txBody>
      </p:sp>
      <p:sp>
        <p:nvSpPr>
          <p:cNvPr id="577" name=""/>
          <p:cNvSpPr>
            <a:spLocks noGrp="1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研究背景与技术路线</a:t>
            </a:r>
            <a:endParaRPr/>
          </a:p>
        </p:txBody>
      </p:sp>
      <p:sp>
        <p:nvSpPr>
          <p:cNvPr id="578" name=""/>
          <p:cNvSpPr>
            <a:spLocks noGrp="1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从焊接 OCT 采集出发，先把问题、数据和整体链路讲清楚。</a:t>
            </a:r>
            <a:endParaRPr/>
          </a:p>
        </p:txBody>
      </p:sp>
      <p:sp>
        <p:nvSpPr>
          <p:cNvPr id="579" name=""/>
          <p:cNvSpPr>
            <a:spLocks noGrp="1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0" name=""/>
          <p:cNvSpPr>
            <a:spLocks noGrp="1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01</a:t>
            </a:r>
            <a:endParaRPr/>
          </a:p>
        </p:txBody>
      </p:sp>
      <p:sp>
        <p:nvSpPr>
          <p:cNvPr id="581" name=""/>
          <p:cNvSpPr>
            <a:spLocks noGrp="1"/>
          </p:cNvSpPr>
          <p:nvPr/>
        </p:nvSpPr>
        <p:spPr>
          <a:xfrm>
            <a:off x="7048500" y="1828800"/>
            <a:ext cx="295275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2" name=""/>
          <p:cNvSpPr>
            <a:spLocks noGrp="1"/>
          </p:cNvSpPr>
          <p:nvPr/>
        </p:nvSpPr>
        <p:spPr>
          <a:xfrm>
            <a:off x="7048500" y="1866900"/>
            <a:ext cx="2952750" cy="104775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3" name=""/>
          <p:cNvSpPr>
            <a:spLocks noGrp="1"/>
          </p:cNvSpPr>
          <p:nvPr/>
        </p:nvSpPr>
        <p:spPr>
          <a:xfrm>
            <a:off x="8334375" y="1200150"/>
            <a:ext cx="323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315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↓</a:t>
            </a:r>
            <a:endParaRPr/>
          </a:p>
        </p:txBody>
      </p:sp>
      <p:sp>
        <p:nvSpPr>
          <p:cNvPr id="584" name=""/>
          <p:cNvSpPr>
            <a:spLocks noGrp="1"/>
          </p:cNvSpPr>
          <p:nvPr/>
        </p:nvSpPr>
        <p:spPr>
          <a:xfrm>
            <a:off x="8477250" y="1619250"/>
            <a:ext cx="28575" cy="1219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5" name=""/>
          <p:cNvSpPr>
            <a:spLocks noGrp="1"/>
          </p:cNvSpPr>
          <p:nvPr/>
        </p:nvSpPr>
        <p:spPr>
          <a:xfrm>
            <a:off x="8191500" y="1866900"/>
            <a:ext cx="57150" cy="41910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6" name=""/>
          <p:cNvSpPr>
            <a:spLocks noGrp="1"/>
          </p:cNvSpPr>
          <p:nvPr/>
        </p:nvSpPr>
        <p:spPr>
          <a:xfrm>
            <a:off x="8248650" y="2286000"/>
            <a:ext cx="57150" cy="4000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7" name=""/>
          <p:cNvSpPr>
            <a:spLocks noGrp="1"/>
          </p:cNvSpPr>
          <p:nvPr/>
        </p:nvSpPr>
        <p:spPr>
          <a:xfrm>
            <a:off x="8305800" y="2686050"/>
            <a:ext cx="381000" cy="571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8" name=""/>
          <p:cNvSpPr>
            <a:spLocks noGrp="1"/>
          </p:cNvSpPr>
          <p:nvPr/>
        </p:nvSpPr>
        <p:spPr>
          <a:xfrm>
            <a:off x="8743950" y="1866900"/>
            <a:ext cx="57150" cy="41910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9" name=""/>
          <p:cNvSpPr>
            <a:spLocks noGrp="1"/>
          </p:cNvSpPr>
          <p:nvPr/>
        </p:nvSpPr>
        <p:spPr>
          <a:xfrm>
            <a:off x="8686800" y="2286000"/>
            <a:ext cx="57150" cy="4000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5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6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7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01  PROBLEM</a:t>
            </a:r>
            <a:endParaRPr/>
          </a:p>
        </p:txBody>
      </p:sp>
      <p:sp>
        <p:nvSpPr>
          <p:cNvPr id="1078" name=""/>
          <p:cNvSpPr>
            <a:spLocks noGrp="1"/>
          </p:cNvSpPr>
          <p:nvPr/>
        </p:nvSpPr>
        <p:spPr>
          <a:xfrm>
            <a:off x="514350" y="781050"/>
            <a:ext cx="9048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熔深要在线测，关键是两件事：重建要跟上采集，分割要扛得住噪声。</a:t>
            </a:r>
            <a:endParaRPr/>
          </a:p>
        </p:txBody>
      </p:sp>
      <p:pic>
        <p:nvPicPr>
          <p:cNvPr id="1079" name=""/>
          <p:cNvPicPr>
            <a:picLocks noChangeAspect="1"/>
          </p:cNvPicPr>
          <p:nvPr/>
        </p:nvPicPr>
        <p:blipFill>
          <a:blip r:embed="rId2"/>
          <a:srcRect l="62" t="0" r="62" b="0"/>
          <a:stretch>
            <a:fillRect l="0" t="0" r="0" b="0"/>
          </a:stretch>
        </p:blipFill>
        <p:spPr>
          <a:xfrm>
            <a:off x="600075" y="1952625"/>
            <a:ext cx="3905250" cy="2419350"/>
          </a:xfrm>
          <a:prstGeom prst="rect">
            <a:avLst/>
          </a:prstGeom>
        </p:spPr>
      </p:pic>
      <p:pic>
        <p:nvPicPr>
          <p:cNvPr id="1080" name=""/>
          <p:cNvPicPr>
            <a:picLocks noChangeAspect="1"/>
          </p:cNvPicPr>
          <p:nvPr/>
        </p:nvPicPr>
        <p:blipFill>
          <a:blip r:embed="rId3"/>
          <a:srcRect l="47" t="0" r="47" b="0"/>
          <a:stretch>
            <a:fillRect l="0" t="0" r="0" b="0"/>
          </a:stretch>
        </p:blipFill>
        <p:spPr>
          <a:xfrm>
            <a:off x="4857750" y="1952625"/>
            <a:ext cx="3905250" cy="2419350"/>
          </a:xfrm>
          <a:prstGeom prst="rect">
            <a:avLst/>
          </a:prstGeom>
        </p:spPr>
      </p:pic>
      <p:sp>
        <p:nvSpPr>
          <p:cNvPr id="1081" name=""/>
          <p:cNvSpPr>
            <a:spLocks noGrp="1"/>
          </p:cNvSpPr>
          <p:nvPr/>
        </p:nvSpPr>
        <p:spPr>
          <a:xfrm>
            <a:off x="647700" y="4495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 OCT</a:t>
            </a:r>
            <a:endParaRPr/>
          </a:p>
        </p:txBody>
      </p:sp>
      <p:sp>
        <p:nvSpPr>
          <p:cNvPr id="1082" name=""/>
          <p:cNvSpPr>
            <a:spLocks noGrp="1"/>
          </p:cNvSpPr>
          <p:nvPr/>
        </p:nvSpPr>
        <p:spPr>
          <a:xfrm>
            <a:off x="4905375" y="44958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匙孔标注</a:t>
            </a:r>
            <a:endParaRPr/>
          </a:p>
        </p:txBody>
      </p:sp>
      <p:sp>
        <p:nvSpPr>
          <p:cNvPr id="1083" name=""/>
          <p:cNvSpPr>
            <a:spLocks noGrp="1"/>
          </p:cNvSpPr>
          <p:nvPr/>
        </p:nvSpPr>
        <p:spPr>
          <a:xfrm>
            <a:off x="9105900" y="1952625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4" name=""/>
          <p:cNvSpPr>
            <a:spLocks noGrp="1"/>
          </p:cNvSpPr>
          <p:nvPr/>
        </p:nvSpPr>
        <p:spPr>
          <a:xfrm>
            <a:off x="9105900" y="1952625"/>
            <a:ext cx="47625" cy="8191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5" name=""/>
          <p:cNvSpPr>
            <a:spLocks noGrp="1"/>
          </p:cNvSpPr>
          <p:nvPr/>
        </p:nvSpPr>
        <p:spPr>
          <a:xfrm>
            <a:off x="9296400" y="210502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重建瓶颈</a:t>
            </a:r>
            <a:endParaRPr/>
          </a:p>
        </p:txBody>
      </p:sp>
      <p:sp>
        <p:nvSpPr>
          <p:cNvPr id="1086" name=""/>
          <p:cNvSpPr>
            <a:spLocks noGrp="1"/>
          </p:cNvSpPr>
          <p:nvPr/>
        </p:nvSpPr>
        <p:spPr>
          <a:xfrm>
            <a:off x="9296400" y="2390775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8 步后处理较长，CPU 串行难匹配 82 kHz A 扫。</a:t>
            </a:r>
            <a:endParaRPr/>
          </a:p>
        </p:txBody>
      </p:sp>
      <p:sp>
        <p:nvSpPr>
          <p:cNvPr id="1087" name=""/>
          <p:cNvSpPr>
            <a:spLocks noGrp="1"/>
          </p:cNvSpPr>
          <p:nvPr/>
        </p:nvSpPr>
        <p:spPr>
          <a:xfrm>
            <a:off x="9105900" y="3067050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8" name=""/>
          <p:cNvSpPr>
            <a:spLocks noGrp="1"/>
          </p:cNvSpPr>
          <p:nvPr/>
        </p:nvSpPr>
        <p:spPr>
          <a:xfrm>
            <a:off x="9105900" y="3067050"/>
            <a:ext cx="47625" cy="8191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9" name=""/>
          <p:cNvSpPr>
            <a:spLocks noGrp="1"/>
          </p:cNvSpPr>
          <p:nvPr/>
        </p:nvSpPr>
        <p:spPr>
          <a:xfrm>
            <a:off x="9296400" y="321945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图像瓶颈</a:t>
            </a:r>
            <a:endParaRPr/>
          </a:p>
        </p:txBody>
      </p:sp>
      <p:sp>
        <p:nvSpPr>
          <p:cNvPr id="1090" name=""/>
          <p:cNvSpPr>
            <a:spLocks noGrp="1"/>
          </p:cNvSpPr>
          <p:nvPr/>
        </p:nvSpPr>
        <p:spPr>
          <a:xfrm>
            <a:off x="9296400" y="3505200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散斑强、边界弱，匙孔区域不容易稳定提取。</a:t>
            </a:r>
            <a:endParaRPr/>
          </a:p>
        </p:txBody>
      </p:sp>
      <p:sp>
        <p:nvSpPr>
          <p:cNvPr id="1091" name=""/>
          <p:cNvSpPr>
            <a:spLocks noGrp="1"/>
          </p:cNvSpPr>
          <p:nvPr/>
        </p:nvSpPr>
        <p:spPr>
          <a:xfrm>
            <a:off x="9105900" y="4181475"/>
            <a:ext cx="2190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2" name=""/>
          <p:cNvSpPr>
            <a:spLocks noGrp="1"/>
          </p:cNvSpPr>
          <p:nvPr/>
        </p:nvSpPr>
        <p:spPr>
          <a:xfrm>
            <a:off x="9105900" y="4181475"/>
            <a:ext cx="47625" cy="8191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3" name=""/>
          <p:cNvSpPr>
            <a:spLocks noGrp="1"/>
          </p:cNvSpPr>
          <p:nvPr/>
        </p:nvSpPr>
        <p:spPr>
          <a:xfrm>
            <a:off x="9296400" y="4333875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控制需求</a:t>
            </a:r>
            <a:endParaRPr/>
          </a:p>
        </p:txBody>
      </p:sp>
      <p:sp>
        <p:nvSpPr>
          <p:cNvPr id="1094" name=""/>
          <p:cNvSpPr>
            <a:spLocks noGrp="1"/>
          </p:cNvSpPr>
          <p:nvPr/>
        </p:nvSpPr>
        <p:spPr>
          <a:xfrm>
            <a:off x="9296400" y="4619625"/>
            <a:ext cx="1809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闭环控制需要毫秒级反馈，分割误差会传到熔深估计。</a:t>
            </a:r>
            <a:endParaRPr/>
          </a:p>
        </p:txBody>
      </p:sp>
      <p:sp>
        <p:nvSpPr>
          <p:cNvPr id="1095" name=""/>
          <p:cNvSpPr>
            <a:spLocks noGrp="1"/>
          </p:cNvSpPr>
          <p:nvPr/>
        </p:nvSpPr>
        <p:spPr>
          <a:xfrm>
            <a:off x="628650" y="5467350"/>
            <a:ext cx="8001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87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后面的汇报按两条线展开：CUDA 重建和匙孔分割。</a:t>
            </a:r>
            <a:endParaRPr/>
          </a:p>
        </p:txBody>
      </p:sp>
      <p:sp>
        <p:nvSpPr>
          <p:cNvPr id="1096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1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"/>
          <p:cNvSpPr>
            <a:spLocks noGrp="1"/>
          </p:cNvSpPr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8" name=""/>
          <p:cNvSpPr>
            <a:spLocks noGrp="1"/>
          </p:cNvSpPr>
          <p:nvPr/>
        </p:nvSpPr>
        <p:spPr>
          <a:xfrm rot="0">
            <a:off x="514350" y="438150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9" name=""/>
          <p:cNvSpPr>
            <a:spLocks noGrp="1"/>
          </p:cNvSpPr>
          <p:nvPr/>
        </p:nvSpPr>
        <p:spPr>
          <a:xfrm rot="0">
            <a:off x="838200" y="361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02A  OCT ACQUISITION</a:t>
            </a:r>
            <a:endParaRPr/>
          </a:p>
        </p:txBody>
      </p:sp>
      <p:sp>
        <p:nvSpPr>
          <p:cNvPr id="1120" name=""/>
          <p:cNvSpPr>
            <a:spLocks noGrp="1"/>
          </p:cNvSpPr>
          <p:nvPr/>
        </p:nvSpPr>
        <p:spPr>
          <a:xfrm rot="0">
            <a:off x="514350" y="781050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OCT 采集这部分，可以拆成光源、干涉、探测和焊接匙孔四个环节。</a:t>
            </a:r>
            <a:endParaRPr/>
          </a:p>
        </p:txBody>
      </p:sp>
      <p:sp>
        <p:nvSpPr>
          <p:cNvPr id="1121" name=""/>
          <p:cNvSpPr>
            <a:spLocks noGrp="1"/>
          </p:cNvSpPr>
          <p:nvPr/>
        </p:nvSpPr>
        <p:spPr>
          <a:xfrm rot="0"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2" name=""/>
          <p:cNvSpPr>
            <a:spLocks noGrp="1"/>
          </p:cNvSpPr>
          <p:nvPr/>
        </p:nvSpPr>
        <p:spPr>
          <a:xfrm rot="0">
            <a:off x="1110615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02A</a:t>
            </a:r>
            <a:endParaRPr/>
          </a:p>
        </p:txBody>
      </p:sp>
      <p:sp>
        <p:nvSpPr>
          <p:cNvPr id="1123" name=""/>
          <p:cNvSpPr>
            <a:spLocks noGrp="1"/>
          </p:cNvSpPr>
          <p:nvPr/>
        </p:nvSpPr>
        <p:spPr>
          <a:xfrm rot="0">
            <a:off x="685800" y="1619250"/>
            <a:ext cx="7239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4" name=""/>
          <p:cNvSpPr>
            <a:spLocks noGrp="1"/>
          </p:cNvSpPr>
          <p:nvPr/>
        </p:nvSpPr>
        <p:spPr>
          <a:xfrm rot="0">
            <a:off x="3924300" y="1695450"/>
            <a:ext cx="304800" cy="304800"/>
          </a:xfrm>
          <a:prstGeom prst="ellipse">
            <a:avLst/>
          </a:prstGeom>
          <a:solidFill>
            <a:srgbClr val="FFFFFF"/>
          </a:solidFill>
          <a:ln w="13335">
            <a:solidFill>
              <a:srgbClr val="627079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5" name=""/>
          <p:cNvSpPr>
            <a:spLocks noGrp="1"/>
          </p:cNvSpPr>
          <p:nvPr/>
        </p:nvSpPr>
        <p:spPr>
          <a:xfrm rot="0">
            <a:off x="3990975" y="1714500"/>
            <a:ext cx="1714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35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×</a:t>
            </a:r>
            <a:endParaRPr/>
          </a:p>
        </p:txBody>
      </p:sp>
      <p:sp>
        <p:nvSpPr>
          <p:cNvPr id="1126" name=""/>
          <p:cNvSpPr>
            <a:spLocks noGrp="1"/>
          </p:cNvSpPr>
          <p:nvPr/>
        </p:nvSpPr>
        <p:spPr>
          <a:xfrm rot="0">
            <a:off x="4362450" y="169545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宽带光源</a:t>
            </a:r>
            <a:endParaRPr/>
          </a:p>
        </p:txBody>
      </p:sp>
      <p:sp>
        <p:nvSpPr>
          <p:cNvPr id="1127" name=""/>
          <p:cNvSpPr>
            <a:spLocks noGrp="1"/>
          </p:cNvSpPr>
          <p:nvPr/>
        </p:nvSpPr>
        <p:spPr>
          <a:xfrm rot="0">
            <a:off x="4362450" y="192405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Light source</a:t>
            </a:r>
            <a:endParaRPr/>
          </a:p>
        </p:txBody>
      </p:sp>
      <p:sp>
        <p:nvSpPr>
          <p:cNvPr id="1128" name=""/>
          <p:cNvSpPr>
            <a:spLocks noGrp="1"/>
          </p:cNvSpPr>
          <p:nvPr/>
        </p:nvSpPr>
        <p:spPr>
          <a:xfrm rot="0">
            <a:off x="3657600" y="2324100"/>
            <a:ext cx="838200" cy="19050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9" name=""/>
          <p:cNvSpPr>
            <a:spLocks noGrp="1"/>
          </p:cNvSpPr>
          <p:nvPr/>
        </p:nvSpPr>
        <p:spPr>
          <a:xfrm rot="0">
            <a:off x="3981450" y="2000250"/>
            <a:ext cx="171450" cy="1428750"/>
          </a:xfrm>
          <a:prstGeom prst="rect">
            <a:avLst/>
          </a:prstGeom>
          <a:solidFill>
            <a:srgbClr val="F4A8AD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0" name=""/>
          <p:cNvSpPr>
            <a:spLocks noGrp="1"/>
          </p:cNvSpPr>
          <p:nvPr/>
        </p:nvSpPr>
        <p:spPr>
          <a:xfrm rot="5400000">
            <a:off x="4067175" y="2562225"/>
            <a:ext cx="62865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1" name=""/>
          <p:cNvSpPr>
            <a:spLocks noGrp="1"/>
          </p:cNvSpPr>
          <p:nvPr/>
        </p:nvSpPr>
        <p:spPr>
          <a:xfrm rot="10800000">
            <a:off x="3914775" y="3238500"/>
            <a:ext cx="152400" cy="152400"/>
          </a:xfrm>
          <a:prstGeom prst="triangle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2" name=""/>
          <p:cNvSpPr>
            <a:spLocks noGrp="1"/>
          </p:cNvSpPr>
          <p:nvPr/>
        </p:nvSpPr>
        <p:spPr>
          <a:xfrm rot="-2280000">
            <a:off x="3676650" y="3105150"/>
            <a:ext cx="1047750" cy="133350"/>
          </a:xfrm>
          <a:prstGeom prst="rect">
            <a:avLst/>
          </a:prstGeom>
          <a:solidFill>
            <a:srgbClr val="62A8CE"/>
          </a:solidFill>
          <a:ln w="9525">
            <a:solidFill>
              <a:srgbClr val="2B6F93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3" name=""/>
          <p:cNvSpPr>
            <a:spLocks noGrp="1"/>
          </p:cNvSpPr>
          <p:nvPr/>
        </p:nvSpPr>
        <p:spPr>
          <a:xfrm rot="0">
            <a:off x="4800600" y="2981325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分束器</a:t>
            </a:r>
            <a:endParaRPr/>
          </a:p>
        </p:txBody>
      </p:sp>
      <p:sp>
        <p:nvSpPr>
          <p:cNvPr id="1134" name=""/>
          <p:cNvSpPr>
            <a:spLocks noGrp="1"/>
          </p:cNvSpPr>
          <p:nvPr/>
        </p:nvSpPr>
        <p:spPr>
          <a:xfrm rot="0">
            <a:off x="4800600" y="3181350"/>
            <a:ext cx="1047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Beamsplitter</a:t>
            </a:r>
            <a:endParaRPr/>
          </a:p>
        </p:txBody>
      </p:sp>
      <p:sp>
        <p:nvSpPr>
          <p:cNvPr id="1135" name=""/>
          <p:cNvSpPr>
            <a:spLocks noGrp="1"/>
          </p:cNvSpPr>
          <p:nvPr/>
        </p:nvSpPr>
        <p:spPr>
          <a:xfrm rot="0">
            <a:off x="2162175" y="3105150"/>
            <a:ext cx="1809750" cy="361950"/>
          </a:xfrm>
          <a:prstGeom prst="rect">
            <a:avLst/>
          </a:prstGeom>
          <a:solidFill>
            <a:srgbClr val="F4A8AD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6" name=""/>
          <p:cNvSpPr>
            <a:spLocks noGrp="1"/>
          </p:cNvSpPr>
          <p:nvPr/>
        </p:nvSpPr>
        <p:spPr>
          <a:xfrm rot="10800000">
            <a:off x="3714750" y="3267075"/>
            <a:ext cx="121920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7" name=""/>
          <p:cNvSpPr>
            <a:spLocks noGrp="1"/>
          </p:cNvSpPr>
          <p:nvPr/>
        </p:nvSpPr>
        <p:spPr>
          <a:xfrm rot="16200000">
            <a:off x="2228850" y="3200400"/>
            <a:ext cx="152400" cy="152400"/>
          </a:xfrm>
          <a:prstGeom prst="triangle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8" name=""/>
          <p:cNvSpPr>
            <a:spLocks noGrp="1"/>
          </p:cNvSpPr>
          <p:nvPr/>
        </p:nvSpPr>
        <p:spPr>
          <a:xfrm rot="1500000">
            <a:off x="1962150" y="2628900"/>
            <a:ext cx="114300" cy="1028700"/>
          </a:xfrm>
          <a:prstGeom prst="rect">
            <a:avLst/>
          </a:prstGeom>
          <a:solidFill>
            <a:srgbClr val="2632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9" name=""/>
          <p:cNvSpPr>
            <a:spLocks noGrp="1"/>
          </p:cNvSpPr>
          <p:nvPr/>
        </p:nvSpPr>
        <p:spPr>
          <a:xfrm rot="0">
            <a:off x="1200150" y="2686050"/>
            <a:ext cx="723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传感器</a:t>
            </a:r>
            <a:endParaRPr/>
          </a:p>
        </p:txBody>
      </p:sp>
      <p:sp>
        <p:nvSpPr>
          <p:cNvPr id="1140" name=""/>
          <p:cNvSpPr>
            <a:spLocks noGrp="1"/>
          </p:cNvSpPr>
          <p:nvPr/>
        </p:nvSpPr>
        <p:spPr>
          <a:xfrm rot="0">
            <a:off x="1200150" y="2914650"/>
            <a:ext cx="723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Sensor</a:t>
            </a:r>
            <a:endParaRPr/>
          </a:p>
        </p:txBody>
      </p:sp>
      <p:sp>
        <p:nvSpPr>
          <p:cNvPr id="1141" name=""/>
          <p:cNvSpPr>
            <a:spLocks noGrp="1"/>
          </p:cNvSpPr>
          <p:nvPr/>
        </p:nvSpPr>
        <p:spPr>
          <a:xfrm rot="0">
            <a:off x="1885950" y="3733800"/>
            <a:ext cx="7620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2" name=""/>
          <p:cNvSpPr>
            <a:spLocks noGrp="1"/>
          </p:cNvSpPr>
          <p:nvPr/>
        </p:nvSpPr>
        <p:spPr>
          <a:xfrm rot="0">
            <a:off x="4705350" y="3105150"/>
            <a:ext cx="2228850" cy="361950"/>
          </a:xfrm>
          <a:prstGeom prst="rect">
            <a:avLst/>
          </a:prstGeom>
          <a:solidFill>
            <a:srgbClr val="F4A8AD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3" name=""/>
          <p:cNvSpPr>
            <a:spLocks noGrp="1"/>
          </p:cNvSpPr>
          <p:nvPr/>
        </p:nvSpPr>
        <p:spPr>
          <a:xfrm rot="0">
            <a:off x="4933950" y="3267075"/>
            <a:ext cx="156210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4" name=""/>
          <p:cNvSpPr>
            <a:spLocks noGrp="1"/>
          </p:cNvSpPr>
          <p:nvPr/>
        </p:nvSpPr>
        <p:spPr>
          <a:xfrm rot="5400000">
            <a:off x="6457950" y="3200400"/>
            <a:ext cx="152400" cy="152400"/>
          </a:xfrm>
          <a:prstGeom prst="triangle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5" name=""/>
          <p:cNvSpPr>
            <a:spLocks noGrp="1"/>
          </p:cNvSpPr>
          <p:nvPr/>
        </p:nvSpPr>
        <p:spPr>
          <a:xfrm rot="0">
            <a:off x="5867400" y="2714625"/>
            <a:ext cx="209550" cy="91440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6" name=""/>
          <p:cNvSpPr>
            <a:spLocks noGrp="1"/>
          </p:cNvSpPr>
          <p:nvPr/>
        </p:nvSpPr>
        <p:spPr>
          <a:xfrm rot="0">
            <a:off x="6972300" y="2724150"/>
            <a:ext cx="28575" cy="10858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7" name=""/>
          <p:cNvSpPr>
            <a:spLocks noGrp="1"/>
          </p:cNvSpPr>
          <p:nvPr/>
        </p:nvSpPr>
        <p:spPr>
          <a:xfrm rot="0">
            <a:off x="7086600" y="26860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参考镜</a:t>
            </a:r>
            <a:endParaRPr/>
          </a:p>
        </p:txBody>
      </p:sp>
      <p:sp>
        <p:nvSpPr>
          <p:cNvPr id="1148" name=""/>
          <p:cNvSpPr>
            <a:spLocks noGrp="1"/>
          </p:cNvSpPr>
          <p:nvPr/>
        </p:nvSpPr>
        <p:spPr>
          <a:xfrm rot="0">
            <a:off x="7086600" y="29146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Reference mirror</a:t>
            </a:r>
            <a:endParaRPr/>
          </a:p>
        </p:txBody>
      </p:sp>
      <p:sp>
        <p:nvSpPr>
          <p:cNvPr id="1149" name=""/>
          <p:cNvSpPr>
            <a:spLocks noGrp="1"/>
          </p:cNvSpPr>
          <p:nvPr/>
        </p:nvSpPr>
        <p:spPr>
          <a:xfrm rot="0">
            <a:off x="1162050" y="4400550"/>
            <a:ext cx="704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激光器</a:t>
            </a:r>
            <a:endParaRPr/>
          </a:p>
        </p:txBody>
      </p:sp>
      <p:sp>
        <p:nvSpPr>
          <p:cNvPr id="1150" name=""/>
          <p:cNvSpPr>
            <a:spLocks noGrp="1"/>
          </p:cNvSpPr>
          <p:nvPr/>
        </p:nvSpPr>
        <p:spPr>
          <a:xfrm rot="0">
            <a:off x="1162050" y="4629150"/>
            <a:ext cx="571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Laser</a:t>
            </a:r>
            <a:endParaRPr/>
          </a:p>
        </p:txBody>
      </p:sp>
      <p:sp>
        <p:nvSpPr>
          <p:cNvPr id="1151" name=""/>
          <p:cNvSpPr>
            <a:spLocks noGrp="1"/>
          </p:cNvSpPr>
          <p:nvPr/>
        </p:nvSpPr>
        <p:spPr>
          <a:xfrm rot="0">
            <a:off x="1676400" y="4533900"/>
            <a:ext cx="1905000" cy="438150"/>
          </a:xfrm>
          <a:prstGeom prst="rect">
            <a:avLst/>
          </a:prstGeom>
          <a:solidFill>
            <a:srgbClr val="EBCB53">
              <a:alpha val="4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2" name=""/>
          <p:cNvSpPr>
            <a:spLocks noGrp="1"/>
          </p:cNvSpPr>
          <p:nvPr/>
        </p:nvSpPr>
        <p:spPr>
          <a:xfrm rot="0">
            <a:off x="3162300" y="4343400"/>
            <a:ext cx="228600" cy="74295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3" name=""/>
          <p:cNvSpPr>
            <a:spLocks noGrp="1"/>
          </p:cNvSpPr>
          <p:nvPr/>
        </p:nvSpPr>
        <p:spPr>
          <a:xfrm rot="0">
            <a:off x="3543300" y="4114800"/>
            <a:ext cx="1695450" cy="876300"/>
          </a:xfrm>
          <a:prstGeom prst="rect">
            <a:avLst/>
          </a:prstGeom>
          <a:solidFill>
            <a:srgbClr val="ECECEC"/>
          </a:solidFill>
          <a:ln w="9525">
            <a:solidFill>
              <a:srgbClr val="D0D0D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4" name=""/>
          <p:cNvSpPr>
            <a:spLocks noGrp="1"/>
          </p:cNvSpPr>
          <p:nvPr/>
        </p:nvSpPr>
        <p:spPr>
          <a:xfrm rot="0">
            <a:off x="4095750" y="4400550"/>
            <a:ext cx="838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焊接头</a:t>
            </a:r>
            <a:endParaRPr/>
          </a:p>
        </p:txBody>
      </p:sp>
      <p:sp>
        <p:nvSpPr>
          <p:cNvPr id="1155" name=""/>
          <p:cNvSpPr>
            <a:spLocks noGrp="1"/>
          </p:cNvSpPr>
          <p:nvPr/>
        </p:nvSpPr>
        <p:spPr>
          <a:xfrm rot="0">
            <a:off x="3962400" y="4629150"/>
            <a:ext cx="1066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Welding head</a:t>
            </a:r>
            <a:endParaRPr/>
          </a:p>
        </p:txBody>
      </p:sp>
      <p:sp>
        <p:nvSpPr>
          <p:cNvPr id="1156" name=""/>
          <p:cNvSpPr>
            <a:spLocks noGrp="1"/>
          </p:cNvSpPr>
          <p:nvPr/>
        </p:nvSpPr>
        <p:spPr>
          <a:xfrm rot="0">
            <a:off x="4000500" y="5010150"/>
            <a:ext cx="838200" cy="171450"/>
          </a:xfrm>
          <a:prstGeom prst="ellipse">
            <a:avLst/>
          </a:prstGeom>
          <a:solidFill>
            <a:srgbClr val="7FD0E8">
              <a:alpha val="31373"/>
            </a:srgbClr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7" name=""/>
          <p:cNvSpPr>
            <a:spLocks noGrp="1"/>
          </p:cNvSpPr>
          <p:nvPr/>
        </p:nvSpPr>
        <p:spPr>
          <a:xfrm rot="0">
            <a:off x="4305300" y="3238500"/>
            <a:ext cx="171450" cy="2133600"/>
          </a:xfrm>
          <a:prstGeom prst="rect">
            <a:avLst/>
          </a:prstGeom>
          <a:solidFill>
            <a:srgbClr val="F4A8AD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8" name=""/>
          <p:cNvSpPr>
            <a:spLocks noGrp="1"/>
          </p:cNvSpPr>
          <p:nvPr/>
        </p:nvSpPr>
        <p:spPr>
          <a:xfrm rot="5400000">
            <a:off x="4391025" y="4676775"/>
            <a:ext cx="55245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9" name=""/>
          <p:cNvSpPr>
            <a:spLocks noGrp="1"/>
          </p:cNvSpPr>
          <p:nvPr/>
        </p:nvSpPr>
        <p:spPr>
          <a:xfrm rot="0">
            <a:off x="4876800" y="57531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样品 / 匙孔</a:t>
            </a:r>
            <a:endParaRPr/>
          </a:p>
        </p:txBody>
      </p:sp>
      <p:sp>
        <p:nvSpPr>
          <p:cNvPr id="1160" name=""/>
          <p:cNvSpPr>
            <a:spLocks noGrp="1"/>
          </p:cNvSpPr>
          <p:nvPr/>
        </p:nvSpPr>
        <p:spPr>
          <a:xfrm rot="0">
            <a:off x="4876800" y="598170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Sample / keyhole</a:t>
            </a:r>
            <a:endParaRPr/>
          </a:p>
        </p:txBody>
      </p:sp>
      <p:sp>
        <p:nvSpPr>
          <p:cNvPr id="1161" name=""/>
          <p:cNvSpPr>
            <a:spLocks noGrp="1"/>
          </p:cNvSpPr>
          <p:nvPr/>
        </p:nvSpPr>
        <p:spPr>
          <a:xfrm rot="0">
            <a:off x="8477250" y="1790700"/>
            <a:ext cx="25146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2" name=""/>
          <p:cNvSpPr>
            <a:spLocks noGrp="1"/>
          </p:cNvSpPr>
          <p:nvPr/>
        </p:nvSpPr>
        <p:spPr>
          <a:xfrm rot="0">
            <a:off x="8477250" y="1790700"/>
            <a:ext cx="251460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3" name=""/>
          <p:cNvSpPr>
            <a:spLocks noGrp="1"/>
          </p:cNvSpPr>
          <p:nvPr/>
        </p:nvSpPr>
        <p:spPr>
          <a:xfrm rot="0">
            <a:off x="8629650" y="19621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采集核心</a:t>
            </a:r>
            <a:endParaRPr/>
          </a:p>
        </p:txBody>
      </p:sp>
      <p:sp>
        <p:nvSpPr>
          <p:cNvPr id="1164" name=""/>
          <p:cNvSpPr>
            <a:spLocks noGrp="1"/>
          </p:cNvSpPr>
          <p:nvPr/>
        </p:nvSpPr>
        <p:spPr>
          <a:xfrm rot="0">
            <a:off x="8629650" y="22669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参考光和样品反射光重新合束后形成干涉，传感器记录光谱信号。</a:t>
            </a:r>
            <a:endParaRPr/>
          </a:p>
        </p:txBody>
      </p:sp>
      <p:sp>
        <p:nvSpPr>
          <p:cNvPr id="1165" name=""/>
          <p:cNvSpPr>
            <a:spLocks noGrp="1"/>
          </p:cNvSpPr>
          <p:nvPr/>
        </p:nvSpPr>
        <p:spPr>
          <a:xfrm rot="0">
            <a:off x="8477250" y="2990850"/>
            <a:ext cx="25146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6" name=""/>
          <p:cNvSpPr>
            <a:spLocks noGrp="1"/>
          </p:cNvSpPr>
          <p:nvPr/>
        </p:nvSpPr>
        <p:spPr>
          <a:xfrm rot="0">
            <a:off x="8477250" y="2990850"/>
            <a:ext cx="2514600" cy="4762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7" name=""/>
          <p:cNvSpPr>
            <a:spLocks noGrp="1"/>
          </p:cNvSpPr>
          <p:nvPr/>
        </p:nvSpPr>
        <p:spPr>
          <a:xfrm rot="0">
            <a:off x="8629650" y="316230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焊接场景</a:t>
            </a:r>
            <a:endParaRPr/>
          </a:p>
        </p:txBody>
      </p:sp>
      <p:sp>
        <p:nvSpPr>
          <p:cNvPr id="1168" name=""/>
          <p:cNvSpPr>
            <a:spLocks noGrp="1"/>
          </p:cNvSpPr>
          <p:nvPr/>
        </p:nvSpPr>
        <p:spPr>
          <a:xfrm rot="0">
            <a:off x="8629650" y="346710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OCT 测量光进入匙孔，反射信息提供熔深在线测量依据。</a:t>
            </a:r>
            <a:endParaRPr/>
          </a:p>
        </p:txBody>
      </p:sp>
      <p:sp>
        <p:nvSpPr>
          <p:cNvPr id="1169" name=""/>
          <p:cNvSpPr>
            <a:spLocks noGrp="1"/>
          </p:cNvSpPr>
          <p:nvPr/>
        </p:nvSpPr>
        <p:spPr>
          <a:xfrm rot="0">
            <a:off x="8477250" y="4191000"/>
            <a:ext cx="2514600" cy="857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0" name=""/>
          <p:cNvSpPr>
            <a:spLocks noGrp="1"/>
          </p:cNvSpPr>
          <p:nvPr/>
        </p:nvSpPr>
        <p:spPr>
          <a:xfrm rot="0">
            <a:off x="8477250" y="4191000"/>
            <a:ext cx="251460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1" name=""/>
          <p:cNvSpPr>
            <a:spLocks noGrp="1"/>
          </p:cNvSpPr>
          <p:nvPr/>
        </p:nvSpPr>
        <p:spPr>
          <a:xfrm rot="0">
            <a:off x="8629650" y="4362450"/>
            <a:ext cx="2209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答辩讲法</a:t>
            </a:r>
            <a:endParaRPr/>
          </a:p>
        </p:txBody>
      </p:sp>
      <p:sp>
        <p:nvSpPr>
          <p:cNvPr id="1172" name=""/>
          <p:cNvSpPr>
            <a:spLocks noGrp="1"/>
          </p:cNvSpPr>
          <p:nvPr/>
        </p:nvSpPr>
        <p:spPr>
          <a:xfrm rot="0">
            <a:off x="8629650" y="4667250"/>
            <a:ext cx="2209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这张图主要说明一点：OCT 看的是深度结构，不只是表面图像。</a:t>
            </a:r>
            <a:endParaRPr/>
          </a:p>
        </p:txBody>
      </p:sp>
      <p:sp>
        <p:nvSpPr>
          <p:cNvPr id="1173" name=""/>
          <p:cNvSpPr>
            <a:spLocks noGrp="1"/>
          </p:cNvSpPr>
          <p:nvPr/>
        </p:nvSpPr>
        <p:spPr>
          <a:xfrm>
            <a:off x="3295650" y="5581650"/>
            <a:ext cx="152400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4" name=""/>
          <p:cNvSpPr>
            <a:spLocks noGrp="1"/>
          </p:cNvSpPr>
          <p:nvPr/>
        </p:nvSpPr>
        <p:spPr>
          <a:xfrm>
            <a:off x="3295650" y="5619750"/>
            <a:ext cx="1524000" cy="76200"/>
          </a:xfrm>
          <a:prstGeom prst="rect">
            <a:avLst/>
          </a:prstGeom>
          <a:solidFill>
            <a:srgbClr val="E7DED0"/>
          </a:solidFill>
          <a:ln w="0">
            <a:solidFill>
              <a:srgbClr val="E7DED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5" name=""/>
          <p:cNvSpPr>
            <a:spLocks noGrp="1"/>
          </p:cNvSpPr>
          <p:nvPr/>
        </p:nvSpPr>
        <p:spPr>
          <a:xfrm>
            <a:off x="4152900" y="5581650"/>
            <a:ext cx="323850" cy="114300"/>
          </a:xfrm>
          <a:prstGeom prst="rect">
            <a:avLst/>
          </a:prstGeom>
          <a:solidFill>
            <a:srgbClr val="F7F4EE"/>
          </a:solidFill>
          <a:ln w="0">
            <a:solidFill>
              <a:srgbClr val="F7F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6" name=""/>
          <p:cNvSpPr>
            <a:spLocks noGrp="1"/>
          </p:cNvSpPr>
          <p:nvPr/>
        </p:nvSpPr>
        <p:spPr>
          <a:xfrm>
            <a:off x="4219575" y="5219700"/>
            <a:ext cx="2286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4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↓</a:t>
            </a:r>
            <a:endParaRPr/>
          </a:p>
        </p:txBody>
      </p:sp>
      <p:sp>
        <p:nvSpPr>
          <p:cNvPr id="1177" name=""/>
          <p:cNvSpPr>
            <a:spLocks noGrp="1"/>
          </p:cNvSpPr>
          <p:nvPr/>
        </p:nvSpPr>
        <p:spPr>
          <a:xfrm>
            <a:off x="4314825" y="5562600"/>
            <a:ext cx="19050" cy="6858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8" name=""/>
          <p:cNvSpPr>
            <a:spLocks noGrp="1"/>
          </p:cNvSpPr>
          <p:nvPr/>
        </p:nvSpPr>
        <p:spPr>
          <a:xfrm>
            <a:off x="4143375" y="5619750"/>
            <a:ext cx="28575" cy="2095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9" name=""/>
          <p:cNvSpPr>
            <a:spLocks noGrp="1"/>
          </p:cNvSpPr>
          <p:nvPr/>
        </p:nvSpPr>
        <p:spPr>
          <a:xfrm>
            <a:off x="4171950" y="5829300"/>
            <a:ext cx="28575" cy="19050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0" name=""/>
          <p:cNvSpPr>
            <a:spLocks noGrp="1"/>
          </p:cNvSpPr>
          <p:nvPr/>
        </p:nvSpPr>
        <p:spPr>
          <a:xfrm>
            <a:off x="4210050" y="6019800"/>
            <a:ext cx="28575" cy="1714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1" name=""/>
          <p:cNvSpPr>
            <a:spLocks noGrp="1"/>
          </p:cNvSpPr>
          <p:nvPr/>
        </p:nvSpPr>
        <p:spPr>
          <a:xfrm>
            <a:off x="4267200" y="6191250"/>
            <a:ext cx="13335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2" name=""/>
          <p:cNvSpPr>
            <a:spLocks noGrp="1"/>
          </p:cNvSpPr>
          <p:nvPr/>
        </p:nvSpPr>
        <p:spPr>
          <a:xfrm>
            <a:off x="4457700" y="5619750"/>
            <a:ext cx="28575" cy="2095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3" name=""/>
          <p:cNvSpPr>
            <a:spLocks noGrp="1"/>
          </p:cNvSpPr>
          <p:nvPr/>
        </p:nvSpPr>
        <p:spPr>
          <a:xfrm>
            <a:off x="4429125" y="5829300"/>
            <a:ext cx="28575" cy="19050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4" name=""/>
          <p:cNvSpPr>
            <a:spLocks noGrp="1"/>
          </p:cNvSpPr>
          <p:nvPr/>
        </p:nvSpPr>
        <p:spPr>
          <a:xfrm>
            <a:off x="4391025" y="6019800"/>
            <a:ext cx="28575" cy="171450"/>
          </a:xfrm>
          <a:prstGeom prst="rect">
            <a:avLst/>
          </a:prstGeom>
          <a:solidFill>
            <a:srgbClr val="2F5C8A"/>
          </a:solidFill>
          <a:ln w="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1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7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8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9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02  ROUTE</a:t>
            </a:r>
            <a:endParaRPr/>
          </a:p>
        </p:txBody>
      </p:sp>
      <p:sp>
        <p:nvSpPr>
          <p:cNvPr id="1190" name=""/>
          <p:cNvSpPr>
            <a:spLocks noGrp="1"/>
          </p:cNvSpPr>
          <p:nvPr/>
        </p:nvSpPr>
        <p:spPr>
          <a:xfrm>
            <a:off x="514350" y="781050"/>
            <a:ext cx="9334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整条路线从采集开始，到重建、标注、分割，最后回到熔深估计。</a:t>
            </a:r>
            <a:endParaRPr/>
          </a:p>
        </p:txBody>
      </p:sp>
      <p:sp>
        <p:nvSpPr>
          <p:cNvPr id="1191" name=""/>
          <p:cNvSpPr>
            <a:spLocks noGrp="1"/>
          </p:cNvSpPr>
          <p:nvPr/>
        </p:nvSpPr>
        <p:spPr>
          <a:xfrm>
            <a:off x="5143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2" name=""/>
          <p:cNvSpPr>
            <a:spLocks noGrp="1"/>
          </p:cNvSpPr>
          <p:nvPr/>
        </p:nvSpPr>
        <p:spPr>
          <a:xfrm>
            <a:off x="514350" y="2457450"/>
            <a:ext cx="1409700" cy="381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3" name=""/>
          <p:cNvSpPr>
            <a:spLocks noGrp="1"/>
          </p:cNvSpPr>
          <p:nvPr/>
        </p:nvSpPr>
        <p:spPr>
          <a:xfrm>
            <a:off x="6572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原始干涉谱</a:t>
            </a:r>
            <a:endParaRPr/>
          </a:p>
        </p:txBody>
      </p:sp>
      <p:sp>
        <p:nvSpPr>
          <p:cNvPr id="1194" name=""/>
          <p:cNvSpPr>
            <a:spLocks noGrp="1"/>
          </p:cNvSpPr>
          <p:nvPr/>
        </p:nvSpPr>
        <p:spPr>
          <a:xfrm>
            <a:off x="6572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SD-OCT 采集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N=2048 采样点</a:t>
            </a:r>
            <a:endParaRPr/>
          </a:p>
        </p:txBody>
      </p:sp>
      <p:sp>
        <p:nvSpPr>
          <p:cNvPr id="1195" name=""/>
          <p:cNvSpPr>
            <a:spLocks noGrp="1"/>
          </p:cNvSpPr>
          <p:nvPr/>
        </p:nvSpPr>
        <p:spPr>
          <a:xfrm>
            <a:off x="1981200" y="3143250"/>
            <a:ext cx="3429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6" name=""/>
          <p:cNvSpPr>
            <a:spLocks noGrp="1"/>
          </p:cNvSpPr>
          <p:nvPr/>
        </p:nvSpPr>
        <p:spPr>
          <a:xfrm>
            <a:off x="23812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7" name=""/>
          <p:cNvSpPr>
            <a:spLocks noGrp="1"/>
          </p:cNvSpPr>
          <p:nvPr/>
        </p:nvSpPr>
        <p:spPr>
          <a:xfrm>
            <a:off x="2381250" y="2457450"/>
            <a:ext cx="14097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8" name=""/>
          <p:cNvSpPr>
            <a:spLocks noGrp="1"/>
          </p:cNvSpPr>
          <p:nvPr/>
        </p:nvSpPr>
        <p:spPr>
          <a:xfrm>
            <a:off x="25241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重建</a:t>
            </a:r>
            <a:endParaRPr/>
          </a:p>
        </p:txBody>
      </p:sp>
      <p:sp>
        <p:nvSpPr>
          <p:cNvPr id="1199" name=""/>
          <p:cNvSpPr>
            <a:spLocks noGrp="1"/>
          </p:cNvSpPr>
          <p:nvPr/>
        </p:nvSpPr>
        <p:spPr>
          <a:xfrm>
            <a:off x="25241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步后处理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K 线性化</a:t>
            </a:r>
            <a:endParaRPr/>
          </a:p>
        </p:txBody>
      </p:sp>
      <p:sp>
        <p:nvSpPr>
          <p:cNvPr id="1200" name=""/>
          <p:cNvSpPr>
            <a:spLocks noGrp="1"/>
          </p:cNvSpPr>
          <p:nvPr/>
        </p:nvSpPr>
        <p:spPr>
          <a:xfrm>
            <a:off x="3848100" y="3143250"/>
            <a:ext cx="342900" cy="190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1" name=""/>
          <p:cNvSpPr>
            <a:spLocks noGrp="1"/>
          </p:cNvSpPr>
          <p:nvPr/>
        </p:nvSpPr>
        <p:spPr>
          <a:xfrm>
            <a:off x="42481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2" name=""/>
          <p:cNvSpPr>
            <a:spLocks noGrp="1"/>
          </p:cNvSpPr>
          <p:nvPr/>
        </p:nvSpPr>
        <p:spPr>
          <a:xfrm>
            <a:off x="4248150" y="2457450"/>
            <a:ext cx="1409700" cy="381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3" name=""/>
          <p:cNvSpPr>
            <a:spLocks noGrp="1"/>
          </p:cNvSpPr>
          <p:nvPr/>
        </p:nvSpPr>
        <p:spPr>
          <a:xfrm>
            <a:off x="43910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深度图</a:t>
            </a:r>
            <a:endParaRPr/>
          </a:p>
        </p:txBody>
      </p:sp>
      <p:sp>
        <p:nvSpPr>
          <p:cNvPr id="1204" name=""/>
          <p:cNvSpPr>
            <a:spLocks noGrp="1"/>
          </p:cNvSpPr>
          <p:nvPr/>
        </p:nvSpPr>
        <p:spPr>
          <a:xfrm>
            <a:off x="43910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GPU 端输出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 B 扫</a:t>
            </a:r>
            <a:endParaRPr/>
          </a:p>
        </p:txBody>
      </p:sp>
      <p:sp>
        <p:nvSpPr>
          <p:cNvPr id="1205" name=""/>
          <p:cNvSpPr>
            <a:spLocks noGrp="1"/>
          </p:cNvSpPr>
          <p:nvPr/>
        </p:nvSpPr>
        <p:spPr>
          <a:xfrm>
            <a:off x="5715000" y="3143250"/>
            <a:ext cx="342900" cy="190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6" name=""/>
          <p:cNvSpPr>
            <a:spLocks noGrp="1"/>
          </p:cNvSpPr>
          <p:nvPr/>
        </p:nvSpPr>
        <p:spPr>
          <a:xfrm>
            <a:off x="61150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7" name=""/>
          <p:cNvSpPr>
            <a:spLocks noGrp="1"/>
          </p:cNvSpPr>
          <p:nvPr/>
        </p:nvSpPr>
        <p:spPr>
          <a:xfrm>
            <a:off x="6115050" y="2457450"/>
            <a:ext cx="1409700" cy="3810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8" name=""/>
          <p:cNvSpPr>
            <a:spLocks noGrp="1"/>
          </p:cNvSpPr>
          <p:nvPr/>
        </p:nvSpPr>
        <p:spPr>
          <a:xfrm>
            <a:off x="62579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数据集标注</a:t>
            </a:r>
            <a:endParaRPr/>
          </a:p>
        </p:txBody>
      </p:sp>
      <p:sp>
        <p:nvSpPr>
          <p:cNvPr id="1209" name=""/>
          <p:cNvSpPr>
            <a:spLocks noGrp="1"/>
          </p:cNvSpPr>
          <p:nvPr/>
        </p:nvSpPr>
        <p:spPr>
          <a:xfrm>
            <a:off x="62579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912 训练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228 测试</a:t>
            </a:r>
            <a:endParaRPr/>
          </a:p>
        </p:txBody>
      </p:sp>
      <p:sp>
        <p:nvSpPr>
          <p:cNvPr id="1210" name=""/>
          <p:cNvSpPr>
            <a:spLocks noGrp="1"/>
          </p:cNvSpPr>
          <p:nvPr/>
        </p:nvSpPr>
        <p:spPr>
          <a:xfrm>
            <a:off x="7581900" y="3143250"/>
            <a:ext cx="342900" cy="190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1" name=""/>
          <p:cNvSpPr>
            <a:spLocks noGrp="1"/>
          </p:cNvSpPr>
          <p:nvPr/>
        </p:nvSpPr>
        <p:spPr>
          <a:xfrm>
            <a:off x="79819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2" name=""/>
          <p:cNvSpPr>
            <a:spLocks noGrp="1"/>
          </p:cNvSpPr>
          <p:nvPr/>
        </p:nvSpPr>
        <p:spPr>
          <a:xfrm>
            <a:off x="7981950" y="2457450"/>
            <a:ext cx="140970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3" name=""/>
          <p:cNvSpPr>
            <a:spLocks noGrp="1"/>
          </p:cNvSpPr>
          <p:nvPr/>
        </p:nvSpPr>
        <p:spPr>
          <a:xfrm>
            <a:off x="81248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 分割</a:t>
            </a:r>
            <a:endParaRPr/>
          </a:p>
        </p:txBody>
      </p:sp>
      <p:sp>
        <p:nvSpPr>
          <p:cNvPr id="1214" name=""/>
          <p:cNvSpPr>
            <a:spLocks noGrp="1"/>
          </p:cNvSpPr>
          <p:nvPr/>
        </p:nvSpPr>
        <p:spPr>
          <a:xfrm>
            <a:off x="81248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全局连续性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  <a:endParaRPr/>
          </a:p>
        </p:txBody>
      </p:sp>
      <p:sp>
        <p:nvSpPr>
          <p:cNvPr id="1215" name=""/>
          <p:cNvSpPr>
            <a:spLocks noGrp="1"/>
          </p:cNvSpPr>
          <p:nvPr/>
        </p:nvSpPr>
        <p:spPr>
          <a:xfrm>
            <a:off x="9848850" y="2457450"/>
            <a:ext cx="14097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6" name=""/>
          <p:cNvSpPr>
            <a:spLocks noGrp="1"/>
          </p:cNvSpPr>
          <p:nvPr/>
        </p:nvSpPr>
        <p:spPr>
          <a:xfrm>
            <a:off x="9848850" y="2457450"/>
            <a:ext cx="1409700" cy="38100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7" name=""/>
          <p:cNvSpPr>
            <a:spLocks noGrp="1"/>
          </p:cNvSpPr>
          <p:nvPr/>
        </p:nvSpPr>
        <p:spPr>
          <a:xfrm>
            <a:off x="9991725" y="2628900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熔深估计</a:t>
            </a:r>
            <a:endParaRPr/>
          </a:p>
        </p:txBody>
      </p:sp>
      <p:sp>
        <p:nvSpPr>
          <p:cNvPr id="1218" name=""/>
          <p:cNvSpPr>
            <a:spLocks noGrp="1"/>
          </p:cNvSpPr>
          <p:nvPr/>
        </p:nvSpPr>
        <p:spPr>
          <a:xfrm>
            <a:off x="9991725" y="2914650"/>
            <a:ext cx="112395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在线质量评价</a:t>
            </a:r>
            <a:endParaRPr/>
          </a:p>
        </p:txBody>
      </p:sp>
      <p:sp>
        <p:nvSpPr>
          <p:cNvPr id="1219" name=""/>
          <p:cNvSpPr>
            <a:spLocks noGrp="1"/>
          </p:cNvSpPr>
          <p:nvPr/>
        </p:nvSpPr>
        <p:spPr>
          <a:xfrm>
            <a:off x="514350" y="4591050"/>
            <a:ext cx="5067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0" name=""/>
          <p:cNvSpPr>
            <a:spLocks noGrp="1"/>
          </p:cNvSpPr>
          <p:nvPr/>
        </p:nvSpPr>
        <p:spPr>
          <a:xfrm>
            <a:off x="6153150" y="4591050"/>
            <a:ext cx="50673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1" name=""/>
          <p:cNvSpPr>
            <a:spLocks noGrp="1"/>
          </p:cNvSpPr>
          <p:nvPr/>
        </p:nvSpPr>
        <p:spPr>
          <a:xfrm>
            <a:off x="742950" y="47625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贡献一：重建实时化</a:t>
            </a:r>
            <a:endParaRPr/>
          </a:p>
        </p:txBody>
      </p:sp>
      <p:sp>
        <p:nvSpPr>
          <p:cNvPr id="1222" name=""/>
          <p:cNvSpPr>
            <a:spLocks noGrp="1"/>
          </p:cNvSpPr>
          <p:nvPr/>
        </p:nvSpPr>
        <p:spPr>
          <a:xfrm>
            <a:off x="742950" y="5048250"/>
            <a:ext cx="4267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流水线 + PCR 并行求解 + 统一内存优化。</a:t>
            </a:r>
            <a:endParaRPr/>
          </a:p>
        </p:txBody>
      </p:sp>
      <p:sp>
        <p:nvSpPr>
          <p:cNvPr id="1223" name=""/>
          <p:cNvSpPr>
            <a:spLocks noGrp="1"/>
          </p:cNvSpPr>
          <p:nvPr/>
        </p:nvSpPr>
        <p:spPr>
          <a:xfrm>
            <a:off x="6381750" y="4762500"/>
            <a:ext cx="2190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贡献二：分割鲁棒化</a:t>
            </a:r>
            <a:endParaRPr/>
          </a:p>
        </p:txBody>
      </p:sp>
      <p:sp>
        <p:nvSpPr>
          <p:cNvPr id="1224" name=""/>
          <p:cNvSpPr>
            <a:spLocks noGrp="1"/>
          </p:cNvSpPr>
          <p:nvPr/>
        </p:nvSpPr>
        <p:spPr>
          <a:xfrm>
            <a:off x="6381750" y="5048250"/>
            <a:ext cx="4095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编码端 TR 建结构，解码端 SAE 强边界。</a:t>
            </a:r>
            <a:endParaRPr/>
          </a:p>
        </p:txBody>
      </p:sp>
      <p:sp>
        <p:nvSpPr>
          <p:cNvPr id="1225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</a:t>
            </a:r>
            <a:endParaRPr/>
          </a:p>
        </p:txBody>
      </p:sp>
      <p:sp>
        <p:nvSpPr>
          <p:cNvPr id="1226" name=""/>
          <p:cNvSpPr>
            <a:spLocks noGrp="1"/>
          </p:cNvSpPr>
          <p:nvPr/>
        </p:nvSpPr>
        <p:spPr>
          <a:xfrm>
            <a:off x="2076450" y="3133725"/>
            <a:ext cx="24765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7" name=""/>
          <p:cNvSpPr>
            <a:spLocks noGrp="1"/>
          </p:cNvSpPr>
          <p:nvPr/>
        </p:nvSpPr>
        <p:spPr>
          <a:xfrm>
            <a:off x="2305050" y="3057525"/>
            <a:ext cx="19050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8" name=""/>
          <p:cNvSpPr>
            <a:spLocks noGrp="1"/>
          </p:cNvSpPr>
          <p:nvPr/>
        </p:nvSpPr>
        <p:spPr>
          <a:xfrm>
            <a:off x="3943350" y="3133725"/>
            <a:ext cx="24765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9" name=""/>
          <p:cNvSpPr>
            <a:spLocks noGrp="1"/>
          </p:cNvSpPr>
          <p:nvPr/>
        </p:nvSpPr>
        <p:spPr>
          <a:xfrm>
            <a:off x="4171950" y="3057525"/>
            <a:ext cx="19050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0" name=""/>
          <p:cNvSpPr>
            <a:spLocks noGrp="1"/>
          </p:cNvSpPr>
          <p:nvPr/>
        </p:nvSpPr>
        <p:spPr>
          <a:xfrm>
            <a:off x="5810250" y="3133725"/>
            <a:ext cx="24765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1" name=""/>
          <p:cNvSpPr>
            <a:spLocks noGrp="1"/>
          </p:cNvSpPr>
          <p:nvPr/>
        </p:nvSpPr>
        <p:spPr>
          <a:xfrm>
            <a:off x="6038850" y="3057525"/>
            <a:ext cx="19050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2" name=""/>
          <p:cNvSpPr>
            <a:spLocks noGrp="1"/>
          </p:cNvSpPr>
          <p:nvPr/>
        </p:nvSpPr>
        <p:spPr>
          <a:xfrm>
            <a:off x="7677150" y="3133725"/>
            <a:ext cx="24765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3" name=""/>
          <p:cNvSpPr>
            <a:spLocks noGrp="1"/>
          </p:cNvSpPr>
          <p:nvPr/>
        </p:nvSpPr>
        <p:spPr>
          <a:xfrm>
            <a:off x="7905750" y="3057525"/>
            <a:ext cx="19050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4" name=""/>
          <p:cNvSpPr>
            <a:spLocks noGrp="1"/>
          </p:cNvSpPr>
          <p:nvPr/>
        </p:nvSpPr>
        <p:spPr>
          <a:xfrm>
            <a:off x="9467850" y="3133725"/>
            <a:ext cx="24765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5" name=""/>
          <p:cNvSpPr>
            <a:spLocks noGrp="1"/>
          </p:cNvSpPr>
          <p:nvPr/>
        </p:nvSpPr>
        <p:spPr>
          <a:xfrm>
            <a:off x="9696450" y="3057525"/>
            <a:ext cx="19050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"/>
          <p:cNvSpPr>
            <a:spLocks noGrp="1"/>
          </p:cNvSpPr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8" name=""/>
          <p:cNvSpPr>
            <a:spLocks noGrp="1"/>
          </p:cNvSpPr>
          <p:nvPr/>
        </p:nvSpPr>
        <p:spPr>
          <a:xfrm rot="0">
            <a:off x="514350" y="438150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9" name=""/>
          <p:cNvSpPr>
            <a:spLocks noGrp="1"/>
          </p:cNvSpPr>
          <p:nvPr/>
        </p:nvSpPr>
        <p:spPr>
          <a:xfrm rot="0">
            <a:off x="838200" y="361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03A  DATA FLOW</a:t>
            </a:r>
            <a:endParaRPr/>
          </a:p>
        </p:txBody>
      </p:sp>
      <p:sp>
        <p:nvSpPr>
          <p:cNvPr id="1240" name=""/>
          <p:cNvSpPr>
            <a:spLocks noGrp="1"/>
          </p:cNvSpPr>
          <p:nvPr/>
        </p:nvSpPr>
        <p:spPr>
          <a:xfrm rot="0">
            <a:off x="514350" y="781050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从 OCT 采集到匙孔掩膜，中间要经过光谱数据、重建图像和语义分割三步。</a:t>
            </a:r>
            <a:endParaRPr/>
          </a:p>
        </p:txBody>
      </p:sp>
      <p:sp>
        <p:nvSpPr>
          <p:cNvPr id="1241" name=""/>
          <p:cNvSpPr>
            <a:spLocks noGrp="1"/>
          </p:cNvSpPr>
          <p:nvPr/>
        </p:nvSpPr>
        <p:spPr>
          <a:xfrm rot="0"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2" name=""/>
          <p:cNvSpPr>
            <a:spLocks noGrp="1"/>
          </p:cNvSpPr>
          <p:nvPr/>
        </p:nvSpPr>
        <p:spPr>
          <a:xfrm rot="0">
            <a:off x="1110615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03A</a:t>
            </a:r>
            <a:endParaRPr/>
          </a:p>
        </p:txBody>
      </p:sp>
      <p:sp>
        <p:nvSpPr>
          <p:cNvPr id="1243" name=""/>
          <p:cNvSpPr>
            <a:spLocks noGrp="1"/>
          </p:cNvSpPr>
          <p:nvPr/>
        </p:nvSpPr>
        <p:spPr>
          <a:xfrm rot="0">
            <a:off x="55245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4" name=""/>
          <p:cNvSpPr>
            <a:spLocks noGrp="1"/>
          </p:cNvSpPr>
          <p:nvPr/>
        </p:nvSpPr>
        <p:spPr>
          <a:xfrm rot="0">
            <a:off x="552450" y="2247900"/>
            <a:ext cx="1466850" cy="47625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5" name=""/>
          <p:cNvSpPr>
            <a:spLocks noGrp="1"/>
          </p:cNvSpPr>
          <p:nvPr/>
        </p:nvSpPr>
        <p:spPr>
          <a:xfrm rot="0">
            <a:off x="70485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OCT 采集</a:t>
            </a:r>
            <a:endParaRPr/>
          </a:p>
        </p:txBody>
      </p:sp>
      <p:sp>
        <p:nvSpPr>
          <p:cNvPr id="1246" name=""/>
          <p:cNvSpPr>
            <a:spLocks noGrp="1"/>
          </p:cNvSpPr>
          <p:nvPr/>
        </p:nvSpPr>
        <p:spPr>
          <a:xfrm rot="0">
            <a:off x="70485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光谱仪获取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  <a:endParaRPr/>
          </a:p>
        </p:txBody>
      </p:sp>
      <p:sp>
        <p:nvSpPr>
          <p:cNvPr id="1247" name=""/>
          <p:cNvSpPr>
            <a:spLocks noGrp="1"/>
          </p:cNvSpPr>
          <p:nvPr/>
        </p:nvSpPr>
        <p:spPr>
          <a:xfrm rot="0">
            <a:off x="2076450" y="2905125"/>
            <a:ext cx="17145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8" name=""/>
          <p:cNvSpPr>
            <a:spLocks noGrp="1"/>
          </p:cNvSpPr>
          <p:nvPr/>
        </p:nvSpPr>
        <p:spPr>
          <a:xfrm rot="5400000">
            <a:off x="2209800" y="2838450"/>
            <a:ext cx="152400" cy="152400"/>
          </a:xfrm>
          <a:prstGeom prst="triangle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9" name=""/>
          <p:cNvSpPr>
            <a:spLocks noGrp="1"/>
          </p:cNvSpPr>
          <p:nvPr/>
        </p:nvSpPr>
        <p:spPr>
          <a:xfrm rot="0">
            <a:off x="243840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0" name=""/>
          <p:cNvSpPr>
            <a:spLocks noGrp="1"/>
          </p:cNvSpPr>
          <p:nvPr/>
        </p:nvSpPr>
        <p:spPr>
          <a:xfrm rot="0">
            <a:off x="2438400" y="2247900"/>
            <a:ext cx="14668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1" name=""/>
          <p:cNvSpPr>
            <a:spLocks noGrp="1"/>
          </p:cNvSpPr>
          <p:nvPr/>
        </p:nvSpPr>
        <p:spPr>
          <a:xfrm rot="0">
            <a:off x="259080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原始矩阵</a:t>
            </a:r>
            <a:endParaRPr/>
          </a:p>
        </p:txBody>
      </p:sp>
      <p:sp>
        <p:nvSpPr>
          <p:cNvPr id="1252" name=""/>
          <p:cNvSpPr>
            <a:spLocks noGrp="1"/>
          </p:cNvSpPr>
          <p:nvPr/>
        </p:nvSpPr>
        <p:spPr>
          <a:xfrm rot="0">
            <a:off x="259080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 × N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N = 2048</a:t>
            </a:r>
            <a:endParaRPr/>
          </a:p>
        </p:txBody>
      </p:sp>
      <p:sp>
        <p:nvSpPr>
          <p:cNvPr id="1253" name=""/>
          <p:cNvSpPr>
            <a:spLocks noGrp="1"/>
          </p:cNvSpPr>
          <p:nvPr/>
        </p:nvSpPr>
        <p:spPr>
          <a:xfrm rot="0">
            <a:off x="3962400" y="2905125"/>
            <a:ext cx="171450" cy="190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4" name=""/>
          <p:cNvSpPr>
            <a:spLocks noGrp="1"/>
          </p:cNvSpPr>
          <p:nvPr/>
        </p:nvSpPr>
        <p:spPr>
          <a:xfrm rot="5400000">
            <a:off x="4095750" y="2838450"/>
            <a:ext cx="152400" cy="152400"/>
          </a:xfrm>
          <a:prstGeom prst="triangle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5" name=""/>
          <p:cNvSpPr>
            <a:spLocks noGrp="1"/>
          </p:cNvSpPr>
          <p:nvPr/>
        </p:nvSpPr>
        <p:spPr>
          <a:xfrm rot="0">
            <a:off x="432435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6" name=""/>
          <p:cNvSpPr>
            <a:spLocks noGrp="1"/>
          </p:cNvSpPr>
          <p:nvPr/>
        </p:nvSpPr>
        <p:spPr>
          <a:xfrm rot="0">
            <a:off x="4324350" y="2247900"/>
            <a:ext cx="1466850" cy="4762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7" name=""/>
          <p:cNvSpPr>
            <a:spLocks noGrp="1"/>
          </p:cNvSpPr>
          <p:nvPr/>
        </p:nvSpPr>
        <p:spPr>
          <a:xfrm rot="0">
            <a:off x="447675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CUDA 后处理</a:t>
            </a:r>
            <a:endParaRPr/>
          </a:p>
        </p:txBody>
      </p:sp>
      <p:sp>
        <p:nvSpPr>
          <p:cNvPr id="1258" name=""/>
          <p:cNvSpPr>
            <a:spLocks noGrp="1"/>
          </p:cNvSpPr>
          <p:nvPr/>
        </p:nvSpPr>
        <p:spPr>
          <a:xfrm rot="0">
            <a:off x="447675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光谱整形 / 背景扣除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K 线性化 / FFT</a:t>
            </a:r>
            <a:endParaRPr/>
          </a:p>
        </p:txBody>
      </p:sp>
      <p:sp>
        <p:nvSpPr>
          <p:cNvPr id="1259" name=""/>
          <p:cNvSpPr>
            <a:spLocks noGrp="1"/>
          </p:cNvSpPr>
          <p:nvPr/>
        </p:nvSpPr>
        <p:spPr>
          <a:xfrm rot="0">
            <a:off x="5848350" y="2905125"/>
            <a:ext cx="171450" cy="190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0" name=""/>
          <p:cNvSpPr>
            <a:spLocks noGrp="1"/>
          </p:cNvSpPr>
          <p:nvPr/>
        </p:nvSpPr>
        <p:spPr>
          <a:xfrm rot="5400000">
            <a:off x="5981700" y="2838450"/>
            <a:ext cx="152400" cy="152400"/>
          </a:xfrm>
          <a:prstGeom prst="triangle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1" name=""/>
          <p:cNvSpPr>
            <a:spLocks noGrp="1"/>
          </p:cNvSpPr>
          <p:nvPr/>
        </p:nvSpPr>
        <p:spPr>
          <a:xfrm rot="0">
            <a:off x="621030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2" name=""/>
          <p:cNvSpPr>
            <a:spLocks noGrp="1"/>
          </p:cNvSpPr>
          <p:nvPr/>
        </p:nvSpPr>
        <p:spPr>
          <a:xfrm rot="0">
            <a:off x="6210300" y="2247900"/>
            <a:ext cx="1466850" cy="47625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3" name=""/>
          <p:cNvSpPr>
            <a:spLocks noGrp="1"/>
          </p:cNvSpPr>
          <p:nvPr/>
        </p:nvSpPr>
        <p:spPr>
          <a:xfrm rot="0">
            <a:off x="636270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 扫深度图</a:t>
            </a:r>
            <a:endParaRPr/>
          </a:p>
        </p:txBody>
      </p:sp>
      <p:sp>
        <p:nvSpPr>
          <p:cNvPr id="1264" name=""/>
          <p:cNvSpPr>
            <a:spLocks noGrp="1"/>
          </p:cNvSpPr>
          <p:nvPr/>
        </p:nvSpPr>
        <p:spPr>
          <a:xfrm rot="0">
            <a:off x="636270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幅值提取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灰度映射</a:t>
            </a:r>
            <a:endParaRPr/>
          </a:p>
        </p:txBody>
      </p:sp>
      <p:sp>
        <p:nvSpPr>
          <p:cNvPr id="1265" name=""/>
          <p:cNvSpPr>
            <a:spLocks noGrp="1"/>
          </p:cNvSpPr>
          <p:nvPr/>
        </p:nvSpPr>
        <p:spPr>
          <a:xfrm rot="0">
            <a:off x="7734300" y="2905125"/>
            <a:ext cx="171450" cy="190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6" name=""/>
          <p:cNvSpPr>
            <a:spLocks noGrp="1"/>
          </p:cNvSpPr>
          <p:nvPr/>
        </p:nvSpPr>
        <p:spPr>
          <a:xfrm rot="5400000">
            <a:off x="7867650" y="2838450"/>
            <a:ext cx="152400" cy="152400"/>
          </a:xfrm>
          <a:prstGeom prst="triangle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7" name=""/>
          <p:cNvSpPr>
            <a:spLocks noGrp="1"/>
          </p:cNvSpPr>
          <p:nvPr/>
        </p:nvSpPr>
        <p:spPr>
          <a:xfrm rot="0">
            <a:off x="809625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8" name=""/>
          <p:cNvSpPr>
            <a:spLocks noGrp="1"/>
          </p:cNvSpPr>
          <p:nvPr/>
        </p:nvSpPr>
        <p:spPr>
          <a:xfrm rot="0">
            <a:off x="8096250" y="2247900"/>
            <a:ext cx="146685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9" name=""/>
          <p:cNvSpPr>
            <a:spLocks noGrp="1"/>
          </p:cNvSpPr>
          <p:nvPr/>
        </p:nvSpPr>
        <p:spPr>
          <a:xfrm rot="0">
            <a:off x="824865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+ SAE</a:t>
            </a:r>
            <a:endParaRPr/>
          </a:p>
        </p:txBody>
      </p:sp>
      <p:sp>
        <p:nvSpPr>
          <p:cNvPr id="1270" name=""/>
          <p:cNvSpPr>
            <a:spLocks noGrp="1"/>
          </p:cNvSpPr>
          <p:nvPr/>
        </p:nvSpPr>
        <p:spPr>
          <a:xfrm rot="0">
            <a:off x="824865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结构连续性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边界精度</a:t>
            </a:r>
            <a:endParaRPr/>
          </a:p>
        </p:txBody>
      </p:sp>
      <p:sp>
        <p:nvSpPr>
          <p:cNvPr id="1271" name=""/>
          <p:cNvSpPr>
            <a:spLocks noGrp="1"/>
          </p:cNvSpPr>
          <p:nvPr/>
        </p:nvSpPr>
        <p:spPr>
          <a:xfrm rot="0">
            <a:off x="9620250" y="2905125"/>
            <a:ext cx="17145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2" name=""/>
          <p:cNvSpPr>
            <a:spLocks noGrp="1"/>
          </p:cNvSpPr>
          <p:nvPr/>
        </p:nvSpPr>
        <p:spPr>
          <a:xfrm rot="5400000">
            <a:off x="9753600" y="2838450"/>
            <a:ext cx="152400" cy="152400"/>
          </a:xfrm>
          <a:prstGeom prst="triangle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3" name=""/>
          <p:cNvSpPr>
            <a:spLocks noGrp="1"/>
          </p:cNvSpPr>
          <p:nvPr/>
        </p:nvSpPr>
        <p:spPr>
          <a:xfrm rot="0">
            <a:off x="9982200" y="2247900"/>
            <a:ext cx="14668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4" name=""/>
          <p:cNvSpPr>
            <a:spLocks noGrp="1"/>
          </p:cNvSpPr>
          <p:nvPr/>
        </p:nvSpPr>
        <p:spPr>
          <a:xfrm rot="0">
            <a:off x="9982200" y="2247900"/>
            <a:ext cx="1466850" cy="47625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5" name=""/>
          <p:cNvSpPr>
            <a:spLocks noGrp="1"/>
          </p:cNvSpPr>
          <p:nvPr/>
        </p:nvSpPr>
        <p:spPr>
          <a:xfrm rot="0">
            <a:off x="10134600" y="241935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匙孔掩膜</a:t>
            </a:r>
            <a:endParaRPr/>
          </a:p>
        </p:txBody>
      </p:sp>
      <p:sp>
        <p:nvSpPr>
          <p:cNvPr id="1276" name=""/>
          <p:cNvSpPr>
            <a:spLocks noGrp="1"/>
          </p:cNvSpPr>
          <p:nvPr/>
        </p:nvSpPr>
        <p:spPr>
          <a:xfrm rot="0">
            <a:off x="10134600" y="2724150"/>
            <a:ext cx="11620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熔深估计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质量反馈</a:t>
            </a:r>
            <a:endParaRPr/>
          </a:p>
        </p:txBody>
      </p:sp>
      <p:sp>
        <p:nvSpPr>
          <p:cNvPr id="1277" name=""/>
          <p:cNvSpPr>
            <a:spLocks noGrp="1"/>
          </p:cNvSpPr>
          <p:nvPr/>
        </p:nvSpPr>
        <p:spPr>
          <a:xfrm rot="0">
            <a:off x="819150" y="4419600"/>
            <a:ext cx="4476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8" name=""/>
          <p:cNvSpPr>
            <a:spLocks noGrp="1"/>
          </p:cNvSpPr>
          <p:nvPr/>
        </p:nvSpPr>
        <p:spPr>
          <a:xfrm rot="0">
            <a:off x="819150" y="4419600"/>
            <a:ext cx="44767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9" name=""/>
          <p:cNvSpPr>
            <a:spLocks noGrp="1"/>
          </p:cNvSpPr>
          <p:nvPr/>
        </p:nvSpPr>
        <p:spPr>
          <a:xfrm rot="0">
            <a:off x="1066800" y="4629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重建链路解决实时性</a:t>
            </a:r>
            <a:endParaRPr/>
          </a:p>
        </p:txBody>
      </p:sp>
      <p:sp>
        <p:nvSpPr>
          <p:cNvPr id="1280" name=""/>
          <p:cNvSpPr>
            <a:spLocks noGrp="1"/>
          </p:cNvSpPr>
          <p:nvPr/>
        </p:nvSpPr>
        <p:spPr>
          <a:xfrm rot="0">
            <a:off x="2952750" y="46291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 个后处理步骤全部迁移到 GPU；M=1000 时 0.74 ms / 帧，1351k A-line/s。</a:t>
            </a:r>
            <a:endParaRPr/>
          </a:p>
        </p:txBody>
      </p:sp>
      <p:sp>
        <p:nvSpPr>
          <p:cNvPr id="1281" name=""/>
          <p:cNvSpPr>
            <a:spLocks noGrp="1"/>
          </p:cNvSpPr>
          <p:nvPr/>
        </p:nvSpPr>
        <p:spPr>
          <a:xfrm rot="0">
            <a:off x="6248400" y="4419600"/>
            <a:ext cx="447675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2" name=""/>
          <p:cNvSpPr>
            <a:spLocks noGrp="1"/>
          </p:cNvSpPr>
          <p:nvPr/>
        </p:nvSpPr>
        <p:spPr>
          <a:xfrm rot="0">
            <a:off x="6248400" y="4419600"/>
            <a:ext cx="447675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3" name=""/>
          <p:cNvSpPr>
            <a:spLocks noGrp="1"/>
          </p:cNvSpPr>
          <p:nvPr/>
        </p:nvSpPr>
        <p:spPr>
          <a:xfrm rot="0">
            <a:off x="6496050" y="462915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分割链路解决稳定性</a:t>
            </a:r>
            <a:endParaRPr/>
          </a:p>
        </p:txBody>
      </p:sp>
      <p:sp>
        <p:nvSpPr>
          <p:cNvPr id="1284" name=""/>
          <p:cNvSpPr>
            <a:spLocks noGrp="1"/>
          </p:cNvSpPr>
          <p:nvPr/>
        </p:nvSpPr>
        <p:spPr>
          <a:xfrm rot="0">
            <a:off x="8382000" y="4629150"/>
            <a:ext cx="2000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建立全局连续性，SAE 提升边界定位；最终 mIoU = 0.911。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7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8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9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03  DATASET</a:t>
            </a:r>
            <a:endParaRPr/>
          </a:p>
        </p:txBody>
      </p:sp>
      <p:sp>
        <p:nvSpPr>
          <p:cNvPr id="1290" name=""/>
          <p:cNvSpPr>
            <a:spLocks noGrp="1"/>
          </p:cNvSpPr>
          <p:nvPr/>
        </p:nvSpPr>
        <p:spPr>
          <a:xfrm>
            <a:off x="514350" y="781050"/>
            <a:ext cx="9144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数据集只围绕一个任务建：在 OCT 图像里逐像素标出匙孔区域。</a:t>
            </a:r>
            <a:endParaRPr/>
          </a:p>
        </p:txBody>
      </p:sp>
      <p:sp>
        <p:nvSpPr>
          <p:cNvPr id="1291" name=""/>
          <p:cNvSpPr>
            <a:spLocks noGrp="1"/>
          </p:cNvSpPr>
          <p:nvPr/>
        </p:nvSpPr>
        <p:spPr>
          <a:xfrm>
            <a:off x="609600" y="1943100"/>
            <a:ext cx="4953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2" name=""/>
          <p:cNvSpPr>
            <a:spLocks noGrp="1"/>
          </p:cNvSpPr>
          <p:nvPr/>
        </p:nvSpPr>
        <p:spPr>
          <a:xfrm>
            <a:off x="609600" y="207645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912</a:t>
            </a:r>
            <a:endParaRPr/>
          </a:p>
        </p:txBody>
      </p:sp>
      <p:sp>
        <p:nvSpPr>
          <p:cNvPr id="1293" name=""/>
          <p:cNvSpPr>
            <a:spLocks noGrp="1"/>
          </p:cNvSpPr>
          <p:nvPr/>
        </p:nvSpPr>
        <p:spPr>
          <a:xfrm>
            <a:off x="609600" y="2514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训练图像</a:t>
            </a:r>
            <a:endParaRPr/>
          </a:p>
        </p:txBody>
      </p:sp>
      <p:sp>
        <p:nvSpPr>
          <p:cNvPr id="1294" name=""/>
          <p:cNvSpPr>
            <a:spLocks noGrp="1"/>
          </p:cNvSpPr>
          <p:nvPr/>
        </p:nvSpPr>
        <p:spPr>
          <a:xfrm>
            <a:off x="2686050" y="194310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5" name=""/>
          <p:cNvSpPr>
            <a:spLocks noGrp="1"/>
          </p:cNvSpPr>
          <p:nvPr/>
        </p:nvSpPr>
        <p:spPr>
          <a:xfrm>
            <a:off x="2686050" y="2076450"/>
            <a:ext cx="18097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228</a:t>
            </a:r>
            <a:endParaRPr/>
          </a:p>
        </p:txBody>
      </p:sp>
      <p:sp>
        <p:nvSpPr>
          <p:cNvPr id="1296" name=""/>
          <p:cNvSpPr>
            <a:spLocks noGrp="1"/>
          </p:cNvSpPr>
          <p:nvPr/>
        </p:nvSpPr>
        <p:spPr>
          <a:xfrm>
            <a:off x="2686050" y="2514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测试图像</a:t>
            </a:r>
            <a:endParaRPr/>
          </a:p>
        </p:txBody>
      </p:sp>
      <p:sp>
        <p:nvSpPr>
          <p:cNvPr id="1297" name=""/>
          <p:cNvSpPr>
            <a:spLocks noGrp="1"/>
          </p:cNvSpPr>
          <p:nvPr/>
        </p:nvSpPr>
        <p:spPr>
          <a:xfrm>
            <a:off x="4762500" y="1943100"/>
            <a:ext cx="495300" cy="28575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8" name=""/>
          <p:cNvSpPr>
            <a:spLocks noGrp="1"/>
          </p:cNvSpPr>
          <p:nvPr/>
        </p:nvSpPr>
        <p:spPr>
          <a:xfrm>
            <a:off x="4762500" y="2076450"/>
            <a:ext cx="2000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512×512</a:t>
            </a:r>
            <a:endParaRPr/>
          </a:p>
        </p:txBody>
      </p:sp>
      <p:sp>
        <p:nvSpPr>
          <p:cNvPr id="1299" name=""/>
          <p:cNvSpPr>
            <a:spLocks noGrp="1"/>
          </p:cNvSpPr>
          <p:nvPr/>
        </p:nvSpPr>
        <p:spPr>
          <a:xfrm>
            <a:off x="4762500" y="2514600"/>
            <a:ext cx="2000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模型输入尺寸</a:t>
            </a:r>
            <a:endParaRPr/>
          </a:p>
        </p:txBody>
      </p:sp>
      <p:sp>
        <p:nvSpPr>
          <p:cNvPr id="1300" name=""/>
          <p:cNvSpPr>
            <a:spLocks noGrp="1"/>
          </p:cNvSpPr>
          <p:nvPr/>
        </p:nvSpPr>
        <p:spPr>
          <a:xfrm>
            <a:off x="7067550" y="194310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1" name=""/>
          <p:cNvSpPr>
            <a:spLocks noGrp="1"/>
          </p:cNvSpPr>
          <p:nvPr/>
        </p:nvSpPr>
        <p:spPr>
          <a:xfrm>
            <a:off x="7067550" y="2076450"/>
            <a:ext cx="247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BCE + Dice</a:t>
            </a:r>
            <a:endParaRPr/>
          </a:p>
        </p:txBody>
      </p:sp>
      <p:sp>
        <p:nvSpPr>
          <p:cNvPr id="1302" name=""/>
          <p:cNvSpPr>
            <a:spLocks noGrp="1"/>
          </p:cNvSpPr>
          <p:nvPr/>
        </p:nvSpPr>
        <p:spPr>
          <a:xfrm>
            <a:off x="7067550" y="25146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混合损失缓解类别不平衡</a:t>
            </a:r>
            <a:endParaRPr/>
          </a:p>
        </p:txBody>
      </p:sp>
      <p:sp>
        <p:nvSpPr>
          <p:cNvPr id="1303" name=""/>
          <p:cNvSpPr>
            <a:spLocks noGrp="1"/>
          </p:cNvSpPr>
          <p:nvPr/>
        </p:nvSpPr>
        <p:spPr>
          <a:xfrm>
            <a:off x="609600" y="3295650"/>
            <a:ext cx="4762500" cy="2047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4" name=""/>
          <p:cNvSpPr>
            <a:spLocks noGrp="1"/>
          </p:cNvSpPr>
          <p:nvPr/>
        </p:nvSpPr>
        <p:spPr>
          <a:xfrm>
            <a:off x="5867400" y="3295650"/>
            <a:ext cx="4762500" cy="2047875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05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836305" y="3486150"/>
            <a:ext cx="2309091" cy="1428750"/>
          </a:xfrm>
          <a:prstGeom prst="rect">
            <a:avLst/>
          </a:prstGeom>
        </p:spPr>
      </p:pic>
      <p:pic>
        <p:nvPicPr>
          <p:cNvPr id="1306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96162" y="3486150"/>
            <a:ext cx="2304976" cy="1428750"/>
          </a:xfrm>
          <a:prstGeom prst="rect">
            <a:avLst/>
          </a:prstGeom>
        </p:spPr>
      </p:pic>
      <p:sp>
        <p:nvSpPr>
          <p:cNvPr id="1307" name=""/>
          <p:cNvSpPr>
            <a:spLocks noGrp="1"/>
          </p:cNvSpPr>
          <p:nvPr/>
        </p:nvSpPr>
        <p:spPr>
          <a:xfrm>
            <a:off x="800100" y="50101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输入：重建后的 OCT 图像</a:t>
            </a:r>
            <a:endParaRPr/>
          </a:p>
        </p:txBody>
      </p:sp>
      <p:sp>
        <p:nvSpPr>
          <p:cNvPr id="1308" name=""/>
          <p:cNvSpPr>
            <a:spLocks noGrp="1"/>
          </p:cNvSpPr>
          <p:nvPr/>
        </p:nvSpPr>
        <p:spPr>
          <a:xfrm>
            <a:off x="6057900" y="5010150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输出：匙孔区域二值掩膜</a:t>
            </a:r>
            <a:endParaRPr/>
          </a:p>
        </p:txBody>
      </p:sp>
      <p:sp>
        <p:nvSpPr>
          <p:cNvPr id="1309" name=""/>
          <p:cNvSpPr>
            <a:spLocks noGrp="1"/>
          </p:cNvSpPr>
          <p:nvPr/>
        </p:nvSpPr>
        <p:spPr>
          <a:xfrm>
            <a:off x="609600" y="5753100"/>
            <a:ext cx="962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评价指标覆盖区域重叠、类别准确率、Dice 与边界距离，避免只用单一精度指标评价弱边界分割。</a:t>
            </a:r>
            <a:endParaRPr/>
          </a:p>
        </p:txBody>
      </p:sp>
      <p:sp>
        <p:nvSpPr>
          <p:cNvPr id="1310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04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3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3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4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5" name=""/>
          <p:cNvSpPr>
            <a:spLocks noGrp="1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PART 02</a:t>
            </a:r>
            <a:endParaRPr/>
          </a:p>
        </p:txBody>
      </p:sp>
      <p:sp>
        <p:nvSpPr>
          <p:cNvPr id="1316" name=""/>
          <p:cNvSpPr>
            <a:spLocks noGrp="1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OCT 图像实时重建</a:t>
            </a:r>
            <a:endParaRPr/>
          </a:p>
        </p:txBody>
      </p:sp>
      <p:sp>
        <p:nvSpPr>
          <p:cNvPr id="1317" name=""/>
          <p:cNvSpPr>
            <a:spLocks noGrp="1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围绕 SD-OCT 后处理，把 K 线性化、FFT 和数据搬运放到 GPU 端解决。</a:t>
            </a:r>
            <a:endParaRPr/>
          </a:p>
        </p:txBody>
      </p:sp>
      <p:sp>
        <p:nvSpPr>
          <p:cNvPr id="1318" name=""/>
          <p:cNvSpPr>
            <a:spLocks noGrp="1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9" name=""/>
          <p:cNvSpPr>
            <a:spLocks noGrp="1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02</a:t>
            </a:r>
            <a:endParaRPr/>
          </a:p>
        </p:txBody>
      </p:sp>
      <p:sp>
        <p:nvSpPr>
          <p:cNvPr id="1320" name=""/>
          <p:cNvSpPr>
            <a:spLocks noGrp="1"/>
          </p:cNvSpPr>
          <p:nvPr/>
        </p:nvSpPr>
        <p:spPr>
          <a:xfrm>
            <a:off x="6667500" y="1619250"/>
            <a:ext cx="15240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1" name=""/>
          <p:cNvSpPr>
            <a:spLocks noGrp="1"/>
          </p:cNvSpPr>
          <p:nvPr/>
        </p:nvSpPr>
        <p:spPr>
          <a:xfrm>
            <a:off x="7067550" y="2038350"/>
            <a:ext cx="723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CPU</a:t>
            </a:r>
            <a:endParaRPr/>
          </a:p>
        </p:txBody>
      </p:sp>
      <p:sp>
        <p:nvSpPr>
          <p:cNvPr id="1322" name=""/>
          <p:cNvSpPr>
            <a:spLocks noGrp="1"/>
          </p:cNvSpPr>
          <p:nvPr/>
        </p:nvSpPr>
        <p:spPr>
          <a:xfrm>
            <a:off x="8401050" y="2162175"/>
            <a:ext cx="81915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3" name=""/>
          <p:cNvSpPr>
            <a:spLocks noGrp="1"/>
          </p:cNvSpPr>
          <p:nvPr/>
        </p:nvSpPr>
        <p:spPr>
          <a:xfrm>
            <a:off x="9201150" y="208597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4" name=""/>
          <p:cNvSpPr>
            <a:spLocks noGrp="1"/>
          </p:cNvSpPr>
          <p:nvPr/>
        </p:nvSpPr>
        <p:spPr>
          <a:xfrm>
            <a:off x="8401050" y="2286000"/>
            <a:ext cx="1066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kernel</a:t>
            </a:r>
            <a:endParaRPr/>
          </a:p>
        </p:txBody>
      </p:sp>
      <p:sp>
        <p:nvSpPr>
          <p:cNvPr id="1325" name=""/>
          <p:cNvSpPr>
            <a:spLocks noGrp="1"/>
          </p:cNvSpPr>
          <p:nvPr/>
        </p:nvSpPr>
        <p:spPr>
          <a:xfrm>
            <a:off x="9715500" y="1524000"/>
            <a:ext cx="1619250" cy="1333500"/>
          </a:xfrm>
          <a:prstGeom prst="rect">
            <a:avLst/>
          </a:prstGeom>
          <a:solidFill>
            <a:srgbClr val="F8E1D8"/>
          </a:solidFill>
          <a:ln w="9525">
            <a:solidFill>
              <a:srgbClr val="E7B4A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6" name=""/>
          <p:cNvSpPr>
            <a:spLocks noGrp="1"/>
          </p:cNvSpPr>
          <p:nvPr/>
        </p:nvSpPr>
        <p:spPr>
          <a:xfrm>
            <a:off x="10096500" y="19431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25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GPU</a:t>
            </a:r>
            <a:endParaRPr/>
          </a:p>
        </p:txBody>
      </p:sp>
      <p:sp>
        <p:nvSpPr>
          <p:cNvPr id="1327" name=""/>
          <p:cNvSpPr>
            <a:spLocks noGrp="1"/>
          </p:cNvSpPr>
          <p:nvPr/>
        </p:nvSpPr>
        <p:spPr>
          <a:xfrm>
            <a:off x="996315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8" name=""/>
          <p:cNvSpPr>
            <a:spLocks noGrp="1"/>
          </p:cNvSpPr>
          <p:nvPr/>
        </p:nvSpPr>
        <p:spPr>
          <a:xfrm>
            <a:off x="1013460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9" name=""/>
          <p:cNvSpPr>
            <a:spLocks noGrp="1"/>
          </p:cNvSpPr>
          <p:nvPr/>
        </p:nvSpPr>
        <p:spPr>
          <a:xfrm>
            <a:off x="1030605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0" name=""/>
          <p:cNvSpPr>
            <a:spLocks noGrp="1"/>
          </p:cNvSpPr>
          <p:nvPr/>
        </p:nvSpPr>
        <p:spPr>
          <a:xfrm>
            <a:off x="1047750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1" name=""/>
          <p:cNvSpPr>
            <a:spLocks noGrp="1"/>
          </p:cNvSpPr>
          <p:nvPr/>
        </p:nvSpPr>
        <p:spPr>
          <a:xfrm>
            <a:off x="1064895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2" name=""/>
          <p:cNvSpPr>
            <a:spLocks noGrp="1"/>
          </p:cNvSpPr>
          <p:nvPr/>
        </p:nvSpPr>
        <p:spPr>
          <a:xfrm>
            <a:off x="10820400" y="23812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3" name=""/>
          <p:cNvSpPr>
            <a:spLocks noGrp="1"/>
          </p:cNvSpPr>
          <p:nvPr/>
        </p:nvSpPr>
        <p:spPr>
          <a:xfrm>
            <a:off x="996315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4" name=""/>
          <p:cNvSpPr>
            <a:spLocks noGrp="1"/>
          </p:cNvSpPr>
          <p:nvPr/>
        </p:nvSpPr>
        <p:spPr>
          <a:xfrm>
            <a:off x="1013460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5" name=""/>
          <p:cNvSpPr>
            <a:spLocks noGrp="1"/>
          </p:cNvSpPr>
          <p:nvPr/>
        </p:nvSpPr>
        <p:spPr>
          <a:xfrm>
            <a:off x="1030605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6" name=""/>
          <p:cNvSpPr>
            <a:spLocks noGrp="1"/>
          </p:cNvSpPr>
          <p:nvPr/>
        </p:nvSpPr>
        <p:spPr>
          <a:xfrm>
            <a:off x="1047750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7" name=""/>
          <p:cNvSpPr>
            <a:spLocks noGrp="1"/>
          </p:cNvSpPr>
          <p:nvPr/>
        </p:nvSpPr>
        <p:spPr>
          <a:xfrm>
            <a:off x="1064895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8" name=""/>
          <p:cNvSpPr>
            <a:spLocks noGrp="1"/>
          </p:cNvSpPr>
          <p:nvPr/>
        </p:nvSpPr>
        <p:spPr>
          <a:xfrm>
            <a:off x="10820400" y="25336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9" name=""/>
          <p:cNvSpPr>
            <a:spLocks noGrp="1"/>
          </p:cNvSpPr>
          <p:nvPr/>
        </p:nvSpPr>
        <p:spPr>
          <a:xfrm>
            <a:off x="996315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0" name=""/>
          <p:cNvSpPr>
            <a:spLocks noGrp="1"/>
          </p:cNvSpPr>
          <p:nvPr/>
        </p:nvSpPr>
        <p:spPr>
          <a:xfrm>
            <a:off x="1013460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1" name=""/>
          <p:cNvSpPr>
            <a:spLocks noGrp="1"/>
          </p:cNvSpPr>
          <p:nvPr/>
        </p:nvSpPr>
        <p:spPr>
          <a:xfrm>
            <a:off x="1030605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2" name=""/>
          <p:cNvSpPr>
            <a:spLocks noGrp="1"/>
          </p:cNvSpPr>
          <p:nvPr/>
        </p:nvSpPr>
        <p:spPr>
          <a:xfrm>
            <a:off x="1047750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3" name=""/>
          <p:cNvSpPr>
            <a:spLocks noGrp="1"/>
          </p:cNvSpPr>
          <p:nvPr/>
        </p:nvSpPr>
        <p:spPr>
          <a:xfrm>
            <a:off x="1064895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4" name=""/>
          <p:cNvSpPr>
            <a:spLocks noGrp="1"/>
          </p:cNvSpPr>
          <p:nvPr/>
        </p:nvSpPr>
        <p:spPr>
          <a:xfrm>
            <a:off x="10820400" y="2686050"/>
            <a:ext cx="76200" cy="762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7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8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9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04  CUDA PIPELINE</a:t>
            </a:r>
            <a:endParaRPr/>
          </a:p>
        </p:txBody>
      </p:sp>
      <p:sp>
        <p:nvSpPr>
          <p:cNvPr id="1350" name=""/>
          <p:cNvSpPr>
            <a:spLocks noGrp="1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SD-OCT 后处理有 8 步，其中 K 线性化和 FFT 最容易拖慢在线链路。</a:t>
            </a:r>
            <a:endParaRPr/>
          </a:p>
        </p:txBody>
      </p:sp>
      <p:sp>
        <p:nvSpPr>
          <p:cNvPr id="1351" name=""/>
          <p:cNvSpPr>
            <a:spLocks noGrp="1"/>
          </p:cNvSpPr>
          <p:nvPr/>
        </p:nvSpPr>
        <p:spPr>
          <a:xfrm>
            <a:off x="552450" y="1771650"/>
            <a:ext cx="7905750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352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842253" y="2000250"/>
            <a:ext cx="5326144" cy="3048000"/>
          </a:xfrm>
          <a:prstGeom prst="rect">
            <a:avLst/>
          </a:prstGeom>
        </p:spPr>
      </p:pic>
      <p:sp>
        <p:nvSpPr>
          <p:cNvPr id="1353" name=""/>
          <p:cNvSpPr>
            <a:spLocks noGrp="1"/>
          </p:cNvSpPr>
          <p:nvPr/>
        </p:nvSpPr>
        <p:spPr>
          <a:xfrm>
            <a:off x="8858250" y="18669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4" name=""/>
          <p:cNvSpPr>
            <a:spLocks noGrp="1"/>
          </p:cNvSpPr>
          <p:nvPr/>
        </p:nvSpPr>
        <p:spPr>
          <a:xfrm>
            <a:off x="8858250" y="1866900"/>
            <a:ext cx="47625" cy="8763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5" name=""/>
          <p:cNvSpPr>
            <a:spLocks noGrp="1"/>
          </p:cNvSpPr>
          <p:nvPr/>
        </p:nvSpPr>
        <p:spPr>
          <a:xfrm>
            <a:off x="9048750" y="20193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计算密集</a:t>
            </a:r>
            <a:endParaRPr/>
          </a:p>
        </p:txBody>
      </p:sp>
      <p:sp>
        <p:nvSpPr>
          <p:cNvPr id="1356" name=""/>
          <p:cNvSpPr>
            <a:spLocks noGrp="1"/>
          </p:cNvSpPr>
          <p:nvPr/>
        </p:nvSpPr>
        <p:spPr>
          <a:xfrm>
            <a:off x="9048750" y="23050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K 线性化要求每条 A 扫求解 2048 阶三对角方程组。</a:t>
            </a:r>
            <a:endParaRPr/>
          </a:p>
        </p:txBody>
      </p:sp>
      <p:sp>
        <p:nvSpPr>
          <p:cNvPr id="1357" name=""/>
          <p:cNvSpPr>
            <a:spLocks noGrp="1"/>
          </p:cNvSpPr>
          <p:nvPr/>
        </p:nvSpPr>
        <p:spPr>
          <a:xfrm>
            <a:off x="8858250" y="302895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8" name=""/>
          <p:cNvSpPr>
            <a:spLocks noGrp="1"/>
          </p:cNvSpPr>
          <p:nvPr/>
        </p:nvSpPr>
        <p:spPr>
          <a:xfrm>
            <a:off x="8858250" y="3028950"/>
            <a:ext cx="47625" cy="8763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9" name=""/>
          <p:cNvSpPr>
            <a:spLocks noGrp="1"/>
          </p:cNvSpPr>
          <p:nvPr/>
        </p:nvSpPr>
        <p:spPr>
          <a:xfrm>
            <a:off x="9048750" y="31813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数据驻留</a:t>
            </a:r>
            <a:endParaRPr/>
          </a:p>
        </p:txBody>
      </p:sp>
      <p:sp>
        <p:nvSpPr>
          <p:cNvPr id="1360" name=""/>
          <p:cNvSpPr>
            <a:spLocks noGrp="1"/>
          </p:cNvSpPr>
          <p:nvPr/>
        </p:nvSpPr>
        <p:spPr>
          <a:xfrm>
            <a:off x="9048750" y="346710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单次输入、全程设备端、单次输出，减少 PCIe 往返。</a:t>
            </a:r>
            <a:endParaRPr/>
          </a:p>
        </p:txBody>
      </p:sp>
      <p:sp>
        <p:nvSpPr>
          <p:cNvPr id="1361" name=""/>
          <p:cNvSpPr>
            <a:spLocks noGrp="1"/>
          </p:cNvSpPr>
          <p:nvPr/>
        </p:nvSpPr>
        <p:spPr>
          <a:xfrm>
            <a:off x="8858250" y="4191000"/>
            <a:ext cx="23812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2" name=""/>
          <p:cNvSpPr>
            <a:spLocks noGrp="1"/>
          </p:cNvSpPr>
          <p:nvPr/>
        </p:nvSpPr>
        <p:spPr>
          <a:xfrm>
            <a:off x="8858250" y="4191000"/>
            <a:ext cx="47625" cy="8763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3" name=""/>
          <p:cNvSpPr>
            <a:spLocks noGrp="1"/>
          </p:cNvSpPr>
          <p:nvPr/>
        </p:nvSpPr>
        <p:spPr>
          <a:xfrm>
            <a:off x="9048750" y="43434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存储层次</a:t>
            </a:r>
            <a:endParaRPr/>
          </a:p>
        </p:txBody>
      </p:sp>
      <p:sp>
        <p:nvSpPr>
          <p:cNvPr id="1364" name=""/>
          <p:cNvSpPr>
            <a:spLocks noGrp="1"/>
          </p:cNvSpPr>
          <p:nvPr/>
        </p:nvSpPr>
        <p:spPr>
          <a:xfrm>
            <a:off x="9048750" y="46291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常量内存存节点，共享内存做 PCR，只读缓存读信号。</a:t>
            </a:r>
            <a:endParaRPr/>
          </a:p>
        </p:txBody>
      </p:sp>
      <p:sp>
        <p:nvSpPr>
          <p:cNvPr id="1365" name=""/>
          <p:cNvSpPr>
            <a:spLocks noGrp="1"/>
          </p:cNvSpPr>
          <p:nvPr/>
        </p:nvSpPr>
        <p:spPr>
          <a:xfrm>
            <a:off x="742950" y="5676900"/>
            <a:ext cx="914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这里关注的不是某一个 kernel，而是整条重建链路的等待和搬运开销。</a:t>
            </a:r>
            <a:endParaRPr/>
          </a:p>
        </p:txBody>
      </p:sp>
      <p:sp>
        <p:nvSpPr>
          <p:cNvPr id="1366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>
            <a:spLocks noGrp="1"/>
          </p:cNvSpPr>
          <p:nvPr/>
        </p:nvSpPr>
        <p:spPr>
          <a:xfrm rot="0"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" name=""/>
          <p:cNvSpPr>
            <a:spLocks noGrp="1"/>
          </p:cNvSpPr>
          <p:nvPr/>
        </p:nvSpPr>
        <p:spPr>
          <a:xfrm rot="0">
            <a:off x="514350" y="438150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" name=""/>
          <p:cNvSpPr>
            <a:spLocks noGrp="1"/>
          </p:cNvSpPr>
          <p:nvPr/>
        </p:nvSpPr>
        <p:spPr>
          <a:xfrm rot="0">
            <a:off x="838200" y="3619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05A  CUDA PIPELINE</a:t>
            </a:r>
            <a:endParaRPr/>
          </a:p>
        </p:txBody>
      </p:sp>
      <p:sp>
        <p:nvSpPr>
          <p:cNvPr id="27" name=""/>
          <p:cNvSpPr>
            <a:spLocks noGrp="1"/>
          </p:cNvSpPr>
          <p:nvPr/>
        </p:nvSpPr>
        <p:spPr>
          <a:xfrm rot="0">
            <a:off x="514350" y="781050"/>
            <a:ext cx="10096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这页重点讲三件事：数据留在 GPU，kernel 串起来跑，PCR 改掉串行求解。</a:t>
            </a:r>
            <a:endParaRPr/>
          </a:p>
        </p:txBody>
      </p:sp>
      <p:sp>
        <p:nvSpPr>
          <p:cNvPr id="28" name=""/>
          <p:cNvSpPr>
            <a:spLocks noGrp="1"/>
          </p:cNvSpPr>
          <p:nvPr/>
        </p:nvSpPr>
        <p:spPr>
          <a:xfrm rot="0"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" name=""/>
          <p:cNvSpPr>
            <a:spLocks noGrp="1"/>
          </p:cNvSpPr>
          <p:nvPr/>
        </p:nvSpPr>
        <p:spPr>
          <a:xfrm rot="0">
            <a:off x="1110615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05A</a:t>
            </a:r>
            <a:endParaRPr/>
          </a:p>
        </p:txBody>
      </p:sp>
      <p:sp>
        <p:nvSpPr>
          <p:cNvPr id="30" name=""/>
          <p:cNvSpPr>
            <a:spLocks noGrp="1"/>
          </p:cNvSpPr>
          <p:nvPr/>
        </p:nvSpPr>
        <p:spPr>
          <a:xfrm rot="0">
            <a:off x="590550" y="1733550"/>
            <a:ext cx="1038225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" name=""/>
          <p:cNvSpPr>
            <a:spLocks noGrp="1"/>
          </p:cNvSpPr>
          <p:nvPr/>
        </p:nvSpPr>
        <p:spPr>
          <a:xfrm rot="0">
            <a:off x="876300" y="2266950"/>
            <a:ext cx="14668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" name=""/>
          <p:cNvSpPr>
            <a:spLocks noGrp="1"/>
          </p:cNvSpPr>
          <p:nvPr/>
        </p:nvSpPr>
        <p:spPr>
          <a:xfrm rot="0">
            <a:off x="876300" y="2266950"/>
            <a:ext cx="1466850" cy="47625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" name=""/>
          <p:cNvSpPr>
            <a:spLocks noGrp="1"/>
          </p:cNvSpPr>
          <p:nvPr/>
        </p:nvSpPr>
        <p:spPr>
          <a:xfrm rot="0">
            <a:off x="1028700" y="2438400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Host 端</a:t>
            </a:r>
            <a:endParaRPr/>
          </a:p>
        </p:txBody>
      </p:sp>
      <p:sp>
        <p:nvSpPr>
          <p:cNvPr id="34" name=""/>
          <p:cNvSpPr>
            <a:spLocks noGrp="1"/>
          </p:cNvSpPr>
          <p:nvPr/>
        </p:nvSpPr>
        <p:spPr>
          <a:xfrm rot="0">
            <a:off x="1028700" y="2743200"/>
            <a:ext cx="1162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采集卡输入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统一内存指针</a:t>
            </a:r>
            <a:endParaRPr/>
          </a:p>
        </p:txBody>
      </p:sp>
      <p:sp>
        <p:nvSpPr>
          <p:cNvPr id="35" name=""/>
          <p:cNvSpPr>
            <a:spLocks noGrp="1"/>
          </p:cNvSpPr>
          <p:nvPr/>
        </p:nvSpPr>
        <p:spPr>
          <a:xfrm rot="0">
            <a:off x="2400300" y="2752725"/>
            <a:ext cx="3810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" name=""/>
          <p:cNvSpPr>
            <a:spLocks noGrp="1"/>
          </p:cNvSpPr>
          <p:nvPr/>
        </p:nvSpPr>
        <p:spPr>
          <a:xfrm rot="5400000">
            <a:off x="2743200" y="2686050"/>
            <a:ext cx="152400" cy="152400"/>
          </a:xfrm>
          <a:prstGeom prst="triangle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" name=""/>
          <p:cNvSpPr>
            <a:spLocks noGrp="1"/>
          </p:cNvSpPr>
          <p:nvPr/>
        </p:nvSpPr>
        <p:spPr>
          <a:xfrm rot="0">
            <a:off x="2914650" y="2038350"/>
            <a:ext cx="6115050" cy="1466850"/>
          </a:xfrm>
          <a:prstGeom prst="rect">
            <a:avLst/>
          </a:prstGeom>
          <a:solidFill>
            <a:srgbClr val="F8FBFC"/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" name=""/>
          <p:cNvSpPr>
            <a:spLocks noGrp="1"/>
          </p:cNvSpPr>
          <p:nvPr/>
        </p:nvSpPr>
        <p:spPr>
          <a:xfrm rot="0">
            <a:off x="3124200" y="22098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GPU 端后处理流水线</a:t>
            </a:r>
            <a:endParaRPr/>
          </a:p>
        </p:txBody>
      </p:sp>
      <p:sp>
        <p:nvSpPr>
          <p:cNvPr id="39" name=""/>
          <p:cNvSpPr>
            <a:spLocks noGrp="1"/>
          </p:cNvSpPr>
          <p:nvPr/>
        </p:nvSpPr>
        <p:spPr>
          <a:xfrm rot="0">
            <a:off x="31242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" name=""/>
          <p:cNvSpPr>
            <a:spLocks noGrp="1"/>
          </p:cNvSpPr>
          <p:nvPr/>
        </p:nvSpPr>
        <p:spPr>
          <a:xfrm rot="0">
            <a:off x="31718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类型转换</a:t>
            </a:r>
            <a:endParaRPr/>
          </a:p>
        </p:txBody>
      </p:sp>
      <p:sp>
        <p:nvSpPr>
          <p:cNvPr id="41" name=""/>
          <p:cNvSpPr>
            <a:spLocks noGrp="1"/>
          </p:cNvSpPr>
          <p:nvPr/>
        </p:nvSpPr>
        <p:spPr>
          <a:xfrm rot="0">
            <a:off x="37909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" name=""/>
          <p:cNvSpPr>
            <a:spLocks noGrp="1"/>
          </p:cNvSpPr>
          <p:nvPr/>
        </p:nvSpPr>
        <p:spPr>
          <a:xfrm rot="5400000">
            <a:off x="37528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" name=""/>
          <p:cNvSpPr>
            <a:spLocks noGrp="1"/>
          </p:cNvSpPr>
          <p:nvPr/>
        </p:nvSpPr>
        <p:spPr>
          <a:xfrm rot="0">
            <a:off x="39243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" name=""/>
          <p:cNvSpPr>
            <a:spLocks noGrp="1"/>
          </p:cNvSpPr>
          <p:nvPr/>
        </p:nvSpPr>
        <p:spPr>
          <a:xfrm rot="0">
            <a:off x="39719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光谱整形</a:t>
            </a:r>
            <a:endParaRPr/>
          </a:p>
        </p:txBody>
      </p:sp>
      <p:sp>
        <p:nvSpPr>
          <p:cNvPr id="45" name=""/>
          <p:cNvSpPr>
            <a:spLocks noGrp="1"/>
          </p:cNvSpPr>
          <p:nvPr/>
        </p:nvSpPr>
        <p:spPr>
          <a:xfrm rot="0">
            <a:off x="45910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" name=""/>
          <p:cNvSpPr>
            <a:spLocks noGrp="1"/>
          </p:cNvSpPr>
          <p:nvPr/>
        </p:nvSpPr>
        <p:spPr>
          <a:xfrm rot="5400000">
            <a:off x="45529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" name=""/>
          <p:cNvSpPr>
            <a:spLocks noGrp="1"/>
          </p:cNvSpPr>
          <p:nvPr/>
        </p:nvSpPr>
        <p:spPr>
          <a:xfrm rot="0">
            <a:off x="47244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" name=""/>
          <p:cNvSpPr>
            <a:spLocks noGrp="1"/>
          </p:cNvSpPr>
          <p:nvPr/>
        </p:nvSpPr>
        <p:spPr>
          <a:xfrm rot="0">
            <a:off x="47720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背景扣除</a:t>
            </a:r>
            <a:endParaRPr/>
          </a:p>
        </p:txBody>
      </p:sp>
      <p:sp>
        <p:nvSpPr>
          <p:cNvPr id="49" name=""/>
          <p:cNvSpPr>
            <a:spLocks noGrp="1"/>
          </p:cNvSpPr>
          <p:nvPr/>
        </p:nvSpPr>
        <p:spPr>
          <a:xfrm rot="0">
            <a:off x="53911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" name=""/>
          <p:cNvSpPr>
            <a:spLocks noGrp="1"/>
          </p:cNvSpPr>
          <p:nvPr/>
        </p:nvSpPr>
        <p:spPr>
          <a:xfrm rot="5400000">
            <a:off x="53530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" name=""/>
          <p:cNvSpPr>
            <a:spLocks noGrp="1"/>
          </p:cNvSpPr>
          <p:nvPr/>
        </p:nvSpPr>
        <p:spPr>
          <a:xfrm rot="0">
            <a:off x="5524500" y="2686050"/>
            <a:ext cx="647700" cy="400050"/>
          </a:xfrm>
          <a:prstGeom prst="rect">
            <a:avLst/>
          </a:prstGeom>
          <a:solidFill>
            <a:srgbClr val="F5D7D1"/>
          </a:solidFill>
          <a:ln w="1143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" name=""/>
          <p:cNvSpPr>
            <a:spLocks noGrp="1"/>
          </p:cNvSpPr>
          <p:nvPr/>
        </p:nvSpPr>
        <p:spPr>
          <a:xfrm rot="0">
            <a:off x="55721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PCR K线性化</a:t>
            </a:r>
            <a:endParaRPr/>
          </a:p>
        </p:txBody>
      </p:sp>
      <p:sp>
        <p:nvSpPr>
          <p:cNvPr id="53" name=""/>
          <p:cNvSpPr>
            <a:spLocks noGrp="1"/>
          </p:cNvSpPr>
          <p:nvPr/>
        </p:nvSpPr>
        <p:spPr>
          <a:xfrm rot="0">
            <a:off x="61912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" name=""/>
          <p:cNvSpPr>
            <a:spLocks noGrp="1"/>
          </p:cNvSpPr>
          <p:nvPr/>
        </p:nvSpPr>
        <p:spPr>
          <a:xfrm rot="5400000">
            <a:off x="61531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" name=""/>
          <p:cNvSpPr>
            <a:spLocks noGrp="1"/>
          </p:cNvSpPr>
          <p:nvPr/>
        </p:nvSpPr>
        <p:spPr>
          <a:xfrm rot="0">
            <a:off x="63246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C49A3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" name=""/>
          <p:cNvSpPr>
            <a:spLocks noGrp="1"/>
          </p:cNvSpPr>
          <p:nvPr/>
        </p:nvSpPr>
        <p:spPr>
          <a:xfrm rot="0">
            <a:off x="63722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色差补偿</a:t>
            </a:r>
            <a:endParaRPr/>
          </a:p>
        </p:txBody>
      </p:sp>
      <p:sp>
        <p:nvSpPr>
          <p:cNvPr id="57" name=""/>
          <p:cNvSpPr>
            <a:spLocks noGrp="1"/>
          </p:cNvSpPr>
          <p:nvPr/>
        </p:nvSpPr>
        <p:spPr>
          <a:xfrm rot="0">
            <a:off x="69913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8" name=""/>
          <p:cNvSpPr>
            <a:spLocks noGrp="1"/>
          </p:cNvSpPr>
          <p:nvPr/>
        </p:nvSpPr>
        <p:spPr>
          <a:xfrm rot="5400000">
            <a:off x="69532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" name=""/>
          <p:cNvSpPr>
            <a:spLocks noGrp="1"/>
          </p:cNvSpPr>
          <p:nvPr/>
        </p:nvSpPr>
        <p:spPr>
          <a:xfrm rot="0">
            <a:off x="71247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" name=""/>
          <p:cNvSpPr>
            <a:spLocks noGrp="1"/>
          </p:cNvSpPr>
          <p:nvPr/>
        </p:nvSpPr>
        <p:spPr>
          <a:xfrm rot="0">
            <a:off x="71723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cuFFT</a:t>
            </a:r>
            <a:endParaRPr/>
          </a:p>
        </p:txBody>
      </p:sp>
      <p:sp>
        <p:nvSpPr>
          <p:cNvPr id="61" name=""/>
          <p:cNvSpPr>
            <a:spLocks noGrp="1"/>
          </p:cNvSpPr>
          <p:nvPr/>
        </p:nvSpPr>
        <p:spPr>
          <a:xfrm rot="0">
            <a:off x="7791450" y="2880360"/>
            <a:ext cx="0" cy="1143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" name=""/>
          <p:cNvSpPr>
            <a:spLocks noGrp="1"/>
          </p:cNvSpPr>
          <p:nvPr/>
        </p:nvSpPr>
        <p:spPr>
          <a:xfrm rot="5400000">
            <a:off x="7753350" y="2809875"/>
            <a:ext cx="152400" cy="152400"/>
          </a:xfrm>
          <a:prstGeom prst="triangle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" name=""/>
          <p:cNvSpPr>
            <a:spLocks noGrp="1"/>
          </p:cNvSpPr>
          <p:nvPr/>
        </p:nvSpPr>
        <p:spPr>
          <a:xfrm rot="0">
            <a:off x="7924800" y="2686050"/>
            <a:ext cx="647700" cy="400050"/>
          </a:xfrm>
          <a:prstGeom prst="rect">
            <a:avLst/>
          </a:prstGeom>
          <a:solidFill>
            <a:srgbClr val="FFFFFF"/>
          </a:solidFill>
          <a:ln w="11430">
            <a:solidFill>
              <a:srgbClr val="4B9B6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" name=""/>
          <p:cNvSpPr>
            <a:spLocks noGrp="1"/>
          </p:cNvSpPr>
          <p:nvPr/>
        </p:nvSpPr>
        <p:spPr>
          <a:xfrm rot="0">
            <a:off x="7972425" y="2800350"/>
            <a:ext cx="5524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660" b="1">
                <a:solidFill>
                  <a:srgbClr val="4B9B68"/>
                </a:solidFill>
                <a:latin typeface="PingFang SC"/>
                <a:ea typeface="PingFang SC"/>
                <a:cs typeface="PingFang SC"/>
              </a:defRPr>
            </a:pPr>
            <a:r>
              <a:rPr sz="660" b="1">
                <a:solidFill>
                  <a:srgbClr val="4B9B68"/>
                </a:solidFill>
                <a:latin typeface="PingFang SC"/>
                <a:ea typeface="PingFang SC"/>
                <a:cs typeface="PingFang SC"/>
              </a:rPr>
              <a:t>幅值映射</a:t>
            </a:r>
            <a:endParaRPr/>
          </a:p>
        </p:txBody>
      </p:sp>
      <p:sp>
        <p:nvSpPr>
          <p:cNvPr id="65" name=""/>
          <p:cNvSpPr>
            <a:spLocks noGrp="1"/>
          </p:cNvSpPr>
          <p:nvPr/>
        </p:nvSpPr>
        <p:spPr>
          <a:xfrm rot="0">
            <a:off x="9086850" y="2752725"/>
            <a:ext cx="400050" cy="19050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" name=""/>
          <p:cNvSpPr>
            <a:spLocks noGrp="1"/>
          </p:cNvSpPr>
          <p:nvPr/>
        </p:nvSpPr>
        <p:spPr>
          <a:xfrm rot="5400000">
            <a:off x="9448800" y="2686050"/>
            <a:ext cx="152400" cy="152400"/>
          </a:xfrm>
          <a:prstGeom prst="triangle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" name=""/>
          <p:cNvSpPr>
            <a:spLocks noGrp="1"/>
          </p:cNvSpPr>
          <p:nvPr/>
        </p:nvSpPr>
        <p:spPr>
          <a:xfrm rot="0">
            <a:off x="9620250" y="2266950"/>
            <a:ext cx="10668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" name=""/>
          <p:cNvSpPr>
            <a:spLocks noGrp="1"/>
          </p:cNvSpPr>
          <p:nvPr/>
        </p:nvSpPr>
        <p:spPr>
          <a:xfrm rot="0">
            <a:off x="9620250" y="2266950"/>
            <a:ext cx="1066800" cy="47625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" name=""/>
          <p:cNvSpPr>
            <a:spLocks noGrp="1"/>
          </p:cNvSpPr>
          <p:nvPr/>
        </p:nvSpPr>
        <p:spPr>
          <a:xfrm rot="0">
            <a:off x="9772650" y="24384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输出</a:t>
            </a:r>
            <a:endParaRPr/>
          </a:p>
        </p:txBody>
      </p:sp>
      <p:sp>
        <p:nvSpPr>
          <p:cNvPr id="70" name=""/>
          <p:cNvSpPr>
            <a:spLocks noGrp="1"/>
          </p:cNvSpPr>
          <p:nvPr/>
        </p:nvSpPr>
        <p:spPr>
          <a:xfrm rot="0">
            <a:off x="9772650" y="2743200"/>
            <a:ext cx="762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OCT 深度图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B 扫帧</a:t>
            </a:r>
            <a:endParaRPr/>
          </a:p>
        </p:txBody>
      </p:sp>
      <p:sp>
        <p:nvSpPr>
          <p:cNvPr id="71" name=""/>
          <p:cNvSpPr>
            <a:spLocks noGrp="1"/>
          </p:cNvSpPr>
          <p:nvPr/>
        </p:nvSpPr>
        <p:spPr>
          <a:xfrm rot="0">
            <a:off x="1123950" y="3886200"/>
            <a:ext cx="2247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" name=""/>
          <p:cNvSpPr>
            <a:spLocks noGrp="1"/>
          </p:cNvSpPr>
          <p:nvPr/>
        </p:nvSpPr>
        <p:spPr>
          <a:xfrm rot="0">
            <a:off x="1333500" y="40386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统一内存</a:t>
            </a:r>
            <a:endParaRPr/>
          </a:p>
        </p:txBody>
      </p:sp>
      <p:sp>
        <p:nvSpPr>
          <p:cNvPr id="73" name=""/>
          <p:cNvSpPr>
            <a:spLocks noGrp="1"/>
          </p:cNvSpPr>
          <p:nvPr/>
        </p:nvSpPr>
        <p:spPr>
          <a:xfrm rot="0">
            <a:off x="2305050" y="4010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消除显式 H2D / D2H 拷贝，小 B 扫粒度下收益更明显。</a:t>
            </a:r>
            <a:endParaRPr/>
          </a:p>
        </p:txBody>
      </p:sp>
      <p:sp>
        <p:nvSpPr>
          <p:cNvPr id="74" name=""/>
          <p:cNvSpPr>
            <a:spLocks noGrp="1"/>
          </p:cNvSpPr>
          <p:nvPr/>
        </p:nvSpPr>
        <p:spPr>
          <a:xfrm rot="0">
            <a:off x="3790950" y="3886200"/>
            <a:ext cx="2247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" name=""/>
          <p:cNvSpPr>
            <a:spLocks noGrp="1"/>
          </p:cNvSpPr>
          <p:nvPr/>
        </p:nvSpPr>
        <p:spPr>
          <a:xfrm rot="0">
            <a:off x="4000500" y="40386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共享内存</a:t>
            </a:r>
            <a:endParaRPr/>
          </a:p>
        </p:txBody>
      </p:sp>
      <p:sp>
        <p:nvSpPr>
          <p:cNvPr id="76" name=""/>
          <p:cNvSpPr>
            <a:spLocks noGrp="1"/>
          </p:cNvSpPr>
          <p:nvPr/>
        </p:nvSpPr>
        <p:spPr>
          <a:xfrm rot="0">
            <a:off x="4972050" y="4010025"/>
            <a:ext cx="800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核函数在 block 内维护三对角系数和二阶导数。</a:t>
            </a:r>
            <a:endParaRPr/>
          </a:p>
        </p:txBody>
      </p:sp>
      <p:sp>
        <p:nvSpPr>
          <p:cNvPr id="77" name=""/>
          <p:cNvSpPr>
            <a:spLocks noGrp="1"/>
          </p:cNvSpPr>
          <p:nvPr/>
        </p:nvSpPr>
        <p:spPr>
          <a:xfrm rot="0">
            <a:off x="6457950" y="3886200"/>
            <a:ext cx="22479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" name=""/>
          <p:cNvSpPr>
            <a:spLocks noGrp="1"/>
          </p:cNvSpPr>
          <p:nvPr/>
        </p:nvSpPr>
        <p:spPr>
          <a:xfrm rot="0">
            <a:off x="6667500" y="40386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常量/只读缓存</a:t>
            </a:r>
            <a:endParaRPr/>
          </a:p>
        </p:txBody>
      </p:sp>
      <p:sp>
        <p:nvSpPr>
          <p:cNvPr id="79" name=""/>
          <p:cNvSpPr>
            <a:spLocks noGrp="1"/>
          </p:cNvSpPr>
          <p:nvPr/>
        </p:nvSpPr>
        <p:spPr>
          <a:xfrm rot="0">
            <a:off x="7829550" y="4010025"/>
            <a:ext cx="6096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插值节点广播读取，信号值走只读缓存路径。</a:t>
            </a:r>
            <a:endParaRPr/>
          </a:p>
        </p:txBody>
      </p:sp>
      <p:sp>
        <p:nvSpPr>
          <p:cNvPr id="80" name=""/>
          <p:cNvSpPr>
            <a:spLocks noGrp="1"/>
          </p:cNvSpPr>
          <p:nvPr/>
        </p:nvSpPr>
        <p:spPr>
          <a:xfrm rot="0">
            <a:off x="9124950" y="3886200"/>
            <a:ext cx="135255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" name=""/>
          <p:cNvSpPr>
            <a:spLocks noGrp="1"/>
          </p:cNvSpPr>
          <p:nvPr/>
        </p:nvSpPr>
        <p:spPr>
          <a:xfrm rot="0">
            <a:off x="9353550" y="40386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事件同步</a:t>
            </a:r>
            <a:endParaRPr/>
          </a:p>
        </p:txBody>
      </p:sp>
      <p:sp>
        <p:nvSpPr>
          <p:cNvPr id="82" name=""/>
          <p:cNvSpPr>
            <a:spLocks noGrp="1"/>
          </p:cNvSpPr>
          <p:nvPr/>
        </p:nvSpPr>
        <p:spPr>
          <a:xfrm rot="0">
            <a:off x="9353550" y="4305300"/>
            <a:ext cx="857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替代全局同步。</a:t>
            </a:r>
            <a:endParaRPr/>
          </a:p>
        </p:txBody>
      </p:sp>
      <p:sp>
        <p:nvSpPr>
          <p:cNvPr id="83" name=""/>
          <p:cNvSpPr>
            <a:spLocks noGrp="1"/>
          </p:cNvSpPr>
          <p:nvPr/>
        </p:nvSpPr>
        <p:spPr>
          <a:xfrm rot="0">
            <a:off x="1104900" y="53911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block 内 256 线程并行参与 PCR</a:t>
            </a:r>
            <a:endParaRPr/>
          </a:p>
        </p:txBody>
      </p:sp>
      <p:sp>
        <p:nvSpPr>
          <p:cNvPr id="84" name=""/>
          <p:cNvSpPr>
            <a:spLocks noGrp="1"/>
          </p:cNvSpPr>
          <p:nvPr/>
        </p:nvSpPr>
        <p:spPr>
          <a:xfrm rot="0">
            <a:off x="3733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" name=""/>
          <p:cNvSpPr>
            <a:spLocks noGrp="1"/>
          </p:cNvSpPr>
          <p:nvPr/>
        </p:nvSpPr>
        <p:spPr>
          <a:xfrm rot="0">
            <a:off x="38862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" name=""/>
          <p:cNvSpPr>
            <a:spLocks noGrp="1"/>
          </p:cNvSpPr>
          <p:nvPr/>
        </p:nvSpPr>
        <p:spPr>
          <a:xfrm rot="0">
            <a:off x="40386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" name=""/>
          <p:cNvSpPr>
            <a:spLocks noGrp="1"/>
          </p:cNvSpPr>
          <p:nvPr/>
        </p:nvSpPr>
        <p:spPr>
          <a:xfrm rot="0">
            <a:off x="41910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" name=""/>
          <p:cNvSpPr>
            <a:spLocks noGrp="1"/>
          </p:cNvSpPr>
          <p:nvPr/>
        </p:nvSpPr>
        <p:spPr>
          <a:xfrm rot="0">
            <a:off x="43434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" name=""/>
          <p:cNvSpPr>
            <a:spLocks noGrp="1"/>
          </p:cNvSpPr>
          <p:nvPr/>
        </p:nvSpPr>
        <p:spPr>
          <a:xfrm rot="0">
            <a:off x="4495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" name=""/>
          <p:cNvSpPr>
            <a:spLocks noGrp="1"/>
          </p:cNvSpPr>
          <p:nvPr/>
        </p:nvSpPr>
        <p:spPr>
          <a:xfrm rot="0">
            <a:off x="46482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" name=""/>
          <p:cNvSpPr>
            <a:spLocks noGrp="1"/>
          </p:cNvSpPr>
          <p:nvPr/>
        </p:nvSpPr>
        <p:spPr>
          <a:xfrm rot="0">
            <a:off x="48006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" name=""/>
          <p:cNvSpPr>
            <a:spLocks noGrp="1"/>
          </p:cNvSpPr>
          <p:nvPr/>
        </p:nvSpPr>
        <p:spPr>
          <a:xfrm rot="0">
            <a:off x="49530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3" name=""/>
          <p:cNvSpPr>
            <a:spLocks noGrp="1"/>
          </p:cNvSpPr>
          <p:nvPr/>
        </p:nvSpPr>
        <p:spPr>
          <a:xfrm rot="0">
            <a:off x="51054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" name=""/>
          <p:cNvSpPr>
            <a:spLocks noGrp="1"/>
          </p:cNvSpPr>
          <p:nvPr/>
        </p:nvSpPr>
        <p:spPr>
          <a:xfrm rot="0">
            <a:off x="5257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" name=""/>
          <p:cNvSpPr>
            <a:spLocks noGrp="1"/>
          </p:cNvSpPr>
          <p:nvPr/>
        </p:nvSpPr>
        <p:spPr>
          <a:xfrm rot="0">
            <a:off x="54102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" name=""/>
          <p:cNvSpPr>
            <a:spLocks noGrp="1"/>
          </p:cNvSpPr>
          <p:nvPr/>
        </p:nvSpPr>
        <p:spPr>
          <a:xfrm rot="0">
            <a:off x="55626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" name=""/>
          <p:cNvSpPr>
            <a:spLocks noGrp="1"/>
          </p:cNvSpPr>
          <p:nvPr/>
        </p:nvSpPr>
        <p:spPr>
          <a:xfrm rot="0">
            <a:off x="57150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" name=""/>
          <p:cNvSpPr>
            <a:spLocks noGrp="1"/>
          </p:cNvSpPr>
          <p:nvPr/>
        </p:nvSpPr>
        <p:spPr>
          <a:xfrm rot="0">
            <a:off x="5867400" y="53530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" name=""/>
          <p:cNvSpPr>
            <a:spLocks noGrp="1"/>
          </p:cNvSpPr>
          <p:nvPr/>
        </p:nvSpPr>
        <p:spPr>
          <a:xfrm rot="0">
            <a:off x="6019800" y="53530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" name=""/>
          <p:cNvSpPr>
            <a:spLocks noGrp="1"/>
          </p:cNvSpPr>
          <p:nvPr/>
        </p:nvSpPr>
        <p:spPr>
          <a:xfrm rot="0">
            <a:off x="3733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" name=""/>
          <p:cNvSpPr>
            <a:spLocks noGrp="1"/>
          </p:cNvSpPr>
          <p:nvPr/>
        </p:nvSpPr>
        <p:spPr>
          <a:xfrm rot="0">
            <a:off x="38862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" name=""/>
          <p:cNvSpPr>
            <a:spLocks noGrp="1"/>
          </p:cNvSpPr>
          <p:nvPr/>
        </p:nvSpPr>
        <p:spPr>
          <a:xfrm rot="0">
            <a:off x="40386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" name=""/>
          <p:cNvSpPr>
            <a:spLocks noGrp="1"/>
          </p:cNvSpPr>
          <p:nvPr/>
        </p:nvSpPr>
        <p:spPr>
          <a:xfrm rot="0">
            <a:off x="41910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" name=""/>
          <p:cNvSpPr>
            <a:spLocks noGrp="1"/>
          </p:cNvSpPr>
          <p:nvPr/>
        </p:nvSpPr>
        <p:spPr>
          <a:xfrm rot="0">
            <a:off x="4343400" y="55054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" name=""/>
          <p:cNvSpPr>
            <a:spLocks noGrp="1"/>
          </p:cNvSpPr>
          <p:nvPr/>
        </p:nvSpPr>
        <p:spPr>
          <a:xfrm rot="0">
            <a:off x="4495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" name=""/>
          <p:cNvSpPr>
            <a:spLocks noGrp="1"/>
          </p:cNvSpPr>
          <p:nvPr/>
        </p:nvSpPr>
        <p:spPr>
          <a:xfrm rot="0">
            <a:off x="46482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" name=""/>
          <p:cNvSpPr>
            <a:spLocks noGrp="1"/>
          </p:cNvSpPr>
          <p:nvPr/>
        </p:nvSpPr>
        <p:spPr>
          <a:xfrm rot="0">
            <a:off x="48006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" name=""/>
          <p:cNvSpPr>
            <a:spLocks noGrp="1"/>
          </p:cNvSpPr>
          <p:nvPr/>
        </p:nvSpPr>
        <p:spPr>
          <a:xfrm rot="0">
            <a:off x="49530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" name=""/>
          <p:cNvSpPr>
            <a:spLocks noGrp="1"/>
          </p:cNvSpPr>
          <p:nvPr/>
        </p:nvSpPr>
        <p:spPr>
          <a:xfrm rot="0">
            <a:off x="5105400" y="55054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" name=""/>
          <p:cNvSpPr>
            <a:spLocks noGrp="1"/>
          </p:cNvSpPr>
          <p:nvPr/>
        </p:nvSpPr>
        <p:spPr>
          <a:xfrm rot="0">
            <a:off x="5257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" name=""/>
          <p:cNvSpPr>
            <a:spLocks noGrp="1"/>
          </p:cNvSpPr>
          <p:nvPr/>
        </p:nvSpPr>
        <p:spPr>
          <a:xfrm rot="0">
            <a:off x="54102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" name=""/>
          <p:cNvSpPr>
            <a:spLocks noGrp="1"/>
          </p:cNvSpPr>
          <p:nvPr/>
        </p:nvSpPr>
        <p:spPr>
          <a:xfrm rot="0">
            <a:off x="55626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3" name=""/>
          <p:cNvSpPr>
            <a:spLocks noGrp="1"/>
          </p:cNvSpPr>
          <p:nvPr/>
        </p:nvSpPr>
        <p:spPr>
          <a:xfrm rot="0">
            <a:off x="57150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" name=""/>
          <p:cNvSpPr>
            <a:spLocks noGrp="1"/>
          </p:cNvSpPr>
          <p:nvPr/>
        </p:nvSpPr>
        <p:spPr>
          <a:xfrm rot="0">
            <a:off x="5867400" y="55054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5" name=""/>
          <p:cNvSpPr>
            <a:spLocks noGrp="1"/>
          </p:cNvSpPr>
          <p:nvPr/>
        </p:nvSpPr>
        <p:spPr>
          <a:xfrm rot="0">
            <a:off x="6019800" y="55054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6" name=""/>
          <p:cNvSpPr>
            <a:spLocks noGrp="1"/>
          </p:cNvSpPr>
          <p:nvPr/>
        </p:nvSpPr>
        <p:spPr>
          <a:xfrm rot="0">
            <a:off x="3733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7" name=""/>
          <p:cNvSpPr>
            <a:spLocks noGrp="1"/>
          </p:cNvSpPr>
          <p:nvPr/>
        </p:nvSpPr>
        <p:spPr>
          <a:xfrm rot="0">
            <a:off x="38862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/>
          <p:cNvSpPr>
            <a:spLocks noGrp="1"/>
          </p:cNvSpPr>
          <p:nvPr/>
        </p:nvSpPr>
        <p:spPr>
          <a:xfrm rot="0">
            <a:off x="40386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9" name=""/>
          <p:cNvSpPr>
            <a:spLocks noGrp="1"/>
          </p:cNvSpPr>
          <p:nvPr/>
        </p:nvSpPr>
        <p:spPr>
          <a:xfrm rot="0">
            <a:off x="4191000" y="56578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0" name=""/>
          <p:cNvSpPr>
            <a:spLocks noGrp="1"/>
          </p:cNvSpPr>
          <p:nvPr/>
        </p:nvSpPr>
        <p:spPr>
          <a:xfrm rot="0">
            <a:off x="43434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1" name=""/>
          <p:cNvSpPr>
            <a:spLocks noGrp="1"/>
          </p:cNvSpPr>
          <p:nvPr/>
        </p:nvSpPr>
        <p:spPr>
          <a:xfrm rot="0">
            <a:off x="4495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2" name=""/>
          <p:cNvSpPr>
            <a:spLocks noGrp="1"/>
          </p:cNvSpPr>
          <p:nvPr/>
        </p:nvSpPr>
        <p:spPr>
          <a:xfrm rot="0">
            <a:off x="46482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3" name=""/>
          <p:cNvSpPr>
            <a:spLocks noGrp="1"/>
          </p:cNvSpPr>
          <p:nvPr/>
        </p:nvSpPr>
        <p:spPr>
          <a:xfrm rot="0">
            <a:off x="48006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4" name=""/>
          <p:cNvSpPr>
            <a:spLocks noGrp="1"/>
          </p:cNvSpPr>
          <p:nvPr/>
        </p:nvSpPr>
        <p:spPr>
          <a:xfrm rot="0">
            <a:off x="4953000" y="56578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5" name=""/>
          <p:cNvSpPr>
            <a:spLocks noGrp="1"/>
          </p:cNvSpPr>
          <p:nvPr/>
        </p:nvSpPr>
        <p:spPr>
          <a:xfrm rot="0">
            <a:off x="51054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6" name=""/>
          <p:cNvSpPr>
            <a:spLocks noGrp="1"/>
          </p:cNvSpPr>
          <p:nvPr/>
        </p:nvSpPr>
        <p:spPr>
          <a:xfrm rot="0">
            <a:off x="5257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7" name=""/>
          <p:cNvSpPr>
            <a:spLocks noGrp="1"/>
          </p:cNvSpPr>
          <p:nvPr/>
        </p:nvSpPr>
        <p:spPr>
          <a:xfrm rot="0">
            <a:off x="54102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8" name=""/>
          <p:cNvSpPr>
            <a:spLocks noGrp="1"/>
          </p:cNvSpPr>
          <p:nvPr/>
        </p:nvSpPr>
        <p:spPr>
          <a:xfrm rot="0">
            <a:off x="55626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" name=""/>
          <p:cNvSpPr>
            <a:spLocks noGrp="1"/>
          </p:cNvSpPr>
          <p:nvPr/>
        </p:nvSpPr>
        <p:spPr>
          <a:xfrm rot="0">
            <a:off x="5715000" y="56578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0" name=""/>
          <p:cNvSpPr>
            <a:spLocks noGrp="1"/>
          </p:cNvSpPr>
          <p:nvPr/>
        </p:nvSpPr>
        <p:spPr>
          <a:xfrm rot="0">
            <a:off x="58674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" name=""/>
          <p:cNvSpPr>
            <a:spLocks noGrp="1"/>
          </p:cNvSpPr>
          <p:nvPr/>
        </p:nvSpPr>
        <p:spPr>
          <a:xfrm rot="0">
            <a:off x="6019800" y="56578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" name=""/>
          <p:cNvSpPr>
            <a:spLocks noGrp="1"/>
          </p:cNvSpPr>
          <p:nvPr/>
        </p:nvSpPr>
        <p:spPr>
          <a:xfrm rot="0">
            <a:off x="3733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" name=""/>
          <p:cNvSpPr>
            <a:spLocks noGrp="1"/>
          </p:cNvSpPr>
          <p:nvPr/>
        </p:nvSpPr>
        <p:spPr>
          <a:xfrm rot="0">
            <a:off x="38862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" name=""/>
          <p:cNvSpPr>
            <a:spLocks noGrp="1"/>
          </p:cNvSpPr>
          <p:nvPr/>
        </p:nvSpPr>
        <p:spPr>
          <a:xfrm rot="0">
            <a:off x="4038600" y="58102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5" name=""/>
          <p:cNvSpPr>
            <a:spLocks noGrp="1"/>
          </p:cNvSpPr>
          <p:nvPr/>
        </p:nvSpPr>
        <p:spPr>
          <a:xfrm rot="0">
            <a:off x="41910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6" name=""/>
          <p:cNvSpPr>
            <a:spLocks noGrp="1"/>
          </p:cNvSpPr>
          <p:nvPr/>
        </p:nvSpPr>
        <p:spPr>
          <a:xfrm rot="0">
            <a:off x="43434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7" name=""/>
          <p:cNvSpPr>
            <a:spLocks noGrp="1"/>
          </p:cNvSpPr>
          <p:nvPr/>
        </p:nvSpPr>
        <p:spPr>
          <a:xfrm rot="0">
            <a:off x="4495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8" name=""/>
          <p:cNvSpPr>
            <a:spLocks noGrp="1"/>
          </p:cNvSpPr>
          <p:nvPr/>
        </p:nvSpPr>
        <p:spPr>
          <a:xfrm rot="0">
            <a:off x="46482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/>
          <p:cNvSpPr>
            <a:spLocks noGrp="1"/>
          </p:cNvSpPr>
          <p:nvPr/>
        </p:nvSpPr>
        <p:spPr>
          <a:xfrm rot="0">
            <a:off x="4800600" y="58102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" name=""/>
          <p:cNvSpPr>
            <a:spLocks noGrp="1"/>
          </p:cNvSpPr>
          <p:nvPr/>
        </p:nvSpPr>
        <p:spPr>
          <a:xfrm rot="0">
            <a:off x="49530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1" name=""/>
          <p:cNvSpPr>
            <a:spLocks noGrp="1"/>
          </p:cNvSpPr>
          <p:nvPr/>
        </p:nvSpPr>
        <p:spPr>
          <a:xfrm rot="0">
            <a:off x="51054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/>
          <p:cNvSpPr>
            <a:spLocks noGrp="1"/>
          </p:cNvSpPr>
          <p:nvPr/>
        </p:nvSpPr>
        <p:spPr>
          <a:xfrm rot="0">
            <a:off x="5257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3" name=""/>
          <p:cNvSpPr>
            <a:spLocks noGrp="1"/>
          </p:cNvSpPr>
          <p:nvPr/>
        </p:nvSpPr>
        <p:spPr>
          <a:xfrm rot="0">
            <a:off x="54102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4" name=""/>
          <p:cNvSpPr>
            <a:spLocks noGrp="1"/>
          </p:cNvSpPr>
          <p:nvPr/>
        </p:nvSpPr>
        <p:spPr>
          <a:xfrm rot="0">
            <a:off x="5562600" y="5810250"/>
            <a:ext cx="9525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5" name=""/>
          <p:cNvSpPr>
            <a:spLocks noGrp="1"/>
          </p:cNvSpPr>
          <p:nvPr/>
        </p:nvSpPr>
        <p:spPr>
          <a:xfrm rot="0">
            <a:off x="57150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6" name=""/>
          <p:cNvSpPr>
            <a:spLocks noGrp="1"/>
          </p:cNvSpPr>
          <p:nvPr/>
        </p:nvSpPr>
        <p:spPr>
          <a:xfrm rot="0">
            <a:off x="58674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" name=""/>
          <p:cNvSpPr>
            <a:spLocks noGrp="1"/>
          </p:cNvSpPr>
          <p:nvPr/>
        </p:nvSpPr>
        <p:spPr>
          <a:xfrm rot="0">
            <a:off x="6019800" y="5810250"/>
            <a:ext cx="95250" cy="95250"/>
          </a:xfrm>
          <a:prstGeom prst="rect">
            <a:avLst/>
          </a:prstGeom>
          <a:solidFill>
            <a:srgbClr val="58B7B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8" name=""/>
          <p:cNvSpPr>
            <a:spLocks noGrp="1"/>
          </p:cNvSpPr>
          <p:nvPr/>
        </p:nvSpPr>
        <p:spPr>
          <a:xfrm rot="0">
            <a:off x="6705600" y="5334000"/>
            <a:ext cx="1123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9" name=""/>
          <p:cNvSpPr>
            <a:spLocks noGrp="1"/>
          </p:cNvSpPr>
          <p:nvPr/>
        </p:nvSpPr>
        <p:spPr>
          <a:xfrm rot="0">
            <a:off x="6800850" y="5400675"/>
            <a:ext cx="933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11 层迭代</a:t>
            </a:r>
            <a:endParaRPr/>
          </a:p>
        </p:txBody>
      </p:sp>
      <p:sp>
        <p:nvSpPr>
          <p:cNvPr id="150" name=""/>
          <p:cNvSpPr>
            <a:spLocks noGrp="1"/>
          </p:cNvSpPr>
          <p:nvPr/>
        </p:nvSpPr>
        <p:spPr>
          <a:xfrm rot="0">
            <a:off x="8001000" y="5334000"/>
            <a:ext cx="1123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1" name=""/>
          <p:cNvSpPr>
            <a:spLocks noGrp="1"/>
          </p:cNvSpPr>
          <p:nvPr/>
        </p:nvSpPr>
        <p:spPr>
          <a:xfrm rot="0">
            <a:off x="8096250" y="5400675"/>
            <a:ext cx="933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0.74 ms / 帧</a:t>
            </a:r>
            <a:endParaRPr/>
          </a:p>
        </p:txBody>
      </p:sp>
      <p:sp>
        <p:nvSpPr>
          <p:cNvPr id="152" name=""/>
          <p:cNvSpPr>
            <a:spLocks noGrp="1"/>
          </p:cNvSpPr>
          <p:nvPr/>
        </p:nvSpPr>
        <p:spPr>
          <a:xfrm rot="0">
            <a:off x="9296400" y="5334000"/>
            <a:ext cx="1123950" cy="285750"/>
          </a:xfrm>
          <a:prstGeom prst="rect">
            <a:avLst/>
          </a:prstGeom>
          <a:solidFill>
            <a:srgbClr val="FFFFFF"/>
          </a:solidFill>
          <a:ln w="9525">
            <a:solidFill>
              <a:srgbClr val="2F5C8A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3" name=""/>
          <p:cNvSpPr>
            <a:spLocks noGrp="1"/>
          </p:cNvSpPr>
          <p:nvPr/>
        </p:nvSpPr>
        <p:spPr>
          <a:xfrm rot="0">
            <a:off x="9391650" y="5400675"/>
            <a:ext cx="933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1351k A-line/s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6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7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8" name=""/>
          <p:cNvSpPr>
            <a:spLocks noGrp="1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05B GPU/CUDA</a:t>
            </a:r>
            <a:endParaRPr/>
          </a:p>
        </p:txBody>
      </p:sp>
      <p:sp>
        <p:nvSpPr>
          <p:cNvPr id="159" name=""/>
          <p:cNvSpPr>
            <a:spLocks noGrp="1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GPU/CUDA 计算框架：CPU 管流程，GPU 批量执行 kernel。</a:t>
            </a:r>
            <a:endParaRPr/>
          </a:p>
        </p:txBody>
      </p:sp>
      <p:sp>
        <p:nvSpPr>
          <p:cNvPr id="160" name=""/>
          <p:cNvSpPr>
            <a:spLocks noGrp="1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05B</a:t>
            </a:r>
            <a:endParaRPr/>
          </a:p>
        </p:txBody>
      </p:sp>
      <p:sp>
        <p:nvSpPr>
          <p:cNvPr id="161" name=""/>
          <p:cNvSpPr>
            <a:spLocks noGrp="1"/>
          </p:cNvSpPr>
          <p:nvPr/>
        </p:nvSpPr>
        <p:spPr>
          <a:xfrm>
            <a:off x="990600" y="1543050"/>
            <a:ext cx="26670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2" name=""/>
          <p:cNvSpPr>
            <a:spLocks noGrp="1"/>
          </p:cNvSpPr>
          <p:nvPr/>
        </p:nvSpPr>
        <p:spPr>
          <a:xfrm>
            <a:off x="1181100" y="1752600"/>
            <a:ext cx="1181100" cy="285750"/>
          </a:xfrm>
          <a:prstGeom prst="rect">
            <a:avLst/>
          </a:prstGeom>
          <a:solidFill>
            <a:srgbClr val="DCEFF0"/>
          </a:solidFill>
          <a:ln w="0">
            <a:solidFill>
              <a:srgbClr val="DCEF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3" name=""/>
          <p:cNvSpPr>
            <a:spLocks noGrp="1"/>
          </p:cNvSpPr>
          <p:nvPr/>
        </p:nvSpPr>
        <p:spPr>
          <a:xfrm>
            <a:off x="1295400" y="1800225"/>
            <a:ext cx="95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Host / CPU</a:t>
            </a:r>
            <a:endParaRPr/>
          </a:p>
        </p:txBody>
      </p:sp>
      <p:sp>
        <p:nvSpPr>
          <p:cNvPr id="164" name=""/>
          <p:cNvSpPr>
            <a:spLocks noGrp="1"/>
          </p:cNvSpPr>
          <p:nvPr/>
        </p:nvSpPr>
        <p:spPr>
          <a:xfrm>
            <a:off x="1181100" y="2190750"/>
            <a:ext cx="209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控制流 + 数据准备</a:t>
            </a:r>
            <a:endParaRPr/>
          </a:p>
        </p:txBody>
      </p:sp>
      <p:sp>
        <p:nvSpPr>
          <p:cNvPr id="165" name=""/>
          <p:cNvSpPr>
            <a:spLocks noGrp="1"/>
          </p:cNvSpPr>
          <p:nvPr/>
        </p:nvSpPr>
        <p:spPr>
          <a:xfrm>
            <a:off x="1181100" y="27622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" name=""/>
          <p:cNvSpPr>
            <a:spLocks noGrp="1"/>
          </p:cNvSpPr>
          <p:nvPr/>
        </p:nvSpPr>
        <p:spPr>
          <a:xfrm>
            <a:off x="1352550" y="26860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从采集卡拿到原始干涉谱</a:t>
            </a:r>
            <a:endParaRPr/>
          </a:p>
        </p:txBody>
      </p:sp>
      <p:sp>
        <p:nvSpPr>
          <p:cNvPr id="167" name=""/>
          <p:cNvSpPr>
            <a:spLocks noGrp="1"/>
          </p:cNvSpPr>
          <p:nvPr/>
        </p:nvSpPr>
        <p:spPr>
          <a:xfrm>
            <a:off x="1181100" y="32194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/>
          <p:cNvSpPr>
            <a:spLocks noGrp="1"/>
          </p:cNvSpPr>
          <p:nvPr/>
        </p:nvSpPr>
        <p:spPr>
          <a:xfrm>
            <a:off x="1352550" y="31432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分配显存或统一内存</a:t>
            </a:r>
            <a:endParaRPr/>
          </a:p>
        </p:txBody>
      </p:sp>
      <p:sp>
        <p:nvSpPr>
          <p:cNvPr id="169" name=""/>
          <p:cNvSpPr>
            <a:spLocks noGrp="1"/>
          </p:cNvSpPr>
          <p:nvPr/>
        </p:nvSpPr>
        <p:spPr>
          <a:xfrm>
            <a:off x="1181100" y="36766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0" name=""/>
          <p:cNvSpPr>
            <a:spLocks noGrp="1"/>
          </p:cNvSpPr>
          <p:nvPr/>
        </p:nvSpPr>
        <p:spPr>
          <a:xfrm>
            <a:off x="1352550" y="360045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按顺序发起 kernel 调用</a:t>
            </a:r>
            <a:endParaRPr/>
          </a:p>
        </p:txBody>
      </p:sp>
      <p:sp>
        <p:nvSpPr>
          <p:cNvPr id="171" name=""/>
          <p:cNvSpPr>
            <a:spLocks noGrp="1"/>
          </p:cNvSpPr>
          <p:nvPr/>
        </p:nvSpPr>
        <p:spPr>
          <a:xfrm>
            <a:off x="1181100" y="4095750"/>
            <a:ext cx="2095500" cy="342900"/>
          </a:xfrm>
          <a:prstGeom prst="rect">
            <a:avLst/>
          </a:prstGeom>
          <a:solidFill>
            <a:srgbClr val="F1EEE7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2" name=""/>
          <p:cNvSpPr>
            <a:spLocks noGrp="1"/>
          </p:cNvSpPr>
          <p:nvPr/>
        </p:nvSpPr>
        <p:spPr>
          <a:xfrm>
            <a:off x="1295400" y="4171950"/>
            <a:ext cx="1866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33033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233033"/>
                </a:solidFill>
                <a:latin typeface="Aptos Mono"/>
                <a:ea typeface="Aptos Mono"/>
                <a:cs typeface="Aptos Mono"/>
              </a:rPr>
              <a:t>kernel&lt;&lt;&lt;grid, block&gt;&gt;&gt;(...)</a:t>
            </a:r>
            <a:endParaRPr/>
          </a:p>
        </p:txBody>
      </p:sp>
      <p:sp>
        <p:nvSpPr>
          <p:cNvPr id="173" name=""/>
          <p:cNvSpPr>
            <a:spLocks noGrp="1"/>
          </p:cNvSpPr>
          <p:nvPr/>
        </p:nvSpPr>
        <p:spPr>
          <a:xfrm>
            <a:off x="3848100" y="2600325"/>
            <a:ext cx="97155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4" name=""/>
          <p:cNvSpPr>
            <a:spLocks noGrp="1"/>
          </p:cNvSpPr>
          <p:nvPr/>
        </p:nvSpPr>
        <p:spPr>
          <a:xfrm>
            <a:off x="4800600" y="252412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5" name=""/>
          <p:cNvSpPr>
            <a:spLocks noGrp="1"/>
          </p:cNvSpPr>
          <p:nvPr/>
        </p:nvSpPr>
        <p:spPr>
          <a:xfrm>
            <a:off x="3848100" y="272415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launch / sync</a:t>
            </a:r>
            <a:endParaRPr/>
          </a:p>
        </p:txBody>
      </p:sp>
      <p:sp>
        <p:nvSpPr>
          <p:cNvPr id="176" name=""/>
          <p:cNvSpPr>
            <a:spLocks noGrp="1"/>
          </p:cNvSpPr>
          <p:nvPr/>
        </p:nvSpPr>
        <p:spPr>
          <a:xfrm>
            <a:off x="3848100" y="3457575"/>
            <a:ext cx="971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7" name=""/>
          <p:cNvSpPr>
            <a:spLocks noGrp="1"/>
          </p:cNvSpPr>
          <p:nvPr/>
        </p:nvSpPr>
        <p:spPr>
          <a:xfrm>
            <a:off x="4800600" y="33813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8" name=""/>
          <p:cNvSpPr>
            <a:spLocks noGrp="1"/>
          </p:cNvSpPr>
          <p:nvPr/>
        </p:nvSpPr>
        <p:spPr>
          <a:xfrm>
            <a:off x="3848100" y="3581400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H2D / D2H</a:t>
            </a:r>
            <a:endParaRPr/>
          </a:p>
        </p:txBody>
      </p:sp>
      <p:sp>
        <p:nvSpPr>
          <p:cNvPr id="179" name=""/>
          <p:cNvSpPr>
            <a:spLocks noGrp="1"/>
          </p:cNvSpPr>
          <p:nvPr/>
        </p:nvSpPr>
        <p:spPr>
          <a:xfrm>
            <a:off x="5219700" y="1543050"/>
            <a:ext cx="5981700" cy="3143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0" name=""/>
          <p:cNvSpPr>
            <a:spLocks noGrp="1"/>
          </p:cNvSpPr>
          <p:nvPr/>
        </p:nvSpPr>
        <p:spPr>
          <a:xfrm>
            <a:off x="5410200" y="1752600"/>
            <a:ext cx="1352550" cy="285750"/>
          </a:xfrm>
          <a:prstGeom prst="rect">
            <a:avLst/>
          </a:prstGeom>
          <a:solidFill>
            <a:srgbClr val="F8E1D8"/>
          </a:solidFill>
          <a:ln w="0">
            <a:solidFill>
              <a:srgbClr val="F8E1D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1" name=""/>
          <p:cNvSpPr>
            <a:spLocks noGrp="1"/>
          </p:cNvSpPr>
          <p:nvPr/>
        </p:nvSpPr>
        <p:spPr>
          <a:xfrm>
            <a:off x="5524500" y="1800225"/>
            <a:ext cx="1123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Device / GPU</a:t>
            </a:r>
            <a:endParaRPr/>
          </a:p>
        </p:txBody>
      </p:sp>
      <p:sp>
        <p:nvSpPr>
          <p:cNvPr id="182" name=""/>
          <p:cNvSpPr>
            <a:spLocks noGrp="1"/>
          </p:cNvSpPr>
          <p:nvPr/>
        </p:nvSpPr>
        <p:spPr>
          <a:xfrm>
            <a:off x="5410200" y="217170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Grid 由多个 Block 组成，Block 里再展开线程。</a:t>
            </a:r>
            <a:endParaRPr/>
          </a:p>
        </p:txBody>
      </p:sp>
      <p:sp>
        <p:nvSpPr>
          <p:cNvPr id="183" name=""/>
          <p:cNvSpPr>
            <a:spLocks noGrp="1"/>
          </p:cNvSpPr>
          <p:nvPr/>
        </p:nvSpPr>
        <p:spPr>
          <a:xfrm>
            <a:off x="5410200" y="2533650"/>
            <a:ext cx="3524250" cy="1657350"/>
          </a:xfrm>
          <a:prstGeom prst="rect">
            <a:avLst/>
          </a:prstGeom>
          <a:solidFill>
            <a:srgbClr val="F6FAFA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4" name=""/>
          <p:cNvSpPr>
            <a:spLocks noGrp="1"/>
          </p:cNvSpPr>
          <p:nvPr/>
        </p:nvSpPr>
        <p:spPr>
          <a:xfrm>
            <a:off x="5524500" y="2628900"/>
            <a:ext cx="666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Grid</a:t>
            </a:r>
            <a:endParaRPr/>
          </a:p>
        </p:txBody>
      </p:sp>
      <p:sp>
        <p:nvSpPr>
          <p:cNvPr id="185" name=""/>
          <p:cNvSpPr>
            <a:spLocks noGrp="1"/>
          </p:cNvSpPr>
          <p:nvPr/>
        </p:nvSpPr>
        <p:spPr>
          <a:xfrm>
            <a:off x="5695950" y="29527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6" name=""/>
          <p:cNvSpPr>
            <a:spLocks noGrp="1"/>
          </p:cNvSpPr>
          <p:nvPr/>
        </p:nvSpPr>
        <p:spPr>
          <a:xfrm>
            <a:off x="5791200" y="30194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0</a:t>
            </a:r>
            <a:endParaRPr/>
          </a:p>
        </p:txBody>
      </p:sp>
      <p:sp>
        <p:nvSpPr>
          <p:cNvPr id="187" name=""/>
          <p:cNvSpPr>
            <a:spLocks noGrp="1"/>
          </p:cNvSpPr>
          <p:nvPr/>
        </p:nvSpPr>
        <p:spPr>
          <a:xfrm>
            <a:off x="64008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8" name=""/>
          <p:cNvSpPr>
            <a:spLocks noGrp="1"/>
          </p:cNvSpPr>
          <p:nvPr/>
        </p:nvSpPr>
        <p:spPr>
          <a:xfrm>
            <a:off x="64960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89" name=""/>
          <p:cNvSpPr>
            <a:spLocks noGrp="1"/>
          </p:cNvSpPr>
          <p:nvPr/>
        </p:nvSpPr>
        <p:spPr>
          <a:xfrm>
            <a:off x="65913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0" name=""/>
          <p:cNvSpPr>
            <a:spLocks noGrp="1"/>
          </p:cNvSpPr>
          <p:nvPr/>
        </p:nvSpPr>
        <p:spPr>
          <a:xfrm>
            <a:off x="66865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1" name=""/>
          <p:cNvSpPr>
            <a:spLocks noGrp="1"/>
          </p:cNvSpPr>
          <p:nvPr/>
        </p:nvSpPr>
        <p:spPr>
          <a:xfrm>
            <a:off x="64008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2" name=""/>
          <p:cNvSpPr>
            <a:spLocks noGrp="1"/>
          </p:cNvSpPr>
          <p:nvPr/>
        </p:nvSpPr>
        <p:spPr>
          <a:xfrm>
            <a:off x="64960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3" name=""/>
          <p:cNvSpPr>
            <a:spLocks noGrp="1"/>
          </p:cNvSpPr>
          <p:nvPr/>
        </p:nvSpPr>
        <p:spPr>
          <a:xfrm>
            <a:off x="65913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4" name=""/>
          <p:cNvSpPr>
            <a:spLocks noGrp="1"/>
          </p:cNvSpPr>
          <p:nvPr/>
        </p:nvSpPr>
        <p:spPr>
          <a:xfrm>
            <a:off x="66865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5" name=""/>
          <p:cNvSpPr>
            <a:spLocks noGrp="1"/>
          </p:cNvSpPr>
          <p:nvPr/>
        </p:nvSpPr>
        <p:spPr>
          <a:xfrm>
            <a:off x="7219950" y="29527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6" name=""/>
          <p:cNvSpPr>
            <a:spLocks noGrp="1"/>
          </p:cNvSpPr>
          <p:nvPr/>
        </p:nvSpPr>
        <p:spPr>
          <a:xfrm>
            <a:off x="7315200" y="30194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1</a:t>
            </a:r>
            <a:endParaRPr/>
          </a:p>
        </p:txBody>
      </p:sp>
      <p:sp>
        <p:nvSpPr>
          <p:cNvPr id="197" name=""/>
          <p:cNvSpPr>
            <a:spLocks noGrp="1"/>
          </p:cNvSpPr>
          <p:nvPr/>
        </p:nvSpPr>
        <p:spPr>
          <a:xfrm>
            <a:off x="79248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8" name=""/>
          <p:cNvSpPr>
            <a:spLocks noGrp="1"/>
          </p:cNvSpPr>
          <p:nvPr/>
        </p:nvSpPr>
        <p:spPr>
          <a:xfrm>
            <a:off x="80200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99" name=""/>
          <p:cNvSpPr>
            <a:spLocks noGrp="1"/>
          </p:cNvSpPr>
          <p:nvPr/>
        </p:nvSpPr>
        <p:spPr>
          <a:xfrm>
            <a:off x="811530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0" name=""/>
          <p:cNvSpPr>
            <a:spLocks noGrp="1"/>
          </p:cNvSpPr>
          <p:nvPr/>
        </p:nvSpPr>
        <p:spPr>
          <a:xfrm>
            <a:off x="8210550" y="30480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1" name=""/>
          <p:cNvSpPr>
            <a:spLocks noGrp="1"/>
          </p:cNvSpPr>
          <p:nvPr/>
        </p:nvSpPr>
        <p:spPr>
          <a:xfrm>
            <a:off x="79248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2" name=""/>
          <p:cNvSpPr>
            <a:spLocks noGrp="1"/>
          </p:cNvSpPr>
          <p:nvPr/>
        </p:nvSpPr>
        <p:spPr>
          <a:xfrm>
            <a:off x="80200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3" name=""/>
          <p:cNvSpPr>
            <a:spLocks noGrp="1"/>
          </p:cNvSpPr>
          <p:nvPr/>
        </p:nvSpPr>
        <p:spPr>
          <a:xfrm>
            <a:off x="811530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4" name=""/>
          <p:cNvSpPr>
            <a:spLocks noGrp="1"/>
          </p:cNvSpPr>
          <p:nvPr/>
        </p:nvSpPr>
        <p:spPr>
          <a:xfrm>
            <a:off x="8210550" y="31813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5" name=""/>
          <p:cNvSpPr>
            <a:spLocks noGrp="1"/>
          </p:cNvSpPr>
          <p:nvPr/>
        </p:nvSpPr>
        <p:spPr>
          <a:xfrm>
            <a:off x="5695950" y="35623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6" name=""/>
          <p:cNvSpPr>
            <a:spLocks noGrp="1"/>
          </p:cNvSpPr>
          <p:nvPr/>
        </p:nvSpPr>
        <p:spPr>
          <a:xfrm>
            <a:off x="5791200" y="36290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2</a:t>
            </a:r>
            <a:endParaRPr/>
          </a:p>
        </p:txBody>
      </p:sp>
      <p:sp>
        <p:nvSpPr>
          <p:cNvPr id="207" name=""/>
          <p:cNvSpPr>
            <a:spLocks noGrp="1"/>
          </p:cNvSpPr>
          <p:nvPr/>
        </p:nvSpPr>
        <p:spPr>
          <a:xfrm>
            <a:off x="64008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8" name=""/>
          <p:cNvSpPr>
            <a:spLocks noGrp="1"/>
          </p:cNvSpPr>
          <p:nvPr/>
        </p:nvSpPr>
        <p:spPr>
          <a:xfrm>
            <a:off x="64960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09" name=""/>
          <p:cNvSpPr>
            <a:spLocks noGrp="1"/>
          </p:cNvSpPr>
          <p:nvPr/>
        </p:nvSpPr>
        <p:spPr>
          <a:xfrm>
            <a:off x="65913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0" name=""/>
          <p:cNvSpPr>
            <a:spLocks noGrp="1"/>
          </p:cNvSpPr>
          <p:nvPr/>
        </p:nvSpPr>
        <p:spPr>
          <a:xfrm>
            <a:off x="66865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1" name=""/>
          <p:cNvSpPr>
            <a:spLocks noGrp="1"/>
          </p:cNvSpPr>
          <p:nvPr/>
        </p:nvSpPr>
        <p:spPr>
          <a:xfrm>
            <a:off x="64008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2" name=""/>
          <p:cNvSpPr>
            <a:spLocks noGrp="1"/>
          </p:cNvSpPr>
          <p:nvPr/>
        </p:nvSpPr>
        <p:spPr>
          <a:xfrm>
            <a:off x="64960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/>
          <p:cNvSpPr>
            <a:spLocks noGrp="1"/>
          </p:cNvSpPr>
          <p:nvPr/>
        </p:nvSpPr>
        <p:spPr>
          <a:xfrm>
            <a:off x="65913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4" name=""/>
          <p:cNvSpPr>
            <a:spLocks noGrp="1"/>
          </p:cNvSpPr>
          <p:nvPr/>
        </p:nvSpPr>
        <p:spPr>
          <a:xfrm>
            <a:off x="66865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5" name=""/>
          <p:cNvSpPr>
            <a:spLocks noGrp="1"/>
          </p:cNvSpPr>
          <p:nvPr/>
        </p:nvSpPr>
        <p:spPr>
          <a:xfrm>
            <a:off x="7219950" y="3562350"/>
            <a:ext cx="120015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6" name=""/>
          <p:cNvSpPr>
            <a:spLocks noGrp="1"/>
          </p:cNvSpPr>
          <p:nvPr/>
        </p:nvSpPr>
        <p:spPr>
          <a:xfrm>
            <a:off x="7315200" y="3629025"/>
            <a:ext cx="571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Block 3</a:t>
            </a:r>
            <a:endParaRPr/>
          </a:p>
        </p:txBody>
      </p:sp>
      <p:sp>
        <p:nvSpPr>
          <p:cNvPr id="217" name=""/>
          <p:cNvSpPr>
            <a:spLocks noGrp="1"/>
          </p:cNvSpPr>
          <p:nvPr/>
        </p:nvSpPr>
        <p:spPr>
          <a:xfrm>
            <a:off x="79248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8" name=""/>
          <p:cNvSpPr>
            <a:spLocks noGrp="1"/>
          </p:cNvSpPr>
          <p:nvPr/>
        </p:nvSpPr>
        <p:spPr>
          <a:xfrm>
            <a:off x="80200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9" name=""/>
          <p:cNvSpPr>
            <a:spLocks noGrp="1"/>
          </p:cNvSpPr>
          <p:nvPr/>
        </p:nvSpPr>
        <p:spPr>
          <a:xfrm>
            <a:off x="811530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0" name=""/>
          <p:cNvSpPr>
            <a:spLocks noGrp="1"/>
          </p:cNvSpPr>
          <p:nvPr/>
        </p:nvSpPr>
        <p:spPr>
          <a:xfrm>
            <a:off x="8210550" y="365760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1" name=""/>
          <p:cNvSpPr>
            <a:spLocks noGrp="1"/>
          </p:cNvSpPr>
          <p:nvPr/>
        </p:nvSpPr>
        <p:spPr>
          <a:xfrm>
            <a:off x="79248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2" name=""/>
          <p:cNvSpPr>
            <a:spLocks noGrp="1"/>
          </p:cNvSpPr>
          <p:nvPr/>
        </p:nvSpPr>
        <p:spPr>
          <a:xfrm>
            <a:off x="80200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3" name=""/>
          <p:cNvSpPr>
            <a:spLocks noGrp="1"/>
          </p:cNvSpPr>
          <p:nvPr/>
        </p:nvSpPr>
        <p:spPr>
          <a:xfrm>
            <a:off x="811530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4" name=""/>
          <p:cNvSpPr>
            <a:spLocks noGrp="1"/>
          </p:cNvSpPr>
          <p:nvPr/>
        </p:nvSpPr>
        <p:spPr>
          <a:xfrm>
            <a:off x="8210550" y="3790950"/>
            <a:ext cx="57150" cy="571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5" name=""/>
          <p:cNvSpPr>
            <a:spLocks noGrp="1"/>
          </p:cNvSpPr>
          <p:nvPr/>
        </p:nvSpPr>
        <p:spPr>
          <a:xfrm>
            <a:off x="9201150" y="2533650"/>
            <a:ext cx="1657350" cy="1657350"/>
          </a:xfrm>
          <a:prstGeom prst="rect">
            <a:avLst/>
          </a:prstGeom>
          <a:solidFill>
            <a:srgbClr val="FFFDF8"/>
          </a:solidFill>
          <a:ln w="9525">
            <a:solidFill>
              <a:srgbClr val="E3C98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6" name=""/>
          <p:cNvSpPr>
            <a:spLocks noGrp="1"/>
          </p:cNvSpPr>
          <p:nvPr/>
        </p:nvSpPr>
        <p:spPr>
          <a:xfrm>
            <a:off x="9391650" y="27241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275" b="1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执行单位</a:t>
            </a:r>
            <a:endParaRPr/>
          </a:p>
        </p:txBody>
      </p:sp>
      <p:sp>
        <p:nvSpPr>
          <p:cNvPr id="227" name=""/>
          <p:cNvSpPr>
            <a:spLocks noGrp="1"/>
          </p:cNvSpPr>
          <p:nvPr/>
        </p:nvSpPr>
        <p:spPr>
          <a:xfrm>
            <a:off x="9391650" y="32004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28" name=""/>
          <p:cNvSpPr>
            <a:spLocks noGrp="1"/>
          </p:cNvSpPr>
          <p:nvPr/>
        </p:nvSpPr>
        <p:spPr>
          <a:xfrm>
            <a:off x="9563100" y="31242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Thread 处理局部数据</a:t>
            </a:r>
            <a:endParaRPr/>
          </a:p>
        </p:txBody>
      </p:sp>
      <p:sp>
        <p:nvSpPr>
          <p:cNvPr id="229" name=""/>
          <p:cNvSpPr>
            <a:spLocks noGrp="1"/>
          </p:cNvSpPr>
          <p:nvPr/>
        </p:nvSpPr>
        <p:spPr>
          <a:xfrm>
            <a:off x="9391650" y="36195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0" name=""/>
          <p:cNvSpPr>
            <a:spLocks noGrp="1"/>
          </p:cNvSpPr>
          <p:nvPr/>
        </p:nvSpPr>
        <p:spPr>
          <a:xfrm>
            <a:off x="9563100" y="35433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Warp = 32 threads</a:t>
            </a:r>
            <a:endParaRPr/>
          </a:p>
        </p:txBody>
      </p:sp>
      <p:sp>
        <p:nvSpPr>
          <p:cNvPr id="231" name=""/>
          <p:cNvSpPr>
            <a:spLocks noGrp="1"/>
          </p:cNvSpPr>
          <p:nvPr/>
        </p:nvSpPr>
        <p:spPr>
          <a:xfrm>
            <a:off x="9391650" y="40386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2" name=""/>
          <p:cNvSpPr>
            <a:spLocks noGrp="1"/>
          </p:cNvSpPr>
          <p:nvPr/>
        </p:nvSpPr>
        <p:spPr>
          <a:xfrm>
            <a:off x="9563100" y="3962400"/>
            <a:ext cx="108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SM 调度多个 warp</a:t>
            </a:r>
            <a:endParaRPr/>
          </a:p>
        </p:txBody>
      </p:sp>
      <p:sp>
        <p:nvSpPr>
          <p:cNvPr id="233" name=""/>
          <p:cNvSpPr>
            <a:spLocks noGrp="1"/>
          </p:cNvSpPr>
          <p:nvPr/>
        </p:nvSpPr>
        <p:spPr>
          <a:xfrm>
            <a:off x="990600" y="5010150"/>
            <a:ext cx="304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和本文 OCT 重建的关系</a:t>
            </a:r>
            <a:endParaRPr/>
          </a:p>
        </p:txBody>
      </p:sp>
      <p:sp>
        <p:nvSpPr>
          <p:cNvPr id="234" name=""/>
          <p:cNvSpPr>
            <a:spLocks noGrp="1"/>
          </p:cNvSpPr>
          <p:nvPr/>
        </p:nvSpPr>
        <p:spPr>
          <a:xfrm>
            <a:off x="990600" y="56197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5" name=""/>
          <p:cNvSpPr>
            <a:spLocks noGrp="1"/>
          </p:cNvSpPr>
          <p:nvPr/>
        </p:nvSpPr>
        <p:spPr>
          <a:xfrm>
            <a:off x="1162050" y="5543550"/>
            <a:ext cx="4210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A-scan、k 值插值点、FFT 批处理都能映射到并行线程。</a:t>
            </a:r>
            <a:endParaRPr/>
          </a:p>
        </p:txBody>
      </p:sp>
      <p:sp>
        <p:nvSpPr>
          <p:cNvPr id="236" name=""/>
          <p:cNvSpPr>
            <a:spLocks noGrp="1"/>
          </p:cNvSpPr>
          <p:nvPr/>
        </p:nvSpPr>
        <p:spPr>
          <a:xfrm>
            <a:off x="990600" y="60579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7" name=""/>
          <p:cNvSpPr>
            <a:spLocks noGrp="1"/>
          </p:cNvSpPr>
          <p:nvPr/>
        </p:nvSpPr>
        <p:spPr>
          <a:xfrm>
            <a:off x="1162050" y="5981700"/>
            <a:ext cx="4781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PCR 用 block 内共享内存保存三对角系数，避免每轮都访问全局内存。</a:t>
            </a:r>
            <a:endParaRPr/>
          </a:p>
        </p:txBody>
      </p:sp>
      <p:sp>
        <p:nvSpPr>
          <p:cNvPr id="238" name=""/>
          <p:cNvSpPr>
            <a:spLocks noGrp="1"/>
          </p:cNvSpPr>
          <p:nvPr/>
        </p:nvSpPr>
        <p:spPr>
          <a:xfrm>
            <a:off x="5905500" y="5010150"/>
            <a:ext cx="1428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存储层次</a:t>
            </a:r>
            <a:endParaRPr/>
          </a:p>
        </p:txBody>
      </p:sp>
      <p:sp>
        <p:nvSpPr>
          <p:cNvPr id="239" name=""/>
          <p:cNvSpPr>
            <a:spLocks noGrp="1"/>
          </p:cNvSpPr>
          <p:nvPr/>
        </p:nvSpPr>
        <p:spPr>
          <a:xfrm>
            <a:off x="5905500" y="5448300"/>
            <a:ext cx="990600" cy="74295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"/>
          <p:cNvSpPr>
            <a:spLocks noGrp="1"/>
          </p:cNvSpPr>
          <p:nvPr/>
        </p:nvSpPr>
        <p:spPr>
          <a:xfrm>
            <a:off x="5981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Register</a:t>
            </a:r>
            <a:endParaRPr/>
          </a:p>
        </p:txBody>
      </p:sp>
      <p:sp>
        <p:nvSpPr>
          <p:cNvPr id="241" name=""/>
          <p:cNvSpPr>
            <a:spLocks noGrp="1"/>
          </p:cNvSpPr>
          <p:nvPr/>
        </p:nvSpPr>
        <p:spPr>
          <a:xfrm>
            <a:off x="5981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线程私有，最快</a:t>
            </a:r>
            <a:endParaRPr/>
          </a:p>
        </p:txBody>
      </p:sp>
      <p:sp>
        <p:nvSpPr>
          <p:cNvPr id="242" name=""/>
          <p:cNvSpPr>
            <a:spLocks noGrp="1"/>
          </p:cNvSpPr>
          <p:nvPr/>
        </p:nvSpPr>
        <p:spPr>
          <a:xfrm>
            <a:off x="7048500" y="5448300"/>
            <a:ext cx="990600" cy="74295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3" name=""/>
          <p:cNvSpPr>
            <a:spLocks noGrp="1"/>
          </p:cNvSpPr>
          <p:nvPr/>
        </p:nvSpPr>
        <p:spPr>
          <a:xfrm>
            <a:off x="7124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Shared</a:t>
            </a:r>
            <a:endParaRPr/>
          </a:p>
        </p:txBody>
      </p:sp>
      <p:sp>
        <p:nvSpPr>
          <p:cNvPr id="244" name=""/>
          <p:cNvSpPr>
            <a:spLocks noGrp="1"/>
          </p:cNvSpPr>
          <p:nvPr/>
        </p:nvSpPr>
        <p:spPr>
          <a:xfrm>
            <a:off x="7124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block 内共享，PCR 重点使用</a:t>
            </a:r>
            <a:endParaRPr/>
          </a:p>
        </p:txBody>
      </p:sp>
      <p:sp>
        <p:nvSpPr>
          <p:cNvPr id="245" name=""/>
          <p:cNvSpPr>
            <a:spLocks noGrp="1"/>
          </p:cNvSpPr>
          <p:nvPr/>
        </p:nvSpPr>
        <p:spPr>
          <a:xfrm>
            <a:off x="8191500" y="5448300"/>
            <a:ext cx="990600" cy="742950"/>
          </a:xfrm>
          <a:prstGeom prst="rect">
            <a:avLst/>
          </a:prstGeom>
          <a:solidFill>
            <a:srgbClr val="F3E7C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6" name=""/>
          <p:cNvSpPr>
            <a:spLocks noGrp="1"/>
          </p:cNvSpPr>
          <p:nvPr/>
        </p:nvSpPr>
        <p:spPr>
          <a:xfrm>
            <a:off x="8267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8A2D"/>
                </a:solidFill>
                <a:latin typeface="Aptos"/>
                <a:ea typeface="Aptos"/>
                <a:cs typeface="Aptos"/>
              </a:rPr>
              <a:t>Constant / RO</a:t>
            </a:r>
            <a:endParaRPr/>
          </a:p>
        </p:txBody>
      </p:sp>
      <p:sp>
        <p:nvSpPr>
          <p:cNvPr id="247" name=""/>
          <p:cNvSpPr>
            <a:spLocks noGrp="1"/>
          </p:cNvSpPr>
          <p:nvPr/>
        </p:nvSpPr>
        <p:spPr>
          <a:xfrm>
            <a:off x="8267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节点和信号读取更适合缓存</a:t>
            </a:r>
            <a:endParaRPr/>
          </a:p>
        </p:txBody>
      </p:sp>
      <p:sp>
        <p:nvSpPr>
          <p:cNvPr id="248" name=""/>
          <p:cNvSpPr>
            <a:spLocks noGrp="1"/>
          </p:cNvSpPr>
          <p:nvPr/>
        </p:nvSpPr>
        <p:spPr>
          <a:xfrm>
            <a:off x="9334500" y="5448300"/>
            <a:ext cx="990600" cy="74295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9" name=""/>
          <p:cNvSpPr>
            <a:spLocks noGrp="1"/>
          </p:cNvSpPr>
          <p:nvPr/>
        </p:nvSpPr>
        <p:spPr>
          <a:xfrm>
            <a:off x="9410700" y="5562600"/>
            <a:ext cx="838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Global</a:t>
            </a:r>
            <a:endParaRPr/>
          </a:p>
        </p:txBody>
      </p:sp>
      <p:sp>
        <p:nvSpPr>
          <p:cNvPr id="250" name=""/>
          <p:cNvSpPr>
            <a:spLocks noGrp="1"/>
          </p:cNvSpPr>
          <p:nvPr/>
        </p:nvSpPr>
        <p:spPr>
          <a:xfrm>
            <a:off x="9410700" y="5791200"/>
            <a:ext cx="838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容量大，但访存最慢</a:t>
            </a:r>
            <a:endParaRPr/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3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4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5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05  PCR</a:t>
            </a:r>
            <a:endParaRPr/>
          </a:p>
        </p:txBody>
      </p:sp>
      <p:sp>
        <p:nvSpPr>
          <p:cNvPr id="256" name=""/>
          <p:cNvSpPr>
            <a:spLocks noGrp="1"/>
          </p:cNvSpPr>
          <p:nvPr/>
        </p:nvSpPr>
        <p:spPr>
          <a:xfrm>
            <a:off x="514350" y="781050"/>
            <a:ext cx="9810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K 线性化原来卡在三对角求解，PCR 把它拆成 11 层并行迭代。</a:t>
            </a:r>
            <a:endParaRPr/>
          </a:p>
        </p:txBody>
      </p:sp>
      <p:sp>
        <p:nvSpPr>
          <p:cNvPr id="257" name=""/>
          <p:cNvSpPr>
            <a:spLocks noGrp="1"/>
          </p:cNvSpPr>
          <p:nvPr/>
        </p:nvSpPr>
        <p:spPr>
          <a:xfrm>
            <a:off x="571500" y="1714500"/>
            <a:ext cx="7239000" cy="2381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258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864126" y="2000250"/>
            <a:ext cx="4653747" cy="1524000"/>
          </a:xfrm>
          <a:prstGeom prst="rect">
            <a:avLst/>
          </a:prstGeom>
        </p:spPr>
      </p:pic>
      <p:sp>
        <p:nvSpPr>
          <p:cNvPr id="259" name=""/>
          <p:cNvSpPr>
            <a:spLocks noGrp="1"/>
          </p:cNvSpPr>
          <p:nvPr/>
        </p:nvSpPr>
        <p:spPr>
          <a:xfrm>
            <a:off x="876300" y="3648075"/>
            <a:ext cx="3048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Thomas：1 个线程串行求解，其余线程等待</a:t>
            </a:r>
            <a:endParaRPr/>
          </a:p>
        </p:txBody>
      </p:sp>
      <p:sp>
        <p:nvSpPr>
          <p:cNvPr id="260" name=""/>
          <p:cNvSpPr>
            <a:spLocks noGrp="1"/>
          </p:cNvSpPr>
          <p:nvPr/>
        </p:nvSpPr>
        <p:spPr>
          <a:xfrm>
            <a:off x="4362450" y="3648075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PCR：256 线程参与，log2(2048)=11 层迭代</a:t>
            </a:r>
            <a:endParaRPr/>
          </a:p>
        </p:txBody>
      </p:sp>
      <p:sp>
        <p:nvSpPr>
          <p:cNvPr id="261" name=""/>
          <p:cNvSpPr>
            <a:spLocks noGrp="1"/>
          </p:cNvSpPr>
          <p:nvPr/>
        </p:nvSpPr>
        <p:spPr>
          <a:xfrm>
            <a:off x="8362950" y="1790700"/>
            <a:ext cx="4953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2" name=""/>
          <p:cNvSpPr>
            <a:spLocks noGrp="1"/>
          </p:cNvSpPr>
          <p:nvPr/>
        </p:nvSpPr>
        <p:spPr>
          <a:xfrm>
            <a:off x="8362950" y="1924050"/>
            <a:ext cx="2095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  <a:endParaRPr/>
          </a:p>
        </p:txBody>
      </p:sp>
      <p:sp>
        <p:nvSpPr>
          <p:cNvPr id="263" name=""/>
          <p:cNvSpPr>
            <a:spLocks noGrp="1"/>
          </p:cNvSpPr>
          <p:nvPr/>
        </p:nvSpPr>
        <p:spPr>
          <a:xfrm>
            <a:off x="8362950" y="23622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并行迭代层数</a:t>
            </a:r>
            <a:endParaRPr/>
          </a:p>
        </p:txBody>
      </p:sp>
      <p:sp>
        <p:nvSpPr>
          <p:cNvPr id="264" name=""/>
          <p:cNvSpPr>
            <a:spLocks noGrp="1"/>
          </p:cNvSpPr>
          <p:nvPr/>
        </p:nvSpPr>
        <p:spPr>
          <a:xfrm>
            <a:off x="8362950" y="285750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5" name=""/>
          <p:cNvSpPr>
            <a:spLocks noGrp="1"/>
          </p:cNvSpPr>
          <p:nvPr/>
        </p:nvSpPr>
        <p:spPr>
          <a:xfrm>
            <a:off x="8362950" y="2990850"/>
            <a:ext cx="2476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  <a:endParaRPr/>
          </a:p>
        </p:txBody>
      </p:sp>
      <p:sp>
        <p:nvSpPr>
          <p:cNvPr id="266" name=""/>
          <p:cNvSpPr>
            <a:spLocks noGrp="1"/>
          </p:cNvSpPr>
          <p:nvPr/>
        </p:nvSpPr>
        <p:spPr>
          <a:xfrm>
            <a:off x="8362950" y="3429000"/>
            <a:ext cx="2476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PCR vs MATLAB spline RMSE</a:t>
            </a:r>
            <a:endParaRPr/>
          </a:p>
        </p:txBody>
      </p:sp>
      <p:sp>
        <p:nvSpPr>
          <p:cNvPr id="267" name=""/>
          <p:cNvSpPr>
            <a:spLocks noGrp="1"/>
          </p:cNvSpPr>
          <p:nvPr/>
        </p:nvSpPr>
        <p:spPr>
          <a:xfrm>
            <a:off x="8362950" y="392430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"/>
          <p:cNvSpPr>
            <a:spLocks noGrp="1"/>
          </p:cNvSpPr>
          <p:nvPr/>
        </p:nvSpPr>
        <p:spPr>
          <a:xfrm>
            <a:off x="8362950" y="4057650"/>
            <a:ext cx="2857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255/256</a:t>
            </a:r>
            <a:endParaRPr/>
          </a:p>
        </p:txBody>
      </p:sp>
      <p:sp>
        <p:nvSpPr>
          <p:cNvPr id="269" name=""/>
          <p:cNvSpPr>
            <a:spLocks noGrp="1"/>
          </p:cNvSpPr>
          <p:nvPr/>
        </p:nvSpPr>
        <p:spPr>
          <a:xfrm>
            <a:off x="8362950" y="449580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原串行实现中的线程空等被消除</a:t>
            </a:r>
            <a:endParaRPr/>
          </a:p>
        </p:txBody>
      </p:sp>
      <p:sp>
        <p:nvSpPr>
          <p:cNvPr id="270" name=""/>
          <p:cNvSpPr>
            <a:spLocks noGrp="1"/>
          </p:cNvSpPr>
          <p:nvPr/>
        </p:nvSpPr>
        <p:spPr>
          <a:xfrm>
            <a:off x="819150" y="4591050"/>
            <a:ext cx="5905500" cy="4000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1" name=""/>
          <p:cNvSpPr>
            <a:spLocks noGrp="1"/>
          </p:cNvSpPr>
          <p:nvPr/>
        </p:nvSpPr>
        <p:spPr>
          <a:xfrm>
            <a:off x="914400" y="4705350"/>
            <a:ext cx="23050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</a:t>
            </a:r>
            <a:endParaRPr/>
          </a:p>
        </p:txBody>
      </p:sp>
      <p:sp>
        <p:nvSpPr>
          <p:cNvPr id="272" name=""/>
          <p:cNvSpPr>
            <a:spLocks noGrp="1"/>
          </p:cNvSpPr>
          <p:nvPr/>
        </p:nvSpPr>
        <p:spPr>
          <a:xfrm>
            <a:off x="3390900" y="4705350"/>
            <a:ext cx="16383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最大绝对误差</a:t>
            </a:r>
            <a:endParaRPr/>
          </a:p>
        </p:txBody>
      </p:sp>
      <p:sp>
        <p:nvSpPr>
          <p:cNvPr id="273" name=""/>
          <p:cNvSpPr>
            <a:spLocks noGrp="1"/>
          </p:cNvSpPr>
          <p:nvPr/>
        </p:nvSpPr>
        <p:spPr>
          <a:xfrm>
            <a:off x="5200650" y="4705350"/>
            <a:ext cx="14478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RMSE</a:t>
            </a:r>
            <a:endParaRPr/>
          </a:p>
        </p:txBody>
      </p:sp>
      <p:sp>
        <p:nvSpPr>
          <p:cNvPr id="274" name=""/>
          <p:cNvSpPr>
            <a:spLocks noGrp="1"/>
          </p:cNvSpPr>
          <p:nvPr/>
        </p:nvSpPr>
        <p:spPr>
          <a:xfrm>
            <a:off x="819150" y="5334000"/>
            <a:ext cx="5905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5" name=""/>
          <p:cNvSpPr>
            <a:spLocks noGrp="1"/>
          </p:cNvSpPr>
          <p:nvPr/>
        </p:nvSpPr>
        <p:spPr>
          <a:xfrm>
            <a:off x="914400" y="5076825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PCR vs MATLAB</a:t>
            </a:r>
            <a:endParaRPr/>
          </a:p>
        </p:txBody>
      </p:sp>
      <p:sp>
        <p:nvSpPr>
          <p:cNvPr id="276" name=""/>
          <p:cNvSpPr>
            <a:spLocks noGrp="1"/>
          </p:cNvSpPr>
          <p:nvPr/>
        </p:nvSpPr>
        <p:spPr>
          <a:xfrm>
            <a:off x="3390900" y="5076825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3.8e-5</a:t>
            </a:r>
            <a:endParaRPr/>
          </a:p>
        </p:txBody>
      </p:sp>
      <p:sp>
        <p:nvSpPr>
          <p:cNvPr id="277" name=""/>
          <p:cNvSpPr>
            <a:spLocks noGrp="1"/>
          </p:cNvSpPr>
          <p:nvPr/>
        </p:nvSpPr>
        <p:spPr>
          <a:xfrm>
            <a:off x="5200650" y="5076825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1.2e-5</a:t>
            </a:r>
            <a:endParaRPr/>
          </a:p>
        </p:txBody>
      </p:sp>
      <p:sp>
        <p:nvSpPr>
          <p:cNvPr id="278" name=""/>
          <p:cNvSpPr>
            <a:spLocks noGrp="1"/>
          </p:cNvSpPr>
          <p:nvPr/>
        </p:nvSpPr>
        <p:spPr>
          <a:xfrm>
            <a:off x="819150" y="5734050"/>
            <a:ext cx="5905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79" name=""/>
          <p:cNvSpPr>
            <a:spLocks noGrp="1"/>
          </p:cNvSpPr>
          <p:nvPr/>
        </p:nvSpPr>
        <p:spPr>
          <a:xfrm>
            <a:off x="914400" y="5476875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Thomas vs MATLAB</a:t>
            </a:r>
            <a:endParaRPr/>
          </a:p>
        </p:txBody>
      </p:sp>
      <p:sp>
        <p:nvSpPr>
          <p:cNvPr id="280" name=""/>
          <p:cNvSpPr>
            <a:spLocks noGrp="1"/>
          </p:cNvSpPr>
          <p:nvPr/>
        </p:nvSpPr>
        <p:spPr>
          <a:xfrm>
            <a:off x="3390900" y="5476875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2.1e-5</a:t>
            </a:r>
            <a:endParaRPr/>
          </a:p>
        </p:txBody>
      </p:sp>
      <p:sp>
        <p:nvSpPr>
          <p:cNvPr id="281" name=""/>
          <p:cNvSpPr>
            <a:spLocks noGrp="1"/>
          </p:cNvSpPr>
          <p:nvPr/>
        </p:nvSpPr>
        <p:spPr>
          <a:xfrm>
            <a:off x="5200650" y="5476875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8.7e-6</a:t>
            </a:r>
            <a:endParaRPr/>
          </a:p>
        </p:txBody>
      </p:sp>
      <p:sp>
        <p:nvSpPr>
          <p:cNvPr id="282" name=""/>
          <p:cNvSpPr>
            <a:spLocks noGrp="1"/>
          </p:cNvSpPr>
          <p:nvPr/>
        </p:nvSpPr>
        <p:spPr>
          <a:xfrm>
            <a:off x="819150" y="6134100"/>
            <a:ext cx="5905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3" name=""/>
          <p:cNvSpPr>
            <a:spLocks noGrp="1"/>
          </p:cNvSpPr>
          <p:nvPr/>
        </p:nvSpPr>
        <p:spPr>
          <a:xfrm>
            <a:off x="914400" y="5876925"/>
            <a:ext cx="2305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Linear vs MATLAB</a:t>
            </a:r>
            <a:endParaRPr/>
          </a:p>
        </p:txBody>
      </p:sp>
      <p:sp>
        <p:nvSpPr>
          <p:cNvPr id="284" name=""/>
          <p:cNvSpPr>
            <a:spLocks noGrp="1"/>
          </p:cNvSpPr>
          <p:nvPr/>
        </p:nvSpPr>
        <p:spPr>
          <a:xfrm>
            <a:off x="3390900" y="5876925"/>
            <a:ext cx="1638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4.6e-2</a:t>
            </a:r>
            <a:endParaRPr/>
          </a:p>
        </p:txBody>
      </p:sp>
      <p:sp>
        <p:nvSpPr>
          <p:cNvPr id="285" name=""/>
          <p:cNvSpPr>
            <a:spLocks noGrp="1"/>
          </p:cNvSpPr>
          <p:nvPr/>
        </p:nvSpPr>
        <p:spPr>
          <a:xfrm>
            <a:off x="5200650" y="5876925"/>
            <a:ext cx="1447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1.8e-2</a:t>
            </a:r>
            <a:endParaRPr/>
          </a:p>
        </p:txBody>
      </p:sp>
      <p:sp>
        <p:nvSpPr>
          <p:cNvPr id="286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06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9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0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1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06  SPEED</a:t>
            </a:r>
            <a:endParaRPr/>
          </a:p>
        </p:txBody>
      </p:sp>
      <p:sp>
        <p:nvSpPr>
          <p:cNvPr id="292" name=""/>
          <p:cNvSpPr>
            <a:spLocks noGrp="1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M=1000 时，CUDA 重建速率已经高于 82 kHz 的采集需求。</a:t>
            </a:r>
            <a:endParaRPr/>
          </a:p>
        </p:txBody>
      </p:sp>
      <p:sp>
        <p:nvSpPr>
          <p:cNvPr id="293" name=""/>
          <p:cNvSpPr>
            <a:spLocks noGrp="1"/>
          </p:cNvSpPr>
          <p:nvPr/>
        </p:nvSpPr>
        <p:spPr>
          <a:xfrm>
            <a:off x="781050" y="18097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折合 A-line/s（k）</a:t>
            </a:r>
            <a:endParaRPr/>
          </a:p>
        </p:txBody>
      </p:sp>
      <p:sp>
        <p:nvSpPr>
          <p:cNvPr id="294" name=""/>
          <p:cNvSpPr>
            <a:spLocks noGrp="1"/>
          </p:cNvSpPr>
          <p:nvPr/>
        </p:nvSpPr>
        <p:spPr>
          <a:xfrm>
            <a:off x="876300" y="2419350"/>
            <a:ext cx="62865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5" name=""/>
          <p:cNvSpPr>
            <a:spLocks noGrp="1"/>
          </p:cNvSpPr>
          <p:nvPr/>
        </p:nvSpPr>
        <p:spPr>
          <a:xfrm>
            <a:off x="876300" y="2419350"/>
            <a:ext cx="53977" cy="28575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6" name=""/>
          <p:cNvSpPr>
            <a:spLocks noGrp="1"/>
          </p:cNvSpPr>
          <p:nvPr/>
        </p:nvSpPr>
        <p:spPr>
          <a:xfrm>
            <a:off x="876300" y="22002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MATLAB</a:t>
            </a:r>
            <a:endParaRPr/>
          </a:p>
        </p:txBody>
      </p:sp>
      <p:sp>
        <p:nvSpPr>
          <p:cNvPr id="297" name=""/>
          <p:cNvSpPr>
            <a:spLocks noGrp="1"/>
          </p:cNvSpPr>
          <p:nvPr/>
        </p:nvSpPr>
        <p:spPr>
          <a:xfrm>
            <a:off x="7315200" y="24003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11.6k</a:t>
            </a:r>
            <a:endParaRPr/>
          </a:p>
        </p:txBody>
      </p:sp>
      <p:sp>
        <p:nvSpPr>
          <p:cNvPr id="298" name=""/>
          <p:cNvSpPr>
            <a:spLocks noGrp="1"/>
          </p:cNvSpPr>
          <p:nvPr/>
        </p:nvSpPr>
        <p:spPr>
          <a:xfrm>
            <a:off x="876300" y="3238500"/>
            <a:ext cx="62865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99" name=""/>
          <p:cNvSpPr>
            <a:spLocks noGrp="1"/>
          </p:cNvSpPr>
          <p:nvPr/>
        </p:nvSpPr>
        <p:spPr>
          <a:xfrm>
            <a:off x="876300" y="3238500"/>
            <a:ext cx="88411" cy="2857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0" name=""/>
          <p:cNvSpPr>
            <a:spLocks noGrp="1"/>
          </p:cNvSpPr>
          <p:nvPr/>
        </p:nvSpPr>
        <p:spPr>
          <a:xfrm>
            <a:off x="876300" y="30194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CPU C++</a:t>
            </a:r>
            <a:endParaRPr/>
          </a:p>
        </p:txBody>
      </p:sp>
      <p:sp>
        <p:nvSpPr>
          <p:cNvPr id="301" name=""/>
          <p:cNvSpPr>
            <a:spLocks noGrp="1"/>
          </p:cNvSpPr>
          <p:nvPr/>
        </p:nvSpPr>
        <p:spPr>
          <a:xfrm>
            <a:off x="7315200" y="32194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19k</a:t>
            </a:r>
            <a:endParaRPr/>
          </a:p>
        </p:txBody>
      </p:sp>
      <p:sp>
        <p:nvSpPr>
          <p:cNvPr id="302" name=""/>
          <p:cNvSpPr>
            <a:spLocks noGrp="1"/>
          </p:cNvSpPr>
          <p:nvPr/>
        </p:nvSpPr>
        <p:spPr>
          <a:xfrm>
            <a:off x="876300" y="4057650"/>
            <a:ext cx="62865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3" name=""/>
          <p:cNvSpPr>
            <a:spLocks noGrp="1"/>
          </p:cNvSpPr>
          <p:nvPr/>
        </p:nvSpPr>
        <p:spPr>
          <a:xfrm>
            <a:off x="876300" y="4057650"/>
            <a:ext cx="6286500" cy="2857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4" name=""/>
          <p:cNvSpPr>
            <a:spLocks noGrp="1"/>
          </p:cNvSpPr>
          <p:nvPr/>
        </p:nvSpPr>
        <p:spPr>
          <a:xfrm>
            <a:off x="876300" y="38385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RTX 4090D CUDA</a:t>
            </a:r>
            <a:endParaRPr/>
          </a:p>
        </p:txBody>
      </p:sp>
      <p:sp>
        <p:nvSpPr>
          <p:cNvPr id="305" name=""/>
          <p:cNvSpPr>
            <a:spLocks noGrp="1"/>
          </p:cNvSpPr>
          <p:nvPr/>
        </p:nvSpPr>
        <p:spPr>
          <a:xfrm>
            <a:off x="7315200" y="40386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1351k</a:t>
            </a:r>
            <a:endParaRPr/>
          </a:p>
        </p:txBody>
      </p:sp>
      <p:sp>
        <p:nvSpPr>
          <p:cNvPr id="306" name=""/>
          <p:cNvSpPr>
            <a:spLocks noGrp="1"/>
          </p:cNvSpPr>
          <p:nvPr/>
        </p:nvSpPr>
        <p:spPr>
          <a:xfrm>
            <a:off x="1257864" y="2190750"/>
            <a:ext cx="9525" cy="25717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7" name=""/>
          <p:cNvSpPr>
            <a:spLocks noGrp="1"/>
          </p:cNvSpPr>
          <p:nvPr/>
        </p:nvSpPr>
        <p:spPr>
          <a:xfrm>
            <a:off x="1334064" y="4857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82 kHz 采集速率</a:t>
            </a:r>
            <a:endParaRPr/>
          </a:p>
        </p:txBody>
      </p:sp>
      <p:sp>
        <p:nvSpPr>
          <p:cNvPr id="308" name=""/>
          <p:cNvSpPr>
            <a:spLocks noGrp="1"/>
          </p:cNvSpPr>
          <p:nvPr/>
        </p:nvSpPr>
        <p:spPr>
          <a:xfrm>
            <a:off x="9258300" y="2114550"/>
            <a:ext cx="495300" cy="2857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09" name=""/>
          <p:cNvSpPr>
            <a:spLocks noGrp="1"/>
          </p:cNvSpPr>
          <p:nvPr/>
        </p:nvSpPr>
        <p:spPr>
          <a:xfrm>
            <a:off x="9258300" y="2247900"/>
            <a:ext cx="2381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0.74 ms</a:t>
            </a:r>
            <a:endParaRPr/>
          </a:p>
        </p:txBody>
      </p:sp>
      <p:sp>
        <p:nvSpPr>
          <p:cNvPr id="310" name=""/>
          <p:cNvSpPr>
            <a:spLocks noGrp="1"/>
          </p:cNvSpPr>
          <p:nvPr/>
        </p:nvSpPr>
        <p:spPr>
          <a:xfrm>
            <a:off x="9258300" y="2686050"/>
            <a:ext cx="2381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单帧耗时 M=1000, N=2048</a:t>
            </a:r>
            <a:endParaRPr/>
          </a:p>
        </p:txBody>
      </p:sp>
      <p:sp>
        <p:nvSpPr>
          <p:cNvPr id="311" name=""/>
          <p:cNvSpPr>
            <a:spLocks noGrp="1"/>
          </p:cNvSpPr>
          <p:nvPr/>
        </p:nvSpPr>
        <p:spPr>
          <a:xfrm>
            <a:off x="9258300" y="325755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2" name=""/>
          <p:cNvSpPr>
            <a:spLocks noGrp="1"/>
          </p:cNvSpPr>
          <p:nvPr/>
        </p:nvSpPr>
        <p:spPr>
          <a:xfrm>
            <a:off x="9258300" y="339090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117×</a:t>
            </a:r>
            <a:endParaRPr/>
          </a:p>
        </p:txBody>
      </p:sp>
      <p:sp>
        <p:nvSpPr>
          <p:cNvPr id="313" name=""/>
          <p:cNvSpPr>
            <a:spLocks noGrp="1"/>
          </p:cNvSpPr>
          <p:nvPr/>
        </p:nvSpPr>
        <p:spPr>
          <a:xfrm>
            <a:off x="9258300" y="3829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MATLAB 加速</a:t>
            </a:r>
            <a:endParaRPr/>
          </a:p>
        </p:txBody>
      </p:sp>
      <p:sp>
        <p:nvSpPr>
          <p:cNvPr id="314" name=""/>
          <p:cNvSpPr>
            <a:spLocks noGrp="1"/>
          </p:cNvSpPr>
          <p:nvPr/>
        </p:nvSpPr>
        <p:spPr>
          <a:xfrm>
            <a:off x="9258300" y="440055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5" name=""/>
          <p:cNvSpPr>
            <a:spLocks noGrp="1"/>
          </p:cNvSpPr>
          <p:nvPr/>
        </p:nvSpPr>
        <p:spPr>
          <a:xfrm>
            <a:off x="9258300" y="4533900"/>
            <a:ext cx="2286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71×</a:t>
            </a:r>
            <a:endParaRPr/>
          </a:p>
        </p:txBody>
      </p:sp>
      <p:sp>
        <p:nvSpPr>
          <p:cNvPr id="316" name=""/>
          <p:cNvSpPr>
            <a:spLocks noGrp="1"/>
          </p:cNvSpPr>
          <p:nvPr/>
        </p:nvSpPr>
        <p:spPr>
          <a:xfrm>
            <a:off x="9258300" y="4972050"/>
            <a:ext cx="228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C++ 加速</a:t>
            </a:r>
            <a:endParaRPr/>
          </a:p>
        </p:txBody>
      </p:sp>
      <p:sp>
        <p:nvSpPr>
          <p:cNvPr id="317" name=""/>
          <p:cNvSpPr>
            <a:spLocks noGrp="1"/>
          </p:cNvSpPr>
          <p:nvPr/>
        </p:nvSpPr>
        <p:spPr>
          <a:xfrm>
            <a:off x="742950" y="5638800"/>
            <a:ext cx="923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这说明吞吐量已经够用，真正要继续压的是小批量延迟和闭环同步。</a:t>
            </a:r>
            <a:endParaRPr/>
          </a:p>
        </p:txBody>
      </p:sp>
      <p:sp>
        <p:nvSpPr>
          <p:cNvPr id="318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07</a:t>
            </a:r>
            <a:endParaRPr/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3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1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2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3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07  SMALL B-SCAN</a:t>
            </a:r>
            <a:endParaRPr/>
          </a:p>
        </p:txBody>
      </p:sp>
      <p:sp>
        <p:nvSpPr>
          <p:cNvPr id="324" name=""/>
          <p:cNvSpPr>
            <a:spLocks noGrp="1"/>
          </p:cNvSpPr>
          <p:nvPr/>
        </p:nvSpPr>
        <p:spPr>
          <a:xfrm>
            <a:off x="514350" y="781050"/>
            <a:ext cx="9715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B 扫越小，固定拷贝和同步越显眼，统一内存的收益也越明显。</a:t>
            </a:r>
            <a:endParaRPr/>
          </a:p>
        </p:txBody>
      </p:sp>
      <p:sp>
        <p:nvSpPr>
          <p:cNvPr id="325" name=""/>
          <p:cNvSpPr>
            <a:spLocks noGrp="1"/>
          </p:cNvSpPr>
          <p:nvPr/>
        </p:nvSpPr>
        <p:spPr>
          <a:xfrm>
            <a:off x="685800" y="1962150"/>
            <a:ext cx="6143625" cy="4762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26" name=""/>
          <p:cNvSpPr>
            <a:spLocks noGrp="1"/>
          </p:cNvSpPr>
          <p:nvPr/>
        </p:nvSpPr>
        <p:spPr>
          <a:xfrm>
            <a:off x="781050" y="2076450"/>
            <a:ext cx="14001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B 扫粒度 M</a:t>
            </a:r>
            <a:endParaRPr/>
          </a:p>
        </p:txBody>
      </p:sp>
      <p:sp>
        <p:nvSpPr>
          <p:cNvPr id="327" name=""/>
          <p:cNvSpPr>
            <a:spLocks noGrp="1"/>
          </p:cNvSpPr>
          <p:nvPr/>
        </p:nvSpPr>
        <p:spPr>
          <a:xfrm>
            <a:off x="2352675" y="20764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传统方案 us</a:t>
            </a:r>
            <a:endParaRPr/>
          </a:p>
        </p:txBody>
      </p:sp>
      <p:sp>
        <p:nvSpPr>
          <p:cNvPr id="328" name=""/>
          <p:cNvSpPr>
            <a:spLocks noGrp="1"/>
          </p:cNvSpPr>
          <p:nvPr/>
        </p:nvSpPr>
        <p:spPr>
          <a:xfrm>
            <a:off x="4067175" y="20764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统一内存 us</a:t>
            </a:r>
            <a:endParaRPr/>
          </a:p>
        </p:txBody>
      </p:sp>
      <p:sp>
        <p:nvSpPr>
          <p:cNvPr id="329" name=""/>
          <p:cNvSpPr>
            <a:spLocks noGrp="1"/>
          </p:cNvSpPr>
          <p:nvPr/>
        </p:nvSpPr>
        <p:spPr>
          <a:xfrm>
            <a:off x="5781675" y="2076450"/>
            <a:ext cx="971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加速比</a:t>
            </a:r>
            <a:endParaRPr/>
          </a:p>
        </p:txBody>
      </p:sp>
      <p:sp>
        <p:nvSpPr>
          <p:cNvPr id="330" name=""/>
          <p:cNvSpPr>
            <a:spLocks noGrp="1"/>
          </p:cNvSpPr>
          <p:nvPr/>
        </p:nvSpPr>
        <p:spPr>
          <a:xfrm>
            <a:off x="685800" y="285750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1" name=""/>
          <p:cNvSpPr>
            <a:spLocks noGrp="1"/>
          </p:cNvSpPr>
          <p:nvPr/>
        </p:nvSpPr>
        <p:spPr>
          <a:xfrm>
            <a:off x="781050" y="252412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1000</a:t>
            </a:r>
            <a:endParaRPr/>
          </a:p>
        </p:txBody>
      </p:sp>
      <p:sp>
        <p:nvSpPr>
          <p:cNvPr id="332" name=""/>
          <p:cNvSpPr>
            <a:spLocks noGrp="1"/>
          </p:cNvSpPr>
          <p:nvPr/>
        </p:nvSpPr>
        <p:spPr>
          <a:xfrm>
            <a:off x="2352675" y="2524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742</a:t>
            </a:r>
            <a:endParaRPr/>
          </a:p>
        </p:txBody>
      </p:sp>
      <p:sp>
        <p:nvSpPr>
          <p:cNvPr id="333" name=""/>
          <p:cNvSpPr>
            <a:spLocks noGrp="1"/>
          </p:cNvSpPr>
          <p:nvPr/>
        </p:nvSpPr>
        <p:spPr>
          <a:xfrm>
            <a:off x="4067175" y="2524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685</a:t>
            </a:r>
            <a:endParaRPr/>
          </a:p>
        </p:txBody>
      </p:sp>
      <p:sp>
        <p:nvSpPr>
          <p:cNvPr id="334" name=""/>
          <p:cNvSpPr>
            <a:spLocks noGrp="1"/>
          </p:cNvSpPr>
          <p:nvPr/>
        </p:nvSpPr>
        <p:spPr>
          <a:xfrm>
            <a:off x="5781675" y="25241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1.08</a:t>
            </a:r>
            <a:endParaRPr/>
          </a:p>
        </p:txBody>
      </p:sp>
      <p:sp>
        <p:nvSpPr>
          <p:cNvPr id="335" name=""/>
          <p:cNvSpPr>
            <a:spLocks noGrp="1"/>
          </p:cNvSpPr>
          <p:nvPr/>
        </p:nvSpPr>
        <p:spPr>
          <a:xfrm>
            <a:off x="685800" y="333375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36" name=""/>
          <p:cNvSpPr>
            <a:spLocks noGrp="1"/>
          </p:cNvSpPr>
          <p:nvPr/>
        </p:nvSpPr>
        <p:spPr>
          <a:xfrm>
            <a:off x="781050" y="300037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500</a:t>
            </a:r>
            <a:endParaRPr/>
          </a:p>
        </p:txBody>
      </p:sp>
      <p:sp>
        <p:nvSpPr>
          <p:cNvPr id="337" name=""/>
          <p:cNvSpPr>
            <a:spLocks noGrp="1"/>
          </p:cNvSpPr>
          <p:nvPr/>
        </p:nvSpPr>
        <p:spPr>
          <a:xfrm>
            <a:off x="2352675" y="30003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498</a:t>
            </a:r>
            <a:endParaRPr/>
          </a:p>
        </p:txBody>
      </p:sp>
      <p:sp>
        <p:nvSpPr>
          <p:cNvPr id="338" name=""/>
          <p:cNvSpPr>
            <a:spLocks noGrp="1"/>
          </p:cNvSpPr>
          <p:nvPr/>
        </p:nvSpPr>
        <p:spPr>
          <a:xfrm>
            <a:off x="4067175" y="30003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421</a:t>
            </a:r>
            <a:endParaRPr/>
          </a:p>
        </p:txBody>
      </p:sp>
      <p:sp>
        <p:nvSpPr>
          <p:cNvPr id="339" name=""/>
          <p:cNvSpPr>
            <a:spLocks noGrp="1"/>
          </p:cNvSpPr>
          <p:nvPr/>
        </p:nvSpPr>
        <p:spPr>
          <a:xfrm>
            <a:off x="5781675" y="300037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1.18</a:t>
            </a:r>
            <a:endParaRPr/>
          </a:p>
        </p:txBody>
      </p:sp>
      <p:sp>
        <p:nvSpPr>
          <p:cNvPr id="340" name=""/>
          <p:cNvSpPr>
            <a:spLocks noGrp="1"/>
          </p:cNvSpPr>
          <p:nvPr/>
        </p:nvSpPr>
        <p:spPr>
          <a:xfrm>
            <a:off x="685800" y="381000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1" name=""/>
          <p:cNvSpPr>
            <a:spLocks noGrp="1"/>
          </p:cNvSpPr>
          <p:nvPr/>
        </p:nvSpPr>
        <p:spPr>
          <a:xfrm>
            <a:off x="781050" y="347662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200</a:t>
            </a:r>
            <a:endParaRPr/>
          </a:p>
        </p:txBody>
      </p:sp>
      <p:sp>
        <p:nvSpPr>
          <p:cNvPr id="342" name=""/>
          <p:cNvSpPr>
            <a:spLocks noGrp="1"/>
          </p:cNvSpPr>
          <p:nvPr/>
        </p:nvSpPr>
        <p:spPr>
          <a:xfrm>
            <a:off x="2352675" y="34766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356</a:t>
            </a:r>
            <a:endParaRPr/>
          </a:p>
        </p:txBody>
      </p:sp>
      <p:sp>
        <p:nvSpPr>
          <p:cNvPr id="343" name=""/>
          <p:cNvSpPr>
            <a:spLocks noGrp="1"/>
          </p:cNvSpPr>
          <p:nvPr/>
        </p:nvSpPr>
        <p:spPr>
          <a:xfrm>
            <a:off x="4067175" y="34766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268</a:t>
            </a:r>
            <a:endParaRPr/>
          </a:p>
        </p:txBody>
      </p:sp>
      <p:sp>
        <p:nvSpPr>
          <p:cNvPr id="344" name=""/>
          <p:cNvSpPr>
            <a:spLocks noGrp="1"/>
          </p:cNvSpPr>
          <p:nvPr/>
        </p:nvSpPr>
        <p:spPr>
          <a:xfrm>
            <a:off x="5781675" y="34766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1.33</a:t>
            </a:r>
            <a:endParaRPr/>
          </a:p>
        </p:txBody>
      </p:sp>
      <p:sp>
        <p:nvSpPr>
          <p:cNvPr id="345" name=""/>
          <p:cNvSpPr>
            <a:spLocks noGrp="1"/>
          </p:cNvSpPr>
          <p:nvPr/>
        </p:nvSpPr>
        <p:spPr>
          <a:xfrm>
            <a:off x="685800" y="428625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6" name=""/>
          <p:cNvSpPr>
            <a:spLocks noGrp="1"/>
          </p:cNvSpPr>
          <p:nvPr/>
        </p:nvSpPr>
        <p:spPr>
          <a:xfrm>
            <a:off x="781050" y="395287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100</a:t>
            </a:r>
            <a:endParaRPr/>
          </a:p>
        </p:txBody>
      </p:sp>
      <p:sp>
        <p:nvSpPr>
          <p:cNvPr id="347" name=""/>
          <p:cNvSpPr>
            <a:spLocks noGrp="1"/>
          </p:cNvSpPr>
          <p:nvPr/>
        </p:nvSpPr>
        <p:spPr>
          <a:xfrm>
            <a:off x="2352675" y="39528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312</a:t>
            </a:r>
            <a:endParaRPr/>
          </a:p>
        </p:txBody>
      </p:sp>
      <p:sp>
        <p:nvSpPr>
          <p:cNvPr id="348" name=""/>
          <p:cNvSpPr>
            <a:spLocks noGrp="1"/>
          </p:cNvSpPr>
          <p:nvPr/>
        </p:nvSpPr>
        <p:spPr>
          <a:xfrm>
            <a:off x="4067175" y="395287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203</a:t>
            </a:r>
            <a:endParaRPr/>
          </a:p>
        </p:txBody>
      </p:sp>
      <p:sp>
        <p:nvSpPr>
          <p:cNvPr id="349" name=""/>
          <p:cNvSpPr>
            <a:spLocks noGrp="1"/>
          </p:cNvSpPr>
          <p:nvPr/>
        </p:nvSpPr>
        <p:spPr>
          <a:xfrm>
            <a:off x="5781675" y="395287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1.54</a:t>
            </a:r>
            <a:endParaRPr/>
          </a:p>
        </p:txBody>
      </p:sp>
      <p:sp>
        <p:nvSpPr>
          <p:cNvPr id="350" name=""/>
          <p:cNvSpPr>
            <a:spLocks noGrp="1"/>
          </p:cNvSpPr>
          <p:nvPr/>
        </p:nvSpPr>
        <p:spPr>
          <a:xfrm>
            <a:off x="685800" y="4762500"/>
            <a:ext cx="6143625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1" name=""/>
          <p:cNvSpPr>
            <a:spLocks noGrp="1"/>
          </p:cNvSpPr>
          <p:nvPr/>
        </p:nvSpPr>
        <p:spPr>
          <a:xfrm>
            <a:off x="781050" y="4429125"/>
            <a:ext cx="140017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50</a:t>
            </a:r>
            <a:endParaRPr/>
          </a:p>
        </p:txBody>
      </p:sp>
      <p:sp>
        <p:nvSpPr>
          <p:cNvPr id="352" name=""/>
          <p:cNvSpPr>
            <a:spLocks noGrp="1"/>
          </p:cNvSpPr>
          <p:nvPr/>
        </p:nvSpPr>
        <p:spPr>
          <a:xfrm>
            <a:off x="2352675" y="4429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289</a:t>
            </a:r>
            <a:endParaRPr/>
          </a:p>
        </p:txBody>
      </p:sp>
      <p:sp>
        <p:nvSpPr>
          <p:cNvPr id="353" name=""/>
          <p:cNvSpPr>
            <a:spLocks noGrp="1"/>
          </p:cNvSpPr>
          <p:nvPr/>
        </p:nvSpPr>
        <p:spPr>
          <a:xfrm>
            <a:off x="4067175" y="4429125"/>
            <a:ext cx="1543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178</a:t>
            </a:r>
            <a:endParaRPr/>
          </a:p>
        </p:txBody>
      </p:sp>
      <p:sp>
        <p:nvSpPr>
          <p:cNvPr id="354" name=""/>
          <p:cNvSpPr>
            <a:spLocks noGrp="1"/>
          </p:cNvSpPr>
          <p:nvPr/>
        </p:nvSpPr>
        <p:spPr>
          <a:xfrm>
            <a:off x="5781675" y="4429125"/>
            <a:ext cx="9715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1.62</a:t>
            </a:r>
            <a:endParaRPr/>
          </a:p>
        </p:txBody>
      </p:sp>
      <p:sp>
        <p:nvSpPr>
          <p:cNvPr id="355" name=""/>
          <p:cNvSpPr>
            <a:spLocks noGrp="1"/>
          </p:cNvSpPr>
          <p:nvPr/>
        </p:nvSpPr>
        <p:spPr>
          <a:xfrm>
            <a:off x="6934200" y="21907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1000</a:t>
            </a:r>
            <a:endParaRPr/>
          </a:p>
        </p:txBody>
      </p:sp>
      <p:sp>
        <p:nvSpPr>
          <p:cNvPr id="356" name=""/>
          <p:cNvSpPr>
            <a:spLocks noGrp="1"/>
          </p:cNvSpPr>
          <p:nvPr/>
        </p:nvSpPr>
        <p:spPr>
          <a:xfrm>
            <a:off x="7524750" y="21336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7" name=""/>
          <p:cNvSpPr>
            <a:spLocks noGrp="1"/>
          </p:cNvSpPr>
          <p:nvPr/>
        </p:nvSpPr>
        <p:spPr>
          <a:xfrm>
            <a:off x="7524750" y="2133600"/>
            <a:ext cx="2417846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58" name=""/>
          <p:cNvSpPr>
            <a:spLocks noGrp="1"/>
          </p:cNvSpPr>
          <p:nvPr/>
        </p:nvSpPr>
        <p:spPr>
          <a:xfrm>
            <a:off x="7524750" y="19145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59" name=""/>
          <p:cNvSpPr>
            <a:spLocks noGrp="1"/>
          </p:cNvSpPr>
          <p:nvPr/>
        </p:nvSpPr>
        <p:spPr>
          <a:xfrm>
            <a:off x="10153650" y="21145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742 us</a:t>
            </a:r>
            <a:endParaRPr/>
          </a:p>
        </p:txBody>
      </p:sp>
      <p:sp>
        <p:nvSpPr>
          <p:cNvPr id="360" name=""/>
          <p:cNvSpPr>
            <a:spLocks noGrp="1"/>
          </p:cNvSpPr>
          <p:nvPr/>
        </p:nvSpPr>
        <p:spPr>
          <a:xfrm>
            <a:off x="7524750" y="23622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1" name=""/>
          <p:cNvSpPr>
            <a:spLocks noGrp="1"/>
          </p:cNvSpPr>
          <p:nvPr/>
        </p:nvSpPr>
        <p:spPr>
          <a:xfrm>
            <a:off x="7524750" y="2362200"/>
            <a:ext cx="2232109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2" name=""/>
          <p:cNvSpPr>
            <a:spLocks noGrp="1"/>
          </p:cNvSpPr>
          <p:nvPr/>
        </p:nvSpPr>
        <p:spPr>
          <a:xfrm>
            <a:off x="7524750" y="21431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63" name=""/>
          <p:cNvSpPr>
            <a:spLocks noGrp="1"/>
          </p:cNvSpPr>
          <p:nvPr/>
        </p:nvSpPr>
        <p:spPr>
          <a:xfrm>
            <a:off x="10153650" y="2343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685 us</a:t>
            </a:r>
            <a:endParaRPr/>
          </a:p>
        </p:txBody>
      </p:sp>
      <p:sp>
        <p:nvSpPr>
          <p:cNvPr id="364" name=""/>
          <p:cNvSpPr>
            <a:spLocks noGrp="1"/>
          </p:cNvSpPr>
          <p:nvPr/>
        </p:nvSpPr>
        <p:spPr>
          <a:xfrm>
            <a:off x="6934200" y="28194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500</a:t>
            </a:r>
            <a:endParaRPr/>
          </a:p>
        </p:txBody>
      </p:sp>
      <p:sp>
        <p:nvSpPr>
          <p:cNvPr id="365" name=""/>
          <p:cNvSpPr>
            <a:spLocks noGrp="1"/>
          </p:cNvSpPr>
          <p:nvPr/>
        </p:nvSpPr>
        <p:spPr>
          <a:xfrm>
            <a:off x="7524750" y="27622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6" name=""/>
          <p:cNvSpPr>
            <a:spLocks noGrp="1"/>
          </p:cNvSpPr>
          <p:nvPr/>
        </p:nvSpPr>
        <p:spPr>
          <a:xfrm>
            <a:off x="7524750" y="2762250"/>
            <a:ext cx="1622759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7" name=""/>
          <p:cNvSpPr>
            <a:spLocks noGrp="1"/>
          </p:cNvSpPr>
          <p:nvPr/>
        </p:nvSpPr>
        <p:spPr>
          <a:xfrm>
            <a:off x="7524750" y="25431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68" name=""/>
          <p:cNvSpPr>
            <a:spLocks noGrp="1"/>
          </p:cNvSpPr>
          <p:nvPr/>
        </p:nvSpPr>
        <p:spPr>
          <a:xfrm>
            <a:off x="10153650" y="27432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498 us</a:t>
            </a:r>
            <a:endParaRPr/>
          </a:p>
        </p:txBody>
      </p:sp>
      <p:sp>
        <p:nvSpPr>
          <p:cNvPr id="369" name=""/>
          <p:cNvSpPr>
            <a:spLocks noGrp="1"/>
          </p:cNvSpPr>
          <p:nvPr/>
        </p:nvSpPr>
        <p:spPr>
          <a:xfrm>
            <a:off x="7524750" y="29908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0" name=""/>
          <p:cNvSpPr>
            <a:spLocks noGrp="1"/>
          </p:cNvSpPr>
          <p:nvPr/>
        </p:nvSpPr>
        <p:spPr>
          <a:xfrm>
            <a:off x="7524750" y="2990850"/>
            <a:ext cx="1371851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1" name=""/>
          <p:cNvSpPr>
            <a:spLocks noGrp="1"/>
          </p:cNvSpPr>
          <p:nvPr/>
        </p:nvSpPr>
        <p:spPr>
          <a:xfrm>
            <a:off x="7524750" y="27717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72" name=""/>
          <p:cNvSpPr>
            <a:spLocks noGrp="1"/>
          </p:cNvSpPr>
          <p:nvPr/>
        </p:nvSpPr>
        <p:spPr>
          <a:xfrm>
            <a:off x="10153650" y="29718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421 us</a:t>
            </a:r>
            <a:endParaRPr/>
          </a:p>
        </p:txBody>
      </p:sp>
      <p:sp>
        <p:nvSpPr>
          <p:cNvPr id="373" name=""/>
          <p:cNvSpPr>
            <a:spLocks noGrp="1"/>
          </p:cNvSpPr>
          <p:nvPr/>
        </p:nvSpPr>
        <p:spPr>
          <a:xfrm>
            <a:off x="6934200" y="34480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200</a:t>
            </a:r>
            <a:endParaRPr/>
          </a:p>
        </p:txBody>
      </p:sp>
      <p:sp>
        <p:nvSpPr>
          <p:cNvPr id="374" name=""/>
          <p:cNvSpPr>
            <a:spLocks noGrp="1"/>
          </p:cNvSpPr>
          <p:nvPr/>
        </p:nvSpPr>
        <p:spPr>
          <a:xfrm>
            <a:off x="7524750" y="33909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5" name=""/>
          <p:cNvSpPr>
            <a:spLocks noGrp="1"/>
          </p:cNvSpPr>
          <p:nvPr/>
        </p:nvSpPr>
        <p:spPr>
          <a:xfrm>
            <a:off x="7524750" y="3390900"/>
            <a:ext cx="1160045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6" name=""/>
          <p:cNvSpPr>
            <a:spLocks noGrp="1"/>
          </p:cNvSpPr>
          <p:nvPr/>
        </p:nvSpPr>
        <p:spPr>
          <a:xfrm>
            <a:off x="7524750" y="31718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77" name=""/>
          <p:cNvSpPr>
            <a:spLocks noGrp="1"/>
          </p:cNvSpPr>
          <p:nvPr/>
        </p:nvSpPr>
        <p:spPr>
          <a:xfrm>
            <a:off x="10153650" y="33718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356 us</a:t>
            </a:r>
            <a:endParaRPr/>
          </a:p>
        </p:txBody>
      </p:sp>
      <p:sp>
        <p:nvSpPr>
          <p:cNvPr id="378" name=""/>
          <p:cNvSpPr>
            <a:spLocks noGrp="1"/>
          </p:cNvSpPr>
          <p:nvPr/>
        </p:nvSpPr>
        <p:spPr>
          <a:xfrm>
            <a:off x="7524750" y="36195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79" name=""/>
          <p:cNvSpPr>
            <a:spLocks noGrp="1"/>
          </p:cNvSpPr>
          <p:nvPr/>
        </p:nvSpPr>
        <p:spPr>
          <a:xfrm>
            <a:off x="7524750" y="3619500"/>
            <a:ext cx="873292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0" name=""/>
          <p:cNvSpPr>
            <a:spLocks noGrp="1"/>
          </p:cNvSpPr>
          <p:nvPr/>
        </p:nvSpPr>
        <p:spPr>
          <a:xfrm>
            <a:off x="7524750" y="34004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81" name=""/>
          <p:cNvSpPr>
            <a:spLocks noGrp="1"/>
          </p:cNvSpPr>
          <p:nvPr/>
        </p:nvSpPr>
        <p:spPr>
          <a:xfrm>
            <a:off x="10153650" y="36004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268 us</a:t>
            </a:r>
            <a:endParaRPr/>
          </a:p>
        </p:txBody>
      </p:sp>
      <p:sp>
        <p:nvSpPr>
          <p:cNvPr id="382" name=""/>
          <p:cNvSpPr>
            <a:spLocks noGrp="1"/>
          </p:cNvSpPr>
          <p:nvPr/>
        </p:nvSpPr>
        <p:spPr>
          <a:xfrm>
            <a:off x="6934200" y="407670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100</a:t>
            </a:r>
            <a:endParaRPr/>
          </a:p>
        </p:txBody>
      </p:sp>
      <p:sp>
        <p:nvSpPr>
          <p:cNvPr id="383" name=""/>
          <p:cNvSpPr>
            <a:spLocks noGrp="1"/>
          </p:cNvSpPr>
          <p:nvPr/>
        </p:nvSpPr>
        <p:spPr>
          <a:xfrm>
            <a:off x="7524750" y="40195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4" name=""/>
          <p:cNvSpPr>
            <a:spLocks noGrp="1"/>
          </p:cNvSpPr>
          <p:nvPr/>
        </p:nvSpPr>
        <p:spPr>
          <a:xfrm>
            <a:off x="7524750" y="4019550"/>
            <a:ext cx="1016668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5" name=""/>
          <p:cNvSpPr>
            <a:spLocks noGrp="1"/>
          </p:cNvSpPr>
          <p:nvPr/>
        </p:nvSpPr>
        <p:spPr>
          <a:xfrm>
            <a:off x="7524750" y="38004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86" name=""/>
          <p:cNvSpPr>
            <a:spLocks noGrp="1"/>
          </p:cNvSpPr>
          <p:nvPr/>
        </p:nvSpPr>
        <p:spPr>
          <a:xfrm>
            <a:off x="10153650" y="40005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312 us</a:t>
            </a:r>
            <a:endParaRPr/>
          </a:p>
        </p:txBody>
      </p:sp>
      <p:sp>
        <p:nvSpPr>
          <p:cNvPr id="387" name=""/>
          <p:cNvSpPr>
            <a:spLocks noGrp="1"/>
          </p:cNvSpPr>
          <p:nvPr/>
        </p:nvSpPr>
        <p:spPr>
          <a:xfrm>
            <a:off x="7524750" y="424815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8" name=""/>
          <p:cNvSpPr>
            <a:spLocks noGrp="1"/>
          </p:cNvSpPr>
          <p:nvPr/>
        </p:nvSpPr>
        <p:spPr>
          <a:xfrm>
            <a:off x="7524750" y="4248150"/>
            <a:ext cx="661486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89" name=""/>
          <p:cNvSpPr>
            <a:spLocks noGrp="1"/>
          </p:cNvSpPr>
          <p:nvPr/>
        </p:nvSpPr>
        <p:spPr>
          <a:xfrm>
            <a:off x="7524750" y="40290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90" name=""/>
          <p:cNvSpPr>
            <a:spLocks noGrp="1"/>
          </p:cNvSpPr>
          <p:nvPr/>
        </p:nvSpPr>
        <p:spPr>
          <a:xfrm>
            <a:off x="10153650" y="42291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203 us</a:t>
            </a:r>
            <a:endParaRPr/>
          </a:p>
        </p:txBody>
      </p:sp>
      <p:sp>
        <p:nvSpPr>
          <p:cNvPr id="391" name=""/>
          <p:cNvSpPr>
            <a:spLocks noGrp="1"/>
          </p:cNvSpPr>
          <p:nvPr/>
        </p:nvSpPr>
        <p:spPr>
          <a:xfrm>
            <a:off x="6934200" y="4705350"/>
            <a:ext cx="476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50</a:t>
            </a:r>
            <a:endParaRPr/>
          </a:p>
        </p:txBody>
      </p:sp>
      <p:sp>
        <p:nvSpPr>
          <p:cNvPr id="392" name=""/>
          <p:cNvSpPr>
            <a:spLocks noGrp="1"/>
          </p:cNvSpPr>
          <p:nvPr/>
        </p:nvSpPr>
        <p:spPr>
          <a:xfrm>
            <a:off x="7524750" y="46482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3" name=""/>
          <p:cNvSpPr>
            <a:spLocks noGrp="1"/>
          </p:cNvSpPr>
          <p:nvPr/>
        </p:nvSpPr>
        <p:spPr>
          <a:xfrm>
            <a:off x="7524750" y="4648200"/>
            <a:ext cx="941722" cy="1333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4" name=""/>
          <p:cNvSpPr>
            <a:spLocks noGrp="1"/>
          </p:cNvSpPr>
          <p:nvPr/>
        </p:nvSpPr>
        <p:spPr>
          <a:xfrm>
            <a:off x="7524750" y="44291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95" name=""/>
          <p:cNvSpPr>
            <a:spLocks noGrp="1"/>
          </p:cNvSpPr>
          <p:nvPr/>
        </p:nvSpPr>
        <p:spPr>
          <a:xfrm>
            <a:off x="10153650" y="46291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289 us</a:t>
            </a:r>
            <a:endParaRPr/>
          </a:p>
        </p:txBody>
      </p:sp>
      <p:sp>
        <p:nvSpPr>
          <p:cNvPr id="396" name=""/>
          <p:cNvSpPr>
            <a:spLocks noGrp="1"/>
          </p:cNvSpPr>
          <p:nvPr/>
        </p:nvSpPr>
        <p:spPr>
          <a:xfrm>
            <a:off x="7524750" y="4876800"/>
            <a:ext cx="2476500" cy="1333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7" name=""/>
          <p:cNvSpPr>
            <a:spLocks noGrp="1"/>
          </p:cNvSpPr>
          <p:nvPr/>
        </p:nvSpPr>
        <p:spPr>
          <a:xfrm>
            <a:off x="7524750" y="4876800"/>
            <a:ext cx="580022" cy="1333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98" name=""/>
          <p:cNvSpPr>
            <a:spLocks noGrp="1"/>
          </p:cNvSpPr>
          <p:nvPr/>
        </p:nvSpPr>
        <p:spPr>
          <a:xfrm>
            <a:off x="7524750" y="46577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399" name=""/>
          <p:cNvSpPr>
            <a:spLocks noGrp="1"/>
          </p:cNvSpPr>
          <p:nvPr/>
        </p:nvSpPr>
        <p:spPr>
          <a:xfrm>
            <a:off x="10153650" y="48577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178 us</a:t>
            </a:r>
            <a:endParaRPr/>
          </a:p>
        </p:txBody>
      </p:sp>
      <p:sp>
        <p:nvSpPr>
          <p:cNvPr id="400" name=""/>
          <p:cNvSpPr>
            <a:spLocks noGrp="1"/>
          </p:cNvSpPr>
          <p:nvPr/>
        </p:nvSpPr>
        <p:spPr>
          <a:xfrm>
            <a:off x="9886950" y="5295900"/>
            <a:ext cx="152400" cy="952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1" name=""/>
          <p:cNvSpPr>
            <a:spLocks noGrp="1"/>
          </p:cNvSpPr>
          <p:nvPr/>
        </p:nvSpPr>
        <p:spPr>
          <a:xfrm>
            <a:off x="10096500" y="523875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传统方案</a:t>
            </a:r>
            <a:endParaRPr/>
          </a:p>
        </p:txBody>
      </p:sp>
      <p:sp>
        <p:nvSpPr>
          <p:cNvPr id="402" name=""/>
          <p:cNvSpPr>
            <a:spLocks noGrp="1"/>
          </p:cNvSpPr>
          <p:nvPr/>
        </p:nvSpPr>
        <p:spPr>
          <a:xfrm>
            <a:off x="9886950" y="5543550"/>
            <a:ext cx="152400" cy="952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3" name=""/>
          <p:cNvSpPr>
            <a:spLocks noGrp="1"/>
          </p:cNvSpPr>
          <p:nvPr/>
        </p:nvSpPr>
        <p:spPr>
          <a:xfrm>
            <a:off x="10096500" y="5486400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  <a:endParaRPr/>
          </a:p>
        </p:txBody>
      </p:sp>
      <p:sp>
        <p:nvSpPr>
          <p:cNvPr id="404" name=""/>
          <p:cNvSpPr>
            <a:spLocks noGrp="1"/>
          </p:cNvSpPr>
          <p:nvPr/>
        </p:nvSpPr>
        <p:spPr>
          <a:xfrm>
            <a:off x="685800" y="5695950"/>
            <a:ext cx="8477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M=50 时延迟从 289 us 降至 178 us，适合闭环控制中低延迟、小批量的处理模式。</a:t>
            </a:r>
            <a:endParaRPr/>
          </a:p>
        </p:txBody>
      </p:sp>
      <p:sp>
        <p:nvSpPr>
          <p:cNvPr id="405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08</a:t>
            </a:r>
            <a:endParaRPr/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4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8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09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B88A2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0" name=""/>
          <p:cNvSpPr>
            <a:spLocks noGrp="1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8A2D"/>
                </a:solidFill>
                <a:latin typeface="Aptos"/>
                <a:ea typeface="Aptos"/>
                <a:cs typeface="Aptos"/>
              </a:rPr>
              <a:t>PART 03</a:t>
            </a:r>
            <a:endParaRPr/>
          </a:p>
        </p:txBody>
      </p:sp>
      <p:sp>
        <p:nvSpPr>
          <p:cNvPr id="411" name=""/>
          <p:cNvSpPr>
            <a:spLocks noGrp="1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TR-SAE 语义分割方法</a:t>
            </a:r>
            <a:endParaRPr/>
          </a:p>
        </p:txBody>
      </p:sp>
      <p:sp>
        <p:nvSpPr>
          <p:cNvPr id="412" name=""/>
          <p:cNvSpPr>
            <a:spLocks noGrp="1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编码端补全局结构，解码端修边界细节，目标是稳定提取匙孔区域。</a:t>
            </a:r>
            <a:endParaRPr/>
          </a:p>
        </p:txBody>
      </p:sp>
      <p:sp>
        <p:nvSpPr>
          <p:cNvPr id="413" name=""/>
          <p:cNvSpPr>
            <a:spLocks noGrp="1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4" name=""/>
          <p:cNvSpPr>
            <a:spLocks noGrp="1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1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B88A2D"/>
                </a:solidFill>
                <a:latin typeface="Aptos"/>
                <a:ea typeface="Aptos"/>
                <a:cs typeface="Aptos"/>
              </a:rPr>
              <a:t>03</a:t>
            </a:r>
            <a:endParaRPr/>
          </a:p>
        </p:txBody>
      </p:sp>
      <p:sp>
        <p:nvSpPr>
          <p:cNvPr id="415" name=""/>
          <p:cNvSpPr>
            <a:spLocks noGrp="1"/>
          </p:cNvSpPr>
          <p:nvPr/>
        </p:nvSpPr>
        <p:spPr>
          <a:xfrm>
            <a:off x="7239000" y="1962150"/>
            <a:ext cx="323850" cy="32385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6" name=""/>
          <p:cNvSpPr>
            <a:spLocks noGrp="1"/>
          </p:cNvSpPr>
          <p:nvPr/>
        </p:nvSpPr>
        <p:spPr>
          <a:xfrm>
            <a:off x="8572500" y="1428750"/>
            <a:ext cx="323850" cy="32385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7" name=""/>
          <p:cNvSpPr>
            <a:spLocks noGrp="1"/>
          </p:cNvSpPr>
          <p:nvPr/>
        </p:nvSpPr>
        <p:spPr>
          <a:xfrm>
            <a:off x="8572500" y="2476500"/>
            <a:ext cx="323850" cy="32385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8" name=""/>
          <p:cNvSpPr>
            <a:spLocks noGrp="1"/>
          </p:cNvSpPr>
          <p:nvPr/>
        </p:nvSpPr>
        <p:spPr>
          <a:xfrm>
            <a:off x="9906000" y="1962150"/>
            <a:ext cx="323850" cy="32385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19" name=""/>
          <p:cNvSpPr>
            <a:spLocks noGrp="1"/>
          </p:cNvSpPr>
          <p:nvPr/>
        </p:nvSpPr>
        <p:spPr>
          <a:xfrm>
            <a:off x="10763250" y="1962150"/>
            <a:ext cx="323850" cy="32385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0" name=""/>
          <p:cNvSpPr>
            <a:spLocks noGrp="1"/>
          </p:cNvSpPr>
          <p:nvPr/>
        </p:nvSpPr>
        <p:spPr>
          <a:xfrm>
            <a:off x="7562850" y="2124075"/>
            <a:ext cx="1009650" cy="28575"/>
          </a:xfrm>
          <a:prstGeom prst="rect">
            <a:avLst/>
          </a:prstGeom>
          <a:solidFill>
            <a:srgbClr val="8FA3A5"/>
          </a:solidFill>
          <a:ln w="0">
            <a:solidFill>
              <a:srgbClr val="8FA3A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1" name=""/>
          <p:cNvSpPr>
            <a:spLocks noGrp="1"/>
          </p:cNvSpPr>
          <p:nvPr/>
        </p:nvSpPr>
        <p:spPr>
          <a:xfrm>
            <a:off x="8896350" y="1590675"/>
            <a:ext cx="1009650" cy="28575"/>
          </a:xfrm>
          <a:prstGeom prst="rect">
            <a:avLst/>
          </a:prstGeom>
          <a:solidFill>
            <a:srgbClr val="8FA3A5"/>
          </a:solidFill>
          <a:ln w="0">
            <a:solidFill>
              <a:srgbClr val="8FA3A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2" name=""/>
          <p:cNvSpPr>
            <a:spLocks noGrp="1"/>
          </p:cNvSpPr>
          <p:nvPr/>
        </p:nvSpPr>
        <p:spPr>
          <a:xfrm>
            <a:off x="8896350" y="2638425"/>
            <a:ext cx="1009650" cy="28575"/>
          </a:xfrm>
          <a:prstGeom prst="rect">
            <a:avLst/>
          </a:prstGeom>
          <a:solidFill>
            <a:srgbClr val="8FA3A5"/>
          </a:solidFill>
          <a:ln w="0">
            <a:solidFill>
              <a:srgbClr val="8FA3A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3" name=""/>
          <p:cNvSpPr>
            <a:spLocks noGrp="1"/>
          </p:cNvSpPr>
          <p:nvPr/>
        </p:nvSpPr>
        <p:spPr>
          <a:xfrm>
            <a:off x="10229850" y="2124075"/>
            <a:ext cx="533400" cy="28575"/>
          </a:xfrm>
          <a:prstGeom prst="rect">
            <a:avLst/>
          </a:prstGeom>
          <a:solidFill>
            <a:srgbClr val="8FA3A5"/>
          </a:solidFill>
          <a:ln w="0">
            <a:solidFill>
              <a:srgbClr val="8FA3A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4" name=""/>
          <p:cNvSpPr>
            <a:spLocks noGrp="1"/>
          </p:cNvSpPr>
          <p:nvPr/>
        </p:nvSpPr>
        <p:spPr>
          <a:xfrm>
            <a:off x="8382000" y="2952750"/>
            <a:ext cx="666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TR</a:t>
            </a:r>
            <a:endParaRPr/>
          </a:p>
        </p:txBody>
      </p:sp>
      <p:sp>
        <p:nvSpPr>
          <p:cNvPr id="425" name=""/>
          <p:cNvSpPr>
            <a:spLocks noGrp="1"/>
          </p:cNvSpPr>
          <p:nvPr/>
        </p:nvSpPr>
        <p:spPr>
          <a:xfrm>
            <a:off x="9715500" y="2952750"/>
            <a:ext cx="781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88A2D"/>
                </a:solidFill>
                <a:latin typeface="Aptos"/>
                <a:ea typeface="Aptos"/>
                <a:cs typeface="Aptos"/>
              </a:rPr>
              <a:t>SAE</a:t>
            </a:r>
            <a:endParaRPr/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4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8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9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0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08  SEGMENTATION</a:t>
            </a:r>
            <a:endParaRPr/>
          </a:p>
        </p:txBody>
      </p:sp>
      <p:sp>
        <p:nvSpPr>
          <p:cNvPr id="431" name=""/>
          <p:cNvSpPr>
            <a:spLocks noGrp="1"/>
          </p:cNvSpPr>
          <p:nvPr/>
        </p:nvSpPr>
        <p:spPr>
          <a:xfrm>
            <a:off x="514350" y="781050"/>
            <a:ext cx="98107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TR 和 SAE 的分工，来自 OCT 图像本身的几个难点。</a:t>
            </a:r>
            <a:endParaRPr/>
          </a:p>
        </p:txBody>
      </p:sp>
      <p:sp>
        <p:nvSpPr>
          <p:cNvPr id="432" name=""/>
          <p:cNvSpPr>
            <a:spLocks noGrp="1"/>
          </p:cNvSpPr>
          <p:nvPr/>
        </p:nvSpPr>
        <p:spPr>
          <a:xfrm>
            <a:off x="647700" y="2000250"/>
            <a:ext cx="10477500" cy="66675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3" name=""/>
          <p:cNvSpPr>
            <a:spLocks noGrp="1"/>
          </p:cNvSpPr>
          <p:nvPr/>
        </p:nvSpPr>
        <p:spPr>
          <a:xfrm>
            <a:off x="742950" y="2114550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OCT 图像特点</a:t>
            </a:r>
            <a:endParaRPr/>
          </a:p>
        </p:txBody>
      </p:sp>
      <p:sp>
        <p:nvSpPr>
          <p:cNvPr id="434" name=""/>
          <p:cNvSpPr>
            <a:spLocks noGrp="1"/>
          </p:cNvSpPr>
          <p:nvPr/>
        </p:nvSpPr>
        <p:spPr>
          <a:xfrm>
            <a:off x="2552700" y="2114550"/>
            <a:ext cx="3543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分割影响</a:t>
            </a:r>
            <a:endParaRPr/>
          </a:p>
        </p:txBody>
      </p:sp>
      <p:sp>
        <p:nvSpPr>
          <p:cNvPr id="435" name=""/>
          <p:cNvSpPr>
            <a:spLocks noGrp="1"/>
          </p:cNvSpPr>
          <p:nvPr/>
        </p:nvSpPr>
        <p:spPr>
          <a:xfrm>
            <a:off x="6267450" y="211455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对应方案</a:t>
            </a:r>
            <a:endParaRPr/>
          </a:p>
        </p:txBody>
      </p:sp>
      <p:sp>
        <p:nvSpPr>
          <p:cNvPr id="436" name=""/>
          <p:cNvSpPr>
            <a:spLocks noGrp="1"/>
          </p:cNvSpPr>
          <p:nvPr/>
        </p:nvSpPr>
        <p:spPr>
          <a:xfrm>
            <a:off x="647700" y="327660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37" name=""/>
          <p:cNvSpPr>
            <a:spLocks noGrp="1"/>
          </p:cNvSpPr>
          <p:nvPr/>
        </p:nvSpPr>
        <p:spPr>
          <a:xfrm>
            <a:off x="742950" y="275272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散斑噪声强</a:t>
            </a:r>
            <a:endParaRPr/>
          </a:p>
        </p:txBody>
      </p:sp>
      <p:sp>
        <p:nvSpPr>
          <p:cNvPr id="438" name=""/>
          <p:cNvSpPr>
            <a:spLocks noGrp="1"/>
          </p:cNvSpPr>
          <p:nvPr/>
        </p:nvSpPr>
        <p:spPr>
          <a:xfrm>
            <a:off x="2552700" y="275272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局部特征不稳定，边界响应容易被颗粒纹理扰动</a:t>
            </a:r>
            <a:endParaRPr/>
          </a:p>
        </p:txBody>
      </p:sp>
      <p:sp>
        <p:nvSpPr>
          <p:cNvPr id="439" name=""/>
          <p:cNvSpPr>
            <a:spLocks noGrp="1"/>
          </p:cNvSpPr>
          <p:nvPr/>
        </p:nvSpPr>
        <p:spPr>
          <a:xfrm>
            <a:off x="6267450" y="275272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区域级路由平均 Q/K；SAE 一维池化抑制随机颗粒</a:t>
            </a:r>
            <a:endParaRPr/>
          </a:p>
        </p:txBody>
      </p:sp>
      <p:sp>
        <p:nvSpPr>
          <p:cNvPr id="440" name=""/>
          <p:cNvSpPr>
            <a:spLocks noGrp="1"/>
          </p:cNvSpPr>
          <p:nvPr/>
        </p:nvSpPr>
        <p:spPr>
          <a:xfrm>
            <a:off x="647700" y="394335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1" name=""/>
          <p:cNvSpPr>
            <a:spLocks noGrp="1"/>
          </p:cNvSpPr>
          <p:nvPr/>
        </p:nvSpPr>
        <p:spPr>
          <a:xfrm>
            <a:off x="742950" y="341947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目标细长</a:t>
            </a:r>
            <a:endParaRPr/>
          </a:p>
        </p:txBody>
      </p:sp>
      <p:sp>
        <p:nvSpPr>
          <p:cNvPr id="442" name=""/>
          <p:cNvSpPr>
            <a:spLocks noGrp="1"/>
          </p:cNvSpPr>
          <p:nvPr/>
        </p:nvSpPr>
        <p:spPr>
          <a:xfrm>
            <a:off x="2552700" y="341947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匙孔纵向跨度大，卷积局部感受野易导致断裂</a:t>
            </a:r>
            <a:endParaRPr/>
          </a:p>
        </p:txBody>
      </p:sp>
      <p:sp>
        <p:nvSpPr>
          <p:cNvPr id="443" name=""/>
          <p:cNvSpPr>
            <a:spLocks noGrp="1"/>
          </p:cNvSpPr>
          <p:nvPr/>
        </p:nvSpPr>
        <p:spPr>
          <a:xfrm>
            <a:off x="6267450" y="341947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 建立长距离依赖，保持整体连续性</a:t>
            </a:r>
            <a:endParaRPr/>
          </a:p>
        </p:txBody>
      </p:sp>
      <p:sp>
        <p:nvSpPr>
          <p:cNvPr id="444" name=""/>
          <p:cNvSpPr>
            <a:spLocks noGrp="1"/>
          </p:cNvSpPr>
          <p:nvPr/>
        </p:nvSpPr>
        <p:spPr>
          <a:xfrm>
            <a:off x="647700" y="461010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5" name=""/>
          <p:cNvSpPr>
            <a:spLocks noGrp="1"/>
          </p:cNvSpPr>
          <p:nvPr/>
        </p:nvSpPr>
        <p:spPr>
          <a:xfrm>
            <a:off x="742950" y="408622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边界模糊</a:t>
            </a:r>
            <a:endParaRPr/>
          </a:p>
        </p:txBody>
      </p:sp>
      <p:sp>
        <p:nvSpPr>
          <p:cNvPr id="446" name=""/>
          <p:cNvSpPr>
            <a:spLocks noGrp="1"/>
          </p:cNvSpPr>
          <p:nvPr/>
        </p:nvSpPr>
        <p:spPr>
          <a:xfrm>
            <a:off x="2552700" y="408622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低对比弱边界使上采样后轮廓不精确</a:t>
            </a:r>
            <a:endParaRPr/>
          </a:p>
        </p:txBody>
      </p:sp>
      <p:sp>
        <p:nvSpPr>
          <p:cNvPr id="447" name=""/>
          <p:cNvSpPr>
            <a:spLocks noGrp="1"/>
          </p:cNvSpPr>
          <p:nvPr/>
        </p:nvSpPr>
        <p:spPr>
          <a:xfrm>
            <a:off x="6267450" y="408622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SAE 坐标注意力编码水平/垂直位置</a:t>
            </a:r>
            <a:endParaRPr/>
          </a:p>
        </p:txBody>
      </p:sp>
      <p:sp>
        <p:nvSpPr>
          <p:cNvPr id="448" name=""/>
          <p:cNvSpPr>
            <a:spLocks noGrp="1"/>
          </p:cNvSpPr>
          <p:nvPr/>
        </p:nvSpPr>
        <p:spPr>
          <a:xfrm>
            <a:off x="647700" y="5276850"/>
            <a:ext cx="1047750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49" name=""/>
          <p:cNvSpPr>
            <a:spLocks noGrp="1"/>
          </p:cNvSpPr>
          <p:nvPr/>
        </p:nvSpPr>
        <p:spPr>
          <a:xfrm>
            <a:off x="742950" y="4752975"/>
            <a:ext cx="1638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类别不平衡</a:t>
            </a:r>
            <a:endParaRPr/>
          </a:p>
        </p:txBody>
      </p:sp>
      <p:sp>
        <p:nvSpPr>
          <p:cNvPr id="450" name=""/>
          <p:cNvSpPr>
            <a:spLocks noGrp="1"/>
          </p:cNvSpPr>
          <p:nvPr/>
        </p:nvSpPr>
        <p:spPr>
          <a:xfrm>
            <a:off x="2552700" y="4752975"/>
            <a:ext cx="3543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背景占比高，前景学习不足</a:t>
            </a:r>
            <a:endParaRPr/>
          </a:p>
        </p:txBody>
      </p:sp>
      <p:sp>
        <p:nvSpPr>
          <p:cNvPr id="451" name=""/>
          <p:cNvSpPr>
            <a:spLocks noGrp="1"/>
          </p:cNvSpPr>
          <p:nvPr/>
        </p:nvSpPr>
        <p:spPr>
          <a:xfrm>
            <a:off x="6267450" y="4752975"/>
            <a:ext cx="4781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+ Dice 混合损失</a:t>
            </a:r>
            <a:endParaRPr/>
          </a:p>
        </p:txBody>
      </p:sp>
      <p:sp>
        <p:nvSpPr>
          <p:cNvPr id="452" name=""/>
          <p:cNvSpPr>
            <a:spLocks noGrp="1"/>
          </p:cNvSpPr>
          <p:nvPr/>
        </p:nvSpPr>
        <p:spPr>
          <a:xfrm>
            <a:off x="704850" y="565785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所以这里不是单纯换一个分割网络，而是把噪声、形态和边界问题放进结构设计。</a:t>
            </a:r>
            <a:endParaRPr/>
          </a:p>
        </p:txBody>
      </p:sp>
      <p:sp>
        <p:nvSpPr>
          <p:cNvPr id="453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09</a:t>
            </a:r>
            <a:endParaRPr/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6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7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58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09  ARCHITECTURE</a:t>
            </a:r>
            <a:endParaRPr/>
          </a:p>
        </p:txBody>
      </p:sp>
      <p:sp>
        <p:nvSpPr>
          <p:cNvPr id="459" name=""/>
          <p:cNvSpPr>
            <a:spLocks noGrp="1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对 DeepLabV3+ 的改动主要在两处：编码端补全局结构，解码端修边界细节。</a:t>
            </a:r>
            <a:endParaRPr/>
          </a:p>
        </p:txBody>
      </p:sp>
      <p:sp>
        <p:nvSpPr>
          <p:cNvPr id="460" name=""/>
          <p:cNvSpPr>
            <a:spLocks noGrp="1"/>
          </p:cNvSpPr>
          <p:nvPr/>
        </p:nvSpPr>
        <p:spPr>
          <a:xfrm>
            <a:off x="552450" y="1695450"/>
            <a:ext cx="7667625" cy="3714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61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506163" y="1924050"/>
            <a:ext cx="5712573" cy="3143250"/>
          </a:xfrm>
          <a:prstGeom prst="rect">
            <a:avLst/>
          </a:prstGeom>
        </p:spPr>
      </p:pic>
      <p:sp>
        <p:nvSpPr>
          <p:cNvPr id="462" name=""/>
          <p:cNvSpPr>
            <a:spLocks noGrp="1"/>
          </p:cNvSpPr>
          <p:nvPr/>
        </p:nvSpPr>
        <p:spPr>
          <a:xfrm>
            <a:off x="8667750" y="1866900"/>
            <a:ext cx="2400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3" name=""/>
          <p:cNvSpPr>
            <a:spLocks noGrp="1"/>
          </p:cNvSpPr>
          <p:nvPr/>
        </p:nvSpPr>
        <p:spPr>
          <a:xfrm>
            <a:off x="8667750" y="1866900"/>
            <a:ext cx="47625" cy="8763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4" name=""/>
          <p:cNvSpPr>
            <a:spLocks noGrp="1"/>
          </p:cNvSpPr>
          <p:nvPr/>
        </p:nvSpPr>
        <p:spPr>
          <a:xfrm>
            <a:off x="8858250" y="2019300"/>
            <a:ext cx="2019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 模块</a:t>
            </a:r>
            <a:endParaRPr/>
          </a:p>
        </p:txBody>
      </p:sp>
      <p:sp>
        <p:nvSpPr>
          <p:cNvPr id="465" name=""/>
          <p:cNvSpPr>
            <a:spLocks noGrp="1"/>
          </p:cNvSpPr>
          <p:nvPr/>
        </p:nvSpPr>
        <p:spPr>
          <a:xfrm>
            <a:off x="8858250" y="23050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 ASPP 输出之后，用双层路由注意力建立长程依赖。</a:t>
            </a:r>
            <a:endParaRPr/>
          </a:p>
        </p:txBody>
      </p:sp>
      <p:sp>
        <p:nvSpPr>
          <p:cNvPr id="466" name=""/>
          <p:cNvSpPr>
            <a:spLocks noGrp="1"/>
          </p:cNvSpPr>
          <p:nvPr/>
        </p:nvSpPr>
        <p:spPr>
          <a:xfrm>
            <a:off x="8667750" y="3048000"/>
            <a:ext cx="2400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7" name=""/>
          <p:cNvSpPr>
            <a:spLocks noGrp="1"/>
          </p:cNvSpPr>
          <p:nvPr/>
        </p:nvSpPr>
        <p:spPr>
          <a:xfrm>
            <a:off x="8667750" y="3048000"/>
            <a:ext cx="47625" cy="8763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68" name=""/>
          <p:cNvSpPr>
            <a:spLocks noGrp="1"/>
          </p:cNvSpPr>
          <p:nvPr/>
        </p:nvSpPr>
        <p:spPr>
          <a:xfrm>
            <a:off x="8858250" y="3200400"/>
            <a:ext cx="2019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 模块</a:t>
            </a:r>
            <a:endParaRPr/>
          </a:p>
        </p:txBody>
      </p:sp>
      <p:sp>
        <p:nvSpPr>
          <p:cNvPr id="469" name=""/>
          <p:cNvSpPr>
            <a:spLocks noGrp="1"/>
          </p:cNvSpPr>
          <p:nvPr/>
        </p:nvSpPr>
        <p:spPr>
          <a:xfrm>
            <a:off x="8858250" y="34861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位于解码器融合特征后，用坐标与通道注意力增强边界。</a:t>
            </a:r>
            <a:endParaRPr/>
          </a:p>
        </p:txBody>
      </p:sp>
      <p:sp>
        <p:nvSpPr>
          <p:cNvPr id="470" name=""/>
          <p:cNvSpPr>
            <a:spLocks noGrp="1"/>
          </p:cNvSpPr>
          <p:nvPr/>
        </p:nvSpPr>
        <p:spPr>
          <a:xfrm>
            <a:off x="8667750" y="4229100"/>
            <a:ext cx="24003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1" name=""/>
          <p:cNvSpPr>
            <a:spLocks noGrp="1"/>
          </p:cNvSpPr>
          <p:nvPr/>
        </p:nvSpPr>
        <p:spPr>
          <a:xfrm>
            <a:off x="8667750" y="4229100"/>
            <a:ext cx="47625" cy="8763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2" name=""/>
          <p:cNvSpPr>
            <a:spLocks noGrp="1"/>
          </p:cNvSpPr>
          <p:nvPr/>
        </p:nvSpPr>
        <p:spPr>
          <a:xfrm>
            <a:off x="8858250" y="4381500"/>
            <a:ext cx="2019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混合损失</a:t>
            </a:r>
            <a:endParaRPr/>
          </a:p>
        </p:txBody>
      </p:sp>
      <p:sp>
        <p:nvSpPr>
          <p:cNvPr id="473" name=""/>
          <p:cNvSpPr>
            <a:spLocks noGrp="1"/>
          </p:cNvSpPr>
          <p:nvPr/>
        </p:nvSpPr>
        <p:spPr>
          <a:xfrm>
            <a:off x="8858250" y="4667250"/>
            <a:ext cx="2019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BCE 提供像素梯度，Dice 直接优化区域重叠。</a:t>
            </a:r>
            <a:endParaRPr/>
          </a:p>
        </p:txBody>
      </p:sp>
      <p:sp>
        <p:nvSpPr>
          <p:cNvPr id="474" name=""/>
          <p:cNvSpPr>
            <a:spLocks noGrp="1"/>
          </p:cNvSpPr>
          <p:nvPr/>
        </p:nvSpPr>
        <p:spPr>
          <a:xfrm>
            <a:off x="628650" y="5715000"/>
            <a:ext cx="942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这样分工比较清楚：TR 看整体是否连贯，SAE 看边界是否落准。</a:t>
            </a:r>
            <a:endParaRPr/>
          </a:p>
        </p:txBody>
      </p:sp>
      <p:sp>
        <p:nvSpPr>
          <p:cNvPr id="475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4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8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79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0" name=""/>
          <p:cNvSpPr>
            <a:spLocks noGrp="1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10A MODEL FLOW</a:t>
            </a:r>
            <a:endParaRPr/>
          </a:p>
        </p:txBody>
      </p:sp>
      <p:sp>
        <p:nvSpPr>
          <p:cNvPr id="481" name=""/>
          <p:cNvSpPr>
            <a:spLocks noGrp="1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 和 SAE 分别放在网络里最需要它们的位置。</a:t>
            </a:r>
            <a:endParaRPr/>
          </a:p>
        </p:txBody>
      </p:sp>
      <p:sp>
        <p:nvSpPr>
          <p:cNvPr id="482" name=""/>
          <p:cNvSpPr>
            <a:spLocks noGrp="1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10A</a:t>
            </a:r>
            <a:endParaRPr/>
          </a:p>
        </p:txBody>
      </p:sp>
      <p:sp>
        <p:nvSpPr>
          <p:cNvPr id="483" name=""/>
          <p:cNvSpPr>
            <a:spLocks noGrp="1"/>
          </p:cNvSpPr>
          <p:nvPr/>
        </p:nvSpPr>
        <p:spPr>
          <a:xfrm>
            <a:off x="933450" y="2038350"/>
            <a:ext cx="11239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4" name=""/>
          <p:cNvSpPr>
            <a:spLocks noGrp="1"/>
          </p:cNvSpPr>
          <p:nvPr/>
        </p:nvSpPr>
        <p:spPr>
          <a:xfrm>
            <a:off x="1028700" y="2305050"/>
            <a:ext cx="9334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输入 OCT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512×512</a:t>
            </a:r>
            <a:endParaRPr/>
          </a:p>
        </p:txBody>
      </p:sp>
      <p:sp>
        <p:nvSpPr>
          <p:cNvPr id="485" name=""/>
          <p:cNvSpPr>
            <a:spLocks noGrp="1"/>
          </p:cNvSpPr>
          <p:nvPr/>
        </p:nvSpPr>
        <p:spPr>
          <a:xfrm>
            <a:off x="21717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6" name=""/>
          <p:cNvSpPr>
            <a:spLocks noGrp="1"/>
          </p:cNvSpPr>
          <p:nvPr/>
        </p:nvSpPr>
        <p:spPr>
          <a:xfrm>
            <a:off x="23622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7" name=""/>
          <p:cNvSpPr>
            <a:spLocks noGrp="1"/>
          </p:cNvSpPr>
          <p:nvPr/>
        </p:nvSpPr>
        <p:spPr>
          <a:xfrm>
            <a:off x="2362200" y="2038350"/>
            <a:ext cx="1257300" cy="1123950"/>
          </a:xfrm>
          <a:prstGeom prst="rect">
            <a:avLst/>
          </a:prstGeom>
          <a:solidFill>
            <a:srgbClr val="DCEFF0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88" name=""/>
          <p:cNvSpPr>
            <a:spLocks noGrp="1"/>
          </p:cNvSpPr>
          <p:nvPr/>
        </p:nvSpPr>
        <p:spPr>
          <a:xfrm>
            <a:off x="2457450" y="2305050"/>
            <a:ext cx="10668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ResNet18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编码特征</a:t>
            </a:r>
            <a:endParaRPr/>
          </a:p>
        </p:txBody>
      </p:sp>
      <p:sp>
        <p:nvSpPr>
          <p:cNvPr id="489" name=""/>
          <p:cNvSpPr>
            <a:spLocks noGrp="1"/>
          </p:cNvSpPr>
          <p:nvPr/>
        </p:nvSpPr>
        <p:spPr>
          <a:xfrm>
            <a:off x="37338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0" name=""/>
          <p:cNvSpPr>
            <a:spLocks noGrp="1"/>
          </p:cNvSpPr>
          <p:nvPr/>
        </p:nvSpPr>
        <p:spPr>
          <a:xfrm>
            <a:off x="39243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1" name=""/>
          <p:cNvSpPr>
            <a:spLocks noGrp="1"/>
          </p:cNvSpPr>
          <p:nvPr/>
        </p:nvSpPr>
        <p:spPr>
          <a:xfrm>
            <a:off x="3924300" y="2038350"/>
            <a:ext cx="1333500" cy="1123950"/>
          </a:xfrm>
          <a:prstGeom prst="rect">
            <a:avLst/>
          </a:prstGeom>
          <a:solidFill>
            <a:srgbClr val="DCEFF0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2" name=""/>
          <p:cNvSpPr>
            <a:spLocks noGrp="1"/>
          </p:cNvSpPr>
          <p:nvPr/>
        </p:nvSpPr>
        <p:spPr>
          <a:xfrm>
            <a:off x="4019550" y="2305050"/>
            <a:ext cx="1143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ASPP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5 分支拼接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C=2560</a:t>
            </a:r>
            <a:endParaRPr/>
          </a:p>
        </p:txBody>
      </p:sp>
      <p:sp>
        <p:nvSpPr>
          <p:cNvPr id="493" name=""/>
          <p:cNvSpPr>
            <a:spLocks noGrp="1"/>
          </p:cNvSpPr>
          <p:nvPr/>
        </p:nvSpPr>
        <p:spPr>
          <a:xfrm>
            <a:off x="53721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4" name=""/>
          <p:cNvSpPr>
            <a:spLocks noGrp="1"/>
          </p:cNvSpPr>
          <p:nvPr/>
        </p:nvSpPr>
        <p:spPr>
          <a:xfrm>
            <a:off x="55626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5" name=""/>
          <p:cNvSpPr>
            <a:spLocks noGrp="1"/>
          </p:cNvSpPr>
          <p:nvPr/>
        </p:nvSpPr>
        <p:spPr>
          <a:xfrm>
            <a:off x="5562600" y="2038350"/>
            <a:ext cx="1162050" cy="1123950"/>
          </a:xfrm>
          <a:prstGeom prst="rect">
            <a:avLst/>
          </a:prstGeom>
          <a:solidFill>
            <a:srgbClr val="F8E1D8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6" name=""/>
          <p:cNvSpPr>
            <a:spLocks noGrp="1"/>
          </p:cNvSpPr>
          <p:nvPr/>
        </p:nvSpPr>
        <p:spPr>
          <a:xfrm>
            <a:off x="5657850" y="2305050"/>
            <a:ext cx="9715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TR</a:t>
            </a:r>
            <a:endParaRPr/>
          </a:p>
          <a:p>
            <a:pPr algn="ctr">
              <a:defRPr sz="1350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全局结构</a:t>
            </a:r>
            <a:endParaRPr/>
          </a:p>
        </p:txBody>
      </p:sp>
      <p:sp>
        <p:nvSpPr>
          <p:cNvPr id="497" name=""/>
          <p:cNvSpPr>
            <a:spLocks noGrp="1"/>
          </p:cNvSpPr>
          <p:nvPr/>
        </p:nvSpPr>
        <p:spPr>
          <a:xfrm>
            <a:off x="683895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8" name=""/>
          <p:cNvSpPr>
            <a:spLocks noGrp="1"/>
          </p:cNvSpPr>
          <p:nvPr/>
        </p:nvSpPr>
        <p:spPr>
          <a:xfrm>
            <a:off x="702945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99" name=""/>
          <p:cNvSpPr>
            <a:spLocks noGrp="1"/>
          </p:cNvSpPr>
          <p:nvPr/>
        </p:nvSpPr>
        <p:spPr>
          <a:xfrm>
            <a:off x="7029450" y="2038350"/>
            <a:ext cx="13525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0" name=""/>
          <p:cNvSpPr>
            <a:spLocks noGrp="1"/>
          </p:cNvSpPr>
          <p:nvPr/>
        </p:nvSpPr>
        <p:spPr>
          <a:xfrm>
            <a:off x="7124700" y="2305050"/>
            <a:ext cx="1162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1×1 bottleneck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C=512</a:t>
            </a:r>
            <a:endParaRPr/>
          </a:p>
        </p:txBody>
      </p:sp>
      <p:sp>
        <p:nvSpPr>
          <p:cNvPr id="501" name=""/>
          <p:cNvSpPr>
            <a:spLocks noGrp="1"/>
          </p:cNvSpPr>
          <p:nvPr/>
        </p:nvSpPr>
        <p:spPr>
          <a:xfrm>
            <a:off x="849630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2" name=""/>
          <p:cNvSpPr>
            <a:spLocks noGrp="1"/>
          </p:cNvSpPr>
          <p:nvPr/>
        </p:nvSpPr>
        <p:spPr>
          <a:xfrm>
            <a:off x="868680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3" name=""/>
          <p:cNvSpPr>
            <a:spLocks noGrp="1"/>
          </p:cNvSpPr>
          <p:nvPr/>
        </p:nvSpPr>
        <p:spPr>
          <a:xfrm>
            <a:off x="8686800" y="2038350"/>
            <a:ext cx="1276350" cy="1123950"/>
          </a:xfrm>
          <a:prstGeom prst="rect">
            <a:avLst/>
          </a:prstGeom>
          <a:solidFill>
            <a:srgbClr val="F3E7C8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4" name=""/>
          <p:cNvSpPr>
            <a:spLocks noGrp="1"/>
          </p:cNvSpPr>
          <p:nvPr/>
        </p:nvSpPr>
        <p:spPr>
          <a:xfrm>
            <a:off x="8782050" y="2305050"/>
            <a:ext cx="10858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上采样 +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浅层 C=48</a:t>
            </a:r>
            <a:endParaRPr/>
          </a:p>
        </p:txBody>
      </p:sp>
      <p:sp>
        <p:nvSpPr>
          <p:cNvPr id="505" name=""/>
          <p:cNvSpPr>
            <a:spLocks noGrp="1"/>
          </p:cNvSpPr>
          <p:nvPr/>
        </p:nvSpPr>
        <p:spPr>
          <a:xfrm>
            <a:off x="10077450" y="258127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6" name=""/>
          <p:cNvSpPr>
            <a:spLocks noGrp="1"/>
          </p:cNvSpPr>
          <p:nvPr/>
        </p:nvSpPr>
        <p:spPr>
          <a:xfrm>
            <a:off x="10267950" y="250507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7" name=""/>
          <p:cNvSpPr>
            <a:spLocks noGrp="1"/>
          </p:cNvSpPr>
          <p:nvPr/>
        </p:nvSpPr>
        <p:spPr>
          <a:xfrm>
            <a:off x="10267950" y="2038350"/>
            <a:ext cx="933450" cy="11239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08" name=""/>
          <p:cNvSpPr>
            <a:spLocks noGrp="1"/>
          </p:cNvSpPr>
          <p:nvPr/>
        </p:nvSpPr>
        <p:spPr>
          <a:xfrm>
            <a:off x="10363200" y="2305050"/>
            <a:ext cx="742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concat</a:t>
            </a:r>
            <a:endParaRPr/>
          </a:p>
          <a:p>
            <a:pPr algn="ctr">
              <a:def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350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C=560</a:t>
            </a:r>
            <a:endParaRPr/>
          </a:p>
        </p:txBody>
      </p:sp>
      <p:sp>
        <p:nvSpPr>
          <p:cNvPr id="509" name=""/>
          <p:cNvSpPr>
            <a:spLocks noGrp="1"/>
          </p:cNvSpPr>
          <p:nvPr/>
        </p:nvSpPr>
        <p:spPr>
          <a:xfrm>
            <a:off x="2362200" y="3486150"/>
            <a:ext cx="4362450" cy="514350"/>
          </a:xfrm>
          <a:prstGeom prst="rect">
            <a:avLst/>
          </a:prstGeom>
          <a:solidFill>
            <a:srgbClr val="DCEFF0"/>
          </a:solidFill>
          <a:ln w="0">
            <a:solidFill>
              <a:srgbClr val="DCEF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0" name=""/>
          <p:cNvSpPr>
            <a:spLocks noGrp="1"/>
          </p:cNvSpPr>
          <p:nvPr/>
        </p:nvSpPr>
        <p:spPr>
          <a:xfrm>
            <a:off x="2552700" y="3638550"/>
            <a:ext cx="3905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编码端：先把弱纹理里的长程结构找出来</a:t>
            </a:r>
            <a:endParaRPr/>
          </a:p>
        </p:txBody>
      </p:sp>
      <p:sp>
        <p:nvSpPr>
          <p:cNvPr id="511" name=""/>
          <p:cNvSpPr>
            <a:spLocks noGrp="1"/>
          </p:cNvSpPr>
          <p:nvPr/>
        </p:nvSpPr>
        <p:spPr>
          <a:xfrm>
            <a:off x="8686800" y="3486150"/>
            <a:ext cx="2514600" cy="514350"/>
          </a:xfrm>
          <a:prstGeom prst="rect">
            <a:avLst/>
          </a:prstGeom>
          <a:solidFill>
            <a:srgbClr val="F3E7C8"/>
          </a:solidFill>
          <a:ln w="0">
            <a:solidFill>
              <a:srgbClr val="F3E7C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2" name=""/>
          <p:cNvSpPr>
            <a:spLocks noGrp="1"/>
          </p:cNvSpPr>
          <p:nvPr/>
        </p:nvSpPr>
        <p:spPr>
          <a:xfrm>
            <a:off x="8877300" y="36385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解码端：再把上采样后的边界收紧</a:t>
            </a:r>
            <a:endParaRPr/>
          </a:p>
        </p:txBody>
      </p:sp>
      <p:sp>
        <p:nvSpPr>
          <p:cNvPr id="513" name=""/>
          <p:cNvSpPr>
            <a:spLocks noGrp="1"/>
          </p:cNvSpPr>
          <p:nvPr/>
        </p:nvSpPr>
        <p:spPr>
          <a:xfrm>
            <a:off x="2419350" y="4457700"/>
            <a:ext cx="31432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4" name=""/>
          <p:cNvSpPr>
            <a:spLocks noGrp="1"/>
          </p:cNvSpPr>
          <p:nvPr/>
        </p:nvSpPr>
        <p:spPr>
          <a:xfrm>
            <a:off x="2609850" y="4667250"/>
            <a:ext cx="209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TR 放在 ASPP 之后</a:t>
            </a:r>
            <a:endParaRPr/>
          </a:p>
        </p:txBody>
      </p:sp>
      <p:sp>
        <p:nvSpPr>
          <p:cNvPr id="515" name=""/>
          <p:cNvSpPr>
            <a:spLocks noGrp="1"/>
          </p:cNvSpPr>
          <p:nvPr/>
        </p:nvSpPr>
        <p:spPr>
          <a:xfrm>
            <a:off x="2609850" y="51816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6" name=""/>
          <p:cNvSpPr>
            <a:spLocks noGrp="1"/>
          </p:cNvSpPr>
          <p:nvPr/>
        </p:nvSpPr>
        <p:spPr>
          <a:xfrm>
            <a:off x="2781300" y="51054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此时语义最强，适合做区域级关系建模。</a:t>
            </a:r>
            <a:endParaRPr/>
          </a:p>
        </p:txBody>
      </p:sp>
      <p:sp>
        <p:nvSpPr>
          <p:cNvPr id="517" name=""/>
          <p:cNvSpPr>
            <a:spLocks noGrp="1"/>
          </p:cNvSpPr>
          <p:nvPr/>
        </p:nvSpPr>
        <p:spPr>
          <a:xfrm>
            <a:off x="2609850" y="55435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8" name=""/>
          <p:cNvSpPr>
            <a:spLocks noGrp="1"/>
          </p:cNvSpPr>
          <p:nvPr/>
        </p:nvSpPr>
        <p:spPr>
          <a:xfrm>
            <a:off x="2781300" y="546735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S=4、TopK=4，在精度和推理时间之间最稳。</a:t>
            </a:r>
            <a:endParaRPr/>
          </a:p>
        </p:txBody>
      </p:sp>
      <p:sp>
        <p:nvSpPr>
          <p:cNvPr id="519" name=""/>
          <p:cNvSpPr>
            <a:spLocks noGrp="1"/>
          </p:cNvSpPr>
          <p:nvPr/>
        </p:nvSpPr>
        <p:spPr>
          <a:xfrm>
            <a:off x="6629400" y="4457700"/>
            <a:ext cx="3143250" cy="1352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0" name=""/>
          <p:cNvSpPr>
            <a:spLocks noGrp="1"/>
          </p:cNvSpPr>
          <p:nvPr/>
        </p:nvSpPr>
        <p:spPr>
          <a:xfrm>
            <a:off x="6819900" y="4667250"/>
            <a:ext cx="2190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SAE 放在特征融合后</a:t>
            </a:r>
            <a:endParaRPr/>
          </a:p>
        </p:txBody>
      </p:sp>
      <p:sp>
        <p:nvSpPr>
          <p:cNvPr id="521" name=""/>
          <p:cNvSpPr>
            <a:spLocks noGrp="1"/>
          </p:cNvSpPr>
          <p:nvPr/>
        </p:nvSpPr>
        <p:spPr>
          <a:xfrm>
            <a:off x="6819900" y="51816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2" name=""/>
          <p:cNvSpPr>
            <a:spLocks noGrp="1"/>
          </p:cNvSpPr>
          <p:nvPr/>
        </p:nvSpPr>
        <p:spPr>
          <a:xfrm>
            <a:off x="6991350" y="51054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这里同时有浅层位置细节和高层语义。</a:t>
            </a:r>
            <a:endParaRPr/>
          </a:p>
        </p:txBody>
      </p:sp>
      <p:sp>
        <p:nvSpPr>
          <p:cNvPr id="523" name=""/>
          <p:cNvSpPr>
            <a:spLocks noGrp="1"/>
          </p:cNvSpPr>
          <p:nvPr/>
        </p:nvSpPr>
        <p:spPr>
          <a:xfrm>
            <a:off x="6819900" y="554355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4" name=""/>
          <p:cNvSpPr>
            <a:spLocks noGrp="1"/>
          </p:cNvSpPr>
          <p:nvPr/>
        </p:nvSpPr>
        <p:spPr>
          <a:xfrm>
            <a:off x="6991350" y="5467350"/>
            <a:ext cx="2495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适合做坐标注意力、局部精炼和通道选择。</a:t>
            </a:r>
            <a:endParaRPr/>
          </a:p>
        </p:txBody>
      </p:sp>
      <p:sp>
        <p:nvSpPr>
          <p:cNvPr id="525" name=""/>
          <p:cNvSpPr>
            <a:spLocks noGrp="1"/>
          </p:cNvSpPr>
          <p:nvPr/>
        </p:nvSpPr>
        <p:spPr>
          <a:xfrm>
            <a:off x="990600" y="5905500"/>
            <a:ext cx="9144000" cy="4000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6" name=""/>
          <p:cNvSpPr>
            <a:spLocks noGrp="1"/>
          </p:cNvSpPr>
          <p:nvPr/>
        </p:nvSpPr>
        <p:spPr>
          <a:xfrm>
            <a:off x="1219200" y="6010275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275" b="0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一句话讲法：TR 负责“看整体结构是否连上”，SAE 负责“看边界有没有落准”。</a:t>
            </a:r>
            <a:endParaRPr/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9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0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1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10  TR MODULE</a:t>
            </a:r>
            <a:endParaRPr/>
          </a:p>
        </p:txBody>
      </p:sp>
      <p:sp>
        <p:nvSpPr>
          <p:cNvPr id="532" name=""/>
          <p:cNvSpPr>
            <a:spLocks noGrp="1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TR 先筛相关区域，再做注意力计算，避免全图 token 直接两两计算。</a:t>
            </a:r>
            <a:endParaRPr/>
          </a:p>
        </p:txBody>
      </p:sp>
      <p:sp>
        <p:nvSpPr>
          <p:cNvPr id="533" name=""/>
          <p:cNvSpPr>
            <a:spLocks noGrp="1"/>
          </p:cNvSpPr>
          <p:nvPr/>
        </p:nvSpPr>
        <p:spPr>
          <a:xfrm>
            <a:off x="552450" y="1657350"/>
            <a:ext cx="78676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34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999160" y="1943100"/>
            <a:ext cx="6917081" cy="1200150"/>
          </a:xfrm>
          <a:prstGeom prst="rect">
            <a:avLst/>
          </a:prstGeom>
        </p:spPr>
      </p:pic>
      <p:sp>
        <p:nvSpPr>
          <p:cNvPr id="535" name=""/>
          <p:cNvSpPr>
            <a:spLocks noGrp="1"/>
          </p:cNvSpPr>
          <p:nvPr/>
        </p:nvSpPr>
        <p:spPr>
          <a:xfrm>
            <a:off x="8877300" y="1657350"/>
            <a:ext cx="2952750" cy="428625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36" name=""/>
          <p:cNvSpPr>
            <a:spLocks noGrp="1"/>
          </p:cNvSpPr>
          <p:nvPr/>
        </p:nvSpPr>
        <p:spPr>
          <a:xfrm>
            <a:off x="8972550" y="1771650"/>
            <a:ext cx="5143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TopK</a:t>
            </a:r>
            <a:endParaRPr/>
          </a:p>
        </p:txBody>
      </p:sp>
      <p:sp>
        <p:nvSpPr>
          <p:cNvPr id="537" name=""/>
          <p:cNvSpPr>
            <a:spLocks noGrp="1"/>
          </p:cNvSpPr>
          <p:nvPr/>
        </p:nvSpPr>
        <p:spPr>
          <a:xfrm>
            <a:off x="9658350" y="1771650"/>
            <a:ext cx="5715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mIoU</a:t>
            </a:r>
            <a:endParaRPr/>
          </a:p>
        </p:txBody>
      </p:sp>
      <p:sp>
        <p:nvSpPr>
          <p:cNvPr id="538" name=""/>
          <p:cNvSpPr>
            <a:spLocks noGrp="1"/>
          </p:cNvSpPr>
          <p:nvPr/>
        </p:nvSpPr>
        <p:spPr>
          <a:xfrm>
            <a:off x="10401300" y="1771650"/>
            <a:ext cx="5715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HD95</a:t>
            </a:r>
            <a:endParaRPr/>
          </a:p>
        </p:txBody>
      </p:sp>
      <p:sp>
        <p:nvSpPr>
          <p:cNvPr id="539" name=""/>
          <p:cNvSpPr>
            <a:spLocks noGrp="1"/>
          </p:cNvSpPr>
          <p:nvPr/>
        </p:nvSpPr>
        <p:spPr>
          <a:xfrm>
            <a:off x="11144250" y="1771650"/>
            <a:ext cx="609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推理 ms</a:t>
            </a:r>
            <a:endParaRPr/>
          </a:p>
        </p:txBody>
      </p:sp>
      <p:sp>
        <p:nvSpPr>
          <p:cNvPr id="540" name=""/>
          <p:cNvSpPr>
            <a:spLocks noGrp="1"/>
          </p:cNvSpPr>
          <p:nvPr/>
        </p:nvSpPr>
        <p:spPr>
          <a:xfrm>
            <a:off x="8877300" y="2457450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1" name=""/>
          <p:cNvSpPr>
            <a:spLocks noGrp="1"/>
          </p:cNvSpPr>
          <p:nvPr/>
        </p:nvSpPr>
        <p:spPr>
          <a:xfrm>
            <a:off x="8972550" y="2171700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2</a:t>
            </a:r>
            <a:endParaRPr/>
          </a:p>
        </p:txBody>
      </p:sp>
      <p:sp>
        <p:nvSpPr>
          <p:cNvPr id="542" name=""/>
          <p:cNvSpPr>
            <a:spLocks noGrp="1"/>
          </p:cNvSpPr>
          <p:nvPr/>
        </p:nvSpPr>
        <p:spPr>
          <a:xfrm>
            <a:off x="9658350" y="217170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0.897</a:t>
            </a:r>
            <a:endParaRPr/>
          </a:p>
        </p:txBody>
      </p:sp>
      <p:sp>
        <p:nvSpPr>
          <p:cNvPr id="543" name=""/>
          <p:cNvSpPr>
            <a:spLocks noGrp="1"/>
          </p:cNvSpPr>
          <p:nvPr/>
        </p:nvSpPr>
        <p:spPr>
          <a:xfrm>
            <a:off x="10401300" y="217170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11.86</a:t>
            </a:r>
            <a:endParaRPr/>
          </a:p>
        </p:txBody>
      </p:sp>
      <p:sp>
        <p:nvSpPr>
          <p:cNvPr id="544" name=""/>
          <p:cNvSpPr>
            <a:spLocks noGrp="1"/>
          </p:cNvSpPr>
          <p:nvPr/>
        </p:nvSpPr>
        <p:spPr>
          <a:xfrm>
            <a:off x="11144250" y="2171700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11.2</a:t>
            </a:r>
            <a:endParaRPr/>
          </a:p>
        </p:txBody>
      </p:sp>
      <p:sp>
        <p:nvSpPr>
          <p:cNvPr id="545" name=""/>
          <p:cNvSpPr>
            <a:spLocks noGrp="1"/>
          </p:cNvSpPr>
          <p:nvPr/>
        </p:nvSpPr>
        <p:spPr>
          <a:xfrm>
            <a:off x="8877300" y="2886075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46" name=""/>
          <p:cNvSpPr>
            <a:spLocks noGrp="1"/>
          </p:cNvSpPr>
          <p:nvPr/>
        </p:nvSpPr>
        <p:spPr>
          <a:xfrm>
            <a:off x="8972550" y="2600325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4</a:t>
            </a:r>
            <a:endParaRPr/>
          </a:p>
        </p:txBody>
      </p:sp>
      <p:sp>
        <p:nvSpPr>
          <p:cNvPr id="547" name=""/>
          <p:cNvSpPr>
            <a:spLocks noGrp="1"/>
          </p:cNvSpPr>
          <p:nvPr/>
        </p:nvSpPr>
        <p:spPr>
          <a:xfrm>
            <a:off x="9658350" y="260032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548" name=""/>
          <p:cNvSpPr>
            <a:spLocks noGrp="1"/>
          </p:cNvSpPr>
          <p:nvPr/>
        </p:nvSpPr>
        <p:spPr>
          <a:xfrm>
            <a:off x="10401300" y="260032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10.68</a:t>
            </a:r>
            <a:endParaRPr/>
          </a:p>
        </p:txBody>
      </p:sp>
      <p:sp>
        <p:nvSpPr>
          <p:cNvPr id="549" name=""/>
          <p:cNvSpPr>
            <a:spLocks noGrp="1"/>
          </p:cNvSpPr>
          <p:nvPr/>
        </p:nvSpPr>
        <p:spPr>
          <a:xfrm>
            <a:off x="11144250" y="2600325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12.4</a:t>
            </a:r>
            <a:endParaRPr/>
          </a:p>
        </p:txBody>
      </p:sp>
      <p:sp>
        <p:nvSpPr>
          <p:cNvPr id="550" name=""/>
          <p:cNvSpPr>
            <a:spLocks noGrp="1"/>
          </p:cNvSpPr>
          <p:nvPr/>
        </p:nvSpPr>
        <p:spPr>
          <a:xfrm>
            <a:off x="8877300" y="3314700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1" name=""/>
          <p:cNvSpPr>
            <a:spLocks noGrp="1"/>
          </p:cNvSpPr>
          <p:nvPr/>
        </p:nvSpPr>
        <p:spPr>
          <a:xfrm>
            <a:off x="8972550" y="3028950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6</a:t>
            </a:r>
            <a:endParaRPr/>
          </a:p>
        </p:txBody>
      </p:sp>
      <p:sp>
        <p:nvSpPr>
          <p:cNvPr id="552" name=""/>
          <p:cNvSpPr>
            <a:spLocks noGrp="1"/>
          </p:cNvSpPr>
          <p:nvPr/>
        </p:nvSpPr>
        <p:spPr>
          <a:xfrm>
            <a:off x="9658350" y="302895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0.91</a:t>
            </a:r>
            <a:endParaRPr/>
          </a:p>
        </p:txBody>
      </p:sp>
      <p:sp>
        <p:nvSpPr>
          <p:cNvPr id="553" name=""/>
          <p:cNvSpPr>
            <a:spLocks noGrp="1"/>
          </p:cNvSpPr>
          <p:nvPr/>
        </p:nvSpPr>
        <p:spPr>
          <a:xfrm>
            <a:off x="10401300" y="3028950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10.72</a:t>
            </a:r>
            <a:endParaRPr/>
          </a:p>
        </p:txBody>
      </p:sp>
      <p:sp>
        <p:nvSpPr>
          <p:cNvPr id="554" name=""/>
          <p:cNvSpPr>
            <a:spLocks noGrp="1"/>
          </p:cNvSpPr>
          <p:nvPr/>
        </p:nvSpPr>
        <p:spPr>
          <a:xfrm>
            <a:off x="11144250" y="3028950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14.1</a:t>
            </a:r>
            <a:endParaRPr/>
          </a:p>
        </p:txBody>
      </p:sp>
      <p:sp>
        <p:nvSpPr>
          <p:cNvPr id="555" name=""/>
          <p:cNvSpPr>
            <a:spLocks noGrp="1"/>
          </p:cNvSpPr>
          <p:nvPr/>
        </p:nvSpPr>
        <p:spPr>
          <a:xfrm>
            <a:off x="8877300" y="3743325"/>
            <a:ext cx="2952750" cy="9525"/>
          </a:xfrm>
          <a:prstGeom prst="rect">
            <a:avLst/>
          </a:prstGeom>
          <a:solidFill>
            <a:srgbClr val="DED7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6" name=""/>
          <p:cNvSpPr>
            <a:spLocks noGrp="1"/>
          </p:cNvSpPr>
          <p:nvPr/>
        </p:nvSpPr>
        <p:spPr>
          <a:xfrm>
            <a:off x="8972550" y="3457575"/>
            <a:ext cx="51435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8</a:t>
            </a:r>
            <a:endParaRPr/>
          </a:p>
        </p:txBody>
      </p:sp>
      <p:sp>
        <p:nvSpPr>
          <p:cNvPr id="557" name=""/>
          <p:cNvSpPr>
            <a:spLocks noGrp="1"/>
          </p:cNvSpPr>
          <p:nvPr/>
        </p:nvSpPr>
        <p:spPr>
          <a:xfrm>
            <a:off x="9658350" y="345757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0.906</a:t>
            </a:r>
            <a:endParaRPr/>
          </a:p>
        </p:txBody>
      </p:sp>
      <p:sp>
        <p:nvSpPr>
          <p:cNvPr id="558" name=""/>
          <p:cNvSpPr>
            <a:spLocks noGrp="1"/>
          </p:cNvSpPr>
          <p:nvPr/>
        </p:nvSpPr>
        <p:spPr>
          <a:xfrm>
            <a:off x="10401300" y="3457575"/>
            <a:ext cx="5715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10.91</a:t>
            </a:r>
            <a:endParaRPr/>
          </a:p>
        </p:txBody>
      </p:sp>
      <p:sp>
        <p:nvSpPr>
          <p:cNvPr id="559" name=""/>
          <p:cNvSpPr>
            <a:spLocks noGrp="1"/>
          </p:cNvSpPr>
          <p:nvPr/>
        </p:nvSpPr>
        <p:spPr>
          <a:xfrm>
            <a:off x="11144250" y="3457575"/>
            <a:ext cx="6096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  <a:endParaRPr/>
          </a:p>
        </p:txBody>
      </p:sp>
      <p:sp>
        <p:nvSpPr>
          <p:cNvPr id="560" name=""/>
          <p:cNvSpPr>
            <a:spLocks noGrp="1"/>
          </p:cNvSpPr>
          <p:nvPr/>
        </p:nvSpPr>
        <p:spPr>
          <a:xfrm>
            <a:off x="8782050" y="377190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TopK=4 是精度-效率拐点</a:t>
            </a:r>
            <a:endParaRPr/>
          </a:p>
        </p:txBody>
      </p:sp>
      <p:sp>
        <p:nvSpPr>
          <p:cNvPr id="561" name=""/>
          <p:cNvSpPr>
            <a:spLocks noGrp="1"/>
          </p:cNvSpPr>
          <p:nvPr/>
        </p:nvSpPr>
        <p:spPr>
          <a:xfrm>
            <a:off x="8782050" y="4152900"/>
            <a:ext cx="26860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覆盖窗口比例 25%，mIoU 与 HD95 同时最优，继续增大 TopK 后精度趋于饱和而推理时间上升。</a:t>
            </a:r>
            <a:endParaRPr/>
          </a:p>
        </p:txBody>
      </p:sp>
      <p:sp>
        <p:nvSpPr>
          <p:cNvPr id="562" name=""/>
          <p:cNvSpPr>
            <a:spLocks noGrp="1"/>
          </p:cNvSpPr>
          <p:nvPr/>
        </p:nvSpPr>
        <p:spPr>
          <a:xfrm>
            <a:off x="781050" y="4343400"/>
            <a:ext cx="23336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3" name=""/>
          <p:cNvSpPr>
            <a:spLocks noGrp="1"/>
          </p:cNvSpPr>
          <p:nvPr/>
        </p:nvSpPr>
        <p:spPr>
          <a:xfrm>
            <a:off x="3448050" y="4343400"/>
            <a:ext cx="23336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4" name=""/>
          <p:cNvSpPr>
            <a:spLocks noGrp="1"/>
          </p:cNvSpPr>
          <p:nvPr/>
        </p:nvSpPr>
        <p:spPr>
          <a:xfrm>
            <a:off x="6115050" y="4343400"/>
            <a:ext cx="2333625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65" name=""/>
          <p:cNvSpPr>
            <a:spLocks noGrp="1"/>
          </p:cNvSpPr>
          <p:nvPr/>
        </p:nvSpPr>
        <p:spPr>
          <a:xfrm>
            <a:off x="100965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区域级路由</a:t>
            </a:r>
            <a:endParaRPr/>
          </a:p>
        </p:txBody>
      </p:sp>
      <p:sp>
        <p:nvSpPr>
          <p:cNvPr id="566" name=""/>
          <p:cNvSpPr>
            <a:spLocks noGrp="1"/>
          </p:cNvSpPr>
          <p:nvPr/>
        </p:nvSpPr>
        <p:spPr>
          <a:xfrm>
            <a:off x="1009650" y="4781550"/>
            <a:ext cx="1857375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窗口平均 Q/K，削弱局部散斑扰动。</a:t>
            </a:r>
            <a:endParaRPr/>
          </a:p>
        </p:txBody>
      </p:sp>
      <p:sp>
        <p:nvSpPr>
          <p:cNvPr id="567" name=""/>
          <p:cNvSpPr>
            <a:spLocks noGrp="1"/>
          </p:cNvSpPr>
          <p:nvPr/>
        </p:nvSpPr>
        <p:spPr>
          <a:xfrm>
            <a:off x="367665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TopK 稀疏</a:t>
            </a:r>
            <a:endParaRPr/>
          </a:p>
        </p:txBody>
      </p:sp>
      <p:sp>
        <p:nvSpPr>
          <p:cNvPr id="568" name=""/>
          <p:cNvSpPr>
            <a:spLocks noGrp="1"/>
          </p:cNvSpPr>
          <p:nvPr/>
        </p:nvSpPr>
        <p:spPr>
          <a:xfrm>
            <a:off x="3676650" y="4781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只对相关窗口做 token 注意力。</a:t>
            </a:r>
            <a:endParaRPr/>
          </a:p>
        </p:txBody>
      </p:sp>
      <p:sp>
        <p:nvSpPr>
          <p:cNvPr id="569" name=""/>
          <p:cNvSpPr>
            <a:spLocks noGrp="1"/>
          </p:cNvSpPr>
          <p:nvPr/>
        </p:nvSpPr>
        <p:spPr>
          <a:xfrm>
            <a:off x="6343650" y="4533900"/>
            <a:ext cx="1428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长程结构</a:t>
            </a:r>
            <a:endParaRPr/>
          </a:p>
        </p:txBody>
      </p:sp>
      <p:sp>
        <p:nvSpPr>
          <p:cNvPr id="570" name=""/>
          <p:cNvSpPr>
            <a:spLocks noGrp="1"/>
          </p:cNvSpPr>
          <p:nvPr/>
        </p:nvSpPr>
        <p:spPr>
          <a:xfrm>
            <a:off x="6343650" y="4781550"/>
            <a:ext cx="1809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改善细长匙孔的断裂分割。</a:t>
            </a:r>
            <a:endParaRPr/>
          </a:p>
        </p:txBody>
      </p:sp>
      <p:sp>
        <p:nvSpPr>
          <p:cNvPr id="571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11</a:t>
            </a:r>
            <a:endParaRPr/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5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2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3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4" name=""/>
          <p:cNvSpPr>
            <a:spLocks noGrp="1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10B TR MODULE</a:t>
            </a:r>
            <a:endParaRPr/>
          </a:p>
        </p:txBody>
      </p:sp>
      <p:sp>
        <p:nvSpPr>
          <p:cNvPr id="595" name=""/>
          <p:cNvSpPr>
            <a:spLocks noGrp="1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 模块：先按区域筛选相关窗口，再做稀疏注意力。</a:t>
            </a:r>
            <a:endParaRPr/>
          </a:p>
        </p:txBody>
      </p:sp>
      <p:sp>
        <p:nvSpPr>
          <p:cNvPr id="596" name=""/>
          <p:cNvSpPr>
            <a:spLocks noGrp="1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10B</a:t>
            </a:r>
            <a:endParaRPr/>
          </a:p>
        </p:txBody>
      </p:sp>
      <p:sp>
        <p:nvSpPr>
          <p:cNvPr id="597" name=""/>
          <p:cNvSpPr>
            <a:spLocks noGrp="1"/>
          </p:cNvSpPr>
          <p:nvPr/>
        </p:nvSpPr>
        <p:spPr>
          <a:xfrm>
            <a:off x="990600" y="1581150"/>
            <a:ext cx="17526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98" name=""/>
          <p:cNvSpPr>
            <a:spLocks noGrp="1"/>
          </p:cNvSpPr>
          <p:nvPr/>
        </p:nvSpPr>
        <p:spPr>
          <a:xfrm>
            <a:off x="1219200" y="17907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ASPP 输出</a:t>
            </a:r>
            <a:endParaRPr/>
          </a:p>
        </p:txBody>
      </p:sp>
      <p:sp>
        <p:nvSpPr>
          <p:cNvPr id="599" name=""/>
          <p:cNvSpPr>
            <a:spLocks noGrp="1"/>
          </p:cNvSpPr>
          <p:nvPr/>
        </p:nvSpPr>
        <p:spPr>
          <a:xfrm>
            <a:off x="1219200" y="21336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64×64 特征图</a:t>
            </a:r>
            <a:endParaRPr/>
          </a:p>
        </p:txBody>
      </p:sp>
      <p:sp>
        <p:nvSpPr>
          <p:cNvPr id="600" name=""/>
          <p:cNvSpPr>
            <a:spLocks noGrp="1"/>
          </p:cNvSpPr>
          <p:nvPr/>
        </p:nvSpPr>
        <p:spPr>
          <a:xfrm>
            <a:off x="1219200" y="24955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1" name=""/>
          <p:cNvSpPr>
            <a:spLocks noGrp="1"/>
          </p:cNvSpPr>
          <p:nvPr/>
        </p:nvSpPr>
        <p:spPr>
          <a:xfrm>
            <a:off x="1466850" y="249555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2" name=""/>
          <p:cNvSpPr>
            <a:spLocks noGrp="1"/>
          </p:cNvSpPr>
          <p:nvPr/>
        </p:nvSpPr>
        <p:spPr>
          <a:xfrm>
            <a:off x="1714500" y="24955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3" name=""/>
          <p:cNvSpPr>
            <a:spLocks noGrp="1"/>
          </p:cNvSpPr>
          <p:nvPr/>
        </p:nvSpPr>
        <p:spPr>
          <a:xfrm>
            <a:off x="1962150" y="24955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4" name=""/>
          <p:cNvSpPr>
            <a:spLocks noGrp="1"/>
          </p:cNvSpPr>
          <p:nvPr/>
        </p:nvSpPr>
        <p:spPr>
          <a:xfrm>
            <a:off x="1219200" y="27432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5" name=""/>
          <p:cNvSpPr>
            <a:spLocks noGrp="1"/>
          </p:cNvSpPr>
          <p:nvPr/>
        </p:nvSpPr>
        <p:spPr>
          <a:xfrm>
            <a:off x="1466850" y="274320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6" name=""/>
          <p:cNvSpPr>
            <a:spLocks noGrp="1"/>
          </p:cNvSpPr>
          <p:nvPr/>
        </p:nvSpPr>
        <p:spPr>
          <a:xfrm>
            <a:off x="1714500" y="274320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7" name=""/>
          <p:cNvSpPr>
            <a:spLocks noGrp="1"/>
          </p:cNvSpPr>
          <p:nvPr/>
        </p:nvSpPr>
        <p:spPr>
          <a:xfrm>
            <a:off x="1962150" y="27432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8" name=""/>
          <p:cNvSpPr>
            <a:spLocks noGrp="1"/>
          </p:cNvSpPr>
          <p:nvPr/>
        </p:nvSpPr>
        <p:spPr>
          <a:xfrm>
            <a:off x="1219200" y="29908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09" name=""/>
          <p:cNvSpPr>
            <a:spLocks noGrp="1"/>
          </p:cNvSpPr>
          <p:nvPr/>
        </p:nvSpPr>
        <p:spPr>
          <a:xfrm>
            <a:off x="1466850" y="29908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0" name=""/>
          <p:cNvSpPr>
            <a:spLocks noGrp="1"/>
          </p:cNvSpPr>
          <p:nvPr/>
        </p:nvSpPr>
        <p:spPr>
          <a:xfrm>
            <a:off x="1714500" y="2990850"/>
            <a:ext cx="209550" cy="2095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1" name=""/>
          <p:cNvSpPr>
            <a:spLocks noGrp="1"/>
          </p:cNvSpPr>
          <p:nvPr/>
        </p:nvSpPr>
        <p:spPr>
          <a:xfrm>
            <a:off x="1962150" y="299085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2" name=""/>
          <p:cNvSpPr>
            <a:spLocks noGrp="1"/>
          </p:cNvSpPr>
          <p:nvPr/>
        </p:nvSpPr>
        <p:spPr>
          <a:xfrm>
            <a:off x="121920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3" name=""/>
          <p:cNvSpPr>
            <a:spLocks noGrp="1"/>
          </p:cNvSpPr>
          <p:nvPr/>
        </p:nvSpPr>
        <p:spPr>
          <a:xfrm>
            <a:off x="146685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4" name=""/>
          <p:cNvSpPr>
            <a:spLocks noGrp="1"/>
          </p:cNvSpPr>
          <p:nvPr/>
        </p:nvSpPr>
        <p:spPr>
          <a:xfrm>
            <a:off x="171450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5" name=""/>
          <p:cNvSpPr>
            <a:spLocks noGrp="1"/>
          </p:cNvSpPr>
          <p:nvPr/>
        </p:nvSpPr>
        <p:spPr>
          <a:xfrm>
            <a:off x="1962150" y="3238500"/>
            <a:ext cx="209550" cy="2095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6" name=""/>
          <p:cNvSpPr>
            <a:spLocks noGrp="1"/>
          </p:cNvSpPr>
          <p:nvPr/>
        </p:nvSpPr>
        <p:spPr>
          <a:xfrm>
            <a:off x="1219200" y="2724150"/>
            <a:ext cx="12573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S=4 → 16 个区域</a:t>
            </a:r>
            <a:endParaRPr/>
          </a:p>
          <a:p>
            <a:pPr algn="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每个区域约 16×16</a:t>
            </a:r>
            <a:endParaRPr/>
          </a:p>
        </p:txBody>
      </p:sp>
      <p:sp>
        <p:nvSpPr>
          <p:cNvPr id="617" name=""/>
          <p:cNvSpPr>
            <a:spLocks noGrp="1"/>
          </p:cNvSpPr>
          <p:nvPr/>
        </p:nvSpPr>
        <p:spPr>
          <a:xfrm>
            <a:off x="2914650" y="2447925"/>
            <a:ext cx="4191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8" name=""/>
          <p:cNvSpPr>
            <a:spLocks noGrp="1"/>
          </p:cNvSpPr>
          <p:nvPr/>
        </p:nvSpPr>
        <p:spPr>
          <a:xfrm>
            <a:off x="3314700" y="23717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19" name=""/>
          <p:cNvSpPr>
            <a:spLocks noGrp="1"/>
          </p:cNvSpPr>
          <p:nvPr/>
        </p:nvSpPr>
        <p:spPr>
          <a:xfrm>
            <a:off x="3752850" y="1581150"/>
            <a:ext cx="1714500" cy="1619250"/>
          </a:xfrm>
          <a:prstGeom prst="rect">
            <a:avLst/>
          </a:prstGeom>
          <a:solidFill>
            <a:srgbClr val="DCEFF0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0" name=""/>
          <p:cNvSpPr>
            <a:spLocks noGrp="1"/>
          </p:cNvSpPr>
          <p:nvPr/>
        </p:nvSpPr>
        <p:spPr>
          <a:xfrm>
            <a:off x="3962400" y="1809750"/>
            <a:ext cx="1219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Q K V 投影</a:t>
            </a:r>
            <a:endParaRPr/>
          </a:p>
        </p:txBody>
      </p:sp>
      <p:sp>
        <p:nvSpPr>
          <p:cNvPr id="621" name=""/>
          <p:cNvSpPr>
            <a:spLocks noGrp="1"/>
          </p:cNvSpPr>
          <p:nvPr/>
        </p:nvSpPr>
        <p:spPr>
          <a:xfrm>
            <a:off x="3962400" y="23241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2" name=""/>
          <p:cNvSpPr>
            <a:spLocks noGrp="1"/>
          </p:cNvSpPr>
          <p:nvPr/>
        </p:nvSpPr>
        <p:spPr>
          <a:xfrm>
            <a:off x="4133850" y="2247900"/>
            <a:ext cx="9715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窗口划分</a:t>
            </a:r>
            <a:endParaRPr/>
          </a:p>
        </p:txBody>
      </p:sp>
      <p:sp>
        <p:nvSpPr>
          <p:cNvPr id="623" name=""/>
          <p:cNvSpPr>
            <a:spLocks noGrp="1"/>
          </p:cNvSpPr>
          <p:nvPr/>
        </p:nvSpPr>
        <p:spPr>
          <a:xfrm>
            <a:off x="3962400" y="26860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4" name=""/>
          <p:cNvSpPr>
            <a:spLocks noGrp="1"/>
          </p:cNvSpPr>
          <p:nvPr/>
        </p:nvSpPr>
        <p:spPr>
          <a:xfrm>
            <a:off x="4133850" y="2609850"/>
            <a:ext cx="1066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区域平均 Q/K</a:t>
            </a:r>
            <a:endParaRPr/>
          </a:p>
        </p:txBody>
      </p:sp>
      <p:sp>
        <p:nvSpPr>
          <p:cNvPr id="625" name=""/>
          <p:cNvSpPr>
            <a:spLocks noGrp="1"/>
          </p:cNvSpPr>
          <p:nvPr/>
        </p:nvSpPr>
        <p:spPr>
          <a:xfrm>
            <a:off x="3962400" y="2933700"/>
            <a:ext cx="1219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先做粗筛，压住局部散斑噪声。</a:t>
            </a:r>
            <a:endParaRPr/>
          </a:p>
        </p:txBody>
      </p:sp>
      <p:sp>
        <p:nvSpPr>
          <p:cNvPr id="626" name=""/>
          <p:cNvSpPr>
            <a:spLocks noGrp="1"/>
          </p:cNvSpPr>
          <p:nvPr/>
        </p:nvSpPr>
        <p:spPr>
          <a:xfrm>
            <a:off x="5638800" y="2447925"/>
            <a:ext cx="41910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7" name=""/>
          <p:cNvSpPr>
            <a:spLocks noGrp="1"/>
          </p:cNvSpPr>
          <p:nvPr/>
        </p:nvSpPr>
        <p:spPr>
          <a:xfrm>
            <a:off x="6038850" y="237172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8" name=""/>
          <p:cNvSpPr>
            <a:spLocks noGrp="1"/>
          </p:cNvSpPr>
          <p:nvPr/>
        </p:nvSpPr>
        <p:spPr>
          <a:xfrm>
            <a:off x="6477000" y="1581150"/>
            <a:ext cx="2000250" cy="1619250"/>
          </a:xfrm>
          <a:prstGeom prst="rect">
            <a:avLst/>
          </a:prstGeom>
          <a:solidFill>
            <a:srgbClr val="F8E1D8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9" name=""/>
          <p:cNvSpPr>
            <a:spLocks noGrp="1"/>
          </p:cNvSpPr>
          <p:nvPr/>
        </p:nvSpPr>
        <p:spPr>
          <a:xfrm>
            <a:off x="6705600" y="1809750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TopK 路由</a:t>
            </a:r>
            <a:endParaRPr/>
          </a:p>
        </p:txBody>
      </p:sp>
      <p:sp>
        <p:nvSpPr>
          <p:cNvPr id="630" name=""/>
          <p:cNvSpPr>
            <a:spLocks noGrp="1"/>
          </p:cNvSpPr>
          <p:nvPr/>
        </p:nvSpPr>
        <p:spPr>
          <a:xfrm>
            <a:off x="6705600" y="220980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相似度矩阵</a:t>
            </a:r>
            <a:endParaRPr/>
          </a:p>
        </p:txBody>
      </p:sp>
      <p:sp>
        <p:nvSpPr>
          <p:cNvPr id="631" name=""/>
          <p:cNvSpPr>
            <a:spLocks noGrp="1"/>
          </p:cNvSpPr>
          <p:nvPr/>
        </p:nvSpPr>
        <p:spPr>
          <a:xfrm>
            <a:off x="6705600" y="24765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2" name=""/>
          <p:cNvSpPr>
            <a:spLocks noGrp="1"/>
          </p:cNvSpPr>
          <p:nvPr/>
        </p:nvSpPr>
        <p:spPr>
          <a:xfrm>
            <a:off x="6877050" y="24765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3" name=""/>
          <p:cNvSpPr>
            <a:spLocks noGrp="1"/>
          </p:cNvSpPr>
          <p:nvPr/>
        </p:nvSpPr>
        <p:spPr>
          <a:xfrm>
            <a:off x="7048500" y="247650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4" name=""/>
          <p:cNvSpPr>
            <a:spLocks noGrp="1"/>
          </p:cNvSpPr>
          <p:nvPr/>
        </p:nvSpPr>
        <p:spPr>
          <a:xfrm>
            <a:off x="7219950" y="24765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5" name=""/>
          <p:cNvSpPr>
            <a:spLocks noGrp="1"/>
          </p:cNvSpPr>
          <p:nvPr/>
        </p:nvSpPr>
        <p:spPr>
          <a:xfrm>
            <a:off x="6705600" y="26479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6" name=""/>
          <p:cNvSpPr>
            <a:spLocks noGrp="1"/>
          </p:cNvSpPr>
          <p:nvPr/>
        </p:nvSpPr>
        <p:spPr>
          <a:xfrm>
            <a:off x="6877050" y="264795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7" name=""/>
          <p:cNvSpPr>
            <a:spLocks noGrp="1"/>
          </p:cNvSpPr>
          <p:nvPr/>
        </p:nvSpPr>
        <p:spPr>
          <a:xfrm>
            <a:off x="7048500" y="26479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8" name=""/>
          <p:cNvSpPr>
            <a:spLocks noGrp="1"/>
          </p:cNvSpPr>
          <p:nvPr/>
        </p:nvSpPr>
        <p:spPr>
          <a:xfrm>
            <a:off x="7219950" y="26479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39" name=""/>
          <p:cNvSpPr>
            <a:spLocks noGrp="1"/>
          </p:cNvSpPr>
          <p:nvPr/>
        </p:nvSpPr>
        <p:spPr>
          <a:xfrm>
            <a:off x="6705600" y="28194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0" name=""/>
          <p:cNvSpPr>
            <a:spLocks noGrp="1"/>
          </p:cNvSpPr>
          <p:nvPr/>
        </p:nvSpPr>
        <p:spPr>
          <a:xfrm>
            <a:off x="6877050" y="28194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1" name=""/>
          <p:cNvSpPr>
            <a:spLocks noGrp="1"/>
          </p:cNvSpPr>
          <p:nvPr/>
        </p:nvSpPr>
        <p:spPr>
          <a:xfrm>
            <a:off x="7048500" y="281940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2" name=""/>
          <p:cNvSpPr>
            <a:spLocks noGrp="1"/>
          </p:cNvSpPr>
          <p:nvPr/>
        </p:nvSpPr>
        <p:spPr>
          <a:xfrm>
            <a:off x="7219950" y="281940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3" name=""/>
          <p:cNvSpPr>
            <a:spLocks noGrp="1"/>
          </p:cNvSpPr>
          <p:nvPr/>
        </p:nvSpPr>
        <p:spPr>
          <a:xfrm>
            <a:off x="6705600" y="2990850"/>
            <a:ext cx="133350" cy="133350"/>
          </a:xfrm>
          <a:prstGeom prst="rect">
            <a:avLst/>
          </a:prstGeom>
          <a:solidFill>
            <a:srgbClr val="D94F3D"/>
          </a:solidFill>
          <a:ln w="9525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4" name=""/>
          <p:cNvSpPr>
            <a:spLocks noGrp="1"/>
          </p:cNvSpPr>
          <p:nvPr/>
        </p:nvSpPr>
        <p:spPr>
          <a:xfrm>
            <a:off x="6877050" y="29908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5" name=""/>
          <p:cNvSpPr>
            <a:spLocks noGrp="1"/>
          </p:cNvSpPr>
          <p:nvPr/>
        </p:nvSpPr>
        <p:spPr>
          <a:xfrm>
            <a:off x="7048500" y="29908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6" name=""/>
          <p:cNvSpPr>
            <a:spLocks noGrp="1"/>
          </p:cNvSpPr>
          <p:nvPr/>
        </p:nvSpPr>
        <p:spPr>
          <a:xfrm>
            <a:off x="7219950" y="2990850"/>
            <a:ext cx="133350" cy="133350"/>
          </a:xfrm>
          <a:prstGeom prst="rect">
            <a:avLst/>
          </a:prstGeom>
          <a:solidFill>
            <a:srgbClr val="FFFFFF"/>
          </a:solidFill>
          <a:ln w="9525">
            <a:solidFill>
              <a:srgbClr val="AFC3C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7" name=""/>
          <p:cNvSpPr>
            <a:spLocks noGrp="1"/>
          </p:cNvSpPr>
          <p:nvPr/>
        </p:nvSpPr>
        <p:spPr>
          <a:xfrm>
            <a:off x="7524750" y="2495550"/>
            <a:ext cx="7239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TopK=4</a:t>
            </a:r>
            <a:endParaRPr/>
          </a:p>
          <a:p>
            <a:pPr algn="l">
              <a:defRPr sz="975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975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只取最相关区域</a:t>
            </a:r>
            <a:endParaRPr/>
          </a:p>
        </p:txBody>
      </p:sp>
      <p:sp>
        <p:nvSpPr>
          <p:cNvPr id="648" name=""/>
          <p:cNvSpPr>
            <a:spLocks noGrp="1"/>
          </p:cNvSpPr>
          <p:nvPr/>
        </p:nvSpPr>
        <p:spPr>
          <a:xfrm>
            <a:off x="8648700" y="2447925"/>
            <a:ext cx="4191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9" name=""/>
          <p:cNvSpPr>
            <a:spLocks noGrp="1"/>
          </p:cNvSpPr>
          <p:nvPr/>
        </p:nvSpPr>
        <p:spPr>
          <a:xfrm>
            <a:off x="9048750" y="23717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0" name=""/>
          <p:cNvSpPr>
            <a:spLocks noGrp="1"/>
          </p:cNvSpPr>
          <p:nvPr/>
        </p:nvSpPr>
        <p:spPr>
          <a:xfrm>
            <a:off x="9486900" y="1581150"/>
            <a:ext cx="1714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1" name=""/>
          <p:cNvSpPr>
            <a:spLocks noGrp="1"/>
          </p:cNvSpPr>
          <p:nvPr/>
        </p:nvSpPr>
        <p:spPr>
          <a:xfrm>
            <a:off x="9696450" y="1809750"/>
            <a:ext cx="1200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稀疏注意力</a:t>
            </a:r>
            <a:endParaRPr/>
          </a:p>
        </p:txBody>
      </p:sp>
      <p:sp>
        <p:nvSpPr>
          <p:cNvPr id="652" name=""/>
          <p:cNvSpPr>
            <a:spLocks noGrp="1"/>
          </p:cNvSpPr>
          <p:nvPr/>
        </p:nvSpPr>
        <p:spPr>
          <a:xfrm>
            <a:off x="9696450" y="23241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3" name=""/>
          <p:cNvSpPr>
            <a:spLocks noGrp="1"/>
          </p:cNvSpPr>
          <p:nvPr/>
        </p:nvSpPr>
        <p:spPr>
          <a:xfrm>
            <a:off x="9867900" y="224790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收集路由区域 K/V</a:t>
            </a:r>
            <a:endParaRPr/>
          </a:p>
        </p:txBody>
      </p:sp>
      <p:sp>
        <p:nvSpPr>
          <p:cNvPr id="654" name=""/>
          <p:cNvSpPr>
            <a:spLocks noGrp="1"/>
          </p:cNvSpPr>
          <p:nvPr/>
        </p:nvSpPr>
        <p:spPr>
          <a:xfrm>
            <a:off x="9696450" y="268605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5" name=""/>
          <p:cNvSpPr>
            <a:spLocks noGrp="1"/>
          </p:cNvSpPr>
          <p:nvPr/>
        </p:nvSpPr>
        <p:spPr>
          <a:xfrm>
            <a:off x="9867900" y="26098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8 heads 做 token 注意力</a:t>
            </a:r>
            <a:endParaRPr/>
          </a:p>
        </p:txBody>
      </p:sp>
      <p:sp>
        <p:nvSpPr>
          <p:cNvPr id="656" name=""/>
          <p:cNvSpPr>
            <a:spLocks noGrp="1"/>
          </p:cNvSpPr>
          <p:nvPr/>
        </p:nvSpPr>
        <p:spPr>
          <a:xfrm>
            <a:off x="9696450" y="30480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/>
          <p:cNvSpPr>
            <a:spLocks noGrp="1"/>
          </p:cNvSpPr>
          <p:nvPr/>
        </p:nvSpPr>
        <p:spPr>
          <a:xfrm>
            <a:off x="9867900" y="297180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LCE: 5×5 DWConv</a:t>
            </a:r>
            <a:endParaRPr/>
          </a:p>
        </p:txBody>
      </p:sp>
      <p:sp>
        <p:nvSpPr>
          <p:cNvPr id="658" name=""/>
          <p:cNvSpPr>
            <a:spLocks noGrp="1"/>
          </p:cNvSpPr>
          <p:nvPr/>
        </p:nvSpPr>
        <p:spPr>
          <a:xfrm>
            <a:off x="990600" y="3714750"/>
            <a:ext cx="31813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9" name=""/>
          <p:cNvSpPr>
            <a:spLocks noGrp="1"/>
          </p:cNvSpPr>
          <p:nvPr/>
        </p:nvSpPr>
        <p:spPr>
          <a:xfrm>
            <a:off x="1219200" y="3924300"/>
            <a:ext cx="2000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Transformer Block 内部</a:t>
            </a:r>
            <a:endParaRPr/>
          </a:p>
        </p:txBody>
      </p:sp>
      <p:sp>
        <p:nvSpPr>
          <p:cNvPr id="660" name=""/>
          <p:cNvSpPr>
            <a:spLocks noGrp="1"/>
          </p:cNvSpPr>
          <p:nvPr/>
        </p:nvSpPr>
        <p:spPr>
          <a:xfrm>
            <a:off x="1219200" y="4400550"/>
            <a:ext cx="742950" cy="66675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1" name=""/>
          <p:cNvSpPr>
            <a:spLocks noGrp="1"/>
          </p:cNvSpPr>
          <p:nvPr/>
        </p:nvSpPr>
        <p:spPr>
          <a:xfrm>
            <a:off x="1314450" y="451485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CPE</a:t>
            </a:r>
            <a:endParaRPr/>
          </a:p>
        </p:txBody>
      </p:sp>
      <p:sp>
        <p:nvSpPr>
          <p:cNvPr id="662" name=""/>
          <p:cNvSpPr>
            <a:spLocks noGrp="1"/>
          </p:cNvSpPr>
          <p:nvPr/>
        </p:nvSpPr>
        <p:spPr>
          <a:xfrm>
            <a:off x="1257300" y="47625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3×3 depthwise conv</a:t>
            </a:r>
            <a:endParaRPr/>
          </a:p>
          <a:p>
            <a:pPr algn="ctr">
              <a:def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补位置编码</a:t>
            </a:r>
            <a:endParaRPr/>
          </a:p>
        </p:txBody>
      </p:sp>
      <p:sp>
        <p:nvSpPr>
          <p:cNvPr id="663" name=""/>
          <p:cNvSpPr>
            <a:spLocks noGrp="1"/>
          </p:cNvSpPr>
          <p:nvPr/>
        </p:nvSpPr>
        <p:spPr>
          <a:xfrm>
            <a:off x="1981200" y="46291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C63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35F"/>
                </a:solidFill>
                <a:latin typeface="Aptos"/>
                <a:ea typeface="Aptos"/>
                <a:cs typeface="Aptos"/>
              </a:rPr>
              <a:t>+</a:t>
            </a:r>
            <a:endParaRPr/>
          </a:p>
        </p:txBody>
      </p:sp>
      <p:sp>
        <p:nvSpPr>
          <p:cNvPr id="664" name=""/>
          <p:cNvSpPr>
            <a:spLocks noGrp="1"/>
          </p:cNvSpPr>
          <p:nvPr/>
        </p:nvSpPr>
        <p:spPr>
          <a:xfrm>
            <a:off x="2114550" y="4400550"/>
            <a:ext cx="742950" cy="66675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5" name=""/>
          <p:cNvSpPr>
            <a:spLocks noGrp="1"/>
          </p:cNvSpPr>
          <p:nvPr/>
        </p:nvSpPr>
        <p:spPr>
          <a:xfrm>
            <a:off x="2209800" y="451485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BRA</a:t>
            </a:r>
            <a:endParaRPr/>
          </a:p>
        </p:txBody>
      </p:sp>
      <p:sp>
        <p:nvSpPr>
          <p:cNvPr id="666" name=""/>
          <p:cNvSpPr>
            <a:spLocks noGrp="1"/>
          </p:cNvSpPr>
          <p:nvPr/>
        </p:nvSpPr>
        <p:spPr>
          <a:xfrm>
            <a:off x="2152650" y="47625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Bi-level Routing Attention</a:t>
            </a:r>
            <a:endParaRPr/>
          </a:p>
          <a:p>
            <a:pPr algn="ctr">
              <a:def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先路由再注意力</a:t>
            </a:r>
            <a:endParaRPr/>
          </a:p>
        </p:txBody>
      </p:sp>
      <p:sp>
        <p:nvSpPr>
          <p:cNvPr id="667" name=""/>
          <p:cNvSpPr>
            <a:spLocks noGrp="1"/>
          </p:cNvSpPr>
          <p:nvPr/>
        </p:nvSpPr>
        <p:spPr>
          <a:xfrm>
            <a:off x="2876550" y="462915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5C635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C635F"/>
                </a:solidFill>
                <a:latin typeface="Aptos"/>
                <a:ea typeface="Aptos"/>
                <a:cs typeface="Aptos"/>
              </a:rPr>
              <a:t>+</a:t>
            </a:r>
            <a:endParaRPr/>
          </a:p>
        </p:txBody>
      </p:sp>
      <p:sp>
        <p:nvSpPr>
          <p:cNvPr id="668" name=""/>
          <p:cNvSpPr>
            <a:spLocks noGrp="1"/>
          </p:cNvSpPr>
          <p:nvPr/>
        </p:nvSpPr>
        <p:spPr>
          <a:xfrm>
            <a:off x="3009900" y="4400550"/>
            <a:ext cx="742950" cy="66675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69" name=""/>
          <p:cNvSpPr>
            <a:spLocks noGrp="1"/>
          </p:cNvSpPr>
          <p:nvPr/>
        </p:nvSpPr>
        <p:spPr>
          <a:xfrm>
            <a:off x="3105150" y="451485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FFN</a:t>
            </a:r>
            <a:endParaRPr/>
          </a:p>
        </p:txBody>
      </p:sp>
      <p:sp>
        <p:nvSpPr>
          <p:cNvPr id="670" name=""/>
          <p:cNvSpPr>
            <a:spLocks noGrp="1"/>
          </p:cNvSpPr>
          <p:nvPr/>
        </p:nvSpPr>
        <p:spPr>
          <a:xfrm>
            <a:off x="3048000" y="4762500"/>
            <a:ext cx="66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线性扩展 + DWConv + GELU</a:t>
            </a:r>
            <a:endParaRPr/>
          </a:p>
          <a:p>
            <a:pPr algn="ctr">
              <a:def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6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再线性压回</a:t>
            </a:r>
            <a:endParaRPr/>
          </a:p>
        </p:txBody>
      </p:sp>
      <p:sp>
        <p:nvSpPr>
          <p:cNvPr id="671" name=""/>
          <p:cNvSpPr>
            <a:spLocks noGrp="1"/>
          </p:cNvSpPr>
          <p:nvPr/>
        </p:nvSpPr>
        <p:spPr>
          <a:xfrm>
            <a:off x="1219200" y="5219700"/>
            <a:ext cx="2571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残差连接贯穿各步，避免只靠注意力重新学习全部特征。</a:t>
            </a:r>
            <a:endParaRPr/>
          </a:p>
        </p:txBody>
      </p:sp>
      <p:sp>
        <p:nvSpPr>
          <p:cNvPr id="672" name=""/>
          <p:cNvSpPr>
            <a:spLocks noGrp="1"/>
          </p:cNvSpPr>
          <p:nvPr/>
        </p:nvSpPr>
        <p:spPr>
          <a:xfrm>
            <a:off x="4648200" y="3714750"/>
            <a:ext cx="65532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3" name=""/>
          <p:cNvSpPr>
            <a:spLocks noGrp="1"/>
          </p:cNvSpPr>
          <p:nvPr/>
        </p:nvSpPr>
        <p:spPr>
          <a:xfrm>
            <a:off x="4876800" y="3924300"/>
            <a:ext cx="3714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TopK 敏感性：4 是精度和速度的折中点</a:t>
            </a:r>
            <a:endParaRPr/>
          </a:p>
        </p:txBody>
      </p:sp>
      <p:sp>
        <p:nvSpPr>
          <p:cNvPr id="674" name=""/>
          <p:cNvSpPr>
            <a:spLocks noGrp="1"/>
          </p:cNvSpPr>
          <p:nvPr/>
        </p:nvSpPr>
        <p:spPr>
          <a:xfrm>
            <a:off x="487680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5" name=""/>
          <p:cNvSpPr>
            <a:spLocks noGrp="1"/>
          </p:cNvSpPr>
          <p:nvPr/>
        </p:nvSpPr>
        <p:spPr>
          <a:xfrm>
            <a:off x="495300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26"/>
                </a:solidFill>
                <a:latin typeface="Aptos"/>
                <a:ea typeface="Aptos"/>
                <a:cs typeface="Aptos"/>
              </a:rPr>
              <a:t>TopK</a:t>
            </a:r>
            <a:endParaRPr/>
          </a:p>
        </p:txBody>
      </p:sp>
      <p:sp>
        <p:nvSpPr>
          <p:cNvPr id="676" name=""/>
          <p:cNvSpPr>
            <a:spLocks noGrp="1"/>
          </p:cNvSpPr>
          <p:nvPr/>
        </p:nvSpPr>
        <p:spPr>
          <a:xfrm>
            <a:off x="600075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7" name=""/>
          <p:cNvSpPr>
            <a:spLocks noGrp="1"/>
          </p:cNvSpPr>
          <p:nvPr/>
        </p:nvSpPr>
        <p:spPr>
          <a:xfrm>
            <a:off x="607695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26"/>
                </a:solidFill>
                <a:latin typeface="Aptos"/>
                <a:ea typeface="Aptos"/>
                <a:cs typeface="Aptos"/>
              </a:rPr>
              <a:t>2</a:t>
            </a:r>
            <a:endParaRPr/>
          </a:p>
        </p:txBody>
      </p:sp>
      <p:sp>
        <p:nvSpPr>
          <p:cNvPr id="678" name=""/>
          <p:cNvSpPr>
            <a:spLocks noGrp="1"/>
          </p:cNvSpPr>
          <p:nvPr/>
        </p:nvSpPr>
        <p:spPr>
          <a:xfrm>
            <a:off x="712470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79" name=""/>
          <p:cNvSpPr>
            <a:spLocks noGrp="1"/>
          </p:cNvSpPr>
          <p:nvPr/>
        </p:nvSpPr>
        <p:spPr>
          <a:xfrm>
            <a:off x="720090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26"/>
                </a:solidFill>
                <a:latin typeface="Aptos"/>
                <a:ea typeface="Aptos"/>
                <a:cs typeface="Aptos"/>
              </a:rPr>
              <a:t>4</a:t>
            </a:r>
            <a:endParaRPr/>
          </a:p>
        </p:txBody>
      </p:sp>
      <p:sp>
        <p:nvSpPr>
          <p:cNvPr id="680" name=""/>
          <p:cNvSpPr>
            <a:spLocks noGrp="1"/>
          </p:cNvSpPr>
          <p:nvPr/>
        </p:nvSpPr>
        <p:spPr>
          <a:xfrm>
            <a:off x="824865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1" name=""/>
          <p:cNvSpPr>
            <a:spLocks noGrp="1"/>
          </p:cNvSpPr>
          <p:nvPr/>
        </p:nvSpPr>
        <p:spPr>
          <a:xfrm>
            <a:off x="832485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26"/>
                </a:solidFill>
                <a:latin typeface="Aptos"/>
                <a:ea typeface="Aptos"/>
                <a:cs typeface="Aptos"/>
              </a:rPr>
              <a:t>6</a:t>
            </a:r>
            <a:endParaRPr/>
          </a:p>
        </p:txBody>
      </p:sp>
      <p:sp>
        <p:nvSpPr>
          <p:cNvPr id="682" name=""/>
          <p:cNvSpPr>
            <a:spLocks noGrp="1"/>
          </p:cNvSpPr>
          <p:nvPr/>
        </p:nvSpPr>
        <p:spPr>
          <a:xfrm>
            <a:off x="9372600" y="4400550"/>
            <a:ext cx="1028700" cy="228600"/>
          </a:xfrm>
          <a:prstGeom prst="rect">
            <a:avLst/>
          </a:prstGeom>
          <a:solidFill>
            <a:srgbClr val="EFECE5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3" name=""/>
          <p:cNvSpPr>
            <a:spLocks noGrp="1"/>
          </p:cNvSpPr>
          <p:nvPr/>
        </p:nvSpPr>
        <p:spPr>
          <a:xfrm>
            <a:off x="9448800" y="44386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326"/>
                </a:solidFill>
                <a:latin typeface="Aptos"/>
                <a:ea typeface="Aptos"/>
                <a:cs typeface="Aptos"/>
              </a:rPr>
              <a:t>8</a:t>
            </a:r>
            <a:endParaRPr/>
          </a:p>
        </p:txBody>
      </p:sp>
      <p:sp>
        <p:nvSpPr>
          <p:cNvPr id="684" name=""/>
          <p:cNvSpPr>
            <a:spLocks noGrp="1"/>
          </p:cNvSpPr>
          <p:nvPr/>
        </p:nvSpPr>
        <p:spPr>
          <a:xfrm>
            <a:off x="487680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5" name=""/>
          <p:cNvSpPr>
            <a:spLocks noGrp="1"/>
          </p:cNvSpPr>
          <p:nvPr/>
        </p:nvSpPr>
        <p:spPr>
          <a:xfrm>
            <a:off x="495300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mIoU</a:t>
            </a:r>
            <a:endParaRPr/>
          </a:p>
        </p:txBody>
      </p:sp>
      <p:sp>
        <p:nvSpPr>
          <p:cNvPr id="686" name=""/>
          <p:cNvSpPr>
            <a:spLocks noGrp="1"/>
          </p:cNvSpPr>
          <p:nvPr/>
        </p:nvSpPr>
        <p:spPr>
          <a:xfrm>
            <a:off x="600075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7" name=""/>
          <p:cNvSpPr>
            <a:spLocks noGrp="1"/>
          </p:cNvSpPr>
          <p:nvPr/>
        </p:nvSpPr>
        <p:spPr>
          <a:xfrm>
            <a:off x="607695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0.897</a:t>
            </a:r>
            <a:endParaRPr/>
          </a:p>
        </p:txBody>
      </p:sp>
      <p:sp>
        <p:nvSpPr>
          <p:cNvPr id="688" name=""/>
          <p:cNvSpPr>
            <a:spLocks noGrp="1"/>
          </p:cNvSpPr>
          <p:nvPr/>
        </p:nvSpPr>
        <p:spPr>
          <a:xfrm>
            <a:off x="7124700" y="4667250"/>
            <a:ext cx="1028700" cy="2286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9" name=""/>
          <p:cNvSpPr>
            <a:spLocks noGrp="1"/>
          </p:cNvSpPr>
          <p:nvPr/>
        </p:nvSpPr>
        <p:spPr>
          <a:xfrm>
            <a:off x="720090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0.911</a:t>
            </a:r>
            <a:endParaRPr/>
          </a:p>
        </p:txBody>
      </p:sp>
      <p:sp>
        <p:nvSpPr>
          <p:cNvPr id="690" name=""/>
          <p:cNvSpPr>
            <a:spLocks noGrp="1"/>
          </p:cNvSpPr>
          <p:nvPr/>
        </p:nvSpPr>
        <p:spPr>
          <a:xfrm>
            <a:off x="824865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1" name=""/>
          <p:cNvSpPr>
            <a:spLocks noGrp="1"/>
          </p:cNvSpPr>
          <p:nvPr/>
        </p:nvSpPr>
        <p:spPr>
          <a:xfrm>
            <a:off x="832485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0.910</a:t>
            </a:r>
            <a:endParaRPr/>
          </a:p>
        </p:txBody>
      </p:sp>
      <p:sp>
        <p:nvSpPr>
          <p:cNvPr id="692" name=""/>
          <p:cNvSpPr>
            <a:spLocks noGrp="1"/>
          </p:cNvSpPr>
          <p:nvPr/>
        </p:nvSpPr>
        <p:spPr>
          <a:xfrm>
            <a:off x="9372600" y="46672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3" name=""/>
          <p:cNvSpPr>
            <a:spLocks noGrp="1"/>
          </p:cNvSpPr>
          <p:nvPr/>
        </p:nvSpPr>
        <p:spPr>
          <a:xfrm>
            <a:off x="9448800" y="47053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0.906</a:t>
            </a:r>
            <a:endParaRPr/>
          </a:p>
        </p:txBody>
      </p:sp>
      <p:sp>
        <p:nvSpPr>
          <p:cNvPr id="694" name=""/>
          <p:cNvSpPr>
            <a:spLocks noGrp="1"/>
          </p:cNvSpPr>
          <p:nvPr/>
        </p:nvSpPr>
        <p:spPr>
          <a:xfrm>
            <a:off x="487680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5" name=""/>
          <p:cNvSpPr>
            <a:spLocks noGrp="1"/>
          </p:cNvSpPr>
          <p:nvPr/>
        </p:nvSpPr>
        <p:spPr>
          <a:xfrm>
            <a:off x="495300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HD95</a:t>
            </a:r>
            <a:endParaRPr/>
          </a:p>
        </p:txBody>
      </p:sp>
      <p:sp>
        <p:nvSpPr>
          <p:cNvPr id="696" name=""/>
          <p:cNvSpPr>
            <a:spLocks noGrp="1"/>
          </p:cNvSpPr>
          <p:nvPr/>
        </p:nvSpPr>
        <p:spPr>
          <a:xfrm>
            <a:off x="600075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7" name=""/>
          <p:cNvSpPr>
            <a:spLocks noGrp="1"/>
          </p:cNvSpPr>
          <p:nvPr/>
        </p:nvSpPr>
        <p:spPr>
          <a:xfrm>
            <a:off x="607695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11.86</a:t>
            </a:r>
            <a:endParaRPr/>
          </a:p>
        </p:txBody>
      </p:sp>
      <p:sp>
        <p:nvSpPr>
          <p:cNvPr id="698" name=""/>
          <p:cNvSpPr>
            <a:spLocks noGrp="1"/>
          </p:cNvSpPr>
          <p:nvPr/>
        </p:nvSpPr>
        <p:spPr>
          <a:xfrm>
            <a:off x="7124700" y="4933950"/>
            <a:ext cx="1028700" cy="2286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9" name=""/>
          <p:cNvSpPr>
            <a:spLocks noGrp="1"/>
          </p:cNvSpPr>
          <p:nvPr/>
        </p:nvSpPr>
        <p:spPr>
          <a:xfrm>
            <a:off x="720090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10.68</a:t>
            </a:r>
            <a:endParaRPr/>
          </a:p>
        </p:txBody>
      </p:sp>
      <p:sp>
        <p:nvSpPr>
          <p:cNvPr id="700" name=""/>
          <p:cNvSpPr>
            <a:spLocks noGrp="1"/>
          </p:cNvSpPr>
          <p:nvPr/>
        </p:nvSpPr>
        <p:spPr>
          <a:xfrm>
            <a:off x="824865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1" name=""/>
          <p:cNvSpPr>
            <a:spLocks noGrp="1"/>
          </p:cNvSpPr>
          <p:nvPr/>
        </p:nvSpPr>
        <p:spPr>
          <a:xfrm>
            <a:off x="832485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10.72</a:t>
            </a:r>
            <a:endParaRPr/>
          </a:p>
        </p:txBody>
      </p:sp>
      <p:sp>
        <p:nvSpPr>
          <p:cNvPr id="702" name=""/>
          <p:cNvSpPr>
            <a:spLocks noGrp="1"/>
          </p:cNvSpPr>
          <p:nvPr/>
        </p:nvSpPr>
        <p:spPr>
          <a:xfrm>
            <a:off x="9372600" y="49339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3" name=""/>
          <p:cNvSpPr>
            <a:spLocks noGrp="1"/>
          </p:cNvSpPr>
          <p:nvPr/>
        </p:nvSpPr>
        <p:spPr>
          <a:xfrm>
            <a:off x="9448800" y="49720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10.91</a:t>
            </a:r>
            <a:endParaRPr/>
          </a:p>
        </p:txBody>
      </p:sp>
      <p:sp>
        <p:nvSpPr>
          <p:cNvPr id="704" name=""/>
          <p:cNvSpPr>
            <a:spLocks noGrp="1"/>
          </p:cNvSpPr>
          <p:nvPr/>
        </p:nvSpPr>
        <p:spPr>
          <a:xfrm>
            <a:off x="487680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5" name=""/>
          <p:cNvSpPr>
            <a:spLocks noGrp="1"/>
          </p:cNvSpPr>
          <p:nvPr/>
        </p:nvSpPr>
        <p:spPr>
          <a:xfrm>
            <a:off x="495300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推理 ms</a:t>
            </a:r>
            <a:endParaRPr/>
          </a:p>
        </p:txBody>
      </p:sp>
      <p:sp>
        <p:nvSpPr>
          <p:cNvPr id="706" name=""/>
          <p:cNvSpPr>
            <a:spLocks noGrp="1"/>
          </p:cNvSpPr>
          <p:nvPr/>
        </p:nvSpPr>
        <p:spPr>
          <a:xfrm>
            <a:off x="600075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7" name=""/>
          <p:cNvSpPr>
            <a:spLocks noGrp="1"/>
          </p:cNvSpPr>
          <p:nvPr/>
        </p:nvSpPr>
        <p:spPr>
          <a:xfrm>
            <a:off x="607695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11.2</a:t>
            </a:r>
            <a:endParaRPr/>
          </a:p>
        </p:txBody>
      </p:sp>
      <p:sp>
        <p:nvSpPr>
          <p:cNvPr id="708" name=""/>
          <p:cNvSpPr>
            <a:spLocks noGrp="1"/>
          </p:cNvSpPr>
          <p:nvPr/>
        </p:nvSpPr>
        <p:spPr>
          <a:xfrm>
            <a:off x="7124700" y="5200650"/>
            <a:ext cx="1028700" cy="2286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9" name=""/>
          <p:cNvSpPr>
            <a:spLocks noGrp="1"/>
          </p:cNvSpPr>
          <p:nvPr/>
        </p:nvSpPr>
        <p:spPr>
          <a:xfrm>
            <a:off x="720090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12.4</a:t>
            </a:r>
            <a:endParaRPr/>
          </a:p>
        </p:txBody>
      </p:sp>
      <p:sp>
        <p:nvSpPr>
          <p:cNvPr id="710" name=""/>
          <p:cNvSpPr>
            <a:spLocks noGrp="1"/>
          </p:cNvSpPr>
          <p:nvPr/>
        </p:nvSpPr>
        <p:spPr>
          <a:xfrm>
            <a:off x="824865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1" name=""/>
          <p:cNvSpPr>
            <a:spLocks noGrp="1"/>
          </p:cNvSpPr>
          <p:nvPr/>
        </p:nvSpPr>
        <p:spPr>
          <a:xfrm>
            <a:off x="832485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14.1</a:t>
            </a:r>
            <a:endParaRPr/>
          </a:p>
        </p:txBody>
      </p:sp>
      <p:sp>
        <p:nvSpPr>
          <p:cNvPr id="712" name=""/>
          <p:cNvSpPr>
            <a:spLocks noGrp="1"/>
          </p:cNvSpPr>
          <p:nvPr/>
        </p:nvSpPr>
        <p:spPr>
          <a:xfrm>
            <a:off x="9372600" y="5200650"/>
            <a:ext cx="1028700" cy="228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3" name=""/>
          <p:cNvSpPr>
            <a:spLocks noGrp="1"/>
          </p:cNvSpPr>
          <p:nvPr/>
        </p:nvSpPr>
        <p:spPr>
          <a:xfrm>
            <a:off x="9448800" y="5238750"/>
            <a:ext cx="8763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18232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326"/>
                </a:solidFill>
                <a:latin typeface="Aptos"/>
                <a:ea typeface="Aptos"/>
                <a:cs typeface="Aptos"/>
              </a:rPr>
              <a:t>16.0</a:t>
            </a:r>
            <a:endParaRPr/>
          </a:p>
        </p:txBody>
      </p:sp>
      <p:sp>
        <p:nvSpPr>
          <p:cNvPr id="714" name=""/>
          <p:cNvSpPr>
            <a:spLocks noGrp="1"/>
          </p:cNvSpPr>
          <p:nvPr/>
        </p:nvSpPr>
        <p:spPr>
          <a:xfrm>
            <a:off x="4876800" y="5734050"/>
            <a:ext cx="66675" cy="666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5" name=""/>
          <p:cNvSpPr>
            <a:spLocks noGrp="1"/>
          </p:cNvSpPr>
          <p:nvPr/>
        </p:nvSpPr>
        <p:spPr>
          <a:xfrm>
            <a:off x="5048250" y="5657850"/>
            <a:ext cx="5162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TopK 过小，长程区域拿不够；TopK 过大，计算增加但精度不再提升。</a:t>
            </a:r>
            <a:endParaRPr/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8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9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0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11  SAE MODULE</a:t>
            </a:r>
            <a:endParaRPr/>
          </a:p>
        </p:txBody>
      </p:sp>
      <p:sp>
        <p:nvSpPr>
          <p:cNvPr id="721" name=""/>
          <p:cNvSpPr>
            <a:spLocks noGrp="1"/>
          </p:cNvSpPr>
          <p:nvPr/>
        </p:nvSpPr>
        <p:spPr>
          <a:xfrm>
            <a:off x="514350" y="781050"/>
            <a:ext cx="9620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SAE 放在解码端，用位置和通道权重把边界再收紧。</a:t>
            </a:r>
            <a:endParaRPr/>
          </a:p>
        </p:txBody>
      </p:sp>
      <p:sp>
        <p:nvSpPr>
          <p:cNvPr id="722" name=""/>
          <p:cNvSpPr>
            <a:spLocks noGrp="1"/>
          </p:cNvSpPr>
          <p:nvPr/>
        </p:nvSpPr>
        <p:spPr>
          <a:xfrm>
            <a:off x="533400" y="1676400"/>
            <a:ext cx="8001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723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895764" y="1962150"/>
            <a:ext cx="7238172" cy="1200150"/>
          </a:xfrm>
          <a:prstGeom prst="rect">
            <a:avLst/>
          </a:prstGeom>
        </p:spPr>
      </p:pic>
      <p:sp>
        <p:nvSpPr>
          <p:cNvPr id="724" name=""/>
          <p:cNvSpPr>
            <a:spLocks noGrp="1"/>
          </p:cNvSpPr>
          <p:nvPr/>
        </p:nvSpPr>
        <p:spPr>
          <a:xfrm>
            <a:off x="800100" y="4333875"/>
            <a:ext cx="2762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5" name=""/>
          <p:cNvSpPr>
            <a:spLocks noGrp="1"/>
          </p:cNvSpPr>
          <p:nvPr/>
        </p:nvSpPr>
        <p:spPr>
          <a:xfrm>
            <a:off x="971550" y="4552950"/>
            <a:ext cx="40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  <a:endParaRPr/>
          </a:p>
        </p:txBody>
      </p:sp>
      <p:sp>
        <p:nvSpPr>
          <p:cNvPr id="726" name=""/>
          <p:cNvSpPr>
            <a:spLocks noGrp="1"/>
          </p:cNvSpPr>
          <p:nvPr/>
        </p:nvSpPr>
        <p:spPr>
          <a:xfrm>
            <a:off x="1485900" y="4476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坐标注意力</a:t>
            </a:r>
            <a:endParaRPr/>
          </a:p>
        </p:txBody>
      </p:sp>
      <p:sp>
        <p:nvSpPr>
          <p:cNvPr id="727" name=""/>
          <p:cNvSpPr>
            <a:spLocks noGrp="1"/>
          </p:cNvSpPr>
          <p:nvPr/>
        </p:nvSpPr>
        <p:spPr>
          <a:xfrm>
            <a:off x="1485900" y="47434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沿水平和垂直方向分别池化，显式保存位置信息。</a:t>
            </a:r>
            <a:endParaRPr/>
          </a:p>
        </p:txBody>
      </p:sp>
      <p:sp>
        <p:nvSpPr>
          <p:cNvPr id="728" name=""/>
          <p:cNvSpPr>
            <a:spLocks noGrp="1"/>
          </p:cNvSpPr>
          <p:nvPr/>
        </p:nvSpPr>
        <p:spPr>
          <a:xfrm>
            <a:off x="4019550" y="4333875"/>
            <a:ext cx="2762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9" name=""/>
          <p:cNvSpPr>
            <a:spLocks noGrp="1"/>
          </p:cNvSpPr>
          <p:nvPr/>
        </p:nvSpPr>
        <p:spPr>
          <a:xfrm>
            <a:off x="4191000" y="4552950"/>
            <a:ext cx="40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  <a:endParaRPr/>
          </a:p>
        </p:txBody>
      </p:sp>
      <p:sp>
        <p:nvSpPr>
          <p:cNvPr id="730" name=""/>
          <p:cNvSpPr>
            <a:spLocks noGrp="1"/>
          </p:cNvSpPr>
          <p:nvPr/>
        </p:nvSpPr>
        <p:spPr>
          <a:xfrm>
            <a:off x="4705350" y="4476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特征精炼</a:t>
            </a:r>
            <a:endParaRPr/>
          </a:p>
        </p:txBody>
      </p:sp>
      <p:sp>
        <p:nvSpPr>
          <p:cNvPr id="731" name=""/>
          <p:cNvSpPr>
            <a:spLocks noGrp="1"/>
          </p:cNvSpPr>
          <p:nvPr/>
        </p:nvSpPr>
        <p:spPr>
          <a:xfrm>
            <a:off x="4705350" y="47434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两层 3×3 卷积融合局部邻域上下文，补回细节。</a:t>
            </a:r>
            <a:endParaRPr/>
          </a:p>
        </p:txBody>
      </p:sp>
      <p:sp>
        <p:nvSpPr>
          <p:cNvPr id="732" name=""/>
          <p:cNvSpPr>
            <a:spLocks noGrp="1"/>
          </p:cNvSpPr>
          <p:nvPr/>
        </p:nvSpPr>
        <p:spPr>
          <a:xfrm>
            <a:off x="7239000" y="4333875"/>
            <a:ext cx="2762250" cy="9334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3" name=""/>
          <p:cNvSpPr>
            <a:spLocks noGrp="1"/>
          </p:cNvSpPr>
          <p:nvPr/>
        </p:nvSpPr>
        <p:spPr>
          <a:xfrm>
            <a:off x="7410450" y="4552950"/>
            <a:ext cx="4000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  <a:endParaRPr/>
          </a:p>
        </p:txBody>
      </p:sp>
      <p:sp>
        <p:nvSpPr>
          <p:cNvPr id="734" name=""/>
          <p:cNvSpPr>
            <a:spLocks noGrp="1"/>
          </p:cNvSpPr>
          <p:nvPr/>
        </p:nvSpPr>
        <p:spPr>
          <a:xfrm>
            <a:off x="7924800" y="4476750"/>
            <a:ext cx="1619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163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通道注意力</a:t>
            </a:r>
            <a:endParaRPr/>
          </a:p>
        </p:txBody>
      </p:sp>
      <p:sp>
        <p:nvSpPr>
          <p:cNvPr id="735" name=""/>
          <p:cNvSpPr>
            <a:spLocks noGrp="1"/>
          </p:cNvSpPr>
          <p:nvPr/>
        </p:nvSpPr>
        <p:spPr>
          <a:xfrm>
            <a:off x="7924800" y="4743450"/>
            <a:ext cx="1809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多基数 SE 学习边界相关通道权重。</a:t>
            </a:r>
            <a:endParaRPr/>
          </a:p>
        </p:txBody>
      </p:sp>
      <p:sp>
        <p:nvSpPr>
          <p:cNvPr id="736" name=""/>
          <p:cNvSpPr>
            <a:spLocks noGrp="1"/>
          </p:cNvSpPr>
          <p:nvPr/>
        </p:nvSpPr>
        <p:spPr>
          <a:xfrm>
            <a:off x="8915400" y="1752600"/>
            <a:ext cx="228600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7" name=""/>
          <p:cNvSpPr>
            <a:spLocks noGrp="1"/>
          </p:cNvSpPr>
          <p:nvPr/>
        </p:nvSpPr>
        <p:spPr>
          <a:xfrm>
            <a:off x="8915400" y="1752600"/>
            <a:ext cx="47625" cy="12001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8" name=""/>
          <p:cNvSpPr>
            <a:spLocks noGrp="1"/>
          </p:cNvSpPr>
          <p:nvPr/>
        </p:nvSpPr>
        <p:spPr>
          <a:xfrm>
            <a:off x="9105900" y="19050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为什么放在解码器</a:t>
            </a:r>
            <a:endParaRPr/>
          </a:p>
        </p:txBody>
      </p:sp>
      <p:sp>
        <p:nvSpPr>
          <p:cNvPr id="739" name=""/>
          <p:cNvSpPr>
            <a:spLocks noGrp="1"/>
          </p:cNvSpPr>
          <p:nvPr/>
        </p:nvSpPr>
        <p:spPr>
          <a:xfrm>
            <a:off x="9105900" y="2190750"/>
            <a:ext cx="1905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此处融合浅层空间细节和高层语义，最适合纠正上采样后的边界模糊。</a:t>
            </a:r>
            <a:endParaRPr/>
          </a:p>
        </p:txBody>
      </p:sp>
      <p:sp>
        <p:nvSpPr>
          <p:cNvPr id="740" name=""/>
          <p:cNvSpPr>
            <a:spLocks noGrp="1"/>
          </p:cNvSpPr>
          <p:nvPr/>
        </p:nvSpPr>
        <p:spPr>
          <a:xfrm>
            <a:off x="8915400" y="3257550"/>
            <a:ext cx="2286000" cy="819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1" name=""/>
          <p:cNvSpPr>
            <a:spLocks noGrp="1"/>
          </p:cNvSpPr>
          <p:nvPr/>
        </p:nvSpPr>
        <p:spPr>
          <a:xfrm>
            <a:off x="8915400" y="3257550"/>
            <a:ext cx="47625" cy="8191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2" name=""/>
          <p:cNvSpPr>
            <a:spLocks noGrp="1"/>
          </p:cNvSpPr>
          <p:nvPr/>
        </p:nvSpPr>
        <p:spPr>
          <a:xfrm>
            <a:off x="9105900" y="340995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参数代价</a:t>
            </a:r>
            <a:endParaRPr/>
          </a:p>
        </p:txBody>
      </p:sp>
      <p:sp>
        <p:nvSpPr>
          <p:cNvPr id="743" name=""/>
          <p:cNvSpPr>
            <a:spLocks noGrp="1"/>
          </p:cNvSpPr>
          <p:nvPr/>
        </p:nvSpPr>
        <p:spPr>
          <a:xfrm>
            <a:off x="9105900" y="36957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单独 SAE 带来 mIoU +5.9%，HD95 从 12.22 降至 11.45。</a:t>
            </a:r>
            <a:endParaRPr/>
          </a:p>
        </p:txBody>
      </p:sp>
      <p:sp>
        <p:nvSpPr>
          <p:cNvPr id="744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12</a:t>
            </a:r>
            <a:endParaRPr/>
          </a:p>
        </p:txBody>
      </p:sp>
    </p:spTree>
  </p:cSld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7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7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8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9" name=""/>
          <p:cNvSpPr>
            <a:spLocks noGrp="1"/>
          </p:cNvSpPr>
          <p:nvPr/>
        </p:nvSpPr>
        <p:spPr>
          <a:xfrm>
            <a:off x="990600" y="36195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11B SAE MODULE</a:t>
            </a:r>
            <a:endParaRPr/>
          </a:p>
        </p:txBody>
      </p:sp>
      <p:sp>
        <p:nvSpPr>
          <p:cNvPr id="750" name=""/>
          <p:cNvSpPr>
            <a:spLocks noGrp="1"/>
          </p:cNvSpPr>
          <p:nvPr/>
        </p:nvSpPr>
        <p:spPr>
          <a:xfrm>
            <a:off x="990600" y="666750"/>
            <a:ext cx="85725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24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SAE 模块：在解码端把位置、局部细节和通道权重合起来。</a:t>
            </a:r>
            <a:endParaRPr/>
          </a:p>
        </p:txBody>
      </p:sp>
      <p:sp>
        <p:nvSpPr>
          <p:cNvPr id="751" name=""/>
          <p:cNvSpPr>
            <a:spLocks noGrp="1"/>
          </p:cNvSpPr>
          <p:nvPr/>
        </p:nvSpPr>
        <p:spPr>
          <a:xfrm>
            <a:off x="10525125" y="6096000"/>
            <a:ext cx="876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5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11B</a:t>
            </a:r>
            <a:endParaRPr/>
          </a:p>
        </p:txBody>
      </p:sp>
      <p:sp>
        <p:nvSpPr>
          <p:cNvPr id="752" name=""/>
          <p:cNvSpPr>
            <a:spLocks noGrp="1"/>
          </p:cNvSpPr>
          <p:nvPr/>
        </p:nvSpPr>
        <p:spPr>
          <a:xfrm>
            <a:off x="990600" y="1695450"/>
            <a:ext cx="15430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3" name=""/>
          <p:cNvSpPr>
            <a:spLocks noGrp="1"/>
          </p:cNvSpPr>
          <p:nvPr/>
        </p:nvSpPr>
        <p:spPr>
          <a:xfrm>
            <a:off x="1219200" y="1924050"/>
            <a:ext cx="95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575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融合特征</a:t>
            </a:r>
            <a:endParaRPr/>
          </a:p>
        </p:txBody>
      </p:sp>
      <p:sp>
        <p:nvSpPr>
          <p:cNvPr id="754" name=""/>
          <p:cNvSpPr>
            <a:spLocks noGrp="1"/>
          </p:cNvSpPr>
          <p:nvPr/>
        </p:nvSpPr>
        <p:spPr>
          <a:xfrm>
            <a:off x="1219200" y="2343150"/>
            <a:ext cx="952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高层语义 + 浅层细节</a:t>
            </a:r>
            <a:endParaRPr/>
          </a:p>
          <a:p>
            <a:pPr algn="ctr">
              <a:defRPr sz="10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concat 后 C=560</a:t>
            </a:r>
            <a:endParaRPr/>
          </a:p>
        </p:txBody>
      </p:sp>
      <p:sp>
        <p:nvSpPr>
          <p:cNvPr id="755" name=""/>
          <p:cNvSpPr>
            <a:spLocks noGrp="1"/>
          </p:cNvSpPr>
          <p:nvPr/>
        </p:nvSpPr>
        <p:spPr>
          <a:xfrm>
            <a:off x="2667000" y="2333625"/>
            <a:ext cx="41910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6" name=""/>
          <p:cNvSpPr>
            <a:spLocks noGrp="1"/>
          </p:cNvSpPr>
          <p:nvPr/>
        </p:nvSpPr>
        <p:spPr>
          <a:xfrm>
            <a:off x="3067050" y="22574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7" name=""/>
          <p:cNvSpPr>
            <a:spLocks noGrp="1"/>
          </p:cNvSpPr>
          <p:nvPr/>
        </p:nvSpPr>
        <p:spPr>
          <a:xfrm>
            <a:off x="3524250" y="1581150"/>
            <a:ext cx="1733550" cy="1562100"/>
          </a:xfrm>
          <a:prstGeom prst="rect">
            <a:avLst/>
          </a:prstGeom>
          <a:solidFill>
            <a:srgbClr val="DCEFF0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8" name=""/>
          <p:cNvSpPr>
            <a:spLocks noGrp="1"/>
          </p:cNvSpPr>
          <p:nvPr/>
        </p:nvSpPr>
        <p:spPr>
          <a:xfrm>
            <a:off x="3695700" y="1809750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01</a:t>
            </a:r>
            <a:endParaRPr/>
          </a:p>
        </p:txBody>
      </p:sp>
      <p:sp>
        <p:nvSpPr>
          <p:cNvPr id="759" name=""/>
          <p:cNvSpPr>
            <a:spLocks noGrp="1"/>
          </p:cNvSpPr>
          <p:nvPr/>
        </p:nvSpPr>
        <p:spPr>
          <a:xfrm>
            <a:off x="4076700" y="180975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0E7C86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0E7C86"/>
                </a:solidFill>
                <a:latin typeface="Songti SC"/>
                <a:ea typeface="Songti SC"/>
                <a:cs typeface="Songti SC"/>
              </a:rPr>
              <a:t>坐标注意力</a:t>
            </a:r>
            <a:endParaRPr/>
          </a:p>
        </p:txBody>
      </p:sp>
      <p:sp>
        <p:nvSpPr>
          <p:cNvPr id="760" name=""/>
          <p:cNvSpPr>
            <a:spLocks noGrp="1"/>
          </p:cNvSpPr>
          <p:nvPr/>
        </p:nvSpPr>
        <p:spPr>
          <a:xfrm>
            <a:off x="3733800" y="22288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H/W 一维池化</a:t>
            </a:r>
            <a:endParaRPr/>
          </a:p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共享 1×1 conv</a:t>
            </a:r>
            <a:endParaRPr/>
          </a:p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拆成 gh / gw</a:t>
            </a:r>
            <a:endParaRPr/>
          </a:p>
        </p:txBody>
      </p:sp>
      <p:sp>
        <p:nvSpPr>
          <p:cNvPr id="761" name=""/>
          <p:cNvSpPr>
            <a:spLocks noGrp="1"/>
          </p:cNvSpPr>
          <p:nvPr/>
        </p:nvSpPr>
        <p:spPr>
          <a:xfrm>
            <a:off x="5314950" y="2333625"/>
            <a:ext cx="209550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2" name=""/>
          <p:cNvSpPr>
            <a:spLocks noGrp="1"/>
          </p:cNvSpPr>
          <p:nvPr/>
        </p:nvSpPr>
        <p:spPr>
          <a:xfrm>
            <a:off x="5505450" y="2257425"/>
            <a:ext cx="209550" cy="190500"/>
          </a:xfrm>
          <a:prstGeom prst="rightArrow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3" name=""/>
          <p:cNvSpPr>
            <a:spLocks noGrp="1"/>
          </p:cNvSpPr>
          <p:nvPr/>
        </p:nvSpPr>
        <p:spPr>
          <a:xfrm>
            <a:off x="5676900" y="1581150"/>
            <a:ext cx="1733550" cy="1562100"/>
          </a:xfrm>
          <a:prstGeom prst="rect">
            <a:avLst/>
          </a:prstGeom>
          <a:solidFill>
            <a:srgbClr val="F8E1D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4" name=""/>
          <p:cNvSpPr>
            <a:spLocks noGrp="1"/>
          </p:cNvSpPr>
          <p:nvPr/>
        </p:nvSpPr>
        <p:spPr>
          <a:xfrm>
            <a:off x="5848350" y="1809750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02</a:t>
            </a:r>
            <a:endParaRPr/>
          </a:p>
        </p:txBody>
      </p:sp>
      <p:sp>
        <p:nvSpPr>
          <p:cNvPr id="765" name=""/>
          <p:cNvSpPr>
            <a:spLocks noGrp="1"/>
          </p:cNvSpPr>
          <p:nvPr/>
        </p:nvSpPr>
        <p:spPr>
          <a:xfrm>
            <a:off x="6229350" y="180975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94F3D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D94F3D"/>
                </a:solidFill>
                <a:latin typeface="Songti SC"/>
                <a:ea typeface="Songti SC"/>
                <a:cs typeface="Songti SC"/>
              </a:rPr>
              <a:t>特征精炼</a:t>
            </a:r>
            <a:endParaRPr/>
          </a:p>
        </p:txBody>
      </p:sp>
      <p:sp>
        <p:nvSpPr>
          <p:cNvPr id="766" name=""/>
          <p:cNvSpPr>
            <a:spLocks noGrp="1"/>
          </p:cNvSpPr>
          <p:nvPr/>
        </p:nvSpPr>
        <p:spPr>
          <a:xfrm>
            <a:off x="5886450" y="22288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3×3 Conv-BN-ReLU ×2</a:t>
            </a:r>
            <a:endParaRPr/>
          </a:p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残差补回局部细节</a:t>
            </a:r>
            <a:endParaRPr/>
          </a:p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减轻上采样毛刺</a:t>
            </a:r>
            <a:endParaRPr/>
          </a:p>
        </p:txBody>
      </p:sp>
      <p:sp>
        <p:nvSpPr>
          <p:cNvPr id="767" name=""/>
          <p:cNvSpPr>
            <a:spLocks noGrp="1"/>
          </p:cNvSpPr>
          <p:nvPr/>
        </p:nvSpPr>
        <p:spPr>
          <a:xfrm>
            <a:off x="7467600" y="2333625"/>
            <a:ext cx="209550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8" name=""/>
          <p:cNvSpPr>
            <a:spLocks noGrp="1"/>
          </p:cNvSpPr>
          <p:nvPr/>
        </p:nvSpPr>
        <p:spPr>
          <a:xfrm>
            <a:off x="7658100" y="2257425"/>
            <a:ext cx="209550" cy="190500"/>
          </a:xfrm>
          <a:prstGeom prst="rightArrow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9" name=""/>
          <p:cNvSpPr>
            <a:spLocks noGrp="1"/>
          </p:cNvSpPr>
          <p:nvPr/>
        </p:nvSpPr>
        <p:spPr>
          <a:xfrm>
            <a:off x="7829550" y="1581150"/>
            <a:ext cx="1733550" cy="1562100"/>
          </a:xfrm>
          <a:prstGeom prst="rect">
            <a:avLst/>
          </a:prstGeom>
          <a:solidFill>
            <a:srgbClr val="F3E7C8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0" name=""/>
          <p:cNvSpPr>
            <a:spLocks noGrp="1"/>
          </p:cNvSpPr>
          <p:nvPr/>
        </p:nvSpPr>
        <p:spPr>
          <a:xfrm>
            <a:off x="8001000" y="1809750"/>
            <a:ext cx="323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88A2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8A2D"/>
                </a:solidFill>
                <a:latin typeface="Aptos"/>
                <a:ea typeface="Aptos"/>
                <a:cs typeface="Aptos"/>
              </a:rPr>
              <a:t>03</a:t>
            </a:r>
            <a:endParaRPr/>
          </a:p>
        </p:txBody>
      </p:sp>
      <p:sp>
        <p:nvSpPr>
          <p:cNvPr id="771" name=""/>
          <p:cNvSpPr>
            <a:spLocks noGrp="1"/>
          </p:cNvSpPr>
          <p:nvPr/>
        </p:nvSpPr>
        <p:spPr>
          <a:xfrm>
            <a:off x="8382000" y="1809750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B88A2D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B88A2D"/>
                </a:solidFill>
                <a:latin typeface="Songti SC"/>
                <a:ea typeface="Songti SC"/>
                <a:cs typeface="Songti SC"/>
              </a:rPr>
              <a:t>多基数 SE</a:t>
            </a:r>
            <a:endParaRPr/>
          </a:p>
        </p:txBody>
      </p:sp>
      <p:sp>
        <p:nvSpPr>
          <p:cNvPr id="772" name=""/>
          <p:cNvSpPr>
            <a:spLocks noGrp="1"/>
          </p:cNvSpPr>
          <p:nvPr/>
        </p:nvSpPr>
        <p:spPr>
          <a:xfrm>
            <a:off x="8039100" y="2228850"/>
            <a:ext cx="1314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GAP</a:t>
            </a:r>
            <a:endParaRPr/>
          </a:p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4 个 FC 分支</a:t>
            </a:r>
            <a:endParaRPr/>
          </a:p>
          <a:p>
            <a:pPr algn="ctr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concat 后 sigmoid</a:t>
            </a:r>
            <a:endParaRPr/>
          </a:p>
        </p:txBody>
      </p:sp>
      <p:sp>
        <p:nvSpPr>
          <p:cNvPr id="773" name=""/>
          <p:cNvSpPr>
            <a:spLocks noGrp="1"/>
          </p:cNvSpPr>
          <p:nvPr/>
        </p:nvSpPr>
        <p:spPr>
          <a:xfrm>
            <a:off x="9734550" y="2333625"/>
            <a:ext cx="342900" cy="3810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4" name=""/>
          <p:cNvSpPr>
            <a:spLocks noGrp="1"/>
          </p:cNvSpPr>
          <p:nvPr/>
        </p:nvSpPr>
        <p:spPr>
          <a:xfrm>
            <a:off x="10058400" y="2257425"/>
            <a:ext cx="209550" cy="190500"/>
          </a:xfrm>
          <a:prstGeom prst="rightArrow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5" name=""/>
          <p:cNvSpPr>
            <a:spLocks noGrp="1"/>
          </p:cNvSpPr>
          <p:nvPr/>
        </p:nvSpPr>
        <p:spPr>
          <a:xfrm>
            <a:off x="10496550" y="1695450"/>
            <a:ext cx="7048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6" name=""/>
          <p:cNvSpPr>
            <a:spLocks noGrp="1"/>
          </p:cNvSpPr>
          <p:nvPr/>
        </p:nvSpPr>
        <p:spPr>
          <a:xfrm>
            <a:off x="10629900" y="203835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2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分类器</a:t>
            </a:r>
            <a:endParaRPr/>
          </a:p>
        </p:txBody>
      </p:sp>
      <p:sp>
        <p:nvSpPr>
          <p:cNvPr id="777" name=""/>
          <p:cNvSpPr>
            <a:spLocks noGrp="1"/>
          </p:cNvSpPr>
          <p:nvPr/>
        </p:nvSpPr>
        <p:spPr>
          <a:xfrm>
            <a:off x="10648950" y="2400300"/>
            <a:ext cx="400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匙孔</a:t>
            </a:r>
            <a:endParaRPr/>
          </a:p>
          <a:p>
            <a:pPr algn="ctr">
              <a:defRPr sz="1125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掩膜</a:t>
            </a:r>
            <a:endParaRPr/>
          </a:p>
        </p:txBody>
      </p:sp>
      <p:sp>
        <p:nvSpPr>
          <p:cNvPr id="778" name=""/>
          <p:cNvSpPr>
            <a:spLocks noGrp="1"/>
          </p:cNvSpPr>
          <p:nvPr/>
        </p:nvSpPr>
        <p:spPr>
          <a:xfrm>
            <a:off x="990600" y="3714750"/>
            <a:ext cx="31432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79" name=""/>
          <p:cNvSpPr>
            <a:spLocks noGrp="1"/>
          </p:cNvSpPr>
          <p:nvPr/>
        </p:nvSpPr>
        <p:spPr>
          <a:xfrm>
            <a:off x="1219200" y="3943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为什么 SAE 放在这里</a:t>
            </a:r>
            <a:endParaRPr/>
          </a:p>
        </p:txBody>
      </p:sp>
      <p:sp>
        <p:nvSpPr>
          <p:cNvPr id="780" name=""/>
          <p:cNvSpPr>
            <a:spLocks noGrp="1"/>
          </p:cNvSpPr>
          <p:nvPr/>
        </p:nvSpPr>
        <p:spPr>
          <a:xfrm>
            <a:off x="1219200" y="44958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1" name=""/>
          <p:cNvSpPr>
            <a:spLocks noGrp="1"/>
          </p:cNvSpPr>
          <p:nvPr/>
        </p:nvSpPr>
        <p:spPr>
          <a:xfrm>
            <a:off x="1390650" y="441960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浅层特征：边界位置更清楚。</a:t>
            </a:r>
            <a:endParaRPr/>
          </a:p>
        </p:txBody>
      </p:sp>
      <p:sp>
        <p:nvSpPr>
          <p:cNvPr id="782" name=""/>
          <p:cNvSpPr>
            <a:spLocks noGrp="1"/>
          </p:cNvSpPr>
          <p:nvPr/>
        </p:nvSpPr>
        <p:spPr>
          <a:xfrm>
            <a:off x="1219200" y="49149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3" name=""/>
          <p:cNvSpPr>
            <a:spLocks noGrp="1"/>
          </p:cNvSpPr>
          <p:nvPr/>
        </p:nvSpPr>
        <p:spPr>
          <a:xfrm>
            <a:off x="1390650" y="4838700"/>
            <a:ext cx="2305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高层特征：语义判断更稳定。</a:t>
            </a:r>
            <a:endParaRPr/>
          </a:p>
        </p:txBody>
      </p:sp>
      <p:sp>
        <p:nvSpPr>
          <p:cNvPr id="784" name=""/>
          <p:cNvSpPr>
            <a:spLocks noGrp="1"/>
          </p:cNvSpPr>
          <p:nvPr/>
        </p:nvSpPr>
        <p:spPr>
          <a:xfrm>
            <a:off x="1219200" y="53340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5" name=""/>
          <p:cNvSpPr>
            <a:spLocks noGrp="1"/>
          </p:cNvSpPr>
          <p:nvPr/>
        </p:nvSpPr>
        <p:spPr>
          <a:xfrm>
            <a:off x="1390650" y="5257800"/>
            <a:ext cx="2457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融合后再注意力：同时利用位置与语义。</a:t>
            </a:r>
            <a:endParaRPr/>
          </a:p>
        </p:txBody>
      </p:sp>
      <p:sp>
        <p:nvSpPr>
          <p:cNvPr id="786" name=""/>
          <p:cNvSpPr>
            <a:spLocks noGrp="1"/>
          </p:cNvSpPr>
          <p:nvPr/>
        </p:nvSpPr>
        <p:spPr>
          <a:xfrm>
            <a:off x="4514850" y="3714750"/>
            <a:ext cx="31432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7" name=""/>
          <p:cNvSpPr>
            <a:spLocks noGrp="1"/>
          </p:cNvSpPr>
          <p:nvPr/>
        </p:nvSpPr>
        <p:spPr>
          <a:xfrm>
            <a:off x="4743450" y="3943350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三个子模块各做一件事</a:t>
            </a:r>
            <a:endParaRPr/>
          </a:p>
        </p:txBody>
      </p:sp>
      <p:sp>
        <p:nvSpPr>
          <p:cNvPr id="788" name=""/>
          <p:cNvSpPr>
            <a:spLocks noGrp="1"/>
          </p:cNvSpPr>
          <p:nvPr/>
        </p:nvSpPr>
        <p:spPr>
          <a:xfrm>
            <a:off x="4743450" y="4495800"/>
            <a:ext cx="66675" cy="66675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9" name=""/>
          <p:cNvSpPr>
            <a:spLocks noGrp="1"/>
          </p:cNvSpPr>
          <p:nvPr/>
        </p:nvSpPr>
        <p:spPr>
          <a:xfrm>
            <a:off x="4914900" y="44196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坐标注意力：保留水平/垂直位置信息。</a:t>
            </a:r>
            <a:endParaRPr/>
          </a:p>
        </p:txBody>
      </p:sp>
      <p:sp>
        <p:nvSpPr>
          <p:cNvPr id="790" name=""/>
          <p:cNvSpPr>
            <a:spLocks noGrp="1"/>
          </p:cNvSpPr>
          <p:nvPr/>
        </p:nvSpPr>
        <p:spPr>
          <a:xfrm>
            <a:off x="4743450" y="4914900"/>
            <a:ext cx="66675" cy="66675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1" name=""/>
          <p:cNvSpPr>
            <a:spLocks noGrp="1"/>
          </p:cNvSpPr>
          <p:nvPr/>
        </p:nvSpPr>
        <p:spPr>
          <a:xfrm>
            <a:off x="4914900" y="48387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特征精炼：用局部卷积修边界。</a:t>
            </a:r>
            <a:endParaRPr/>
          </a:p>
        </p:txBody>
      </p:sp>
      <p:sp>
        <p:nvSpPr>
          <p:cNvPr id="792" name=""/>
          <p:cNvSpPr>
            <a:spLocks noGrp="1"/>
          </p:cNvSpPr>
          <p:nvPr/>
        </p:nvSpPr>
        <p:spPr>
          <a:xfrm>
            <a:off x="4743450" y="5334000"/>
            <a:ext cx="66675" cy="66675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3" name=""/>
          <p:cNvSpPr>
            <a:spLocks noGrp="1"/>
          </p:cNvSpPr>
          <p:nvPr/>
        </p:nvSpPr>
        <p:spPr>
          <a:xfrm>
            <a:off x="4914900" y="5257800"/>
            <a:ext cx="2400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多基数 SE：提高边界相关通道权重。</a:t>
            </a:r>
            <a:endParaRPr/>
          </a:p>
        </p:txBody>
      </p:sp>
      <p:sp>
        <p:nvSpPr>
          <p:cNvPr id="794" name=""/>
          <p:cNvSpPr>
            <a:spLocks noGrp="1"/>
          </p:cNvSpPr>
          <p:nvPr/>
        </p:nvSpPr>
        <p:spPr>
          <a:xfrm>
            <a:off x="8039100" y="3714750"/>
            <a:ext cx="31623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7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5" name=""/>
          <p:cNvSpPr>
            <a:spLocks noGrp="1"/>
          </p:cNvSpPr>
          <p:nvPr/>
        </p:nvSpPr>
        <p:spPr>
          <a:xfrm>
            <a:off x="8267700" y="394335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165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实验上能看到的变化</a:t>
            </a:r>
            <a:endParaRPr/>
          </a:p>
        </p:txBody>
      </p:sp>
      <p:sp>
        <p:nvSpPr>
          <p:cNvPr id="796" name=""/>
          <p:cNvSpPr>
            <a:spLocks noGrp="1"/>
          </p:cNvSpPr>
          <p:nvPr/>
        </p:nvSpPr>
        <p:spPr>
          <a:xfrm>
            <a:off x="8305800" y="4438650"/>
            <a:ext cx="1181100" cy="685800"/>
          </a:xfrm>
          <a:prstGeom prst="rect">
            <a:avLst/>
          </a:prstGeom>
          <a:solidFill>
            <a:srgbClr val="F8E1D8"/>
          </a:solidFill>
          <a:ln w="0">
            <a:solidFill>
              <a:srgbClr val="F8E1D8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97" name=""/>
          <p:cNvSpPr>
            <a:spLocks noGrp="1"/>
          </p:cNvSpPr>
          <p:nvPr/>
        </p:nvSpPr>
        <p:spPr>
          <a:xfrm>
            <a:off x="8496300" y="45720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+5.9%</a:t>
            </a:r>
            <a:endParaRPr/>
          </a:p>
        </p:txBody>
      </p:sp>
      <p:sp>
        <p:nvSpPr>
          <p:cNvPr id="798" name=""/>
          <p:cNvSpPr>
            <a:spLocks noGrp="1"/>
          </p:cNvSpPr>
          <p:nvPr/>
        </p:nvSpPr>
        <p:spPr>
          <a:xfrm>
            <a:off x="8477250" y="4876800"/>
            <a:ext cx="819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单独 SAE</a:t>
            </a:r>
            <a:endParaRPr/>
          </a:p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mIoU 提升</a:t>
            </a:r>
            <a:endParaRPr/>
          </a:p>
        </p:txBody>
      </p:sp>
      <p:sp>
        <p:nvSpPr>
          <p:cNvPr id="799" name=""/>
          <p:cNvSpPr>
            <a:spLocks noGrp="1"/>
          </p:cNvSpPr>
          <p:nvPr/>
        </p:nvSpPr>
        <p:spPr>
          <a:xfrm>
            <a:off x="9696450" y="4438650"/>
            <a:ext cx="1181100" cy="685800"/>
          </a:xfrm>
          <a:prstGeom prst="rect">
            <a:avLst/>
          </a:prstGeom>
          <a:solidFill>
            <a:srgbClr val="DCEFF0"/>
          </a:solidFill>
          <a:ln w="0">
            <a:solidFill>
              <a:srgbClr val="DCEF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0" name=""/>
          <p:cNvSpPr>
            <a:spLocks noGrp="1"/>
          </p:cNvSpPr>
          <p:nvPr/>
        </p:nvSpPr>
        <p:spPr>
          <a:xfrm>
            <a:off x="9886950" y="4572000"/>
            <a:ext cx="80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10.68</a:t>
            </a:r>
            <a:endParaRPr/>
          </a:p>
        </p:txBody>
      </p:sp>
      <p:sp>
        <p:nvSpPr>
          <p:cNvPr id="801" name=""/>
          <p:cNvSpPr>
            <a:spLocks noGrp="1"/>
          </p:cNvSpPr>
          <p:nvPr/>
        </p:nvSpPr>
        <p:spPr>
          <a:xfrm>
            <a:off x="9886950" y="4876800"/>
            <a:ext cx="800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TR+SAE</a:t>
            </a:r>
            <a:endParaRPr/>
          </a:p>
          <a:p>
            <a:pPr algn="ctr">
              <a:def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HD95</a:t>
            </a:r>
            <a:endParaRPr/>
          </a:p>
        </p:txBody>
      </p:sp>
      <p:sp>
        <p:nvSpPr>
          <p:cNvPr id="802" name=""/>
          <p:cNvSpPr>
            <a:spLocks noGrp="1"/>
          </p:cNvSpPr>
          <p:nvPr/>
        </p:nvSpPr>
        <p:spPr>
          <a:xfrm>
            <a:off x="8267700" y="5314950"/>
            <a:ext cx="2476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82326"/>
                </a:solidFill>
                <a:latin typeface="PingFang SC"/>
                <a:ea typeface="PingFang SC"/>
                <a:cs typeface="PingFang SC"/>
              </a:rPr>
              <a:t>结论不是“注意力越多越好”，而是模块放在边界信息最集中的位置。</a:t>
            </a:r>
            <a:endParaRPr/>
          </a:p>
        </p:txBody>
      </p:sp>
    </p:spTree>
  </p:cSld>
</p:sld>
</file>

<file path=ppt/slides/slide23.xml><?xml version="1.0" encoding="utf-8"?>
<p:sld xmlns:a="http://schemas.openxmlformats.org/drawingml/2006/main" xmlns:p="http://schemas.openxmlformats.org/presentationml/2006/main">
  <p:cSld>
    <p:spTree>
      <p:nvGrpSpPr>
        <p:cNvPr id="8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5" name=""/>
          <p:cNvSpPr>
            <a:spLocks noGrp="1"/>
          </p:cNvSpPr>
          <p:nvPr/>
        </p:nvSpPr>
        <p:spPr>
          <a:xfrm>
            <a:off x="0" y="0"/>
            <a:ext cx="704850" cy="6858000"/>
          </a:xfrm>
          <a:prstGeom prst="rect">
            <a:avLst/>
          </a:prstGeom>
          <a:solidFill>
            <a:srgbClr val="23303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6" name=""/>
          <p:cNvSpPr>
            <a:spLocks noGrp="1"/>
          </p:cNvSpPr>
          <p:nvPr/>
        </p:nvSpPr>
        <p:spPr>
          <a:xfrm>
            <a:off x="704850" y="0"/>
            <a:ext cx="57150" cy="6858000"/>
          </a:xfrm>
          <a:prstGeom prst="rect">
            <a:avLst/>
          </a:prstGeom>
          <a:solidFill>
            <a:srgbClr val="4F7F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7" name=""/>
          <p:cNvSpPr>
            <a:spLocks noGrp="1"/>
          </p:cNvSpPr>
          <p:nvPr/>
        </p:nvSpPr>
        <p:spPr>
          <a:xfrm>
            <a:off x="990600" y="704850"/>
            <a:ext cx="1524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4F7F5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F7F52"/>
                </a:solidFill>
                <a:latin typeface="Aptos"/>
                <a:ea typeface="Aptos"/>
                <a:cs typeface="Aptos"/>
              </a:rPr>
              <a:t>PART 04</a:t>
            </a:r>
            <a:endParaRPr/>
          </a:p>
        </p:txBody>
      </p:sp>
      <p:sp>
        <p:nvSpPr>
          <p:cNvPr id="808" name=""/>
          <p:cNvSpPr>
            <a:spLocks noGrp="1"/>
          </p:cNvSpPr>
          <p:nvPr/>
        </p:nvSpPr>
        <p:spPr>
          <a:xfrm>
            <a:off x="990600" y="1123950"/>
            <a:ext cx="53340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defRPr>
            </a:pPr>
            <a:r>
              <a:rPr sz="3000" b="1">
                <a:solidFill>
                  <a:srgbClr val="182326"/>
                </a:solidFill>
                <a:latin typeface="Songti SC"/>
                <a:ea typeface="Songti SC"/>
                <a:cs typeface="Songti SC"/>
              </a:rPr>
              <a:t>实验结果与部署展望</a:t>
            </a:r>
            <a:endParaRPr/>
          </a:p>
        </p:txBody>
      </p:sp>
      <p:sp>
        <p:nvSpPr>
          <p:cNvPr id="809" name=""/>
          <p:cNvSpPr>
            <a:spLocks noGrp="1"/>
          </p:cNvSpPr>
          <p:nvPr/>
        </p:nvSpPr>
        <p:spPr>
          <a:xfrm>
            <a:off x="1028700" y="2133600"/>
            <a:ext cx="50482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5C635F"/>
                </a:solidFill>
                <a:latin typeface="PingFang SC"/>
                <a:ea typeface="PingFang SC"/>
                <a:cs typeface="PingFang SC"/>
              </a:rPr>
              <a:t>用消融、对比、鲁棒性和效率实验验证方法是否真的可用。</a:t>
            </a:r>
            <a:endParaRPr/>
          </a:p>
        </p:txBody>
      </p:sp>
      <p:sp>
        <p:nvSpPr>
          <p:cNvPr id="810" name=""/>
          <p:cNvSpPr>
            <a:spLocks noGrp="1"/>
          </p:cNvSpPr>
          <p:nvPr/>
        </p:nvSpPr>
        <p:spPr>
          <a:xfrm>
            <a:off x="990600" y="3238500"/>
            <a:ext cx="4381500" cy="28575"/>
          </a:xfrm>
          <a:prstGeom prst="rect">
            <a:avLst/>
          </a:prstGeom>
          <a:solidFill>
            <a:srgbClr val="4F7F52"/>
          </a:solidFill>
          <a:ln w="0">
            <a:solidFill>
              <a:srgbClr val="4F7F5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1" name=""/>
          <p:cNvSpPr>
            <a:spLocks noGrp="1"/>
          </p:cNvSpPr>
          <p:nvPr/>
        </p:nvSpPr>
        <p:spPr>
          <a:xfrm>
            <a:off x="9525000" y="4743450"/>
            <a:ext cx="1619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200" b="1">
                <a:solidFill>
                  <a:srgbClr val="4F7F52"/>
                </a:solidFill>
                <a:latin typeface="Aptos"/>
                <a:ea typeface="Aptos"/>
                <a:cs typeface="Aptos"/>
              </a:defRPr>
            </a:pPr>
            <a:r>
              <a:rPr sz="7200" b="1">
                <a:solidFill>
                  <a:srgbClr val="4F7F52"/>
                </a:solidFill>
                <a:latin typeface="Aptos"/>
                <a:ea typeface="Aptos"/>
                <a:cs typeface="Aptos"/>
              </a:rPr>
              <a:t>04</a:t>
            </a:r>
            <a:endParaRPr/>
          </a:p>
        </p:txBody>
      </p:sp>
      <p:sp>
        <p:nvSpPr>
          <p:cNvPr id="812" name=""/>
          <p:cNvSpPr>
            <a:spLocks noGrp="1"/>
          </p:cNvSpPr>
          <p:nvPr/>
        </p:nvSpPr>
        <p:spPr>
          <a:xfrm>
            <a:off x="6858000" y="3333750"/>
            <a:ext cx="4095750" cy="28575"/>
          </a:xfrm>
          <a:prstGeom prst="rect">
            <a:avLst/>
          </a:prstGeom>
          <a:solidFill>
            <a:srgbClr val="8FA3A5"/>
          </a:solidFill>
          <a:ln w="0">
            <a:solidFill>
              <a:srgbClr val="8FA3A5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3" name=""/>
          <p:cNvSpPr>
            <a:spLocks noGrp="1"/>
          </p:cNvSpPr>
          <p:nvPr/>
        </p:nvSpPr>
        <p:spPr>
          <a:xfrm>
            <a:off x="7239000" y="2628900"/>
            <a:ext cx="457200" cy="609600"/>
          </a:xfrm>
          <a:prstGeom prst="rect">
            <a:avLst/>
          </a:prstGeom>
          <a:solidFill>
            <a:srgbClr val="0E7C86"/>
          </a:solidFill>
          <a:ln w="0">
            <a:solidFill>
              <a:srgbClr val="0E7C86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4" name=""/>
          <p:cNvSpPr>
            <a:spLocks noGrp="1"/>
          </p:cNvSpPr>
          <p:nvPr/>
        </p:nvSpPr>
        <p:spPr>
          <a:xfrm>
            <a:off x="8096250" y="2324100"/>
            <a:ext cx="457200" cy="914400"/>
          </a:xfrm>
          <a:prstGeom prst="rect">
            <a:avLst/>
          </a:prstGeom>
          <a:solidFill>
            <a:srgbClr val="D94F3D"/>
          </a:solidFill>
          <a:ln w="0">
            <a:solidFill>
              <a:srgbClr val="D94F3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5" name=""/>
          <p:cNvSpPr>
            <a:spLocks noGrp="1"/>
          </p:cNvSpPr>
          <p:nvPr/>
        </p:nvSpPr>
        <p:spPr>
          <a:xfrm>
            <a:off x="8953500" y="1924050"/>
            <a:ext cx="457200" cy="1314450"/>
          </a:xfrm>
          <a:prstGeom prst="rect">
            <a:avLst/>
          </a:prstGeom>
          <a:solidFill>
            <a:srgbClr val="B88A2D"/>
          </a:solidFill>
          <a:ln w="0">
            <a:solidFill>
              <a:srgbClr val="B88A2D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6" name=""/>
          <p:cNvSpPr>
            <a:spLocks noGrp="1"/>
          </p:cNvSpPr>
          <p:nvPr/>
        </p:nvSpPr>
        <p:spPr>
          <a:xfrm>
            <a:off x="9810750" y="1562100"/>
            <a:ext cx="457200" cy="1676400"/>
          </a:xfrm>
          <a:prstGeom prst="rect">
            <a:avLst/>
          </a:prstGeom>
          <a:solidFill>
            <a:srgbClr val="4F7F52"/>
          </a:solidFill>
          <a:ln w="0">
            <a:solidFill>
              <a:srgbClr val="4F7F52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7" name=""/>
          <p:cNvSpPr>
            <a:spLocks noGrp="1"/>
          </p:cNvSpPr>
          <p:nvPr/>
        </p:nvSpPr>
        <p:spPr>
          <a:xfrm>
            <a:off x="7124700" y="37909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0E7C8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E7C86"/>
                </a:solidFill>
                <a:latin typeface="Aptos"/>
                <a:ea typeface="Aptos"/>
                <a:cs typeface="Aptos"/>
              </a:rPr>
              <a:t>mIoU 0.911</a:t>
            </a:r>
            <a:endParaRPr/>
          </a:p>
        </p:txBody>
      </p:sp>
      <p:sp>
        <p:nvSpPr>
          <p:cNvPr id="818" name=""/>
          <p:cNvSpPr>
            <a:spLocks noGrp="1"/>
          </p:cNvSpPr>
          <p:nvPr/>
        </p:nvSpPr>
        <p:spPr>
          <a:xfrm>
            <a:off x="9124950" y="3790950"/>
            <a:ext cx="1619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4F3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4F3D"/>
                </a:solidFill>
                <a:latin typeface="Aptos"/>
                <a:ea typeface="Aptos"/>
                <a:cs typeface="Aptos"/>
              </a:rPr>
              <a:t>HD95 10.68</a:t>
            </a:r>
            <a:endParaRPr/>
          </a:p>
        </p:txBody>
      </p:sp>
    </p:spTree>
  </p:cSld>
</p:sld>
</file>

<file path=ppt/slides/slide24.xml><?xml version="1.0" encoding="utf-8"?>
<p:sld xmlns:a="http://schemas.openxmlformats.org/drawingml/2006/main" xmlns:p="http://schemas.openxmlformats.org/presentationml/2006/main">
  <p:cSld>
    <p:spTree>
      <p:nvGrpSpPr>
        <p:cNvPr id="8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1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2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3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12  ABLATION</a:t>
            </a:r>
            <a:endParaRPr/>
          </a:p>
        </p:txBody>
      </p:sp>
      <p:sp>
        <p:nvSpPr>
          <p:cNvPr id="824" name=""/>
          <p:cNvSpPr>
            <a:spLocks noGrp="1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消融结果比较直接：TR 和 SAE 合起来，区域指标和边界指标都最好。</a:t>
            </a:r>
            <a:endParaRPr/>
          </a:p>
        </p:txBody>
      </p:sp>
      <p:sp>
        <p:nvSpPr>
          <p:cNvPr id="825" name=""/>
          <p:cNvSpPr>
            <a:spLocks noGrp="1"/>
          </p:cNvSpPr>
          <p:nvPr/>
        </p:nvSpPr>
        <p:spPr>
          <a:xfrm>
            <a:off x="876300" y="18669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 越高越好</a:t>
            </a:r>
            <a:endParaRPr/>
          </a:p>
        </p:txBody>
      </p:sp>
      <p:sp>
        <p:nvSpPr>
          <p:cNvPr id="826" name=""/>
          <p:cNvSpPr>
            <a:spLocks noGrp="1"/>
          </p:cNvSpPr>
          <p:nvPr/>
        </p:nvSpPr>
        <p:spPr>
          <a:xfrm>
            <a:off x="1009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7" name=""/>
          <p:cNvSpPr>
            <a:spLocks noGrp="1"/>
          </p:cNvSpPr>
          <p:nvPr/>
        </p:nvSpPr>
        <p:spPr>
          <a:xfrm>
            <a:off x="1009650" y="3713798"/>
            <a:ext cx="666750" cy="620078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8" name=""/>
          <p:cNvSpPr>
            <a:spLocks noGrp="1"/>
          </p:cNvSpPr>
          <p:nvPr/>
        </p:nvSpPr>
        <p:spPr>
          <a:xfrm>
            <a:off x="933450" y="348519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0.851</a:t>
            </a:r>
            <a:endParaRPr/>
          </a:p>
        </p:txBody>
      </p:sp>
      <p:sp>
        <p:nvSpPr>
          <p:cNvPr id="829" name=""/>
          <p:cNvSpPr>
            <a:spLocks noGrp="1"/>
          </p:cNvSpPr>
          <p:nvPr/>
        </p:nvSpPr>
        <p:spPr>
          <a:xfrm>
            <a:off x="838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  <a:endParaRPr/>
          </a:p>
        </p:txBody>
      </p:sp>
      <p:sp>
        <p:nvSpPr>
          <p:cNvPr id="830" name=""/>
          <p:cNvSpPr>
            <a:spLocks noGrp="1"/>
          </p:cNvSpPr>
          <p:nvPr/>
        </p:nvSpPr>
        <p:spPr>
          <a:xfrm>
            <a:off x="2152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1" name=""/>
          <p:cNvSpPr>
            <a:spLocks noGrp="1"/>
          </p:cNvSpPr>
          <p:nvPr/>
        </p:nvSpPr>
        <p:spPr>
          <a:xfrm>
            <a:off x="2152650" y="3053715"/>
            <a:ext cx="666750" cy="128016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2" name=""/>
          <p:cNvSpPr>
            <a:spLocks noGrp="1"/>
          </p:cNvSpPr>
          <p:nvPr/>
        </p:nvSpPr>
        <p:spPr>
          <a:xfrm>
            <a:off x="2076450" y="2825115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0.884</a:t>
            </a:r>
            <a:endParaRPr/>
          </a:p>
        </p:txBody>
      </p:sp>
      <p:sp>
        <p:nvSpPr>
          <p:cNvPr id="833" name=""/>
          <p:cNvSpPr>
            <a:spLocks noGrp="1"/>
          </p:cNvSpPr>
          <p:nvPr/>
        </p:nvSpPr>
        <p:spPr>
          <a:xfrm>
            <a:off x="1981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  <a:endParaRPr/>
          </a:p>
        </p:txBody>
      </p:sp>
      <p:sp>
        <p:nvSpPr>
          <p:cNvPr id="834" name=""/>
          <p:cNvSpPr>
            <a:spLocks noGrp="1"/>
          </p:cNvSpPr>
          <p:nvPr/>
        </p:nvSpPr>
        <p:spPr>
          <a:xfrm>
            <a:off x="3295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5" name=""/>
          <p:cNvSpPr>
            <a:spLocks noGrp="1"/>
          </p:cNvSpPr>
          <p:nvPr/>
        </p:nvSpPr>
        <p:spPr>
          <a:xfrm>
            <a:off x="3295650" y="2713673"/>
            <a:ext cx="666750" cy="1620203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6" name=""/>
          <p:cNvSpPr>
            <a:spLocks noGrp="1"/>
          </p:cNvSpPr>
          <p:nvPr/>
        </p:nvSpPr>
        <p:spPr>
          <a:xfrm>
            <a:off x="3219450" y="2485073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0.901</a:t>
            </a:r>
            <a:endParaRPr/>
          </a:p>
        </p:txBody>
      </p:sp>
      <p:sp>
        <p:nvSpPr>
          <p:cNvPr id="837" name=""/>
          <p:cNvSpPr>
            <a:spLocks noGrp="1"/>
          </p:cNvSpPr>
          <p:nvPr/>
        </p:nvSpPr>
        <p:spPr>
          <a:xfrm>
            <a:off x="3124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  <a:endParaRPr/>
          </a:p>
        </p:txBody>
      </p:sp>
      <p:sp>
        <p:nvSpPr>
          <p:cNvPr id="838" name=""/>
          <p:cNvSpPr>
            <a:spLocks noGrp="1"/>
          </p:cNvSpPr>
          <p:nvPr/>
        </p:nvSpPr>
        <p:spPr>
          <a:xfrm>
            <a:off x="443865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39" name=""/>
          <p:cNvSpPr>
            <a:spLocks noGrp="1"/>
          </p:cNvSpPr>
          <p:nvPr/>
        </p:nvSpPr>
        <p:spPr>
          <a:xfrm>
            <a:off x="4438650" y="2513648"/>
            <a:ext cx="666750" cy="1820228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0" name=""/>
          <p:cNvSpPr>
            <a:spLocks noGrp="1"/>
          </p:cNvSpPr>
          <p:nvPr/>
        </p:nvSpPr>
        <p:spPr>
          <a:xfrm>
            <a:off x="4362450" y="228504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841" name=""/>
          <p:cNvSpPr>
            <a:spLocks noGrp="1"/>
          </p:cNvSpPr>
          <p:nvPr/>
        </p:nvSpPr>
        <p:spPr>
          <a:xfrm>
            <a:off x="426720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  <a:endParaRPr/>
          </a:p>
        </p:txBody>
      </p:sp>
      <p:sp>
        <p:nvSpPr>
          <p:cNvPr id="842" name=""/>
          <p:cNvSpPr>
            <a:spLocks noGrp="1"/>
          </p:cNvSpPr>
          <p:nvPr/>
        </p:nvSpPr>
        <p:spPr>
          <a:xfrm>
            <a:off x="6381750" y="1866900"/>
            <a:ext cx="2286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HD95 越低越好</a:t>
            </a:r>
            <a:endParaRPr/>
          </a:p>
        </p:txBody>
      </p:sp>
      <p:sp>
        <p:nvSpPr>
          <p:cNvPr id="843" name=""/>
          <p:cNvSpPr>
            <a:spLocks noGrp="1"/>
          </p:cNvSpPr>
          <p:nvPr/>
        </p:nvSpPr>
        <p:spPr>
          <a:xfrm>
            <a:off x="6477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4" name=""/>
          <p:cNvSpPr>
            <a:spLocks noGrp="1"/>
          </p:cNvSpPr>
          <p:nvPr/>
        </p:nvSpPr>
        <p:spPr>
          <a:xfrm>
            <a:off x="6477000" y="3733800"/>
            <a:ext cx="666750" cy="6000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5" name=""/>
          <p:cNvSpPr>
            <a:spLocks noGrp="1"/>
          </p:cNvSpPr>
          <p:nvPr/>
        </p:nvSpPr>
        <p:spPr>
          <a:xfrm>
            <a:off x="6400800" y="3505200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12.22</a:t>
            </a:r>
            <a:endParaRPr/>
          </a:p>
        </p:txBody>
      </p:sp>
      <p:sp>
        <p:nvSpPr>
          <p:cNvPr id="846" name=""/>
          <p:cNvSpPr>
            <a:spLocks noGrp="1"/>
          </p:cNvSpPr>
          <p:nvPr/>
        </p:nvSpPr>
        <p:spPr>
          <a:xfrm>
            <a:off x="6305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基线</a:t>
            </a:r>
            <a:endParaRPr/>
          </a:p>
        </p:txBody>
      </p:sp>
      <p:sp>
        <p:nvSpPr>
          <p:cNvPr id="847" name=""/>
          <p:cNvSpPr>
            <a:spLocks noGrp="1"/>
          </p:cNvSpPr>
          <p:nvPr/>
        </p:nvSpPr>
        <p:spPr>
          <a:xfrm>
            <a:off x="7620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8" name=""/>
          <p:cNvSpPr>
            <a:spLocks noGrp="1"/>
          </p:cNvSpPr>
          <p:nvPr/>
        </p:nvSpPr>
        <p:spPr>
          <a:xfrm>
            <a:off x="7620000" y="3479922"/>
            <a:ext cx="666750" cy="853953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9" name=""/>
          <p:cNvSpPr>
            <a:spLocks noGrp="1"/>
          </p:cNvSpPr>
          <p:nvPr/>
        </p:nvSpPr>
        <p:spPr>
          <a:xfrm>
            <a:off x="7543800" y="3251322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11.89</a:t>
            </a:r>
            <a:endParaRPr/>
          </a:p>
        </p:txBody>
      </p:sp>
      <p:sp>
        <p:nvSpPr>
          <p:cNvPr id="850" name=""/>
          <p:cNvSpPr>
            <a:spLocks noGrp="1"/>
          </p:cNvSpPr>
          <p:nvPr/>
        </p:nvSpPr>
        <p:spPr>
          <a:xfrm>
            <a:off x="7448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</a:t>
            </a:r>
            <a:endParaRPr/>
          </a:p>
        </p:txBody>
      </p:sp>
      <p:sp>
        <p:nvSpPr>
          <p:cNvPr id="851" name=""/>
          <p:cNvSpPr>
            <a:spLocks noGrp="1"/>
          </p:cNvSpPr>
          <p:nvPr/>
        </p:nvSpPr>
        <p:spPr>
          <a:xfrm>
            <a:off x="8763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2" name=""/>
          <p:cNvSpPr>
            <a:spLocks noGrp="1"/>
          </p:cNvSpPr>
          <p:nvPr/>
        </p:nvSpPr>
        <p:spPr>
          <a:xfrm>
            <a:off x="8763000" y="3141418"/>
            <a:ext cx="666750" cy="1192457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3" name=""/>
          <p:cNvSpPr>
            <a:spLocks noGrp="1"/>
          </p:cNvSpPr>
          <p:nvPr/>
        </p:nvSpPr>
        <p:spPr>
          <a:xfrm>
            <a:off x="8686800" y="2912818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11.45</a:t>
            </a:r>
            <a:endParaRPr/>
          </a:p>
        </p:txBody>
      </p:sp>
      <p:sp>
        <p:nvSpPr>
          <p:cNvPr id="854" name=""/>
          <p:cNvSpPr>
            <a:spLocks noGrp="1"/>
          </p:cNvSpPr>
          <p:nvPr/>
        </p:nvSpPr>
        <p:spPr>
          <a:xfrm>
            <a:off x="8591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+SAE</a:t>
            </a:r>
            <a:endParaRPr/>
          </a:p>
        </p:txBody>
      </p:sp>
      <p:sp>
        <p:nvSpPr>
          <p:cNvPr id="855" name=""/>
          <p:cNvSpPr>
            <a:spLocks noGrp="1"/>
          </p:cNvSpPr>
          <p:nvPr/>
        </p:nvSpPr>
        <p:spPr>
          <a:xfrm>
            <a:off x="9906000" y="2333625"/>
            <a:ext cx="666750" cy="20002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6" name=""/>
          <p:cNvSpPr>
            <a:spLocks noGrp="1"/>
          </p:cNvSpPr>
          <p:nvPr/>
        </p:nvSpPr>
        <p:spPr>
          <a:xfrm>
            <a:off x="9906000" y="2549037"/>
            <a:ext cx="666750" cy="1784838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57" name=""/>
          <p:cNvSpPr>
            <a:spLocks noGrp="1"/>
          </p:cNvSpPr>
          <p:nvPr/>
        </p:nvSpPr>
        <p:spPr>
          <a:xfrm>
            <a:off x="9829800" y="2320437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10.68</a:t>
            </a:r>
            <a:endParaRPr/>
          </a:p>
        </p:txBody>
      </p:sp>
      <p:sp>
        <p:nvSpPr>
          <p:cNvPr id="858" name=""/>
          <p:cNvSpPr>
            <a:spLocks noGrp="1"/>
          </p:cNvSpPr>
          <p:nvPr/>
        </p:nvSpPr>
        <p:spPr>
          <a:xfrm>
            <a:off x="9734550" y="44481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+TR+SAE</a:t>
            </a:r>
            <a:endParaRPr/>
          </a:p>
        </p:txBody>
      </p:sp>
      <p:sp>
        <p:nvSpPr>
          <p:cNvPr id="859" name=""/>
          <p:cNvSpPr>
            <a:spLocks noGrp="1"/>
          </p:cNvSpPr>
          <p:nvPr/>
        </p:nvSpPr>
        <p:spPr>
          <a:xfrm>
            <a:off x="723900" y="5000625"/>
            <a:ext cx="10153650" cy="6096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0" name=""/>
          <p:cNvSpPr>
            <a:spLocks noGrp="1"/>
          </p:cNvSpPr>
          <p:nvPr/>
        </p:nvSpPr>
        <p:spPr>
          <a:xfrm>
            <a:off x="971550" y="52006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关键结论</a:t>
            </a:r>
            <a:endParaRPr/>
          </a:p>
        </p:txBody>
      </p:sp>
      <p:sp>
        <p:nvSpPr>
          <p:cNvPr id="861" name=""/>
          <p:cNvSpPr>
            <a:spLocks noGrp="1"/>
          </p:cNvSpPr>
          <p:nvPr/>
        </p:nvSpPr>
        <p:spPr>
          <a:xfrm>
            <a:off x="2266950" y="5200650"/>
            <a:ext cx="7715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E7EEF4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E7EEF4"/>
                </a:solidFill>
                <a:latin typeface="PingFang SC"/>
                <a:ea typeface="PingFang SC"/>
                <a:cs typeface="PingFang SC"/>
              </a:rPr>
              <a:t>TR 主要改善细长结构连续性；SAE 主要改善边界定位；组合后 mIoU=0.911，HD95=10.68。</a:t>
            </a:r>
            <a:endParaRPr/>
          </a:p>
        </p:txBody>
      </p:sp>
      <p:sp>
        <p:nvSpPr>
          <p:cNvPr id="862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13</a:t>
            </a:r>
            <a:endParaRPr/>
          </a:p>
        </p:txBody>
      </p:sp>
    </p:spTree>
  </p:cSld>
</p:sld>
</file>

<file path=ppt/slides/slide25.xml><?xml version="1.0" encoding="utf-8"?>
<p:sld xmlns:a="http://schemas.openxmlformats.org/drawingml/2006/main" xmlns:p="http://schemas.openxmlformats.org/presentationml/2006/main">
  <p:cSld>
    <p:spTree>
      <p:nvGrpSpPr>
        <p:cNvPr id="8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5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6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7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13  COMPARISON</a:t>
            </a:r>
            <a:endParaRPr/>
          </a:p>
        </p:txBody>
      </p:sp>
      <p:sp>
        <p:nvSpPr>
          <p:cNvPr id="868" name=""/>
          <p:cNvSpPr>
            <a:spLocks noGrp="1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和几类常用分割模型相比，本文方法在 mIoU 和目标 IoU 上都排第一。</a:t>
            </a:r>
            <a:endParaRPr/>
          </a:p>
        </p:txBody>
      </p:sp>
      <p:sp>
        <p:nvSpPr>
          <p:cNvPr id="869" name=""/>
          <p:cNvSpPr>
            <a:spLocks noGrp="1"/>
          </p:cNvSpPr>
          <p:nvPr/>
        </p:nvSpPr>
        <p:spPr>
          <a:xfrm>
            <a:off x="876300" y="1809750"/>
            <a:ext cx="114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mIoU</a:t>
            </a:r>
            <a:endParaRPr/>
          </a:p>
        </p:txBody>
      </p:sp>
      <p:sp>
        <p:nvSpPr>
          <p:cNvPr id="870" name=""/>
          <p:cNvSpPr>
            <a:spLocks noGrp="1"/>
          </p:cNvSpPr>
          <p:nvPr/>
        </p:nvSpPr>
        <p:spPr>
          <a:xfrm>
            <a:off x="895350" y="228600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1" name=""/>
          <p:cNvSpPr>
            <a:spLocks noGrp="1"/>
          </p:cNvSpPr>
          <p:nvPr/>
        </p:nvSpPr>
        <p:spPr>
          <a:xfrm>
            <a:off x="895350" y="2286000"/>
            <a:ext cx="4430661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2" name=""/>
          <p:cNvSpPr>
            <a:spLocks noGrp="1"/>
          </p:cNvSpPr>
          <p:nvPr/>
        </p:nvSpPr>
        <p:spPr>
          <a:xfrm>
            <a:off x="895350" y="20669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ResUNet</a:t>
            </a:r>
            <a:endParaRPr/>
          </a:p>
        </p:txBody>
      </p:sp>
      <p:sp>
        <p:nvSpPr>
          <p:cNvPr id="873" name=""/>
          <p:cNvSpPr>
            <a:spLocks noGrp="1"/>
          </p:cNvSpPr>
          <p:nvPr/>
        </p:nvSpPr>
        <p:spPr>
          <a:xfrm>
            <a:off x="6762750" y="22669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0.721</a:t>
            </a:r>
            <a:endParaRPr/>
          </a:p>
        </p:txBody>
      </p:sp>
      <p:sp>
        <p:nvSpPr>
          <p:cNvPr id="874" name=""/>
          <p:cNvSpPr>
            <a:spLocks noGrp="1"/>
          </p:cNvSpPr>
          <p:nvPr/>
        </p:nvSpPr>
        <p:spPr>
          <a:xfrm>
            <a:off x="895350" y="283845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5" name=""/>
          <p:cNvSpPr>
            <a:spLocks noGrp="1"/>
          </p:cNvSpPr>
          <p:nvPr/>
        </p:nvSpPr>
        <p:spPr>
          <a:xfrm>
            <a:off x="895350" y="2838450"/>
            <a:ext cx="4615016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6" name=""/>
          <p:cNvSpPr>
            <a:spLocks noGrp="1"/>
          </p:cNvSpPr>
          <p:nvPr/>
        </p:nvSpPr>
        <p:spPr>
          <a:xfrm>
            <a:off x="895350" y="26193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UNet++</a:t>
            </a:r>
            <a:endParaRPr/>
          </a:p>
        </p:txBody>
      </p:sp>
      <p:sp>
        <p:nvSpPr>
          <p:cNvPr id="877" name=""/>
          <p:cNvSpPr>
            <a:spLocks noGrp="1"/>
          </p:cNvSpPr>
          <p:nvPr/>
        </p:nvSpPr>
        <p:spPr>
          <a:xfrm>
            <a:off x="6762750" y="28194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0.751</a:t>
            </a:r>
            <a:endParaRPr/>
          </a:p>
        </p:txBody>
      </p:sp>
      <p:sp>
        <p:nvSpPr>
          <p:cNvPr id="878" name=""/>
          <p:cNvSpPr>
            <a:spLocks noGrp="1"/>
          </p:cNvSpPr>
          <p:nvPr/>
        </p:nvSpPr>
        <p:spPr>
          <a:xfrm>
            <a:off x="895350" y="339090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9" name=""/>
          <p:cNvSpPr>
            <a:spLocks noGrp="1"/>
          </p:cNvSpPr>
          <p:nvPr/>
        </p:nvSpPr>
        <p:spPr>
          <a:xfrm>
            <a:off x="895350" y="3390900"/>
            <a:ext cx="4946855" cy="2286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0" name=""/>
          <p:cNvSpPr>
            <a:spLocks noGrp="1"/>
          </p:cNvSpPr>
          <p:nvPr/>
        </p:nvSpPr>
        <p:spPr>
          <a:xfrm>
            <a:off x="895350" y="31718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UNet</a:t>
            </a:r>
            <a:endParaRPr/>
          </a:p>
        </p:txBody>
      </p:sp>
      <p:sp>
        <p:nvSpPr>
          <p:cNvPr id="881" name=""/>
          <p:cNvSpPr>
            <a:spLocks noGrp="1"/>
          </p:cNvSpPr>
          <p:nvPr/>
        </p:nvSpPr>
        <p:spPr>
          <a:xfrm>
            <a:off x="6762750" y="33718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0.805</a:t>
            </a:r>
            <a:endParaRPr/>
          </a:p>
        </p:txBody>
      </p:sp>
      <p:sp>
        <p:nvSpPr>
          <p:cNvPr id="882" name=""/>
          <p:cNvSpPr>
            <a:spLocks noGrp="1"/>
          </p:cNvSpPr>
          <p:nvPr/>
        </p:nvSpPr>
        <p:spPr>
          <a:xfrm>
            <a:off x="895350" y="394335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3" name=""/>
          <p:cNvSpPr>
            <a:spLocks noGrp="1"/>
          </p:cNvSpPr>
          <p:nvPr/>
        </p:nvSpPr>
        <p:spPr>
          <a:xfrm>
            <a:off x="895350" y="3943350"/>
            <a:ext cx="4977581" cy="22860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4" name=""/>
          <p:cNvSpPr>
            <a:spLocks noGrp="1"/>
          </p:cNvSpPr>
          <p:nvPr/>
        </p:nvSpPr>
        <p:spPr>
          <a:xfrm>
            <a:off x="895350" y="37242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  <a:endParaRPr/>
          </a:p>
        </p:txBody>
      </p:sp>
      <p:sp>
        <p:nvSpPr>
          <p:cNvPr id="885" name=""/>
          <p:cNvSpPr>
            <a:spLocks noGrp="1"/>
          </p:cNvSpPr>
          <p:nvPr/>
        </p:nvSpPr>
        <p:spPr>
          <a:xfrm>
            <a:off x="6762750" y="39243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0.81</a:t>
            </a:r>
            <a:endParaRPr/>
          </a:p>
        </p:txBody>
      </p:sp>
      <p:sp>
        <p:nvSpPr>
          <p:cNvPr id="886" name=""/>
          <p:cNvSpPr>
            <a:spLocks noGrp="1"/>
          </p:cNvSpPr>
          <p:nvPr/>
        </p:nvSpPr>
        <p:spPr>
          <a:xfrm>
            <a:off x="895350" y="449580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7" name=""/>
          <p:cNvSpPr>
            <a:spLocks noGrp="1"/>
          </p:cNvSpPr>
          <p:nvPr/>
        </p:nvSpPr>
        <p:spPr>
          <a:xfrm>
            <a:off x="895350" y="4495800"/>
            <a:ext cx="5229532" cy="2286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8" name=""/>
          <p:cNvSpPr>
            <a:spLocks noGrp="1"/>
          </p:cNvSpPr>
          <p:nvPr/>
        </p:nvSpPr>
        <p:spPr>
          <a:xfrm>
            <a:off x="895350" y="42767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DeepLabV3+</a:t>
            </a:r>
            <a:endParaRPr/>
          </a:p>
        </p:txBody>
      </p:sp>
      <p:sp>
        <p:nvSpPr>
          <p:cNvPr id="889" name=""/>
          <p:cNvSpPr>
            <a:spLocks noGrp="1"/>
          </p:cNvSpPr>
          <p:nvPr/>
        </p:nvSpPr>
        <p:spPr>
          <a:xfrm>
            <a:off x="6762750" y="44767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  <a:endParaRPr/>
          </a:p>
        </p:txBody>
      </p:sp>
      <p:sp>
        <p:nvSpPr>
          <p:cNvPr id="890" name=""/>
          <p:cNvSpPr>
            <a:spLocks noGrp="1"/>
          </p:cNvSpPr>
          <p:nvPr/>
        </p:nvSpPr>
        <p:spPr>
          <a:xfrm>
            <a:off x="895350" y="5048250"/>
            <a:ext cx="57150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1" name=""/>
          <p:cNvSpPr>
            <a:spLocks noGrp="1"/>
          </p:cNvSpPr>
          <p:nvPr/>
        </p:nvSpPr>
        <p:spPr>
          <a:xfrm>
            <a:off x="895350" y="5048250"/>
            <a:ext cx="5598242" cy="2286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2" name=""/>
          <p:cNvSpPr>
            <a:spLocks noGrp="1"/>
          </p:cNvSpPr>
          <p:nvPr/>
        </p:nvSpPr>
        <p:spPr>
          <a:xfrm>
            <a:off x="895350" y="48291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  <a:endParaRPr/>
          </a:p>
        </p:txBody>
      </p:sp>
      <p:sp>
        <p:nvSpPr>
          <p:cNvPr id="893" name=""/>
          <p:cNvSpPr>
            <a:spLocks noGrp="1"/>
          </p:cNvSpPr>
          <p:nvPr/>
        </p:nvSpPr>
        <p:spPr>
          <a:xfrm>
            <a:off x="6762750" y="50292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894" name=""/>
          <p:cNvSpPr>
            <a:spLocks noGrp="1"/>
          </p:cNvSpPr>
          <p:nvPr/>
        </p:nvSpPr>
        <p:spPr>
          <a:xfrm>
            <a:off x="7715250" y="1809750"/>
            <a:ext cx="1524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目标类别 IoU</a:t>
            </a:r>
            <a:endParaRPr/>
          </a:p>
        </p:txBody>
      </p:sp>
      <p:sp>
        <p:nvSpPr>
          <p:cNvPr id="895" name=""/>
          <p:cNvSpPr>
            <a:spLocks noGrp="1"/>
          </p:cNvSpPr>
          <p:nvPr/>
        </p:nvSpPr>
        <p:spPr>
          <a:xfrm>
            <a:off x="7734300" y="228600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6" name=""/>
          <p:cNvSpPr>
            <a:spLocks noGrp="1"/>
          </p:cNvSpPr>
          <p:nvPr/>
        </p:nvSpPr>
        <p:spPr>
          <a:xfrm>
            <a:off x="7734300" y="2286000"/>
            <a:ext cx="1113539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7" name=""/>
          <p:cNvSpPr>
            <a:spLocks noGrp="1"/>
          </p:cNvSpPr>
          <p:nvPr/>
        </p:nvSpPr>
        <p:spPr>
          <a:xfrm>
            <a:off x="10001250" y="225742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0.457</a:t>
            </a:r>
            <a:endParaRPr/>
          </a:p>
        </p:txBody>
      </p:sp>
      <p:sp>
        <p:nvSpPr>
          <p:cNvPr id="898" name=""/>
          <p:cNvSpPr>
            <a:spLocks noGrp="1"/>
          </p:cNvSpPr>
          <p:nvPr/>
        </p:nvSpPr>
        <p:spPr>
          <a:xfrm>
            <a:off x="7734300" y="283845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99" name=""/>
          <p:cNvSpPr>
            <a:spLocks noGrp="1"/>
          </p:cNvSpPr>
          <p:nvPr/>
        </p:nvSpPr>
        <p:spPr>
          <a:xfrm>
            <a:off x="7734300" y="2838450"/>
            <a:ext cx="1262173" cy="228600"/>
          </a:xfrm>
          <a:prstGeom prst="rect">
            <a:avLst/>
          </a:prstGeom>
          <a:solidFill>
            <a:srgbClr val="62707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0" name=""/>
          <p:cNvSpPr>
            <a:spLocks noGrp="1"/>
          </p:cNvSpPr>
          <p:nvPr/>
        </p:nvSpPr>
        <p:spPr>
          <a:xfrm>
            <a:off x="10001250" y="28098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0.518</a:t>
            </a:r>
            <a:endParaRPr/>
          </a:p>
        </p:txBody>
      </p:sp>
      <p:sp>
        <p:nvSpPr>
          <p:cNvPr id="901" name=""/>
          <p:cNvSpPr>
            <a:spLocks noGrp="1"/>
          </p:cNvSpPr>
          <p:nvPr/>
        </p:nvSpPr>
        <p:spPr>
          <a:xfrm>
            <a:off x="7734300" y="339090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2" name=""/>
          <p:cNvSpPr>
            <a:spLocks noGrp="1"/>
          </p:cNvSpPr>
          <p:nvPr/>
        </p:nvSpPr>
        <p:spPr>
          <a:xfrm>
            <a:off x="7734300" y="3390900"/>
            <a:ext cx="1510709" cy="2286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3" name=""/>
          <p:cNvSpPr>
            <a:spLocks noGrp="1"/>
          </p:cNvSpPr>
          <p:nvPr/>
        </p:nvSpPr>
        <p:spPr>
          <a:xfrm>
            <a:off x="10001250" y="336232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0.620</a:t>
            </a:r>
            <a:endParaRPr/>
          </a:p>
        </p:txBody>
      </p:sp>
      <p:sp>
        <p:nvSpPr>
          <p:cNvPr id="904" name=""/>
          <p:cNvSpPr>
            <a:spLocks noGrp="1"/>
          </p:cNvSpPr>
          <p:nvPr/>
        </p:nvSpPr>
        <p:spPr>
          <a:xfrm>
            <a:off x="7734300" y="394335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5" name=""/>
          <p:cNvSpPr>
            <a:spLocks noGrp="1"/>
          </p:cNvSpPr>
          <p:nvPr/>
        </p:nvSpPr>
        <p:spPr>
          <a:xfrm>
            <a:off x="7734300" y="3943350"/>
            <a:ext cx="1539949" cy="22860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6" name=""/>
          <p:cNvSpPr>
            <a:spLocks noGrp="1"/>
          </p:cNvSpPr>
          <p:nvPr/>
        </p:nvSpPr>
        <p:spPr>
          <a:xfrm>
            <a:off x="10001250" y="39147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0.632</a:t>
            </a:r>
            <a:endParaRPr/>
          </a:p>
        </p:txBody>
      </p:sp>
      <p:sp>
        <p:nvSpPr>
          <p:cNvPr id="907" name=""/>
          <p:cNvSpPr>
            <a:spLocks noGrp="1"/>
          </p:cNvSpPr>
          <p:nvPr/>
        </p:nvSpPr>
        <p:spPr>
          <a:xfrm>
            <a:off x="7734300" y="449580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8" name=""/>
          <p:cNvSpPr>
            <a:spLocks noGrp="1"/>
          </p:cNvSpPr>
          <p:nvPr/>
        </p:nvSpPr>
        <p:spPr>
          <a:xfrm>
            <a:off x="7734300" y="4495800"/>
            <a:ext cx="1730006" cy="2286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9" name=""/>
          <p:cNvSpPr>
            <a:spLocks noGrp="1"/>
          </p:cNvSpPr>
          <p:nvPr/>
        </p:nvSpPr>
        <p:spPr>
          <a:xfrm>
            <a:off x="10001250" y="446722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0.710</a:t>
            </a:r>
            <a:endParaRPr/>
          </a:p>
        </p:txBody>
      </p:sp>
      <p:sp>
        <p:nvSpPr>
          <p:cNvPr id="910" name=""/>
          <p:cNvSpPr>
            <a:spLocks noGrp="1"/>
          </p:cNvSpPr>
          <p:nvPr/>
        </p:nvSpPr>
        <p:spPr>
          <a:xfrm>
            <a:off x="7734300" y="5048250"/>
            <a:ext cx="2095500" cy="22860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1" name=""/>
          <p:cNvSpPr>
            <a:spLocks noGrp="1"/>
          </p:cNvSpPr>
          <p:nvPr/>
        </p:nvSpPr>
        <p:spPr>
          <a:xfrm>
            <a:off x="7734300" y="5048250"/>
            <a:ext cx="2012655" cy="2286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2" name=""/>
          <p:cNvSpPr>
            <a:spLocks noGrp="1"/>
          </p:cNvSpPr>
          <p:nvPr/>
        </p:nvSpPr>
        <p:spPr>
          <a:xfrm>
            <a:off x="10001250" y="501967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38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0.826</a:t>
            </a:r>
            <a:endParaRPr/>
          </a:p>
        </p:txBody>
      </p:sp>
      <p:sp>
        <p:nvSpPr>
          <p:cNvPr id="913" name=""/>
          <p:cNvSpPr>
            <a:spLocks noGrp="1"/>
          </p:cNvSpPr>
          <p:nvPr/>
        </p:nvSpPr>
        <p:spPr>
          <a:xfrm>
            <a:off x="895350" y="5829300"/>
            <a:ext cx="933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425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目标 IoU 从 0.710 提升到 0.826，说明提升主要落在匙孔前景区域，而不是由背景类“抬高”平均值。</a:t>
            </a:r>
            <a:endParaRPr/>
          </a:p>
        </p:txBody>
      </p:sp>
      <p:sp>
        <p:nvSpPr>
          <p:cNvPr id="914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14</a:t>
            </a:r>
            <a:endParaRPr/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7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8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9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14  VISUAL PROOF</a:t>
            </a:r>
            <a:endParaRPr/>
          </a:p>
        </p:txBody>
      </p:sp>
      <p:sp>
        <p:nvSpPr>
          <p:cNvPr id="920" name=""/>
          <p:cNvSpPr>
            <a:spLocks noGrp="1"/>
          </p:cNvSpPr>
          <p:nvPr/>
        </p:nvSpPr>
        <p:spPr>
          <a:xfrm>
            <a:off x="514350" y="781050"/>
            <a:ext cx="9906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可视化里能看到：TR 主要补连续性，SAE 主要修边界。</a:t>
            </a:r>
            <a:endParaRPr/>
          </a:p>
        </p:txBody>
      </p:sp>
      <p:sp>
        <p:nvSpPr>
          <p:cNvPr id="921" name=""/>
          <p:cNvSpPr>
            <a:spLocks noGrp="1"/>
          </p:cNvSpPr>
          <p:nvPr/>
        </p:nvSpPr>
        <p:spPr>
          <a:xfrm>
            <a:off x="628650" y="1847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原图</a:t>
            </a:r>
            <a:endParaRPr/>
          </a:p>
        </p:txBody>
      </p:sp>
      <p:sp>
        <p:nvSpPr>
          <p:cNvPr id="922" name=""/>
          <p:cNvSpPr>
            <a:spLocks noGrp="1"/>
          </p:cNvSpPr>
          <p:nvPr/>
        </p:nvSpPr>
        <p:spPr>
          <a:xfrm>
            <a:off x="2000250" y="16573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23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140951" y="1714500"/>
            <a:ext cx="1529097" cy="400050"/>
          </a:xfrm>
          <a:prstGeom prst="rect">
            <a:avLst/>
          </a:prstGeom>
        </p:spPr>
      </p:pic>
      <p:sp>
        <p:nvSpPr>
          <p:cNvPr id="924" name=""/>
          <p:cNvSpPr>
            <a:spLocks noGrp="1"/>
          </p:cNvSpPr>
          <p:nvPr/>
        </p:nvSpPr>
        <p:spPr>
          <a:xfrm>
            <a:off x="628650" y="25336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标签</a:t>
            </a:r>
            <a:endParaRPr/>
          </a:p>
        </p:txBody>
      </p:sp>
      <p:sp>
        <p:nvSpPr>
          <p:cNvPr id="925" name=""/>
          <p:cNvSpPr>
            <a:spLocks noGrp="1"/>
          </p:cNvSpPr>
          <p:nvPr/>
        </p:nvSpPr>
        <p:spPr>
          <a:xfrm>
            <a:off x="2000250" y="23431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26" name="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40951" y="2400300"/>
            <a:ext cx="1529097" cy="400050"/>
          </a:xfrm>
          <a:prstGeom prst="rect">
            <a:avLst/>
          </a:prstGeom>
        </p:spPr>
      </p:pic>
      <p:sp>
        <p:nvSpPr>
          <p:cNvPr id="927" name=""/>
          <p:cNvSpPr>
            <a:spLocks noGrp="1"/>
          </p:cNvSpPr>
          <p:nvPr/>
        </p:nvSpPr>
        <p:spPr>
          <a:xfrm>
            <a:off x="628650" y="32194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2F5C8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F5C8A"/>
                </a:solidFill>
                <a:latin typeface="PingFang SC"/>
                <a:ea typeface="PingFang SC"/>
                <a:cs typeface="PingFang SC"/>
              </a:rPr>
              <a:t>DeepLabV3+</a:t>
            </a:r>
            <a:endParaRPr/>
          </a:p>
        </p:txBody>
      </p:sp>
      <p:sp>
        <p:nvSpPr>
          <p:cNvPr id="928" name=""/>
          <p:cNvSpPr>
            <a:spLocks noGrp="1"/>
          </p:cNvSpPr>
          <p:nvPr/>
        </p:nvSpPr>
        <p:spPr>
          <a:xfrm>
            <a:off x="2000250" y="30289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29" name="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170252" y="3086100"/>
            <a:ext cx="1470496" cy="400050"/>
          </a:xfrm>
          <a:prstGeom prst="rect">
            <a:avLst/>
          </a:prstGeom>
        </p:spPr>
      </p:pic>
      <p:sp>
        <p:nvSpPr>
          <p:cNvPr id="930" name=""/>
          <p:cNvSpPr>
            <a:spLocks noGrp="1"/>
          </p:cNvSpPr>
          <p:nvPr/>
        </p:nvSpPr>
        <p:spPr>
          <a:xfrm>
            <a:off x="628650" y="39052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+ TR</a:t>
            </a:r>
            <a:endParaRPr/>
          </a:p>
        </p:txBody>
      </p:sp>
      <p:sp>
        <p:nvSpPr>
          <p:cNvPr id="931" name=""/>
          <p:cNvSpPr>
            <a:spLocks noGrp="1"/>
          </p:cNvSpPr>
          <p:nvPr/>
        </p:nvSpPr>
        <p:spPr>
          <a:xfrm>
            <a:off x="2000250" y="37147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32" name="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40951" y="3771900"/>
            <a:ext cx="1529097" cy="400050"/>
          </a:xfrm>
          <a:prstGeom prst="rect">
            <a:avLst/>
          </a:prstGeom>
        </p:spPr>
      </p:pic>
      <p:sp>
        <p:nvSpPr>
          <p:cNvPr id="933" name=""/>
          <p:cNvSpPr>
            <a:spLocks noGrp="1"/>
          </p:cNvSpPr>
          <p:nvPr/>
        </p:nvSpPr>
        <p:spPr>
          <a:xfrm>
            <a:off x="628650" y="45910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6F5BA7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6F5BA7"/>
                </a:solidFill>
                <a:latin typeface="PingFang SC"/>
                <a:ea typeface="PingFang SC"/>
                <a:cs typeface="PingFang SC"/>
              </a:rPr>
              <a:t>+ SAE</a:t>
            </a:r>
            <a:endParaRPr/>
          </a:p>
        </p:txBody>
      </p:sp>
      <p:sp>
        <p:nvSpPr>
          <p:cNvPr id="934" name=""/>
          <p:cNvSpPr>
            <a:spLocks noGrp="1"/>
          </p:cNvSpPr>
          <p:nvPr/>
        </p:nvSpPr>
        <p:spPr>
          <a:xfrm>
            <a:off x="2000250" y="44005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35" name="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140951" y="4457700"/>
            <a:ext cx="1529097" cy="400050"/>
          </a:xfrm>
          <a:prstGeom prst="rect">
            <a:avLst/>
          </a:prstGeom>
        </p:spPr>
      </p:pic>
      <p:sp>
        <p:nvSpPr>
          <p:cNvPr id="936" name=""/>
          <p:cNvSpPr>
            <a:spLocks noGrp="1"/>
          </p:cNvSpPr>
          <p:nvPr/>
        </p:nvSpPr>
        <p:spPr>
          <a:xfrm>
            <a:off x="628650" y="5276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+ TR + SAE</a:t>
            </a:r>
            <a:endParaRPr/>
          </a:p>
        </p:txBody>
      </p:sp>
      <p:sp>
        <p:nvSpPr>
          <p:cNvPr id="937" name=""/>
          <p:cNvSpPr>
            <a:spLocks noGrp="1"/>
          </p:cNvSpPr>
          <p:nvPr/>
        </p:nvSpPr>
        <p:spPr>
          <a:xfrm>
            <a:off x="2000250" y="5086350"/>
            <a:ext cx="7810500" cy="5143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938" name="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170252" y="5143500"/>
            <a:ext cx="1470496" cy="400050"/>
          </a:xfrm>
          <a:prstGeom prst="rect">
            <a:avLst/>
          </a:prstGeom>
        </p:spPr>
      </p:pic>
      <p:sp>
        <p:nvSpPr>
          <p:cNvPr id="939" name=""/>
          <p:cNvSpPr>
            <a:spLocks noGrp="1"/>
          </p:cNvSpPr>
          <p:nvPr/>
        </p:nvSpPr>
        <p:spPr>
          <a:xfrm>
            <a:off x="10115550" y="1962150"/>
            <a:ext cx="1428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0" name=""/>
          <p:cNvSpPr>
            <a:spLocks noGrp="1"/>
          </p:cNvSpPr>
          <p:nvPr/>
        </p:nvSpPr>
        <p:spPr>
          <a:xfrm>
            <a:off x="10115550" y="1962150"/>
            <a:ext cx="47625" cy="9715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1" name=""/>
          <p:cNvSpPr>
            <a:spLocks noGrp="1"/>
          </p:cNvSpPr>
          <p:nvPr/>
        </p:nvSpPr>
        <p:spPr>
          <a:xfrm>
            <a:off x="10306050" y="21145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TR</a:t>
            </a:r>
            <a:endParaRPr/>
          </a:p>
        </p:txBody>
      </p:sp>
      <p:sp>
        <p:nvSpPr>
          <p:cNvPr id="942" name=""/>
          <p:cNvSpPr>
            <a:spLocks noGrp="1"/>
          </p:cNvSpPr>
          <p:nvPr/>
        </p:nvSpPr>
        <p:spPr>
          <a:xfrm>
            <a:off x="10306050" y="24003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细长结构的断裂减少，目标整体更连贯。</a:t>
            </a:r>
            <a:endParaRPr/>
          </a:p>
        </p:txBody>
      </p:sp>
      <p:sp>
        <p:nvSpPr>
          <p:cNvPr id="943" name=""/>
          <p:cNvSpPr>
            <a:spLocks noGrp="1"/>
          </p:cNvSpPr>
          <p:nvPr/>
        </p:nvSpPr>
        <p:spPr>
          <a:xfrm>
            <a:off x="10115550" y="3238500"/>
            <a:ext cx="1428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4" name=""/>
          <p:cNvSpPr>
            <a:spLocks noGrp="1"/>
          </p:cNvSpPr>
          <p:nvPr/>
        </p:nvSpPr>
        <p:spPr>
          <a:xfrm>
            <a:off x="10115550" y="3238500"/>
            <a:ext cx="47625" cy="9715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5" name=""/>
          <p:cNvSpPr>
            <a:spLocks noGrp="1"/>
          </p:cNvSpPr>
          <p:nvPr/>
        </p:nvSpPr>
        <p:spPr>
          <a:xfrm>
            <a:off x="10306050" y="339090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C49A3A"/>
                </a:solidFill>
                <a:latin typeface="PingFang SC"/>
                <a:ea typeface="PingFang SC"/>
                <a:cs typeface="PingFang SC"/>
              </a:rPr>
              <a:t>SAE</a:t>
            </a:r>
            <a:endParaRPr/>
          </a:p>
        </p:txBody>
      </p:sp>
      <p:sp>
        <p:nvSpPr>
          <p:cNvPr id="946" name=""/>
          <p:cNvSpPr>
            <a:spLocks noGrp="1"/>
          </p:cNvSpPr>
          <p:nvPr/>
        </p:nvSpPr>
        <p:spPr>
          <a:xfrm>
            <a:off x="10306050" y="367665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边界定位更接近标签，粘连与毛刺减少。</a:t>
            </a:r>
            <a:endParaRPr/>
          </a:p>
        </p:txBody>
      </p:sp>
      <p:sp>
        <p:nvSpPr>
          <p:cNvPr id="947" name=""/>
          <p:cNvSpPr>
            <a:spLocks noGrp="1"/>
          </p:cNvSpPr>
          <p:nvPr/>
        </p:nvSpPr>
        <p:spPr>
          <a:xfrm>
            <a:off x="10115550" y="4514850"/>
            <a:ext cx="1428750" cy="971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8" name=""/>
          <p:cNvSpPr>
            <a:spLocks noGrp="1"/>
          </p:cNvSpPr>
          <p:nvPr/>
        </p:nvSpPr>
        <p:spPr>
          <a:xfrm>
            <a:off x="10115550" y="4514850"/>
            <a:ext cx="47625" cy="9715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9" name=""/>
          <p:cNvSpPr>
            <a:spLocks noGrp="1"/>
          </p:cNvSpPr>
          <p:nvPr/>
        </p:nvSpPr>
        <p:spPr>
          <a:xfrm>
            <a:off x="10306050" y="4667250"/>
            <a:ext cx="1047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联合</a:t>
            </a:r>
            <a:endParaRPr/>
          </a:p>
        </p:txBody>
      </p:sp>
      <p:sp>
        <p:nvSpPr>
          <p:cNvPr id="950" name=""/>
          <p:cNvSpPr>
            <a:spLocks noGrp="1"/>
          </p:cNvSpPr>
          <p:nvPr/>
        </p:nvSpPr>
        <p:spPr>
          <a:xfrm>
            <a:off x="10306050" y="4953000"/>
            <a:ext cx="1047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兼顾连续性与边界精度，最终掩膜最接近标签。</a:t>
            </a:r>
            <a:endParaRPr/>
          </a:p>
        </p:txBody>
      </p:sp>
      <p:sp>
        <p:nvSpPr>
          <p:cNvPr id="951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15</a:t>
            </a:r>
            <a:endParaRPr/>
          </a:p>
        </p:txBody>
      </p:sp>
    </p:spTree>
  </p:cSld>
</p:sld>
</file>

<file path=ppt/slides/slide27.xml><?xml version="1.0" encoding="utf-8"?>
<p:sld xmlns:a="http://schemas.openxmlformats.org/drawingml/2006/main" xmlns:p="http://schemas.openxmlformats.org/presentationml/2006/main">
  <p:cSld>
    <p:spTree>
      <p:nvGrpSpPr>
        <p:cNvPr id="9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4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5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6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15  ROBUSTNESS</a:t>
            </a:r>
            <a:endParaRPr/>
          </a:p>
        </p:txBody>
      </p:sp>
      <p:sp>
        <p:nvSpPr>
          <p:cNvPr id="957" name=""/>
          <p:cNvSpPr>
            <a:spLocks noGrp="1"/>
          </p:cNvSpPr>
          <p:nvPr/>
        </p:nvSpPr>
        <p:spPr>
          <a:xfrm>
            <a:off x="514350" y="781050"/>
            <a:ext cx="102870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散斑加重后，本文方法掉得更慢；显存也明显低于 TransUNet。</a:t>
            </a:r>
            <a:endParaRPr/>
          </a:p>
        </p:txBody>
      </p:sp>
      <p:sp>
        <p:nvSpPr>
          <p:cNvPr id="958" name=""/>
          <p:cNvSpPr>
            <a:spLocks noGrp="1"/>
          </p:cNvSpPr>
          <p:nvPr/>
        </p:nvSpPr>
        <p:spPr>
          <a:xfrm>
            <a:off x="819150" y="180975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不同散斑方差下 mIoU</a:t>
            </a:r>
            <a:endParaRPr/>
          </a:p>
        </p:txBody>
      </p:sp>
      <p:sp>
        <p:nvSpPr>
          <p:cNvPr id="959" name=""/>
          <p:cNvSpPr>
            <a:spLocks noGrp="1"/>
          </p:cNvSpPr>
          <p:nvPr/>
        </p:nvSpPr>
        <p:spPr>
          <a:xfrm>
            <a:off x="10001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0" name=""/>
          <p:cNvSpPr>
            <a:spLocks noGrp="1"/>
          </p:cNvSpPr>
          <p:nvPr/>
        </p:nvSpPr>
        <p:spPr>
          <a:xfrm>
            <a:off x="1000125" y="3090726"/>
            <a:ext cx="400050" cy="1176474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1" name=""/>
          <p:cNvSpPr>
            <a:spLocks noGrp="1"/>
          </p:cNvSpPr>
          <p:nvPr/>
        </p:nvSpPr>
        <p:spPr>
          <a:xfrm>
            <a:off x="923925" y="2862126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0.851</a:t>
            </a:r>
            <a:endParaRPr/>
          </a:p>
        </p:txBody>
      </p:sp>
      <p:sp>
        <p:nvSpPr>
          <p:cNvPr id="962" name=""/>
          <p:cNvSpPr>
            <a:spLocks noGrp="1"/>
          </p:cNvSpPr>
          <p:nvPr/>
        </p:nvSpPr>
        <p:spPr>
          <a:xfrm>
            <a:off x="8286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</a:t>
            </a:r>
            <a:endParaRPr/>
          </a:p>
        </p:txBody>
      </p:sp>
      <p:sp>
        <p:nvSpPr>
          <p:cNvPr id="963" name=""/>
          <p:cNvSpPr>
            <a:spLocks noGrp="1"/>
          </p:cNvSpPr>
          <p:nvPr/>
        </p:nvSpPr>
        <p:spPr>
          <a:xfrm>
            <a:off x="14954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4" name=""/>
          <p:cNvSpPr>
            <a:spLocks noGrp="1"/>
          </p:cNvSpPr>
          <p:nvPr/>
        </p:nvSpPr>
        <p:spPr>
          <a:xfrm>
            <a:off x="1495425" y="2551884"/>
            <a:ext cx="400050" cy="1715316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5" name=""/>
          <p:cNvSpPr>
            <a:spLocks noGrp="1"/>
          </p:cNvSpPr>
          <p:nvPr/>
        </p:nvSpPr>
        <p:spPr>
          <a:xfrm>
            <a:off x="1419225" y="2323284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966" name=""/>
          <p:cNvSpPr>
            <a:spLocks noGrp="1"/>
          </p:cNvSpPr>
          <p:nvPr/>
        </p:nvSpPr>
        <p:spPr>
          <a:xfrm>
            <a:off x="13239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67" name=""/>
          <p:cNvSpPr>
            <a:spLocks noGrp="1"/>
          </p:cNvSpPr>
          <p:nvPr/>
        </p:nvSpPr>
        <p:spPr>
          <a:xfrm>
            <a:off x="23145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8" name=""/>
          <p:cNvSpPr>
            <a:spLocks noGrp="1"/>
          </p:cNvSpPr>
          <p:nvPr/>
        </p:nvSpPr>
        <p:spPr>
          <a:xfrm>
            <a:off x="2314575" y="3207476"/>
            <a:ext cx="400050" cy="1059724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69" name=""/>
          <p:cNvSpPr>
            <a:spLocks noGrp="1"/>
          </p:cNvSpPr>
          <p:nvPr/>
        </p:nvSpPr>
        <p:spPr>
          <a:xfrm>
            <a:off x="2238375" y="2978876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0.838</a:t>
            </a:r>
            <a:endParaRPr/>
          </a:p>
        </p:txBody>
      </p:sp>
      <p:sp>
        <p:nvSpPr>
          <p:cNvPr id="970" name=""/>
          <p:cNvSpPr>
            <a:spLocks noGrp="1"/>
          </p:cNvSpPr>
          <p:nvPr/>
        </p:nvSpPr>
        <p:spPr>
          <a:xfrm>
            <a:off x="21431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σ²=0.02</a:t>
            </a:r>
            <a:endParaRPr/>
          </a:p>
        </p:txBody>
      </p:sp>
      <p:sp>
        <p:nvSpPr>
          <p:cNvPr id="971" name=""/>
          <p:cNvSpPr>
            <a:spLocks noGrp="1"/>
          </p:cNvSpPr>
          <p:nvPr/>
        </p:nvSpPr>
        <p:spPr>
          <a:xfrm>
            <a:off x="28098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2" name=""/>
          <p:cNvSpPr>
            <a:spLocks noGrp="1"/>
          </p:cNvSpPr>
          <p:nvPr/>
        </p:nvSpPr>
        <p:spPr>
          <a:xfrm>
            <a:off x="2809875" y="2623729"/>
            <a:ext cx="400050" cy="1643471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3" name=""/>
          <p:cNvSpPr>
            <a:spLocks noGrp="1"/>
          </p:cNvSpPr>
          <p:nvPr/>
        </p:nvSpPr>
        <p:spPr>
          <a:xfrm>
            <a:off x="2733675" y="2395129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0.903</a:t>
            </a:r>
            <a:endParaRPr/>
          </a:p>
        </p:txBody>
      </p:sp>
      <p:sp>
        <p:nvSpPr>
          <p:cNvPr id="974" name=""/>
          <p:cNvSpPr>
            <a:spLocks noGrp="1"/>
          </p:cNvSpPr>
          <p:nvPr/>
        </p:nvSpPr>
        <p:spPr>
          <a:xfrm>
            <a:off x="26384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75" name=""/>
          <p:cNvSpPr>
            <a:spLocks noGrp="1"/>
          </p:cNvSpPr>
          <p:nvPr/>
        </p:nvSpPr>
        <p:spPr>
          <a:xfrm>
            <a:off x="36290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6" name=""/>
          <p:cNvSpPr>
            <a:spLocks noGrp="1"/>
          </p:cNvSpPr>
          <p:nvPr/>
        </p:nvSpPr>
        <p:spPr>
          <a:xfrm>
            <a:off x="3629025" y="3494859"/>
            <a:ext cx="400050" cy="772341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77" name=""/>
          <p:cNvSpPr>
            <a:spLocks noGrp="1"/>
          </p:cNvSpPr>
          <p:nvPr/>
        </p:nvSpPr>
        <p:spPr>
          <a:xfrm>
            <a:off x="3552825" y="3266259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0.806</a:t>
            </a:r>
            <a:endParaRPr/>
          </a:p>
        </p:txBody>
      </p:sp>
      <p:sp>
        <p:nvSpPr>
          <p:cNvPr id="978" name=""/>
          <p:cNvSpPr>
            <a:spLocks noGrp="1"/>
          </p:cNvSpPr>
          <p:nvPr/>
        </p:nvSpPr>
        <p:spPr>
          <a:xfrm>
            <a:off x="34575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σ²=0.05</a:t>
            </a:r>
            <a:endParaRPr/>
          </a:p>
        </p:txBody>
      </p:sp>
      <p:sp>
        <p:nvSpPr>
          <p:cNvPr id="979" name=""/>
          <p:cNvSpPr>
            <a:spLocks noGrp="1"/>
          </p:cNvSpPr>
          <p:nvPr/>
        </p:nvSpPr>
        <p:spPr>
          <a:xfrm>
            <a:off x="412432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0" name=""/>
          <p:cNvSpPr>
            <a:spLocks noGrp="1"/>
          </p:cNvSpPr>
          <p:nvPr/>
        </p:nvSpPr>
        <p:spPr>
          <a:xfrm>
            <a:off x="4124325" y="2776401"/>
            <a:ext cx="400050" cy="1490799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1" name=""/>
          <p:cNvSpPr>
            <a:spLocks noGrp="1"/>
          </p:cNvSpPr>
          <p:nvPr/>
        </p:nvSpPr>
        <p:spPr>
          <a:xfrm>
            <a:off x="4048125" y="2547801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0.886</a:t>
            </a:r>
            <a:endParaRPr/>
          </a:p>
        </p:txBody>
      </p:sp>
      <p:sp>
        <p:nvSpPr>
          <p:cNvPr id="982" name=""/>
          <p:cNvSpPr>
            <a:spLocks noGrp="1"/>
          </p:cNvSpPr>
          <p:nvPr/>
        </p:nvSpPr>
        <p:spPr>
          <a:xfrm>
            <a:off x="395287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83" name=""/>
          <p:cNvSpPr>
            <a:spLocks noGrp="1"/>
          </p:cNvSpPr>
          <p:nvPr/>
        </p:nvSpPr>
        <p:spPr>
          <a:xfrm>
            <a:off x="49434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4" name=""/>
          <p:cNvSpPr>
            <a:spLocks noGrp="1"/>
          </p:cNvSpPr>
          <p:nvPr/>
        </p:nvSpPr>
        <p:spPr>
          <a:xfrm>
            <a:off x="4943475" y="3890010"/>
            <a:ext cx="400050" cy="37719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5" name=""/>
          <p:cNvSpPr>
            <a:spLocks noGrp="1"/>
          </p:cNvSpPr>
          <p:nvPr/>
        </p:nvSpPr>
        <p:spPr>
          <a:xfrm>
            <a:off x="4867275" y="3661410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0.762</a:t>
            </a:r>
            <a:endParaRPr/>
          </a:p>
        </p:txBody>
      </p:sp>
      <p:sp>
        <p:nvSpPr>
          <p:cNvPr id="986" name=""/>
          <p:cNvSpPr>
            <a:spLocks noGrp="1"/>
          </p:cNvSpPr>
          <p:nvPr/>
        </p:nvSpPr>
        <p:spPr>
          <a:xfrm>
            <a:off x="47720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σ²=0.10</a:t>
            </a:r>
            <a:endParaRPr/>
          </a:p>
        </p:txBody>
      </p:sp>
      <p:sp>
        <p:nvSpPr>
          <p:cNvPr id="987" name=""/>
          <p:cNvSpPr>
            <a:spLocks noGrp="1"/>
          </p:cNvSpPr>
          <p:nvPr/>
        </p:nvSpPr>
        <p:spPr>
          <a:xfrm>
            <a:off x="5438775" y="2381250"/>
            <a:ext cx="400050" cy="18859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8" name=""/>
          <p:cNvSpPr>
            <a:spLocks noGrp="1"/>
          </p:cNvSpPr>
          <p:nvPr/>
        </p:nvSpPr>
        <p:spPr>
          <a:xfrm>
            <a:off x="5438775" y="3036842"/>
            <a:ext cx="400050" cy="1230358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9" name=""/>
          <p:cNvSpPr>
            <a:spLocks noGrp="1"/>
          </p:cNvSpPr>
          <p:nvPr/>
        </p:nvSpPr>
        <p:spPr>
          <a:xfrm>
            <a:off x="5362575" y="2808242"/>
            <a:ext cx="552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863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0.857</a:t>
            </a:r>
            <a:endParaRPr/>
          </a:p>
        </p:txBody>
      </p:sp>
      <p:sp>
        <p:nvSpPr>
          <p:cNvPr id="990" name=""/>
          <p:cNvSpPr>
            <a:spLocks noGrp="1"/>
          </p:cNvSpPr>
          <p:nvPr/>
        </p:nvSpPr>
        <p:spPr>
          <a:xfrm>
            <a:off x="5267325" y="4381500"/>
            <a:ext cx="742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/>
            <a:endParaRPr/>
          </a:p>
        </p:txBody>
      </p:sp>
      <p:sp>
        <p:nvSpPr>
          <p:cNvPr id="991" name=""/>
          <p:cNvSpPr>
            <a:spLocks noGrp="1"/>
          </p:cNvSpPr>
          <p:nvPr/>
        </p:nvSpPr>
        <p:spPr>
          <a:xfrm>
            <a:off x="1123950" y="4800600"/>
            <a:ext cx="152400" cy="952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2" name=""/>
          <p:cNvSpPr>
            <a:spLocks noGrp="1"/>
          </p:cNvSpPr>
          <p:nvPr/>
        </p:nvSpPr>
        <p:spPr>
          <a:xfrm>
            <a:off x="1352550" y="4733925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DeepLabV3+ 基线</a:t>
            </a:r>
            <a:endParaRPr/>
          </a:p>
        </p:txBody>
      </p:sp>
      <p:sp>
        <p:nvSpPr>
          <p:cNvPr id="993" name=""/>
          <p:cNvSpPr>
            <a:spLocks noGrp="1"/>
          </p:cNvSpPr>
          <p:nvPr/>
        </p:nvSpPr>
        <p:spPr>
          <a:xfrm>
            <a:off x="2819400" y="4800600"/>
            <a:ext cx="152400" cy="952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4" name=""/>
          <p:cNvSpPr>
            <a:spLocks noGrp="1"/>
          </p:cNvSpPr>
          <p:nvPr/>
        </p:nvSpPr>
        <p:spPr>
          <a:xfrm>
            <a:off x="3048000" y="4733925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本文方法</a:t>
            </a:r>
            <a:endParaRPr/>
          </a:p>
        </p:txBody>
      </p:sp>
      <p:sp>
        <p:nvSpPr>
          <p:cNvPr id="995" name=""/>
          <p:cNvSpPr>
            <a:spLocks noGrp="1"/>
          </p:cNvSpPr>
          <p:nvPr/>
        </p:nvSpPr>
        <p:spPr>
          <a:xfrm>
            <a:off x="819150" y="5219700"/>
            <a:ext cx="533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σ²=0.10 时，基线 mIoU 衰减 10.5%，本文方法衰减 5.9%。</a:t>
            </a:r>
            <a:endParaRPr/>
          </a:p>
        </p:txBody>
      </p:sp>
      <p:sp>
        <p:nvSpPr>
          <p:cNvPr id="996" name=""/>
          <p:cNvSpPr>
            <a:spLocks noGrp="1"/>
          </p:cNvSpPr>
          <p:nvPr/>
        </p:nvSpPr>
        <p:spPr>
          <a:xfrm>
            <a:off x="7239000" y="18097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显存占用对比</a:t>
            </a:r>
            <a:endParaRPr/>
          </a:p>
        </p:txBody>
      </p:sp>
      <p:sp>
        <p:nvSpPr>
          <p:cNvPr id="997" name=""/>
          <p:cNvSpPr>
            <a:spLocks noGrp="1"/>
          </p:cNvSpPr>
          <p:nvPr/>
        </p:nvSpPr>
        <p:spPr>
          <a:xfrm>
            <a:off x="7239000" y="2647950"/>
            <a:ext cx="30480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8" name=""/>
          <p:cNvSpPr>
            <a:spLocks noGrp="1"/>
          </p:cNvSpPr>
          <p:nvPr/>
        </p:nvSpPr>
        <p:spPr>
          <a:xfrm>
            <a:off x="7239000" y="2647950"/>
            <a:ext cx="2976372" cy="285750"/>
          </a:xfrm>
          <a:prstGeom prst="rect">
            <a:avLst/>
          </a:prstGeom>
          <a:solidFill>
            <a:srgbClr val="6F5BA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99" name=""/>
          <p:cNvSpPr>
            <a:spLocks noGrp="1"/>
          </p:cNvSpPr>
          <p:nvPr/>
        </p:nvSpPr>
        <p:spPr>
          <a:xfrm>
            <a:off x="7239000" y="242887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TransUNet</a:t>
            </a:r>
            <a:endParaRPr/>
          </a:p>
        </p:txBody>
      </p:sp>
      <p:sp>
        <p:nvSpPr>
          <p:cNvPr id="1000" name=""/>
          <p:cNvSpPr>
            <a:spLocks noGrp="1"/>
          </p:cNvSpPr>
          <p:nvPr/>
        </p:nvSpPr>
        <p:spPr>
          <a:xfrm>
            <a:off x="10439400" y="262890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F5BA7"/>
                </a:solidFill>
                <a:latin typeface="Avenir Next"/>
                <a:ea typeface="Avenir Next"/>
                <a:cs typeface="Avenir Next"/>
              </a:rPr>
              <a:t>19530 MB</a:t>
            </a:r>
            <a:endParaRPr/>
          </a:p>
        </p:txBody>
      </p:sp>
      <p:sp>
        <p:nvSpPr>
          <p:cNvPr id="1001" name=""/>
          <p:cNvSpPr>
            <a:spLocks noGrp="1"/>
          </p:cNvSpPr>
          <p:nvPr/>
        </p:nvSpPr>
        <p:spPr>
          <a:xfrm>
            <a:off x="7239000" y="3619500"/>
            <a:ext cx="3048000" cy="285750"/>
          </a:xfrm>
          <a:prstGeom prst="rect">
            <a:avLst/>
          </a:prstGeom>
          <a:solidFill>
            <a:srgbClr val="ECE5D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2" name=""/>
          <p:cNvSpPr>
            <a:spLocks noGrp="1"/>
          </p:cNvSpPr>
          <p:nvPr/>
        </p:nvSpPr>
        <p:spPr>
          <a:xfrm>
            <a:off x="7239000" y="3619500"/>
            <a:ext cx="1387907" cy="2857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3" name=""/>
          <p:cNvSpPr>
            <a:spLocks noGrp="1"/>
          </p:cNvSpPr>
          <p:nvPr/>
        </p:nvSpPr>
        <p:spPr>
          <a:xfrm>
            <a:off x="7239000" y="3400425"/>
            <a:ext cx="209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本文方法</a:t>
            </a:r>
            <a:endParaRPr/>
          </a:p>
        </p:txBody>
      </p:sp>
      <p:sp>
        <p:nvSpPr>
          <p:cNvPr id="1004" name=""/>
          <p:cNvSpPr>
            <a:spLocks noGrp="1"/>
          </p:cNvSpPr>
          <p:nvPr/>
        </p:nvSpPr>
        <p:spPr>
          <a:xfrm>
            <a:off x="10439400" y="3600450"/>
            <a:ext cx="1047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9107 MB</a:t>
            </a:r>
            <a:endParaRPr/>
          </a:p>
        </p:txBody>
      </p:sp>
      <p:sp>
        <p:nvSpPr>
          <p:cNvPr id="1005" name=""/>
          <p:cNvSpPr>
            <a:spLocks noGrp="1"/>
          </p:cNvSpPr>
          <p:nvPr/>
        </p:nvSpPr>
        <p:spPr>
          <a:xfrm>
            <a:off x="7810500" y="474345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06" name=""/>
          <p:cNvSpPr>
            <a:spLocks noGrp="1"/>
          </p:cNvSpPr>
          <p:nvPr/>
        </p:nvSpPr>
        <p:spPr>
          <a:xfrm>
            <a:off x="7810500" y="4876800"/>
            <a:ext cx="2667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-53.3%</a:t>
            </a:r>
            <a:endParaRPr/>
          </a:p>
        </p:txBody>
      </p:sp>
      <p:sp>
        <p:nvSpPr>
          <p:cNvPr id="1007" name=""/>
          <p:cNvSpPr>
            <a:spLocks noGrp="1"/>
          </p:cNvSpPr>
          <p:nvPr/>
        </p:nvSpPr>
        <p:spPr>
          <a:xfrm>
            <a:off x="7810500" y="5314950"/>
            <a:ext cx="2667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相对 TransUNet 显存占用</a:t>
            </a:r>
            <a:endParaRPr/>
          </a:p>
        </p:txBody>
      </p:sp>
      <p:sp>
        <p:nvSpPr>
          <p:cNvPr id="1008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16</a:t>
            </a:r>
            <a:endParaRPr/>
          </a:p>
        </p:txBody>
      </p:sp>
    </p:spTree>
  </p:cSld>
</p:sld>
</file>

<file path=ppt/slides/slide28.xml><?xml version="1.0" encoding="utf-8"?>
<p:sld xmlns:a="http://schemas.openxmlformats.org/drawingml/2006/main" xmlns:p="http://schemas.openxmlformats.org/presentationml/2006/main">
  <p:cSld>
    <p:spTree>
      <p:nvGrpSpPr>
        <p:cNvPr id="10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1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2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3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16  DEPLOYMENT VIEW</a:t>
            </a:r>
            <a:endParaRPr/>
          </a:p>
        </p:txBody>
      </p:sp>
      <p:sp>
        <p:nvSpPr>
          <p:cNvPr id="1014" name=""/>
          <p:cNvSpPr>
            <a:spLocks noGrp="1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最后还是回到工程目标：在线、稳定地拿到熔深信息。</a:t>
            </a:r>
            <a:endParaRPr/>
          </a:p>
        </p:txBody>
      </p:sp>
      <p:sp>
        <p:nvSpPr>
          <p:cNvPr id="1015" name=""/>
          <p:cNvSpPr>
            <a:spLocks noGrp="1"/>
          </p:cNvSpPr>
          <p:nvPr/>
        </p:nvSpPr>
        <p:spPr>
          <a:xfrm>
            <a:off x="70485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6" name=""/>
          <p:cNvSpPr>
            <a:spLocks noGrp="1"/>
          </p:cNvSpPr>
          <p:nvPr/>
        </p:nvSpPr>
        <p:spPr>
          <a:xfrm>
            <a:off x="704850" y="2552700"/>
            <a:ext cx="1571625" cy="3810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17" name=""/>
          <p:cNvSpPr>
            <a:spLocks noGrp="1"/>
          </p:cNvSpPr>
          <p:nvPr/>
        </p:nvSpPr>
        <p:spPr>
          <a:xfrm>
            <a:off x="84772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光谱仪采集</a:t>
            </a:r>
            <a:endParaRPr/>
          </a:p>
        </p:txBody>
      </p:sp>
      <p:sp>
        <p:nvSpPr>
          <p:cNvPr id="1018" name=""/>
          <p:cNvSpPr>
            <a:spLocks noGrp="1"/>
          </p:cNvSpPr>
          <p:nvPr/>
        </p:nvSpPr>
        <p:spPr>
          <a:xfrm>
            <a:off x="84772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82 kHz A 扫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原始干涉谱</a:t>
            </a:r>
            <a:endParaRPr/>
          </a:p>
        </p:txBody>
      </p:sp>
      <p:sp>
        <p:nvSpPr>
          <p:cNvPr id="1019" name=""/>
          <p:cNvSpPr>
            <a:spLocks noGrp="1"/>
          </p:cNvSpPr>
          <p:nvPr/>
        </p:nvSpPr>
        <p:spPr>
          <a:xfrm>
            <a:off x="2343150" y="3257550"/>
            <a:ext cx="419100" cy="19050"/>
          </a:xfrm>
          <a:prstGeom prst="rect">
            <a:avLst/>
          </a:prstGeom>
          <a:solidFill>
            <a:srgbClr val="2F5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0" name=""/>
          <p:cNvSpPr>
            <a:spLocks noGrp="1"/>
          </p:cNvSpPr>
          <p:nvPr/>
        </p:nvSpPr>
        <p:spPr>
          <a:xfrm>
            <a:off x="274320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F5C8A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21" name=""/>
          <p:cNvSpPr>
            <a:spLocks noGrp="1"/>
          </p:cNvSpPr>
          <p:nvPr/>
        </p:nvSpPr>
        <p:spPr>
          <a:xfrm>
            <a:off x="285750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2" name=""/>
          <p:cNvSpPr>
            <a:spLocks noGrp="1"/>
          </p:cNvSpPr>
          <p:nvPr/>
        </p:nvSpPr>
        <p:spPr>
          <a:xfrm>
            <a:off x="2857500" y="2552700"/>
            <a:ext cx="1571625" cy="3810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3" name=""/>
          <p:cNvSpPr>
            <a:spLocks noGrp="1"/>
          </p:cNvSpPr>
          <p:nvPr/>
        </p:nvSpPr>
        <p:spPr>
          <a:xfrm>
            <a:off x="300037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GPU 重建</a:t>
            </a:r>
            <a:endParaRPr/>
          </a:p>
        </p:txBody>
      </p:sp>
      <p:sp>
        <p:nvSpPr>
          <p:cNvPr id="1024" name=""/>
          <p:cNvSpPr>
            <a:spLocks noGrp="1"/>
          </p:cNvSpPr>
          <p:nvPr/>
        </p:nvSpPr>
        <p:spPr>
          <a:xfrm>
            <a:off x="300037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0.74 ms / 帧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1351k A-line/s</a:t>
            </a:r>
            <a:endParaRPr/>
          </a:p>
        </p:txBody>
      </p:sp>
      <p:sp>
        <p:nvSpPr>
          <p:cNvPr id="1025" name=""/>
          <p:cNvSpPr>
            <a:spLocks noGrp="1"/>
          </p:cNvSpPr>
          <p:nvPr/>
        </p:nvSpPr>
        <p:spPr>
          <a:xfrm>
            <a:off x="4495800" y="3257550"/>
            <a:ext cx="419100" cy="19050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6" name=""/>
          <p:cNvSpPr>
            <a:spLocks noGrp="1"/>
          </p:cNvSpPr>
          <p:nvPr/>
        </p:nvSpPr>
        <p:spPr>
          <a:xfrm>
            <a:off x="489585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27" name=""/>
          <p:cNvSpPr>
            <a:spLocks noGrp="1"/>
          </p:cNvSpPr>
          <p:nvPr/>
        </p:nvSpPr>
        <p:spPr>
          <a:xfrm>
            <a:off x="501015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8" name=""/>
          <p:cNvSpPr>
            <a:spLocks noGrp="1"/>
          </p:cNvSpPr>
          <p:nvPr/>
        </p:nvSpPr>
        <p:spPr>
          <a:xfrm>
            <a:off x="5010150" y="2552700"/>
            <a:ext cx="1571625" cy="3810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9" name=""/>
          <p:cNvSpPr>
            <a:spLocks noGrp="1"/>
          </p:cNvSpPr>
          <p:nvPr/>
        </p:nvSpPr>
        <p:spPr>
          <a:xfrm>
            <a:off x="515302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图像缓存</a:t>
            </a:r>
            <a:endParaRPr/>
          </a:p>
        </p:txBody>
      </p:sp>
      <p:sp>
        <p:nvSpPr>
          <p:cNvPr id="1030" name=""/>
          <p:cNvSpPr>
            <a:spLocks noGrp="1"/>
          </p:cNvSpPr>
          <p:nvPr/>
        </p:nvSpPr>
        <p:spPr>
          <a:xfrm>
            <a:off x="515302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统一内存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事件同步</a:t>
            </a:r>
            <a:endParaRPr/>
          </a:p>
        </p:txBody>
      </p:sp>
      <p:sp>
        <p:nvSpPr>
          <p:cNvPr id="1031" name=""/>
          <p:cNvSpPr>
            <a:spLocks noGrp="1"/>
          </p:cNvSpPr>
          <p:nvPr/>
        </p:nvSpPr>
        <p:spPr>
          <a:xfrm>
            <a:off x="6648450" y="3257550"/>
            <a:ext cx="419100" cy="19050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2" name=""/>
          <p:cNvSpPr>
            <a:spLocks noGrp="1"/>
          </p:cNvSpPr>
          <p:nvPr/>
        </p:nvSpPr>
        <p:spPr>
          <a:xfrm>
            <a:off x="704850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33" name=""/>
          <p:cNvSpPr>
            <a:spLocks noGrp="1"/>
          </p:cNvSpPr>
          <p:nvPr/>
        </p:nvSpPr>
        <p:spPr>
          <a:xfrm>
            <a:off x="716280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4" name=""/>
          <p:cNvSpPr>
            <a:spLocks noGrp="1"/>
          </p:cNvSpPr>
          <p:nvPr/>
        </p:nvSpPr>
        <p:spPr>
          <a:xfrm>
            <a:off x="7162800" y="2552700"/>
            <a:ext cx="1571625" cy="3810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5" name=""/>
          <p:cNvSpPr>
            <a:spLocks noGrp="1"/>
          </p:cNvSpPr>
          <p:nvPr/>
        </p:nvSpPr>
        <p:spPr>
          <a:xfrm>
            <a:off x="730567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语义分割</a:t>
            </a:r>
            <a:endParaRPr/>
          </a:p>
        </p:txBody>
      </p:sp>
      <p:sp>
        <p:nvSpPr>
          <p:cNvPr id="1036" name=""/>
          <p:cNvSpPr>
            <a:spLocks noGrp="1"/>
          </p:cNvSpPr>
          <p:nvPr/>
        </p:nvSpPr>
        <p:spPr>
          <a:xfrm>
            <a:off x="730567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+ SAE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mIoU 0.911</a:t>
            </a:r>
            <a:endParaRPr/>
          </a:p>
        </p:txBody>
      </p:sp>
      <p:sp>
        <p:nvSpPr>
          <p:cNvPr id="1037" name=""/>
          <p:cNvSpPr>
            <a:spLocks noGrp="1"/>
          </p:cNvSpPr>
          <p:nvPr/>
        </p:nvSpPr>
        <p:spPr>
          <a:xfrm>
            <a:off x="8801100" y="3257550"/>
            <a:ext cx="419100" cy="19050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38" name=""/>
          <p:cNvSpPr>
            <a:spLocks noGrp="1"/>
          </p:cNvSpPr>
          <p:nvPr/>
        </p:nvSpPr>
        <p:spPr>
          <a:xfrm>
            <a:off x="9201150" y="3133725"/>
            <a:ext cx="19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&gt;</a:t>
            </a:r>
            <a:endParaRPr/>
          </a:p>
        </p:txBody>
      </p:sp>
      <p:sp>
        <p:nvSpPr>
          <p:cNvPr id="1039" name=""/>
          <p:cNvSpPr>
            <a:spLocks noGrp="1"/>
          </p:cNvSpPr>
          <p:nvPr/>
        </p:nvSpPr>
        <p:spPr>
          <a:xfrm>
            <a:off x="9315450" y="2552700"/>
            <a:ext cx="1571625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0" name=""/>
          <p:cNvSpPr>
            <a:spLocks noGrp="1"/>
          </p:cNvSpPr>
          <p:nvPr/>
        </p:nvSpPr>
        <p:spPr>
          <a:xfrm>
            <a:off x="9315450" y="2552700"/>
            <a:ext cx="1571625" cy="38100"/>
          </a:xfrm>
          <a:prstGeom prst="rect">
            <a:avLst/>
          </a:prstGeom>
          <a:solidFill>
            <a:srgbClr val="4B9B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1" name=""/>
          <p:cNvSpPr>
            <a:spLocks noGrp="1"/>
          </p:cNvSpPr>
          <p:nvPr/>
        </p:nvSpPr>
        <p:spPr>
          <a:xfrm>
            <a:off x="9458325" y="2724150"/>
            <a:ext cx="128587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defRPr>
            </a:pPr>
            <a:r>
              <a:rPr sz="1088" b="1">
                <a:solidFill>
                  <a:srgbClr val="111820"/>
                </a:solidFill>
                <a:latin typeface="PingFang SC"/>
                <a:ea typeface="PingFang SC"/>
                <a:cs typeface="PingFang SC"/>
              </a:rPr>
              <a:t>熔深输出</a:t>
            </a:r>
            <a:endParaRPr/>
          </a:p>
        </p:txBody>
      </p:sp>
      <p:sp>
        <p:nvSpPr>
          <p:cNvPr id="1042" name=""/>
          <p:cNvSpPr>
            <a:spLocks noGrp="1"/>
          </p:cNvSpPr>
          <p:nvPr/>
        </p:nvSpPr>
        <p:spPr>
          <a:xfrm>
            <a:off x="9458325" y="3009900"/>
            <a:ext cx="128587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匙孔掩膜</a:t>
            </a:r>
            <a:endParaRPr/>
          </a:p>
          <a:p>
            <a:pPr algn="l">
              <a:buNone/>
              <a:def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在线质量反馈</a:t>
            </a:r>
            <a:endParaRPr/>
          </a:p>
        </p:txBody>
      </p:sp>
      <p:sp>
        <p:nvSpPr>
          <p:cNvPr id="1043" name=""/>
          <p:cNvSpPr>
            <a:spLocks noGrp="1"/>
          </p:cNvSpPr>
          <p:nvPr/>
        </p:nvSpPr>
        <p:spPr>
          <a:xfrm>
            <a:off x="1428750" y="4800600"/>
            <a:ext cx="3333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4" name=""/>
          <p:cNvSpPr>
            <a:spLocks noGrp="1"/>
          </p:cNvSpPr>
          <p:nvPr/>
        </p:nvSpPr>
        <p:spPr>
          <a:xfrm>
            <a:off x="1676400" y="4953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E7C86"/>
                </a:solidFill>
                <a:latin typeface="PingFang SC"/>
                <a:ea typeface="PingFang SC"/>
                <a:cs typeface="PingFang SC"/>
              </a:rPr>
              <a:t>实时性链路</a:t>
            </a:r>
            <a:endParaRPr/>
          </a:p>
        </p:txBody>
      </p:sp>
      <p:sp>
        <p:nvSpPr>
          <p:cNvPr id="1045" name=""/>
          <p:cNvSpPr>
            <a:spLocks noGrp="1"/>
          </p:cNvSpPr>
          <p:nvPr/>
        </p:nvSpPr>
        <p:spPr>
          <a:xfrm>
            <a:off x="2990850" y="4953000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CUDA 流水线 + PCR + 统一内存</a:t>
            </a:r>
            <a:endParaRPr/>
          </a:p>
        </p:txBody>
      </p:sp>
      <p:sp>
        <p:nvSpPr>
          <p:cNvPr id="1046" name=""/>
          <p:cNvSpPr>
            <a:spLocks noGrp="1"/>
          </p:cNvSpPr>
          <p:nvPr/>
        </p:nvSpPr>
        <p:spPr>
          <a:xfrm>
            <a:off x="6724650" y="4800600"/>
            <a:ext cx="33337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47" name=""/>
          <p:cNvSpPr>
            <a:spLocks noGrp="1"/>
          </p:cNvSpPr>
          <p:nvPr/>
        </p:nvSpPr>
        <p:spPr>
          <a:xfrm>
            <a:off x="6972300" y="495300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D94F3D"/>
                </a:solidFill>
                <a:latin typeface="PingFang SC"/>
                <a:ea typeface="PingFang SC"/>
                <a:cs typeface="PingFang SC"/>
              </a:rPr>
              <a:t>准确性链路</a:t>
            </a:r>
            <a:endParaRPr/>
          </a:p>
        </p:txBody>
      </p:sp>
      <p:sp>
        <p:nvSpPr>
          <p:cNvPr id="1048" name=""/>
          <p:cNvSpPr>
            <a:spLocks noGrp="1"/>
          </p:cNvSpPr>
          <p:nvPr/>
        </p:nvSpPr>
        <p:spPr>
          <a:xfrm>
            <a:off x="8286750" y="4953000"/>
            <a:ext cx="1524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TR 建结构 + SAE 强边界</a:t>
            </a:r>
            <a:endParaRPr/>
          </a:p>
        </p:txBody>
      </p:sp>
      <p:sp>
        <p:nvSpPr>
          <p:cNvPr id="1049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17</a:t>
            </a:r>
            <a:endParaRPr/>
          </a:p>
        </p:txBody>
      </p:sp>
    </p:spTree>
  </p:cSld>
</p:sld>
</file>

<file path=ppt/slides/slide29.xml><?xml version="1.0" encoding="utf-8"?>
<p:sld xmlns:a="http://schemas.openxmlformats.org/drawingml/2006/main" xmlns:p="http://schemas.openxmlformats.org/presentationml/2006/main">
  <p:cSld>
    <p:spTree>
      <p:nvGrpSpPr>
        <p:cNvPr id="10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4E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2" name=""/>
          <p:cNvSpPr>
            <a:spLocks noGrp="1"/>
          </p:cNvSpPr>
          <p:nvPr/>
        </p:nvSpPr>
        <p:spPr>
          <a:xfrm>
            <a:off x="457200" y="6419850"/>
            <a:ext cx="11277600" cy="9525"/>
          </a:xfrm>
          <a:prstGeom prst="rect">
            <a:avLst/>
          </a:prstGeom>
          <a:solidFill>
            <a:srgbClr val="D8D2C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3" name=""/>
          <p:cNvSpPr>
            <a:spLocks noGrp="1"/>
          </p:cNvSpPr>
          <p:nvPr/>
        </p:nvSpPr>
        <p:spPr>
          <a:xfrm>
            <a:off x="514350" y="447675"/>
            <a:ext cx="2095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4" name=""/>
          <p:cNvSpPr>
            <a:spLocks noGrp="1"/>
          </p:cNvSpPr>
          <p:nvPr/>
        </p:nvSpPr>
        <p:spPr>
          <a:xfrm>
            <a:off x="838200" y="381000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627079"/>
                </a:solidFill>
                <a:latin typeface="Avenir Next"/>
                <a:ea typeface="Avenir Next"/>
                <a:cs typeface="Avenir Next"/>
              </a:rPr>
              <a:t>18  OUTLOOK</a:t>
            </a:r>
            <a:endParaRPr/>
          </a:p>
        </p:txBody>
      </p:sp>
      <p:sp>
        <p:nvSpPr>
          <p:cNvPr id="1055" name=""/>
          <p:cNvSpPr>
            <a:spLocks noGrp="1"/>
          </p:cNvSpPr>
          <p:nvPr/>
        </p:nvSpPr>
        <p:spPr>
          <a:xfrm>
            <a:off x="514350" y="781050"/>
            <a:ext cx="10001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255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后续主要补三件事：更省资源、更多工况、端到端串起来跑。</a:t>
            </a:r>
            <a:endParaRPr/>
          </a:p>
        </p:txBody>
      </p:sp>
      <p:sp>
        <p:nvSpPr>
          <p:cNvPr id="1056" name=""/>
          <p:cNvSpPr>
            <a:spLocks noGrp="1"/>
          </p:cNvSpPr>
          <p:nvPr/>
        </p:nvSpPr>
        <p:spPr>
          <a:xfrm>
            <a:off x="742950" y="2095500"/>
            <a:ext cx="295275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7" name=""/>
          <p:cNvSpPr>
            <a:spLocks noGrp="1"/>
          </p:cNvSpPr>
          <p:nvPr/>
        </p:nvSpPr>
        <p:spPr>
          <a:xfrm>
            <a:off x="742950" y="2095500"/>
            <a:ext cx="2952750" cy="47625"/>
          </a:xfrm>
          <a:prstGeom prst="rect">
            <a:avLst/>
          </a:prstGeom>
          <a:solidFill>
            <a:srgbClr val="0E7C8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58" name=""/>
          <p:cNvSpPr>
            <a:spLocks noGrp="1"/>
          </p:cNvSpPr>
          <p:nvPr/>
        </p:nvSpPr>
        <p:spPr>
          <a:xfrm>
            <a:off x="971550" y="2400300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0E7C86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0E7C86"/>
                </a:solidFill>
                <a:latin typeface="Avenir Next"/>
                <a:ea typeface="Avenir Next"/>
                <a:cs typeface="Avenir Next"/>
              </a:rPr>
              <a:t>01</a:t>
            </a:r>
            <a:endParaRPr/>
          </a:p>
        </p:txBody>
      </p:sp>
      <p:sp>
        <p:nvSpPr>
          <p:cNvPr id="1059" name=""/>
          <p:cNvSpPr>
            <a:spLocks noGrp="1"/>
          </p:cNvSpPr>
          <p:nvPr/>
        </p:nvSpPr>
        <p:spPr>
          <a:xfrm>
            <a:off x="971550" y="3086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PCR 共享内存接近上限</a:t>
            </a:r>
            <a:endParaRPr/>
          </a:p>
        </p:txBody>
      </p:sp>
      <p:sp>
        <p:nvSpPr>
          <p:cNvPr id="1060" name=""/>
          <p:cNvSpPr>
            <a:spLocks noGrp="1"/>
          </p:cNvSpPr>
          <p:nvPr/>
        </p:nvSpPr>
        <p:spPr>
          <a:xfrm>
            <a:off x="971550" y="373380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尝试混合精度、分段求解或更紧凑的共享内存布局。</a:t>
            </a:r>
            <a:endParaRPr/>
          </a:p>
        </p:txBody>
      </p:sp>
      <p:sp>
        <p:nvSpPr>
          <p:cNvPr id="1061" name=""/>
          <p:cNvSpPr>
            <a:spLocks noGrp="1"/>
          </p:cNvSpPr>
          <p:nvPr/>
        </p:nvSpPr>
        <p:spPr>
          <a:xfrm>
            <a:off x="4305300" y="2095500"/>
            <a:ext cx="295275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2" name=""/>
          <p:cNvSpPr>
            <a:spLocks noGrp="1"/>
          </p:cNvSpPr>
          <p:nvPr/>
        </p:nvSpPr>
        <p:spPr>
          <a:xfrm>
            <a:off x="4305300" y="2095500"/>
            <a:ext cx="2952750" cy="4762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3" name=""/>
          <p:cNvSpPr>
            <a:spLocks noGrp="1"/>
          </p:cNvSpPr>
          <p:nvPr/>
        </p:nvSpPr>
        <p:spPr>
          <a:xfrm>
            <a:off x="4533900" y="2400300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02</a:t>
            </a:r>
            <a:endParaRPr/>
          </a:p>
        </p:txBody>
      </p:sp>
      <p:sp>
        <p:nvSpPr>
          <p:cNvPr id="1064" name=""/>
          <p:cNvSpPr>
            <a:spLocks noGrp="1"/>
          </p:cNvSpPr>
          <p:nvPr/>
        </p:nvSpPr>
        <p:spPr>
          <a:xfrm>
            <a:off x="4533900" y="3086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数据集工况覆盖有限</a:t>
            </a:r>
            <a:endParaRPr/>
          </a:p>
        </p:txBody>
      </p:sp>
      <p:sp>
        <p:nvSpPr>
          <p:cNvPr id="1065" name=""/>
          <p:cNvSpPr>
            <a:spLocks noGrp="1"/>
          </p:cNvSpPr>
          <p:nvPr/>
        </p:nvSpPr>
        <p:spPr>
          <a:xfrm>
            <a:off x="4533900" y="373380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扩充材料、功率、速度和焊接状态，验证未见工况泛化。</a:t>
            </a:r>
            <a:endParaRPr/>
          </a:p>
        </p:txBody>
      </p:sp>
      <p:sp>
        <p:nvSpPr>
          <p:cNvPr id="1066" name=""/>
          <p:cNvSpPr>
            <a:spLocks noGrp="1"/>
          </p:cNvSpPr>
          <p:nvPr/>
        </p:nvSpPr>
        <p:spPr>
          <a:xfrm>
            <a:off x="7867650" y="2095500"/>
            <a:ext cx="2952750" cy="24955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0C4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7" name=""/>
          <p:cNvSpPr>
            <a:spLocks noGrp="1"/>
          </p:cNvSpPr>
          <p:nvPr/>
        </p:nvSpPr>
        <p:spPr>
          <a:xfrm>
            <a:off x="7867650" y="2095500"/>
            <a:ext cx="2952750" cy="4762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8" name=""/>
          <p:cNvSpPr>
            <a:spLocks noGrp="1"/>
          </p:cNvSpPr>
          <p:nvPr/>
        </p:nvSpPr>
        <p:spPr>
          <a:xfrm>
            <a:off x="8096250" y="2400300"/>
            <a:ext cx="666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D94F3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D94F3D"/>
                </a:solidFill>
                <a:latin typeface="Avenir Next"/>
                <a:ea typeface="Avenir Next"/>
                <a:cs typeface="Avenir Next"/>
              </a:rPr>
              <a:t>03</a:t>
            </a:r>
            <a:endParaRPr/>
          </a:p>
        </p:txBody>
      </p:sp>
      <p:sp>
        <p:nvSpPr>
          <p:cNvPr id="1069" name=""/>
          <p:cNvSpPr>
            <a:spLocks noGrp="1"/>
          </p:cNvSpPr>
          <p:nvPr/>
        </p:nvSpPr>
        <p:spPr>
          <a:xfrm>
            <a:off x="8096250" y="3086100"/>
            <a:ext cx="2190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重建与分割仍独立运行</a:t>
            </a:r>
            <a:endParaRPr/>
          </a:p>
        </p:txBody>
      </p:sp>
      <p:sp>
        <p:nvSpPr>
          <p:cNvPr id="1070" name=""/>
          <p:cNvSpPr>
            <a:spLocks noGrp="1"/>
          </p:cNvSpPr>
          <p:nvPr/>
        </p:nvSpPr>
        <p:spPr>
          <a:xfrm>
            <a:off x="8096250" y="3733800"/>
            <a:ext cx="2286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27079"/>
                </a:solidFill>
                <a:latin typeface="PingFang SC"/>
                <a:ea typeface="PingFang SC"/>
                <a:cs typeface="PingFang SC"/>
              </a:rPr>
              <a:t>串联 CUDA 重建与模型推理，形成从干涉谱到分割结果的端到端链路。</a:t>
            </a:r>
            <a:endParaRPr/>
          </a:p>
        </p:txBody>
      </p:sp>
      <p:sp>
        <p:nvSpPr>
          <p:cNvPr id="1071" name=""/>
          <p:cNvSpPr>
            <a:spLocks noGrp="1"/>
          </p:cNvSpPr>
          <p:nvPr/>
        </p:nvSpPr>
        <p:spPr>
          <a:xfrm>
            <a:off x="781050" y="56197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defRPr>
            </a:pPr>
            <a:r>
              <a:rPr sz="1500" b="1">
                <a:solidFill>
                  <a:srgbClr val="111820"/>
                </a:solidFill>
                <a:latin typeface="Songti SC"/>
                <a:ea typeface="Songti SC"/>
                <a:cs typeface="Songti SC"/>
              </a:rPr>
              <a:t>后续重点不是单纯换大模型，而是继续贴近产线实时性和跨工况可靠性。</a:t>
            </a:r>
            <a:endParaRPr/>
          </a:p>
        </p:txBody>
      </p:sp>
      <p:sp>
        <p:nvSpPr>
          <p:cNvPr id="1072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111820"/>
                </a:solidFill>
                <a:latin typeface="Avenir Next"/>
                <a:ea typeface="Avenir Next"/>
                <a:cs typeface="Avenir Next"/>
              </a:rPr>
              <a:t>19</a:t>
            </a:r>
            <a:endParaRPr/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9" name=""/>
          <p:cNvSpPr>
            <a:spLocks noGrp="1"/>
          </p:cNvSpPr>
          <p:nvPr/>
        </p:nvSpPr>
        <p:spPr>
          <a:xfrm>
            <a:off x="666750" y="685800"/>
            <a:ext cx="666750" cy="3810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0" name=""/>
          <p:cNvSpPr>
            <a:spLocks noGrp="1"/>
          </p:cNvSpPr>
          <p:nvPr/>
        </p:nvSpPr>
        <p:spPr>
          <a:xfrm>
            <a:off x="666750" y="1485900"/>
            <a:ext cx="628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315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感谢各位老师，请批评指正</a:t>
            </a:r>
            <a:endParaRPr/>
          </a:p>
        </p:txBody>
      </p:sp>
      <p:sp>
        <p:nvSpPr>
          <p:cNvPr id="1101" name=""/>
          <p:cNvSpPr>
            <a:spLocks noGrp="1"/>
          </p:cNvSpPr>
          <p:nvPr/>
        </p:nvSpPr>
        <p:spPr>
          <a:xfrm>
            <a:off x="666750" y="2400300"/>
            <a:ext cx="30480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6300" b="1">
                <a:solidFill>
                  <a:srgbClr val="C49A3A"/>
                </a:solidFill>
                <a:latin typeface="Avenir Next"/>
                <a:ea typeface="Avenir Next"/>
                <a:cs typeface="Avenir Next"/>
              </a:defRPr>
            </a:pPr>
            <a:r>
              <a:rPr sz="6300" b="1">
                <a:solidFill>
                  <a:srgbClr val="C49A3A"/>
                </a:solidFill>
                <a:latin typeface="Avenir Next"/>
                <a:ea typeface="Avenir Next"/>
                <a:cs typeface="Avenir Next"/>
              </a:rPr>
              <a:t>Q&amp;A</a:t>
            </a:r>
            <a:endParaRPr/>
          </a:p>
        </p:txBody>
      </p:sp>
      <p:sp>
        <p:nvSpPr>
          <p:cNvPr id="1102" name=""/>
          <p:cNvSpPr>
            <a:spLocks noGrp="1"/>
          </p:cNvSpPr>
          <p:nvPr/>
        </p:nvSpPr>
        <p:spPr>
          <a:xfrm>
            <a:off x="704850" y="3638550"/>
            <a:ext cx="590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CFD9E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CFD9E2"/>
                </a:solidFill>
                <a:latin typeface="PingFang SC"/>
                <a:ea typeface="PingFang SC"/>
                <a:cs typeface="PingFang SC"/>
              </a:rPr>
              <a:t>激光焊接 OCT 图像重建与语义分割方法研究</a:t>
            </a:r>
            <a:endParaRPr/>
          </a:p>
        </p:txBody>
      </p:sp>
      <p:sp>
        <p:nvSpPr>
          <p:cNvPr id="1103" name=""/>
          <p:cNvSpPr>
            <a:spLocks noGrp="1"/>
          </p:cNvSpPr>
          <p:nvPr/>
        </p:nvSpPr>
        <p:spPr>
          <a:xfrm>
            <a:off x="685800" y="4953000"/>
            <a:ext cx="495300" cy="28575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4" name=""/>
          <p:cNvSpPr>
            <a:spLocks noGrp="1"/>
          </p:cNvSpPr>
          <p:nvPr/>
        </p:nvSpPr>
        <p:spPr>
          <a:xfrm>
            <a:off x="685800" y="5086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0.74 ms</a:t>
            </a:r>
            <a:endParaRPr/>
          </a:p>
        </p:txBody>
      </p:sp>
      <p:sp>
        <p:nvSpPr>
          <p:cNvPr id="1105" name=""/>
          <p:cNvSpPr>
            <a:spLocks noGrp="1"/>
          </p:cNvSpPr>
          <p:nvPr/>
        </p:nvSpPr>
        <p:spPr>
          <a:xfrm>
            <a:off x="685800" y="552450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CUDA 单帧重建</a:t>
            </a:r>
            <a:endParaRPr/>
          </a:p>
        </p:txBody>
      </p:sp>
      <p:sp>
        <p:nvSpPr>
          <p:cNvPr id="1106" name=""/>
          <p:cNvSpPr>
            <a:spLocks noGrp="1"/>
          </p:cNvSpPr>
          <p:nvPr/>
        </p:nvSpPr>
        <p:spPr>
          <a:xfrm>
            <a:off x="2952750" y="4953000"/>
            <a:ext cx="495300" cy="28575"/>
          </a:xfrm>
          <a:prstGeom prst="rect">
            <a:avLst/>
          </a:prstGeom>
          <a:solidFill>
            <a:srgbClr val="C49A3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7" name=""/>
          <p:cNvSpPr>
            <a:spLocks noGrp="1"/>
          </p:cNvSpPr>
          <p:nvPr/>
        </p:nvSpPr>
        <p:spPr>
          <a:xfrm>
            <a:off x="2952750" y="5086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0.911</a:t>
            </a:r>
            <a:endParaRPr/>
          </a:p>
        </p:txBody>
      </p:sp>
      <p:sp>
        <p:nvSpPr>
          <p:cNvPr id="1108" name=""/>
          <p:cNvSpPr>
            <a:spLocks noGrp="1"/>
          </p:cNvSpPr>
          <p:nvPr/>
        </p:nvSpPr>
        <p:spPr>
          <a:xfrm>
            <a:off x="2952750" y="552450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分割 mIoU</a:t>
            </a:r>
            <a:endParaRPr/>
          </a:p>
        </p:txBody>
      </p:sp>
      <p:sp>
        <p:nvSpPr>
          <p:cNvPr id="1109" name=""/>
          <p:cNvSpPr>
            <a:spLocks noGrp="1"/>
          </p:cNvSpPr>
          <p:nvPr/>
        </p:nvSpPr>
        <p:spPr>
          <a:xfrm>
            <a:off x="5219700" y="4953000"/>
            <a:ext cx="495300" cy="28575"/>
          </a:xfrm>
          <a:prstGeom prst="rect">
            <a:avLst/>
          </a:prstGeom>
          <a:solidFill>
            <a:srgbClr val="D94F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0" name=""/>
          <p:cNvSpPr>
            <a:spLocks noGrp="1"/>
          </p:cNvSpPr>
          <p:nvPr/>
        </p:nvSpPr>
        <p:spPr>
          <a:xfrm>
            <a:off x="5219700" y="5086350"/>
            <a:ext cx="16192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10.68</a:t>
            </a:r>
            <a:endParaRPr/>
          </a:p>
        </p:txBody>
      </p:sp>
      <p:sp>
        <p:nvSpPr>
          <p:cNvPr id="1111" name=""/>
          <p:cNvSpPr>
            <a:spLocks noGrp="1"/>
          </p:cNvSpPr>
          <p:nvPr/>
        </p:nvSpPr>
        <p:spPr>
          <a:xfrm>
            <a:off x="5219700" y="5524500"/>
            <a:ext cx="16192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B8C6D4"/>
                </a:solidFill>
                <a:latin typeface="PingFang SC"/>
                <a:ea typeface="PingFang SC"/>
                <a:cs typeface="PingFang SC"/>
              </a:rPr>
              <a:t>HD95</a:t>
            </a:r>
            <a:endParaRPr/>
          </a:p>
        </p:txBody>
      </p:sp>
      <p:pic>
        <p:nvPicPr>
          <p:cNvPr id="1112" name=""/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239000" y="1297586"/>
            <a:ext cx="3905250" cy="1062427"/>
          </a:xfrm>
          <a:prstGeom prst="rect">
            <a:avLst/>
          </a:prstGeom>
        </p:spPr>
      </p:pic>
      <p:sp>
        <p:nvSpPr>
          <p:cNvPr id="1113" name=""/>
          <p:cNvSpPr>
            <a:spLocks noGrp="1"/>
          </p:cNvSpPr>
          <p:nvPr/>
        </p:nvSpPr>
        <p:spPr>
          <a:xfrm>
            <a:off x="7200900" y="2857500"/>
            <a:ext cx="4000500" cy="19050"/>
          </a:xfrm>
          <a:prstGeom prst="rect">
            <a:avLst/>
          </a:prstGeom>
          <a:solidFill>
            <a:srgbClr val="63B7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14" name=""/>
          <p:cNvSpPr>
            <a:spLocks noGrp="1"/>
          </p:cNvSpPr>
          <p:nvPr/>
        </p:nvSpPr>
        <p:spPr>
          <a:xfrm>
            <a:off x="7258050" y="3181350"/>
            <a:ext cx="3619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defRPr>
            </a:pPr>
            <a:r>
              <a:rPr sz="1800" b="1">
                <a:solidFill>
                  <a:srgbClr val="FFFFFF"/>
                </a:solidFill>
                <a:latin typeface="Songti SC"/>
                <a:ea typeface="Songti SC"/>
                <a:cs typeface="Songti SC"/>
              </a:rPr>
              <a:t>从链路上看，GPU 重建解决吞吐问题，TR+SAE 分割解决弱边界问题，最后都服务在线熔深监测。</a:t>
            </a:r>
            <a:endParaRPr/>
          </a:p>
        </p:txBody>
      </p:sp>
      <p:sp>
        <p:nvSpPr>
          <p:cNvPr id="1115" name=""/>
          <p:cNvSpPr>
            <a:spLocks noGrp="1"/>
          </p:cNvSpPr>
          <p:nvPr/>
        </p:nvSpPr>
        <p:spPr>
          <a:xfrm>
            <a:off x="11125200" y="6496050"/>
            <a:ext cx="5524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C8D3DE"/>
                </a:solidFill>
                <a:latin typeface="Avenir Next"/>
                <a:ea typeface="Avenir Next"/>
                <a:cs typeface="Avenir Next"/>
              </a:rPr>
              <a:t>20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2026-05-15T16:36:05Z</dcterms:created>
  <dcterms:modified xsi:type="dcterms:W3CDTF">2026-05-15T16:36:05Z</dcterms:modified>
</cp:coreProperties>
</file>