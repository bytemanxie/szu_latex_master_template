
<file path=[Content_Types].xml><?xml version="1.0" encoding="utf-8"?>
<Types xmlns="http://schemas.openxmlformats.org/package/2006/content-types">
  <Default Extension="png" ContentType="image/png"/>
  <Default Extension="xml" ContentType="application/xml"/>
  <Default Extension="rels" ContentType="application/vnd.openxmlformats-package.relationships+xml"/>
  <Override PartName="/ppt/notesSlides/notesSlide35.xml" ContentType="application/vnd.openxmlformats-officedocument.presentationml.notesSlide+xml"/>
  <Override PartName="/ppt/notesSlides/notesSlide27.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notesSlides/notesSlide18.xml" ContentType="application/vnd.openxmlformats-officedocument.presentationml.notesSlide+xml"/>
  <Override PartName="/ppt/notesSlides/notesSlide29.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28.xml" ContentType="application/vnd.openxmlformats-officedocument.presentationml.notesSlide+xml"/>
  <Override PartName="/ppt/notesSlides/notesSlide32.xml" ContentType="application/vnd.openxmlformats-officedocument.presentationml.notesSlide+xml"/>
  <Override PartName="/ppt/notesSlides/notesSlide25.xml" ContentType="application/vnd.openxmlformats-officedocument.presentationml.notesSlide+xml"/>
  <Override PartName="/ppt/theme/theme2.xml" ContentType="application/vnd.openxmlformats-officedocument.theme+xml"/>
  <Override PartName="/ppt/notesSlides/notesSlide5.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1.xml" ContentType="application/vnd.openxmlformats-officedocument.presentationml.notesSlide+xml"/>
  <Override PartName="/ppt/notesSlides/notesSlide33.xml" ContentType="application/vnd.openxmlformats-officedocument.presentationml.notesSlide+xml"/>
  <Override PartName="/ppt/notesSlides/notesSlide20.xml" ContentType="application/vnd.openxmlformats-officedocument.presentationml.notesSlide+xml"/>
  <Override PartName="/ppt/notesSlides/notesSlide14.xml" ContentType="application/vnd.openxmlformats-officedocument.presentationml.notesSlide+xml"/>
  <Override PartName="/ppt/notesSlides/notesSlide34.xml" ContentType="application/vnd.openxmlformats-officedocument.presentationml.notesSlide+xml"/>
  <Override PartName="/ppt/theme/theme1.xml" ContentType="application/vnd.openxmlformats-officedocument.theme+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8.xml" ContentType="application/vnd.openxmlformats-officedocument.presentationml.notesSlide+xml"/>
  <Override PartName="/ppt/slides/slide33.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notesSlides/notesSlide17.xml" ContentType="application/vnd.openxmlformats-officedocument.presentationml.notesSlide+xml"/>
  <Override PartName="/ppt/slides/slide11.xml" ContentType="application/vnd.openxmlformats-officedocument.presentationml.slide+xml"/>
  <Override PartName="/ppt/slides/slide13.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17.xml" ContentType="application/vnd.openxmlformats-officedocument.presentationml.slide+xml"/>
  <Override PartName="/docProps/core.xml" ContentType="application/vnd.openxmlformats-package.core-properties+xml"/>
  <Override PartName="/ppt/notesSlides/notesSlide21.xml" ContentType="application/vnd.openxmlformats-officedocument.presentationml.notesSlide+xml"/>
  <Override PartName="/ppt/slides/slide16.xml" ContentType="application/vnd.openxmlformats-officedocument.presentationml.slide+xml"/>
  <Override PartName="/ppt/notesSlides/notesSlide12.xml" ContentType="application/vnd.openxmlformats-officedocument.presentationml.notesSlide+xml"/>
  <Override PartName="/ppt/slides/slide5.xml" ContentType="application/vnd.openxmlformats-officedocument.presentationml.slide+xml"/>
  <Override PartName="/ppt/tableStyles.xml" ContentType="application/vnd.openxmlformats-officedocument.presentationml.tableStyles+xml"/>
  <Override PartName="/ppt/slides/slide6.xml" ContentType="application/vnd.openxmlformats-officedocument.presentationml.slide+xml"/>
  <Override PartName="/ppt/slides/slide29.xml" ContentType="application/vnd.openxmlformats-officedocument.presentationml.slide+xml"/>
  <Override PartName="/ppt/notesSlides/notesSlide7.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docProps/app.xml" ContentType="application/vnd.openxmlformats-officedocument.extended-properties+xml"/>
  <Override PartName="/ppt/slides/slide31.xml" ContentType="application/vnd.openxmlformats-officedocument.presentationml.slide+xml"/>
  <Override PartName="/ppt/notesSlides/notesSlide6.xml" ContentType="application/vnd.openxmlformats-officedocument.presentationml.notesSlide+xml"/>
  <Override PartName="/ppt/notesSlides/notesSlide31.xml" ContentType="application/vnd.openxmlformats-officedocument.presentationml.notesSlide+xml"/>
  <Override PartName="/ppt/slides/slide30.xml" ContentType="application/vnd.openxmlformats-officedocument.presentationml.slide+xml"/>
  <Override PartName="/ppt/slides/slide22.xml" ContentType="application/vnd.openxmlformats-officedocument.presentationml.slide+xml"/>
  <Override PartName="/ppt/slides/slide7.xml" ContentType="application/vnd.openxmlformats-officedocument.presentationml.slide+xml"/>
  <Override PartName="/ppt/slides/slide4.xml" ContentType="application/vnd.openxmlformats-officedocument.presentationml.slide+xml"/>
  <Override PartName="/ppt/slides/slide25.xml" ContentType="application/vnd.openxmlformats-officedocument.presentationml.slide+xml"/>
  <Override PartName="/ppt/slides/slide15.xml" ContentType="application/vnd.openxmlformats-officedocument.presentationml.slide+xml"/>
  <Override PartName="/ppt/slides/slide34.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14.xml" ContentType="application/vnd.openxmlformats-officedocument.presentationml.slide+xml"/>
  <Override PartName="/ppt/slides/slide35.xml" ContentType="application/vnd.openxmlformats-officedocument.presentationml.slide+xml"/>
  <Override PartName="/ppt/notesSlides/notesSlide30.xml" ContentType="application/vnd.openxmlformats-officedocument.presentationml.notesSlide+xml"/>
  <Override PartName="/ppt/slides/slide27.xml" ContentType="application/vnd.openxmlformats-officedocument.presentationml.slide+xml"/>
  <Override PartName="/ppt/slides/slide21.xml" ContentType="application/vnd.openxmlformats-officedocument.presentationml.slide+xml"/>
  <Override PartName="/ppt/notesSlides/notesSlide3.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entation.xml" ContentType="application/vnd.openxmlformats-officedocument.presentationml.presentation.main+xml"/>
  <Override PartName="/ppt/notesSlides/notesSlide13.xml" ContentType="application/vnd.openxmlformats-officedocument.presentationml.notesSlide+xml"/>
  <Override PartName="/ppt/notesSlides/notesSlide10.xml" ContentType="application/vnd.openxmlformats-officedocument.presentationml.notesSlide+xml"/>
  <Override PartName="/ppt/slides/slide32.xml" ContentType="application/vnd.openxmlformats-officedocument.presentationml.slide+xml"/>
  <Override PartName="/ppt/slides/slide9.xml" ContentType="application/vnd.openxmlformats-officedocument.presentationml.slide+xml"/>
</Types>
</file>

<file path=_rels/.rels><?xml version="1.0" encoding="UTF-8" standalone="yes"?><Relationships xmlns="http://schemas.openxmlformats.org/package/2006/relationships"><Relationship Id="rId2" Type="http://schemas.openxmlformats.org/officeDocument/2006/relationships/extended-properties" Target="docProps/app.xml" /><Relationship Id="rId1" Type="http://schemas.openxmlformats.org/package/2006/relationships/metadata/core-properties" Target="docProps/core.xml" /><Relationship Id="rId0"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firstSlideNum="1">
  <p:sldMasterIdLst>
    <p:sldMasterId id="2147483648" r:id="rId0"/>
  </p:sldMasterIdLst>
  <p:notesMasterIdLst>
    <p:notesMasterId r:id="rId36"/>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Lst>
  <p:sldSz cx="9144000" cy="5143500" type="screen16x9"/>
  <p:notesSz cx="5143500" cy="9144000"/>
  <p:defaultTextStyle>
    <a:lvl1pPr marL="0" algn="l" defTabSz="914400" rtl="false" eaLnBrk="true" latinLnBrk="false" hangingPunct="true">
      <a:defRPr sz="1800" kern="1200">
        <a:solidFill>
          <a:schemeClr val="tx1"/>
        </a:solidFill>
        <a:latin typeface="+mn-lt"/>
        <a:ea typeface="+mn-ea"/>
        <a:cs typeface="+mn-cs"/>
      </a:defRPr>
    </a:lvl1pPr>
    <a:lvl2pPr marL="457200" algn="l" defTabSz="914400" rtl="false" eaLnBrk="true" latinLnBrk="false" hangingPunct="true">
      <a:defRPr sz="1800" kern="1200">
        <a:solidFill>
          <a:schemeClr val="tx1"/>
        </a:solidFill>
        <a:latin typeface="+mn-lt"/>
        <a:ea typeface="+mn-ea"/>
        <a:cs typeface="+mn-cs"/>
      </a:defRPr>
    </a:lvl2pPr>
    <a:lvl3pPr marL="914400" algn="l" defTabSz="914400" rtl="false" eaLnBrk="true" latinLnBrk="false" hangingPunct="true">
      <a:defRPr sz="1800" kern="1200">
        <a:solidFill>
          <a:schemeClr val="tx1"/>
        </a:solidFill>
        <a:latin typeface="+mn-lt"/>
        <a:ea typeface="+mn-ea"/>
        <a:cs typeface="+mn-cs"/>
      </a:defRPr>
    </a:lvl3pPr>
    <a:lvl4pPr marL="1371600" algn="l" defTabSz="914400" rtl="false" eaLnBrk="true" latinLnBrk="false" hangingPunct="true">
      <a:defRPr sz="1800" kern="1200">
        <a:solidFill>
          <a:schemeClr val="tx1"/>
        </a:solidFill>
        <a:latin typeface="+mn-lt"/>
        <a:ea typeface="+mn-ea"/>
        <a:cs typeface="+mn-cs"/>
      </a:defRPr>
    </a:lvl4pPr>
    <a:lvl5pPr marL="1828800" algn="l" defTabSz="914400" rtl="false" eaLnBrk="true" latinLnBrk="false" hangingPunct="true">
      <a:defRPr sz="1800" kern="1200">
        <a:solidFill>
          <a:schemeClr val="tx1"/>
        </a:solidFill>
        <a:latin typeface="+mn-lt"/>
        <a:ea typeface="+mn-ea"/>
        <a:cs typeface="+mn-cs"/>
      </a:defRPr>
    </a:lvl5pPr>
    <a:lvl6pPr marL="2286000" algn="l" defTabSz="914400" rtl="false" eaLnBrk="true" latinLnBrk="false" hangingPunct="true">
      <a:defRPr sz="1800" kern="1200">
        <a:solidFill>
          <a:schemeClr val="tx1"/>
        </a:solidFill>
        <a:latin typeface="+mn-lt"/>
        <a:ea typeface="+mn-ea"/>
        <a:cs typeface="+mn-cs"/>
      </a:defRPr>
    </a:lvl6pPr>
    <a:lvl7pPr marL="2743200" algn="l" defTabSz="914400" rtl="false" eaLnBrk="true" latinLnBrk="false" hangingPunct="true">
      <a:defRPr sz="1800" kern="1200">
        <a:solidFill>
          <a:schemeClr val="tx1"/>
        </a:solidFill>
        <a:latin typeface="+mn-lt"/>
        <a:ea typeface="+mn-ea"/>
        <a:cs typeface="+mn-cs"/>
      </a:defRPr>
    </a:lvl7pPr>
    <a:lvl8pPr marL="3200400" algn="l" defTabSz="914400" rtl="false" eaLnBrk="true" latinLnBrk="false" hangingPunct="true">
      <a:defRPr sz="1800" kern="1200">
        <a:solidFill>
          <a:schemeClr val="tx1"/>
        </a:solidFill>
        <a:latin typeface="+mn-lt"/>
        <a:ea typeface="+mn-ea"/>
        <a:cs typeface="+mn-cs"/>
      </a:defRPr>
    </a:lvl8pPr>
    <a:lvl9pPr marL="3657600" algn="l" defTabSz="914400" rtl="false" eaLnBrk="true" latinLnBrk="false" hangingPunct="true">
      <a:defRPr sz="1800" kern="1200">
        <a:solidFill>
          <a:schemeClr val="tx1"/>
        </a:solidFill>
        <a:latin typeface="+mn-lt"/>
        <a:ea typeface="+mn-ea"/>
        <a:cs typeface="+mn-cs"/>
      </a:defRPr>
    </a:lvl9pPr>
  </p:defaultTextStyle>
</p:presentation>
</file>

<file path=ppt/tableStyles.xml><?xml version="1.0" encoding="utf-8"?>
<a:tblStyleLst xmlns:a="http://schemas.openxmlformats.org/drawingml/2006/main" def="{5C22544A-7EE6-4342-B048-85BDC9FD1C3A}">
  <a:tblStyle styleId="{58542034-FE4F-4ADA-92B8-4CA66D0F0DF3}" styleName="腾讯文档-基本">
    <a:wholeTbl>
      <a:tcTxStyle>
        <a:fontRef idx="minor"/>
        <a:srgbClr val="000000"/>
      </a:tcTxStyle>
      <a:tcStyle>
        <a:tcBdr>
          <a:left>
            <a:ln w="12700" cmpd="sng">
              <a:solidFill>
                <a:srgbClr val="999999"/>
              </a:solidFill>
            </a:ln>
          </a:left>
          <a:right>
            <a:ln w="12700" cmpd="sng">
              <a:solidFill>
                <a:srgbClr val="999999"/>
              </a:solidFill>
            </a:ln>
          </a:right>
          <a:top>
            <a:ln w="12700" cmpd="sng">
              <a:solidFill>
                <a:srgbClr val="999999"/>
              </a:solidFill>
            </a:ln>
          </a:top>
          <a:bottom>
            <a:ln w="12700" cmpd="sng">
              <a:solidFill>
                <a:srgbClr val="999999"/>
              </a:solidFill>
            </a:ln>
          </a:bottom>
          <a:insideH>
            <a:ln w="12700" cmpd="sng">
              <a:solidFill>
                <a:srgbClr val="999999"/>
              </a:solidFill>
            </a:ln>
          </a:insideH>
          <a:insideV>
            <a:ln w="12700" cmpd="sng">
              <a:solidFill>
                <a:srgbClr val="999999"/>
              </a:solidFill>
            </a:ln>
          </a:insideV>
        </a:tcBdr>
        <a:fill>
          <a:solidFill>
            <a:srgbClr val="FFFFFF"/>
          </a:solidFill>
        </a:fill>
      </a:tcStyle>
    </a:wholeTbl>
  </a:tblStyle>
</a:tblStyleLst>
</file>

<file path=ppt/_rels/presentation.xml.rels><?xml version="1.0" encoding="UTF-8" standalone="yes"?><Relationships xmlns="http://schemas.openxmlformats.org/package/2006/relationships"><Relationship Id="rId9" Type="http://schemas.openxmlformats.org/officeDocument/2006/relationships/slide" Target="slides/slide9.xml" /><Relationship Id="rId6" Type="http://schemas.openxmlformats.org/officeDocument/2006/relationships/slide" Target="slides/slide6.xml" /><Relationship Id="rId5" Type="http://schemas.openxmlformats.org/officeDocument/2006/relationships/slide" Target="slides/slide5.xml" /><Relationship Id="rId4" Type="http://schemas.openxmlformats.org/officeDocument/2006/relationships/slide" Target="slides/slide4.xml" /><Relationship Id="rId37" Type="http://schemas.openxmlformats.org/officeDocument/2006/relationships/tableStyles" Target="tableStyles.xml" /><Relationship Id="rId35" Type="http://schemas.openxmlformats.org/officeDocument/2006/relationships/slide" Target="slides/slide35.xml" /><Relationship Id="rId34" Type="http://schemas.openxmlformats.org/officeDocument/2006/relationships/slide" Target="slides/slide34.xml" /><Relationship Id="rId30" Type="http://schemas.openxmlformats.org/officeDocument/2006/relationships/slide" Target="slides/slide30.xml" /><Relationship Id="rId3" Type="http://schemas.openxmlformats.org/officeDocument/2006/relationships/slide" Target="slides/slide3.xml" /><Relationship Id="rId21" Type="http://schemas.openxmlformats.org/officeDocument/2006/relationships/slide" Target="slides/slide21.xml" /><Relationship Id="rId25" Type="http://schemas.openxmlformats.org/officeDocument/2006/relationships/slide" Target="slides/slide25.xml" /><Relationship Id="rId31" Type="http://schemas.openxmlformats.org/officeDocument/2006/relationships/slide" Target="slides/slide31.xml" /><Relationship Id="rId23" Type="http://schemas.openxmlformats.org/officeDocument/2006/relationships/slide" Target="slides/slide23.xml" /><Relationship Id="rId29" Type="http://schemas.openxmlformats.org/officeDocument/2006/relationships/slide" Target="slides/slide29.xml" /><Relationship Id="rId16" Type="http://schemas.openxmlformats.org/officeDocument/2006/relationships/slide" Target="slides/slide16.xml" /><Relationship Id="rId27" Type="http://schemas.openxmlformats.org/officeDocument/2006/relationships/slide" Target="slides/slide27.xml" /><Relationship Id="rId32" Type="http://schemas.openxmlformats.org/officeDocument/2006/relationships/slide" Target="slides/slide32.xml" /><Relationship Id="rId17" Type="http://schemas.openxmlformats.org/officeDocument/2006/relationships/slide" Target="slides/slide17.xml" /><Relationship Id="rId22" Type="http://schemas.openxmlformats.org/officeDocument/2006/relationships/slide" Target="slides/slide22.xml" /><Relationship Id="rId7" Type="http://schemas.openxmlformats.org/officeDocument/2006/relationships/slide" Target="slides/slide7.xml" /><Relationship Id="rId20" Type="http://schemas.openxmlformats.org/officeDocument/2006/relationships/slide" Target="slides/slide20.xml" /><Relationship Id="rId12" Type="http://schemas.openxmlformats.org/officeDocument/2006/relationships/slide" Target="slides/slide12.xml" /><Relationship Id="rId24" Type="http://schemas.openxmlformats.org/officeDocument/2006/relationships/slide" Target="slides/slide24.xml" /><Relationship Id="rId15" Type="http://schemas.openxmlformats.org/officeDocument/2006/relationships/slide" Target="slides/slide15.xml" /><Relationship Id="rId2" Type="http://schemas.openxmlformats.org/officeDocument/2006/relationships/slide" Target="slides/slide2.xml" /><Relationship Id="rId14" Type="http://schemas.openxmlformats.org/officeDocument/2006/relationships/slide" Target="slides/slide14.xml" /><Relationship Id="rId28" Type="http://schemas.openxmlformats.org/officeDocument/2006/relationships/slide" Target="slides/slide28.xml" /><Relationship Id="rId26" Type="http://schemas.openxmlformats.org/officeDocument/2006/relationships/slide" Target="slides/slide26.xml" /><Relationship Id="rId36" Type="http://schemas.openxmlformats.org/officeDocument/2006/relationships/notesMaster" Target="notesMasters/notesMaster1.xml" /><Relationship Id="rId19" Type="http://schemas.openxmlformats.org/officeDocument/2006/relationships/slide" Target="slides/slide19.xml" /><Relationship Id="rId0" Type="http://schemas.openxmlformats.org/officeDocument/2006/relationships/slideMaster" Target="slideMasters/slideMaster1.xml" /><Relationship Id="rId18" Type="http://schemas.openxmlformats.org/officeDocument/2006/relationships/slide" Target="slides/slide18.xml" /><Relationship Id="rId13" Type="http://schemas.openxmlformats.org/officeDocument/2006/relationships/slide" Target="slides/slide13.xml" /><Relationship Id="rId11" Type="http://schemas.openxmlformats.org/officeDocument/2006/relationships/slide" Target="slides/slide11.xml" /><Relationship Id="rId8" Type="http://schemas.openxmlformats.org/officeDocument/2006/relationships/slide" Target="slides/slide8.xml" /><Relationship Id="rId10" Type="http://schemas.openxmlformats.org/officeDocument/2006/relationships/slide" Target="slides/slide10.xml" /><Relationship Id="rId33" Type="http://schemas.openxmlformats.org/officeDocument/2006/relationships/slide" Target="slides/slide33.xml" /><Relationship Id="rId1" Type="http://schemas.openxmlformats.org/officeDocument/2006/relationships/slide" Target="slides/slide1.xml" /></Relationships>
</file>

<file path=ppt/notesMasters/_rels/notesMaster1.xml.rels><?xml version="1.0" encoding="UTF-8" standalone="yes"?><Relationships xmlns="http://schemas.openxmlformats.org/package/2006/relationships"><Relationship Id="rId0"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true"/>
          </p:cNvSpPr>
          <p:nvPr>
            <p:ph type="hdr" sz="quarter"/>
          </p:nvPr>
        </p:nvSpPr>
        <p:spPr>
          <a:xfrm>
            <a:off x="0" y="0"/>
            <a:ext cx="2971800" cy="458788"/>
          </a:xfrm>
          <a:prstGeom prst="rect">
            <a:avLst/>
          </a:prstGeom>
        </p:spPr>
        <p:txBody>
          <a:bodyPr vert="horz" lIns="91440" tIns="45720" rIns="91440" bIns="45720" rtlCol="false"/>
          <a:lstStyle>
            <a:lvl1pPr algn="l">
              <a:defRPr sz="1200"/>
            </a:lvl1pPr>
          </a:lstStyle>
          <a:p>
            <a:pPr/>
            <a:endParaRPr lang="en-US"/>
          </a:p>
        </p:txBody>
      </p:sp>
      <p:sp>
        <p:nvSpPr>
          <p:cNvPr id="3" name="Date Placeholder 2"/>
          <p:cNvSpPr>
            <a:spLocks noGrp="true"/>
          </p:cNvSpPr>
          <p:nvPr>
            <p:ph type="dt" idx="1"/>
          </p:nvPr>
        </p:nvSpPr>
        <p:spPr>
          <a:xfrm>
            <a:off x="3884613" y="0"/>
            <a:ext cx="2971800" cy="458788"/>
          </a:xfrm>
          <a:prstGeom prst="rect">
            <a:avLst/>
          </a:prstGeom>
        </p:spPr>
        <p:txBody>
          <a:bodyPr vert="horz" lIns="91440" tIns="45720" rIns="91440" bIns="45720" rtlCol="false"/>
          <a:lstStyle>
            <a:lvl1pPr algn="r">
              <a:defRPr sz="1200"/>
            </a:lvl1pPr>
          </a:lstStyle>
          <a:p>
            <a:pPr/>
            <a:fld id="{5282F153-3F37-0F45-9E97-73ACFA13230C}" type="datetimeFigureOut">
              <a:rPr lang="en-US"/>
              <a:t>7/23/19</a:t>
            </a:fld>
            <a:endParaRPr lang="en-US"/>
          </a:p>
        </p:txBody>
      </p:sp>
      <p:sp>
        <p:nvSpPr>
          <p:cNvPr id="4" name="Slide Image Placeholder 3"/>
          <p:cNvSpPr>
            <a:spLocks noGrp="true" noRot="true" noChangeAspect="true"/>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false" anchor="ctr"/>
          <a:lstStyle/>
          <a:p>
            <a:pPr/>
            <a:endParaRPr lang="en-US"/>
          </a:p>
        </p:txBody>
      </p:sp>
      <p:sp>
        <p:nvSpPr>
          <p:cNvPr id="5" name="Notes Placeholder 4"/>
          <p:cNvSpPr>
            <a:spLocks noGrp="true"/>
          </p:cNvSpPr>
          <p:nvPr>
            <p:ph type="body" sz="quarter" idx="3"/>
          </p:nvPr>
        </p:nvSpPr>
        <p:spPr>
          <a:xfrm>
            <a:off x="685800" y="4400550"/>
            <a:ext cx="5486400" cy="3600450"/>
          </a:xfrm>
          <a:prstGeom prst="rect">
            <a:avLst/>
          </a:prstGeom>
        </p:spPr>
        <p:txBody>
          <a:bodyPr vert="horz" lIns="91440" tIns="45720" rIns="91440" bIns="45720" rtlCol="false"/>
          <a:lstStyle/>
          <a:p>
            <a:pPr lvl="0"/>
            <a:r>
              <a:rPr lang="en-US"/>
              <a:t>Click to edit Master text styles</a:t>
            </a:r>
            <a:endParaRPr/>
          </a:p>
          <a:p>
            <a:pPr lvl="1"/>
            <a:r>
              <a:rPr lang="en-US"/>
              <a:t>Second level</a:t>
            </a:r>
            <a:endParaRPr/>
          </a:p>
          <a:p>
            <a:pPr lvl="2"/>
            <a:r>
              <a:rPr lang="en-US"/>
              <a:t>Third level</a:t>
            </a:r>
            <a:endParaRPr/>
          </a:p>
          <a:p>
            <a:pPr lvl="3"/>
            <a:r>
              <a:rPr lang="en-US"/>
              <a:t>Fourth level</a:t>
            </a:r>
            <a:endParaRPr/>
          </a:p>
          <a:p>
            <a:pPr lvl="4"/>
            <a:r>
              <a:rPr lang="en-US"/>
              <a:t>Fifth level</a:t>
            </a:r>
            <a:endParaRPr/>
          </a:p>
        </p:txBody>
      </p:sp>
      <p:sp>
        <p:nvSpPr>
          <p:cNvPr id="6" name="Footer Placeholder 5"/>
          <p:cNvSpPr>
            <a:spLocks noGrp="true"/>
          </p:cNvSpPr>
          <p:nvPr>
            <p:ph type="ftr" sz="quarter" idx="4"/>
          </p:nvPr>
        </p:nvSpPr>
        <p:spPr>
          <a:xfrm>
            <a:off x="0" y="8685213"/>
            <a:ext cx="2971800" cy="458787"/>
          </a:xfrm>
          <a:prstGeom prst="rect">
            <a:avLst/>
          </a:prstGeom>
        </p:spPr>
        <p:txBody>
          <a:bodyPr vert="horz" lIns="91440" tIns="45720" rIns="91440" bIns="45720" rtlCol="false" anchor="b"/>
          <a:lstStyle>
            <a:lvl1pPr algn="l">
              <a:defRPr sz="1200"/>
            </a:lvl1pPr>
          </a:lstStyle>
          <a:p>
            <a:pPr/>
            <a:endParaRPr lang="en-US"/>
          </a:p>
        </p:txBody>
      </p:sp>
      <p:sp>
        <p:nvSpPr>
          <p:cNvPr id="7" name="Slide Number Placeholder 6"/>
          <p:cNvSpPr>
            <a:spLocks noGrp="true"/>
          </p:cNvSpPr>
          <p:nvPr>
            <p:ph type="sldNum" sz="quarter" idx="5"/>
          </p:nvPr>
        </p:nvSpPr>
        <p:spPr>
          <a:xfrm>
            <a:off x="3884613" y="8685213"/>
            <a:ext cx="2971800" cy="458787"/>
          </a:xfrm>
          <a:prstGeom prst="rect">
            <a:avLst/>
          </a:prstGeom>
        </p:spPr>
        <p:txBody>
          <a:bodyPr vert="horz" lIns="91440" tIns="45720" rIns="91440" bIns="45720" rtlCol="false" anchor="b"/>
          <a:lstStyle>
            <a:lvl1pPr algn="r">
              <a:defRPr sz="1200"/>
            </a:lvl1pPr>
          </a:lstStyle>
          <a:p>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false" eaLnBrk="true" latinLnBrk="false" hangingPunct="true">
      <a:defRPr sz="1200" kern="1200">
        <a:solidFill>
          <a:schemeClr val="tx1"/>
        </a:solidFill>
        <a:latin typeface="+mn-lt"/>
        <a:ea typeface="+mn-ea"/>
        <a:cs typeface="+mn-cs"/>
      </a:defRPr>
    </a:lvl1pPr>
    <a:lvl2pPr marL="457200" algn="l" defTabSz="914400" rtl="false" eaLnBrk="true" latinLnBrk="false" hangingPunct="true">
      <a:defRPr sz="1200" kern="1200">
        <a:solidFill>
          <a:schemeClr val="tx1"/>
        </a:solidFill>
        <a:latin typeface="+mn-lt"/>
        <a:ea typeface="+mn-ea"/>
        <a:cs typeface="+mn-cs"/>
      </a:defRPr>
    </a:lvl2pPr>
    <a:lvl3pPr marL="914400" algn="l" defTabSz="914400" rtl="false" eaLnBrk="true" latinLnBrk="false" hangingPunct="true">
      <a:defRPr sz="1200" kern="1200">
        <a:solidFill>
          <a:schemeClr val="tx1"/>
        </a:solidFill>
        <a:latin typeface="+mn-lt"/>
        <a:ea typeface="+mn-ea"/>
        <a:cs typeface="+mn-cs"/>
      </a:defRPr>
    </a:lvl3pPr>
    <a:lvl4pPr marL="1371600" algn="l" defTabSz="914400" rtl="false" eaLnBrk="true" latinLnBrk="false" hangingPunct="true">
      <a:defRPr sz="1200" kern="1200">
        <a:solidFill>
          <a:schemeClr val="tx1"/>
        </a:solidFill>
        <a:latin typeface="+mn-lt"/>
        <a:ea typeface="+mn-ea"/>
        <a:cs typeface="+mn-cs"/>
      </a:defRPr>
    </a:lvl4pPr>
    <a:lvl5pPr marL="1828800" algn="l" defTabSz="914400" rtl="false" eaLnBrk="true" latinLnBrk="false" hangingPunct="true">
      <a:defRPr sz="1200" kern="1200">
        <a:solidFill>
          <a:schemeClr val="tx1"/>
        </a:solidFill>
        <a:latin typeface="+mn-lt"/>
        <a:ea typeface="+mn-ea"/>
        <a:cs typeface="+mn-cs"/>
      </a:defRPr>
    </a:lvl5pPr>
    <a:lvl6pPr marL="2286000" algn="l" defTabSz="914400" rtl="false" eaLnBrk="true" latinLnBrk="false" hangingPunct="true">
      <a:defRPr sz="1200" kern="1200">
        <a:solidFill>
          <a:schemeClr val="tx1"/>
        </a:solidFill>
        <a:latin typeface="+mn-lt"/>
        <a:ea typeface="+mn-ea"/>
        <a:cs typeface="+mn-cs"/>
      </a:defRPr>
    </a:lvl6pPr>
    <a:lvl7pPr marL="2743200" algn="l" defTabSz="914400" rtl="false" eaLnBrk="true" latinLnBrk="false" hangingPunct="true">
      <a:defRPr sz="1200" kern="1200">
        <a:solidFill>
          <a:schemeClr val="tx1"/>
        </a:solidFill>
        <a:latin typeface="+mn-lt"/>
        <a:ea typeface="+mn-ea"/>
        <a:cs typeface="+mn-cs"/>
      </a:defRPr>
    </a:lvl7pPr>
    <a:lvl8pPr marL="3200400" algn="l" defTabSz="914400" rtl="false" eaLnBrk="true" latinLnBrk="false" hangingPunct="true">
      <a:defRPr sz="1200" kern="1200">
        <a:solidFill>
          <a:schemeClr val="tx1"/>
        </a:solidFill>
        <a:latin typeface="+mn-lt"/>
        <a:ea typeface="+mn-ea"/>
        <a:cs typeface="+mn-cs"/>
      </a:defRPr>
    </a:lvl8pPr>
    <a:lvl9pPr marL="3657600" algn="l" defTabSz="914400" rtl="false" eaLnBrk="true" latinLnBrk="false" hangingPunct="true">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xml" /></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0.xml" /></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1.xml" /></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2.xml" /></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3.xml" /></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4.xml" /></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5.xml" /></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6.xml" /></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7.xml" /></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8.xml" /></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19.xml" /></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xml" /></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0.xml" /></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1.xml" /></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2.xml" /></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3.xml" /></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4.xml" /></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5.xml" /></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6.xml" /></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7.xml" /></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8.xml" /></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29.xml" /></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xml" /></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0.xml" /></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1.xml" /></Relationships>
</file>

<file path=ppt/notesSlides/_rels/notesSlide26.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2.xml" /></Relationships>
</file>

<file path=ppt/notesSlides/_rels/notesSlide27.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3.xml" /></Relationships>
</file>

<file path=ppt/notesSlides/_rels/notesSlide28.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4.xml" /></Relationships>
</file>

<file path=ppt/notesSlides/_rels/notesSlide29.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35.xml" /></Relationships>
</file>

<file path=ppt/notesSlides/_rels/notesSlide30.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4.xml" /></Relationships>
</file>

<file path=ppt/notesSlides/_rels/notesSlide31.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5.xml" /></Relationships>
</file>

<file path=ppt/notesSlides/_rels/notesSlide32.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6.xml" /></Relationships>
</file>

<file path=ppt/notesSlides/_rels/notesSlide33.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7.xml" /></Relationships>
</file>

<file path=ppt/notesSlides/_rels/notesSlide34.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8.xml" /></Relationships>
</file>

<file path=ppt/notesSlides/_rels/notesSlide35.xml.rels><?xml version="1.0" encoding="UTF-8" standalone="yes"?><Relationships xmlns="http://schemas.openxmlformats.org/package/2006/relationships"><Relationship Id="rId1" Type="http://schemas.openxmlformats.org/officeDocument/2006/relationships/notesMaster" Target="../notesMasters/notesMaster1.xml" /><Relationship Id="rId0" Type="http://schemas.openxmlformats.org/officeDocument/2006/relationships/slide" Target="../slides/slide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true" noRot="true" noChangeAspect="true"/>
          </p:cNvSpPr>
          <p:nvPr>
            <p:ph type="sldImg"/>
          </p:nvPr>
        </p:nvSpPr>
        <p:spPr/>
        <p:txBody>
          <a:bodyPr/>
          <a:p>
            <a:pPr/>
            <a:endParaRPr/>
          </a:p>
        </p:txBody>
      </p:sp>
      <p:sp>
        <p:nvSpPr>
          <p:cNvPr id="3" name="Notes Placeholder 2"/>
          <p:cNvSpPr>
            <a:spLocks noGrp="true"/>
          </p:cNvSpPr>
          <p:nvPr>
            <p:ph type="body" idx="1"/>
          </p:nvPr>
        </p:nvSpPr>
        <p:spPr/>
        <p:txBody>
          <a:bodyPr/>
          <a:lstStyle/>
          <a:p>
            <a:pPr/>
            <a:r>
              <a:rPr lang="en-US" dirty="false"/>
              <a:t>【开场白】
尊敬的各位老师，下午好！我是来自电子与信息工程学院的硕士研究生谢智捷，我的导师是万明明教授。非常感谢各位老师在百忙之中参加我的学位论文答辩。
【论文题目介绍】
我的论文题目是《基于改进DeepLabV3+的OCT图像语义分割方法》。
【研究背景简述】
激光焊接是现代精密制造中的关键工艺，而焊接质量的实时检测一直是工业界关注的难题。光学相干断层扫描（OCT）技术能够实时获取焊接熔池的深度信息，为焊接质量在线监测提供了可能。然而，OCT图像存在散斑噪声严重、目标边界模糊等挑战，传统分割方法难以满足精度要求。
【本文工作概述】
本文针对这些问题，在经典的DeepLabV3+语义分割模型基础上，提出了两个创新模块：TR模块用于增强全局上下文建模能力，SAE模块用于改善边界分割质量。实验结果表明，改进后的模型在自建焊接OCT数据集上取得了显著的性能提升。
【过渡】
下面，我将按照目录的顺序，向各位老师详细汇报我的研究工作。</a:t>
            </a:r>
            <a:endParaRPr lang="en-US" dirty="false"/>
          </a:p>
        </p:txBody>
      </p:sp>
      <p:sp>
        <p:nvSpPr>
          <p:cNvPr id="4" name="Slide Number Placeholder 3"/>
          <p:cNvSpPr>
            <a:spLocks noGrp="true"/>
          </p:cNvSpPr>
          <p:nvPr>
            <p:ph type="sldNum" sz="quarter" idx="10"/>
          </p:nvPr>
        </p:nvSpPr>
        <p:spPr/>
        <p:txBody>
          <a:bodyPr/>
          <a:lstStyle/>
          <a:p>
            <a:pPr/>
            <a:fld id="{F7021451-1387-4CA6-816F-3879F97B5CBC}" type="slidenum">
              <a:rPr lang="en-US"/>
              <a:t>1</a:t>
            </a:fld>
            <a:endParaRPr lang="en-US"/>
          </a:p>
        </p:txBody>
      </p:sp>
    </p:spTree>
  </p:cSld>
</p:notes>
</file>

<file path=ppt/notesSlides/notesSlide2.xml><?xml version="1.0" encoding="utf-8"?>
<p:notes xmlns:a="http://schemas.openxmlformats.org/drawingml/2006/main" xmlns:p="http://schemas.openxmlformats.org/presentationml/2006/main">
  <p:cSld>
    <p:spTree>
      <p:nvGrpSpPr>
        <p:cNvPr id="5" name=""/>
        <p:cNvGrpSpPr/>
        <p:nvPr/>
      </p:nvGrpSpPr>
      <p:grpSpPr>
        <a:xfrm>
          <a:off x="0" y="0"/>
          <a:ext cx="0" cy="0"/>
          <a:chOff x="0" y="0"/>
          <a:chExt cx="0" cy="0"/>
        </a:xfrm>
      </p:grpSpPr>
      <p:sp>
        <p:nvSpPr>
          <p:cNvPr id="6" name="Slide Image Placeholder 1"/>
          <p:cNvSpPr>
            <a:spLocks noGrp="true" noRot="true" noChangeAspect="true"/>
          </p:cNvSpPr>
          <p:nvPr>
            <p:ph type="sldImg"/>
          </p:nvPr>
        </p:nvSpPr>
        <p:spPr/>
        <p:txBody>
          <a:bodyPr/>
          <a:p>
            <a:pPr/>
            <a:endParaRPr/>
          </a:p>
        </p:txBody>
      </p:sp>
      <p:sp>
        <p:nvSpPr>
          <p:cNvPr id="7" name="Notes Placeholder 2"/>
          <p:cNvSpPr>
            <a:spLocks noGrp="true"/>
          </p:cNvSpPr>
          <p:nvPr>
            <p:ph type="body" idx="1"/>
          </p:nvPr>
        </p:nvSpPr>
        <p:spPr/>
        <p:txBody>
          <a:bodyPr/>
          <a:lstStyle/>
          <a:p>
            <a:pPr/>
            <a:r>
              <a:rPr lang="en-US" dirty="false"/>
              <a:t>【DeepLabV3+ 网络结构】
DeepLabV3+是Google团队提出的DeepLab系列的最新版本，也是本文选择的基线模型。
【为什么选择DeepLabV3+】
1. 在多个公开数据集上取得了优异的分割性能
2. 结合了空洞卷积和编码器-解码器架构的优势
3. 有成熟的开源实现，便于复现和改进
【网络结构详解】
看右边的结构图，DeepLabV3+主要由三部分组成：
1. 编码器（Encoder）
   - 骨干网络：本文使用ResNet18-V1c
   - ASPP模块：空洞空间金字塔池化
2. ASPP模块
   - 包含多个并行分支：1×1卷积 + 空洞卷积（rate=12,24,36）+ 全局平均池化
   - 空洞率(1,12,24,36)表示卷积核元素之间的间隔
   - 目的：在不同尺度上捕获上下文信息
3. 解码器（Decoder）
   - 将ASPP输出上采样4倍
   - 与编码器浅层特征拼接
   - 再上采样4倍得到最终分割结果
【基线性能】
在我们的焊接OCT数据集上，原始DeepLabV3+的性能为：
- mIoU: 0.851（平均交并比）
- 目标IoU: 0.710（熔深区域的IoU）
- HD95: 12.22（边界距离指标）
这个性能已经不错，但仍有提升空间，特别是：
- 对细长结构的分割不够完整
- 边界区域存在模糊
【本文改进位置】
- TR模块：插入在ASPP之后，增强全局上下文建模
- SAE模块：插入在解码器融合之后，增强边界分割精度
【过渡】
在介绍具体改进之前，我先介绍一下本研究使用的数据集。</a:t>
            </a:r>
            <a:endParaRPr lang="en-US" dirty="false"/>
          </a:p>
        </p:txBody>
      </p:sp>
      <p:sp>
        <p:nvSpPr>
          <p:cNvPr id="8" name="Slide Number Placeholder 3"/>
          <p:cNvSpPr>
            <a:spLocks noGrp="true"/>
          </p:cNvSpPr>
          <p:nvPr>
            <p:ph type="sldNum" sz="quarter" idx="10"/>
          </p:nvPr>
        </p:nvSpPr>
        <p:spPr/>
        <p:txBody>
          <a:bodyPr/>
          <a:lstStyle/>
          <a:p>
            <a:pPr/>
            <a:fld id="{F7021451-1387-4CA6-816F-3879F97B5CBC}" type="slidenum">
              <a:rPr lang="en-US"/>
              <a:t>10</a:t>
            </a:fld>
            <a:endParaRPr lang="en-US"/>
          </a:p>
        </p:txBody>
      </p:sp>
    </p:spTree>
  </p:cSld>
</p:notes>
</file>

<file path=ppt/notesSlides/notesSlide3.xml><?xml version="1.0" encoding="utf-8"?>
<p:notes xmlns:a="http://schemas.openxmlformats.org/drawingml/2006/main" xmlns:p="http://schemas.openxmlformats.org/presentationml/2006/main">
  <p:cSld>
    <p:spTree>
      <p:nvGrpSpPr>
        <p:cNvPr id="9" name=""/>
        <p:cNvGrpSpPr/>
        <p:nvPr/>
      </p:nvGrpSpPr>
      <p:grpSpPr>
        <a:xfrm>
          <a:off x="0" y="0"/>
          <a:ext cx="0" cy="0"/>
          <a:chOff x="0" y="0"/>
          <a:chExt cx="0" cy="0"/>
        </a:xfrm>
      </p:grpSpPr>
      <p:sp>
        <p:nvSpPr>
          <p:cNvPr id="10" name="Slide Image Placeholder 1"/>
          <p:cNvSpPr>
            <a:spLocks noGrp="true" noRot="true" noChangeAspect="true"/>
          </p:cNvSpPr>
          <p:nvPr>
            <p:ph type="sldImg"/>
          </p:nvPr>
        </p:nvSpPr>
        <p:spPr/>
        <p:txBody>
          <a:bodyPr/>
          <a:p>
            <a:pPr/>
            <a:endParaRPr/>
          </a:p>
        </p:txBody>
      </p:sp>
      <p:sp>
        <p:nvSpPr>
          <p:cNvPr id="11" name="Notes Placeholder 2"/>
          <p:cNvSpPr>
            <a:spLocks noGrp="true"/>
          </p:cNvSpPr>
          <p:nvPr>
            <p:ph type="body" idx="1"/>
          </p:nvPr>
        </p:nvSpPr>
        <p:spPr/>
        <p:txBody>
          <a:bodyPr/>
          <a:lstStyle/>
          <a:p>
            <a:pPr/>
            <a:r>
              <a:rPr lang="en-US" dirty="false"/>
              <a:t>【数据集构建流程】
由于公开的焊接OCT数据集较少，本研究构建了自己的数据集。整个流程分为五个步骤。
【步骤一：OCT图像采集】
- 数据来源：真实的激光焊接实验平台
- 采集方式：在焊接过程中实时采集OCT图像
- 原始分辨率：1000×200像素
- 采集内容：不同焊接参数条件下的熔池图像
【步骤二：预处理】
预处理包含四个子步骤：
1. 裁剪感兴趣区域（ROI）
   - 将原始1000×200图像裁剪为200×200
   - 聚焦于包含熔深信息的核心区域
2. 中值滤波去噪
   - 使用3×3的中值滤波器
   - 抑制OCT图像中的散斑噪声
   - 相比均值滤波，中值滤波能更好地保留边缘
3. 直方图均衡化
   - 增强图像对比度
   - 使熔池区域与背景更加区分明显
4. 尺寸调整
   - 将图像resize到512×512
   - 满足深度学习模型的输入要求
【步骤三：数据标注】
- 标注工具：LabelMe（MIT开发的开源标注工具）
- 标注方式：逐像素标注熔深线段区域
- 标注类别：二分类（目标/背景）
- 质量控制：双人交叉验证，确保标注一致性
右边展示的是LabelMe的标注界面截图。
【步骤四：数据集统计】
从底部的表格可以看到：
- 原始图像共228张
- 按照80%:20%划分为训练集和测试集
- 训练集182张，测试集46张
- 经过数据增强后，训练集扩充到912张，测试集228张
- 增强后总计1140张图像
【过渡】
数据增强是扩充数据集的重要手段，下面具体介绍我们采用的增强策略。</a:t>
            </a:r>
            <a:endParaRPr lang="en-US" dirty="false"/>
          </a:p>
        </p:txBody>
      </p:sp>
      <p:sp>
        <p:nvSpPr>
          <p:cNvPr id="12" name="Slide Number Placeholder 3"/>
          <p:cNvSpPr>
            <a:spLocks noGrp="true"/>
          </p:cNvSpPr>
          <p:nvPr>
            <p:ph type="sldNum" sz="quarter" idx="10"/>
          </p:nvPr>
        </p:nvSpPr>
        <p:spPr/>
        <p:txBody>
          <a:bodyPr/>
          <a:lstStyle/>
          <a:p>
            <a:pPr/>
            <a:fld id="{F7021451-1387-4CA6-816F-3879F97B5CBC}" type="slidenum">
              <a:rPr lang="en-US"/>
              <a:t>11</a:t>
            </a:fld>
            <a:endParaRPr lang="en-US"/>
          </a:p>
        </p:txBody>
      </p:sp>
    </p:spTree>
  </p:cSld>
</p:notes>
</file>

<file path=ppt/notesSlides/notesSlide4.xml><?xml version="1.0" encoding="utf-8"?>
<p:notes xmlns:a="http://schemas.openxmlformats.org/drawingml/2006/main" xmlns:p="http://schemas.openxmlformats.org/presentationml/2006/main">
  <p:cSld>
    <p:spTree>
      <p:nvGrpSpPr>
        <p:cNvPr id="13" name=""/>
        <p:cNvGrpSpPr/>
        <p:nvPr/>
      </p:nvGrpSpPr>
      <p:grpSpPr>
        <a:xfrm>
          <a:off x="0" y="0"/>
          <a:ext cx="0" cy="0"/>
          <a:chOff x="0" y="0"/>
          <a:chExt cx="0" cy="0"/>
        </a:xfrm>
      </p:grpSpPr>
      <p:sp>
        <p:nvSpPr>
          <p:cNvPr id="14" name="Slide Image Placeholder 1"/>
          <p:cNvSpPr>
            <a:spLocks noGrp="true" noRot="true" noChangeAspect="true"/>
          </p:cNvSpPr>
          <p:nvPr>
            <p:ph type="sldImg"/>
          </p:nvPr>
        </p:nvSpPr>
        <p:spPr/>
        <p:txBody>
          <a:bodyPr/>
          <a:p>
            <a:pPr/>
            <a:endParaRPr/>
          </a:p>
        </p:txBody>
      </p:sp>
      <p:sp>
        <p:nvSpPr>
          <p:cNvPr id="15" name="Notes Placeholder 2"/>
          <p:cNvSpPr>
            <a:spLocks noGrp="true"/>
          </p:cNvSpPr>
          <p:nvPr>
            <p:ph type="body" idx="1"/>
          </p:nvPr>
        </p:nvSpPr>
        <p:spPr/>
        <p:txBody>
          <a:bodyPr/>
          <a:lstStyle/>
          <a:p>
            <a:pPr/>
            <a:r>
              <a:rPr lang="en-US" dirty="false"/>
              <a:t>【数据增强策略】
数据增强是深度学习中扩充训练数据的重要技术，可以有效提高模型的泛化能力。
【为什么需要数据增强】
1. 原始数据集规模有限（仅228张图像）
2. 深度学习模型需要大量数据才能充分训练
3. 增强可以模拟不同的采集条件，提高模型鲁棒性
【具体增强策略】
本研究采用了两类增强方法：
一、几何变换类：
1. 水平翻转（图b）
   - 以0.5的概率随机翻转
   - 模拟不同的扫描方向
2. 随机旋转（图c）
   - 在[-15°, +15°]范围内随机旋转
   - 模拟图像采集角度的微小变化
二、光度变换类：
3. 亮度调整（图d）
   - 在[0.8, 1.2]范围内随机调整
   - 模拟不同的光照条件
4. 对比度调整（图e）
   - 在[0.8, 1.2]范围内随机调整
   - 增强模型对低对比度图像的适应能力
5. 添加高斯噪声（图f）
   - 以一定概率添加噪声
   - 增强模型的抗噪能力
【增强效果】
从图中可以看到，每种增强都保持了熔深区域的基本结构，同时引入了合理的变化。
【增强策略的实现】
- 采用在线增强方式：每个epoch随机应用增强
- 使用PyTorch的transforms和albumentations库
- 增强概率和参数经过调优
【数据增强的效果】
通过5倍增强，训练集从182张扩充到912张，有效缓解了过拟合问题。
【过渡】
最后，我来介绍本研究使用的评估指标。</a:t>
            </a:r>
            <a:endParaRPr lang="en-US" dirty="false"/>
          </a:p>
        </p:txBody>
      </p:sp>
      <p:sp>
        <p:nvSpPr>
          <p:cNvPr id="16" name="Slide Number Placeholder 3"/>
          <p:cNvSpPr>
            <a:spLocks noGrp="true"/>
          </p:cNvSpPr>
          <p:nvPr>
            <p:ph type="sldNum" sz="quarter" idx="10"/>
          </p:nvPr>
        </p:nvSpPr>
        <p:spPr/>
        <p:txBody>
          <a:bodyPr/>
          <a:lstStyle/>
          <a:p>
            <a:pPr/>
            <a:fld id="{F7021451-1387-4CA6-816F-3879F97B5CBC}" type="slidenum">
              <a:rPr lang="en-US"/>
              <a:t>12</a:t>
            </a:fld>
            <a:endParaRPr lang="en-US"/>
          </a:p>
        </p:txBody>
      </p:sp>
    </p:spTree>
  </p:cSld>
</p:notes>
</file>

<file path=ppt/notesSlides/notesSlide5.xml><?xml version="1.0" encoding="utf-8"?>
<p:notes xmlns:a="http://schemas.openxmlformats.org/drawingml/2006/main" xmlns:p="http://schemas.openxmlformats.org/presentationml/2006/main">
  <p:cSld>
    <p:spTree>
      <p:nvGrpSpPr>
        <p:cNvPr id="17" name=""/>
        <p:cNvGrpSpPr/>
        <p:nvPr/>
      </p:nvGrpSpPr>
      <p:grpSpPr>
        <a:xfrm>
          <a:off x="0" y="0"/>
          <a:ext cx="0" cy="0"/>
          <a:chOff x="0" y="0"/>
          <a:chExt cx="0" cy="0"/>
        </a:xfrm>
      </p:grpSpPr>
      <p:sp>
        <p:nvSpPr>
          <p:cNvPr id="18" name="Slide Image Placeholder 1"/>
          <p:cNvSpPr>
            <a:spLocks noGrp="true" noRot="true" noChangeAspect="true"/>
          </p:cNvSpPr>
          <p:nvPr>
            <p:ph type="sldImg"/>
          </p:nvPr>
        </p:nvSpPr>
        <p:spPr/>
        <p:txBody>
          <a:bodyPr/>
          <a:p>
            <a:pPr/>
            <a:endParaRPr/>
          </a:p>
        </p:txBody>
      </p:sp>
      <p:sp>
        <p:nvSpPr>
          <p:cNvPr id="19" name="Notes Placeholder 2"/>
          <p:cNvSpPr>
            <a:spLocks noGrp="true"/>
          </p:cNvSpPr>
          <p:nvPr>
            <p:ph type="body" idx="1"/>
          </p:nvPr>
        </p:nvSpPr>
        <p:spPr/>
        <p:txBody>
          <a:bodyPr/>
          <a:lstStyle/>
          <a:p>
            <a:pPr/>
            <a:r>
              <a:rPr lang="en-US" dirty="false"/>
              <a:t>【评估指标说明】
语义分割任务需要多个指标来全面评估模型性能。本研究使用四个主要指标。
【mIoU - 平均交并比】（最重要的指标）
计算公式：mIoU = (1/k) × Σ(TP / (TP + FP + FN))
其中：
- k是类别数（本任务k=2，背景和目标）
- TP（True Positive）：正确预测为目标的像素数
- FP（False Positive）：错误预测为目标的像素数（实际是背景）
- FN（False Negative）：漏检的目标像素数（实际是目标但预测为背景）
直观理解：
- IoU衡量预测区域与真实区域的重叠程度
- mIoU是所有类别IoU的平均值
- 值范围[0,1]，越高越好
- 本文基线mIoU=0.851，改进后达到0.911
【mAcc - 平均准确率】
计算公式：mAcc = (1/k) × Σ(TP / (TP + FN))
- 衡量每个类别的召回率（Recall）
- 关注"漏检"问题
- 本文基线mAcc=0.923，改进后达到0.956
【mDice - Dice系数】
计算公式：Dice = 2|A∩B| / (|A| + |B|) = 2TP / (2TP + FP + FN)
- 与IoU类似，但对区域重叠更敏感
- 在医学图像分割中广泛使用
- Dice和IoU的关系：Dice = 2×IoU / (1 + IoU)
- 本文基线mDice=0.913，改进后达到0.951
【HD95 - 95%豪斯多夫距离】（边界指标）
计算方法：
- 计算预测边界上每个点到真实边界的最短距离
- 取95%分位数（排除极端异常值）
直观理解：
- 衡量预测边界与真实边界的偏差
- 值越小表示边界越精确
- 单位是像素
- 本文基线HD95=12.22，改进后降至10.68（降低12.6%）
【指标选择的考量】
- mIoU：综合评估整体分割质量
- mAcc：关注目标区域的检出率
- mDice：与医学图像领域接轨
- HD95：专门评估边界分割精度
【过渡】
以上就是本研究涉及的相关技术基础。下面进入第三章，介绍本文的第一个核心创新——TR模块。</a:t>
            </a:r>
            <a:endParaRPr lang="en-US" dirty="false"/>
          </a:p>
        </p:txBody>
      </p:sp>
      <p:sp>
        <p:nvSpPr>
          <p:cNvPr id="20" name="Slide Number Placeholder 3"/>
          <p:cNvSpPr>
            <a:spLocks noGrp="true"/>
          </p:cNvSpPr>
          <p:nvPr>
            <p:ph type="sldNum" sz="quarter" idx="10"/>
          </p:nvPr>
        </p:nvSpPr>
        <p:spPr/>
        <p:txBody>
          <a:bodyPr/>
          <a:lstStyle/>
          <a:p>
            <a:pPr/>
            <a:fld id="{F7021451-1387-4CA6-816F-3879F97B5CBC}" type="slidenum">
              <a:rPr lang="en-US"/>
              <a:t>13</a:t>
            </a:fld>
            <a:endParaRPr lang="en-US"/>
          </a:p>
        </p:txBody>
      </p:sp>
    </p:spTree>
  </p:cSld>
</p:notes>
</file>

<file path=ppt/notesSlides/notesSlide6.xml><?xml version="1.0" encoding="utf-8"?>
<p:notes xmlns:a="http://schemas.openxmlformats.org/drawingml/2006/main" xmlns:p="http://schemas.openxmlformats.org/presentationml/2006/main">
  <p:cSld>
    <p:spTree>
      <p:nvGrpSpPr>
        <p:cNvPr id="21" name=""/>
        <p:cNvGrpSpPr/>
        <p:nvPr/>
      </p:nvGrpSpPr>
      <p:grpSpPr>
        <a:xfrm>
          <a:off x="0" y="0"/>
          <a:ext cx="0" cy="0"/>
          <a:chOff x="0" y="0"/>
          <a:chExt cx="0" cy="0"/>
        </a:xfrm>
      </p:grpSpPr>
      <p:sp>
        <p:nvSpPr>
          <p:cNvPr id="22" name="Slide Image Placeholder 1"/>
          <p:cNvSpPr>
            <a:spLocks noGrp="true" noRot="true" noChangeAspect="true"/>
          </p:cNvSpPr>
          <p:nvPr>
            <p:ph type="sldImg"/>
          </p:nvPr>
        </p:nvSpPr>
        <p:spPr/>
        <p:txBody>
          <a:bodyPr/>
          <a:p>
            <a:pPr/>
            <a:endParaRPr/>
          </a:p>
        </p:txBody>
      </p:sp>
      <p:sp>
        <p:nvSpPr>
          <p:cNvPr id="23" name="Notes Placeholder 2"/>
          <p:cNvSpPr>
            <a:spLocks noGrp="true"/>
          </p:cNvSpPr>
          <p:nvPr>
            <p:ph type="body" idx="1"/>
          </p:nvPr>
        </p:nvSpPr>
        <p:spPr/>
        <p:txBody>
          <a:bodyPr/>
          <a:lstStyle/>
          <a:p>
            <a:pPr/>
            <a:r>
              <a:rPr lang="en-US" dirty="false"/>
              <a:t>【第三章：基于全局注意力的模型改进】
接下来进入本文的第一个核心创新章节——TR模块的设计与实验。
这一章我将按照以下逻辑展开：
首先，回顾空洞卷积和ASPP模块的原理，这是DeepLabV3+的核心技术。
然后，分析ASPP模块在OCT图像分割中的局限性——主要是全局上下文建模能力不足。
接着，详细介绍我们提出的TR模块，它借鉴了BiFormer论文的双层路由注意力思想，能够高效地建立全局长距离依赖。
最后，通过消融实验和可视化对比，验证TR模块的有效性。
【关键结论预告】
引入TR模块后，mIoU从0.851提升到0.884，提升了3.9%。细长结构的分割变得更加完整。
【过渡】
首先来看空洞卷积的原理。</a:t>
            </a:r>
            <a:endParaRPr lang="en-US" dirty="false"/>
          </a:p>
        </p:txBody>
      </p:sp>
      <p:sp>
        <p:nvSpPr>
          <p:cNvPr id="24" name="Slide Number Placeholder 3"/>
          <p:cNvSpPr>
            <a:spLocks noGrp="true"/>
          </p:cNvSpPr>
          <p:nvPr>
            <p:ph type="sldNum" sz="quarter" idx="10"/>
          </p:nvPr>
        </p:nvSpPr>
        <p:spPr/>
        <p:txBody>
          <a:bodyPr/>
          <a:lstStyle/>
          <a:p>
            <a:pPr/>
            <a:fld id="{F7021451-1387-4CA6-816F-3879F97B5CBC}" type="slidenum">
              <a:rPr lang="en-US"/>
              <a:t>14</a:t>
            </a:fld>
            <a:endParaRPr lang="en-US"/>
          </a:p>
        </p:txBody>
      </p:sp>
    </p:spTree>
  </p:cSld>
</p:notes>
</file>

<file path=ppt/notesSlides/notesSlide7.xml><?xml version="1.0" encoding="utf-8"?>
<p:notes xmlns:a="http://schemas.openxmlformats.org/drawingml/2006/main" xmlns:p="http://schemas.openxmlformats.org/presentationml/2006/main">
  <p:cSld>
    <p:spTree>
      <p:nvGrpSpPr>
        <p:cNvPr id="25" name=""/>
        <p:cNvGrpSpPr/>
        <p:nvPr/>
      </p:nvGrpSpPr>
      <p:grpSpPr>
        <a:xfrm>
          <a:off x="0" y="0"/>
          <a:ext cx="0" cy="0"/>
          <a:chOff x="0" y="0"/>
          <a:chExt cx="0" cy="0"/>
        </a:xfrm>
      </p:grpSpPr>
      <p:sp>
        <p:nvSpPr>
          <p:cNvPr id="26" name="Slide Image Placeholder 1"/>
          <p:cNvSpPr>
            <a:spLocks noGrp="true" noRot="true" noChangeAspect="true"/>
          </p:cNvSpPr>
          <p:nvPr>
            <p:ph type="sldImg"/>
          </p:nvPr>
        </p:nvSpPr>
        <p:spPr/>
        <p:txBody>
          <a:bodyPr/>
          <a:p>
            <a:pPr/>
            <a:endParaRPr/>
          </a:p>
        </p:txBody>
      </p:sp>
      <p:sp>
        <p:nvSpPr>
          <p:cNvPr id="27" name="Notes Placeholder 2"/>
          <p:cNvSpPr>
            <a:spLocks noGrp="true"/>
          </p:cNvSpPr>
          <p:nvPr>
            <p:ph type="body" idx="1"/>
          </p:nvPr>
        </p:nvSpPr>
        <p:spPr/>
        <p:txBody>
          <a:bodyPr/>
          <a:lstStyle/>
          <a:p>
            <a:pPr/>
            <a:r>
              <a:rPr lang="en-US" dirty="false"/>
              <a:t>【空洞卷积原理】
在介绍TR模块之前，我先回顾一下DeepLabV3+中使用的关键技术——空洞卷积。
【什么是空洞卷积】
空洞卷积（Atrous Convolution），也叫膨胀卷积（Dilated Convolution），是一种扩大感受野的技术。
与普通卷积的区别：
- 普通卷积：卷积核元素紧密排列，比如3×3卷积核覆盖3×3的区域
- 空洞卷积：在卷积核元素之间插入"空洞"（零值），扩大覆盖范围
【空洞率（Dilation Rate）】
空洞率r决定了元素之间的间隔：
- r=1：普通卷积，无空洞，感受野 = (k-1)×1 + 1 = k（对于3×3是3）
- r=2：每个元素间隔1个像素，感受野 = (k-1)×2 + 1（对于3×3是5）
- r=3：每个元素间隔2个像素，感受野 = (k-1)×3 + 1（对于3×3是7）
一般公式：感受野 = (k-1)×r + 1，其中k是卷积核大小
【图示说明】
看图中的三个例子：
- 左：rate=1，标准3×3卷积，蓝色点直接相邻，感受野3×3
- 中：rate=2，蓝色点之间有1个空隙，感受野扩大到5×5
- 右：rate=3，蓝色点之间有2个空隙，感受野扩大到7×7
【核心优势】
空洞卷积的关键优势：
1. 扩大感受野：不需要增加卷积核大小就能看到更大范围
2. 保持分辨率：不需要池化下采样，保留更多空间信息
3. 参数不变：3×3空洞卷积的参数量与普通3×3卷积相同
【为什么重要】
在语义分割中，我们需要：
- 理解全局上下文（需要大感受野）
- 保留精细的空间信息（需要高分辨率）
空洞卷积完美地平衡了这两个需求。
【过渡】
DeepLabV3+将多个不同空洞率的卷积并行使用，这就是ASPP模块。</a:t>
            </a:r>
            <a:endParaRPr lang="en-US" dirty="false"/>
          </a:p>
        </p:txBody>
      </p:sp>
      <p:sp>
        <p:nvSpPr>
          <p:cNvPr id="28" name="Slide Number Placeholder 3"/>
          <p:cNvSpPr>
            <a:spLocks noGrp="true"/>
          </p:cNvSpPr>
          <p:nvPr>
            <p:ph type="sldNum" sz="quarter" idx="10"/>
          </p:nvPr>
        </p:nvSpPr>
        <p:spPr/>
        <p:txBody>
          <a:bodyPr/>
          <a:lstStyle/>
          <a:p>
            <a:pPr/>
            <a:fld id="{F7021451-1387-4CA6-816F-3879F97B5CBC}" type="slidenum">
              <a:rPr lang="en-US"/>
              <a:t>15</a:t>
            </a:fld>
            <a:endParaRPr lang="en-US"/>
          </a:p>
        </p:txBody>
      </p:sp>
    </p:spTree>
  </p:cSld>
</p:notes>
</file>

<file path=ppt/notesSlides/notesSlide8.xml><?xml version="1.0" encoding="utf-8"?>
<p:notes xmlns:a="http://schemas.openxmlformats.org/drawingml/2006/main" xmlns:p="http://schemas.openxmlformats.org/presentationml/2006/main">
  <p:cSld>
    <p:spTree>
      <p:nvGrpSpPr>
        <p:cNvPr id="29" name=""/>
        <p:cNvGrpSpPr/>
        <p:nvPr/>
      </p:nvGrpSpPr>
      <p:grpSpPr>
        <a:xfrm>
          <a:off x="0" y="0"/>
          <a:ext cx="0" cy="0"/>
          <a:chOff x="0" y="0"/>
          <a:chExt cx="0" cy="0"/>
        </a:xfrm>
      </p:grpSpPr>
      <p:sp>
        <p:nvSpPr>
          <p:cNvPr id="30" name="Slide Image Placeholder 1"/>
          <p:cNvSpPr>
            <a:spLocks noGrp="true" noRot="true" noChangeAspect="true"/>
          </p:cNvSpPr>
          <p:nvPr>
            <p:ph type="sldImg"/>
          </p:nvPr>
        </p:nvSpPr>
        <p:spPr/>
        <p:txBody>
          <a:bodyPr/>
          <a:p>
            <a:pPr/>
            <a:endParaRPr/>
          </a:p>
        </p:txBody>
      </p:sp>
      <p:sp>
        <p:nvSpPr>
          <p:cNvPr id="31" name="Notes Placeholder 2"/>
          <p:cNvSpPr>
            <a:spLocks noGrp="true"/>
          </p:cNvSpPr>
          <p:nvPr>
            <p:ph type="body" idx="1"/>
          </p:nvPr>
        </p:nvSpPr>
        <p:spPr/>
        <p:txBody>
          <a:bodyPr/>
          <a:lstStyle/>
          <a:p>
            <a:pPr/>
            <a:r>
              <a:rPr lang="en-US" dirty="false"/>
              <a:t>【ASPP模块详解】
ASPP是Atrous Spatial Pyramid Pooling的缩写，中文叫"空洞空间金字塔池化"。
【设计思想】
ASPP的核心思想是：用不同空洞率的卷积并行处理同一个输入，然后将结果融合。这样可以同时捕获多个尺度的上下文信息。
【五个并行分支】
本文使用的ASPP包含5个并行分支：
1. 1×1卷积（rate=1）
   - 作用：提取点级特征
   - 感受野：1×1，最精细的局部信息
   - 参数量最少
2. 3×3空洞卷积（rate=12）
   - 感受野：(3-1)×12+1 = 25
   - 捕获中等范围的上下文
3. 3×3空洞卷积（rate=24）
   - 感受野：(3-1)×24+1 = 49
   - 捕获较大范围的上下文
4. 3×3空洞卷积（rate=36）
   - 感受野：(3-1)×36+1 = 73
   - 捕获全局级别的上下文
5. 全局平均池化
   - 对整个特征图做平均
   - 编码图像级的全局信息
   - 然后上采样到原始大小
【特征融合】
5个分支的输出在通道维度上拼接（Concatenate），然后通过1×1卷积融合，得到最终的ASPP输出。
【ASPP的优势】
1. 多尺度感知：不同分支捕获不同尺度的信息
2. 并行计算：各分支独立计算，效率高
3. 有效融合：concat+1×1卷积实现信息融合
【ASPP的局限性】
虽然ASPP可以捕获多尺度信息，但仍存在局限：
- 感受野仍然是局部的，最大也就73×73
- 难以建立真正的长距离依赖
- 对于细长结构（如熔深区域），不同位置之间的关联建模不够
【过渡】
这正是我们引入TR模块的动机，下面详细分析改进的必要性。</a:t>
            </a:r>
            <a:endParaRPr lang="en-US" dirty="false"/>
          </a:p>
        </p:txBody>
      </p:sp>
      <p:sp>
        <p:nvSpPr>
          <p:cNvPr id="32" name="Slide Number Placeholder 3"/>
          <p:cNvSpPr>
            <a:spLocks noGrp="true"/>
          </p:cNvSpPr>
          <p:nvPr>
            <p:ph type="sldNum" sz="quarter" idx="10"/>
          </p:nvPr>
        </p:nvSpPr>
        <p:spPr/>
        <p:txBody>
          <a:bodyPr/>
          <a:lstStyle/>
          <a:p>
            <a:pPr/>
            <a:fld id="{F7021451-1387-4CA6-816F-3879F97B5CBC}" type="slidenum">
              <a:rPr lang="en-US"/>
              <a:t>16</a:t>
            </a:fld>
            <a:endParaRPr lang="en-US"/>
          </a:p>
        </p:txBody>
      </p:sp>
    </p:spTree>
  </p:cSld>
</p:notes>
</file>

<file path=ppt/notesSlides/notesSlide9.xml><?xml version="1.0" encoding="utf-8"?>
<p:notes xmlns:a="http://schemas.openxmlformats.org/drawingml/2006/main" xmlns:p="http://schemas.openxmlformats.org/presentationml/2006/main">
  <p:cSld>
    <p:spTree>
      <p:nvGrpSpPr>
        <p:cNvPr id="33" name=""/>
        <p:cNvGrpSpPr/>
        <p:nvPr/>
      </p:nvGrpSpPr>
      <p:grpSpPr>
        <a:xfrm>
          <a:off x="0" y="0"/>
          <a:ext cx="0" cy="0"/>
          <a:chOff x="0" y="0"/>
          <a:chExt cx="0" cy="0"/>
        </a:xfrm>
      </p:grpSpPr>
      <p:sp>
        <p:nvSpPr>
          <p:cNvPr id="34" name="Slide Image Placeholder 1"/>
          <p:cNvSpPr>
            <a:spLocks noGrp="true" noRot="true" noChangeAspect="true"/>
          </p:cNvSpPr>
          <p:nvPr>
            <p:ph type="sldImg"/>
          </p:nvPr>
        </p:nvSpPr>
        <p:spPr/>
        <p:txBody>
          <a:bodyPr/>
          <a:p>
            <a:pPr/>
            <a:endParaRPr/>
          </a:p>
        </p:txBody>
      </p:sp>
      <p:sp>
        <p:nvSpPr>
          <p:cNvPr id="35" name="Notes Placeholder 2"/>
          <p:cNvSpPr>
            <a:spLocks noGrp="true"/>
          </p:cNvSpPr>
          <p:nvPr>
            <p:ph type="body" idx="1"/>
          </p:nvPr>
        </p:nvSpPr>
        <p:spPr/>
        <p:txBody>
          <a:bodyPr/>
          <a:lstStyle/>
          <a:p>
            <a:pPr/>
            <a:r>
              <a:rPr lang="en-US" dirty="false"/>
              <a:t>【改进动机：全局上下文建模不足】
这一页分析为什么需要在DeepLabV3+基础上引入TR模块。
【左侧：ASPP模块的局限性】
虽然ASPP已经很强大了，但在处理OCT图像时存在几个问题：
1. 感受野仍然受限
   - 即使rate=36的空洞卷积，感受野也只有73×73
   - 对于512×512的输入图像，这只覆盖约14%的区域
   - 无法建立图像左上角和右下角之间的联系
2. 局部性的本质没有改变
   - 卷积操作本质上还是局部操作
   - 每个位置只能看到其邻域内的信息
   - 需要很多层堆叠才能传递远距离信息
3. OCT图像的特殊性
   - 熔深区域通常是细长结构
   - 纵横比可达1:10甚至更高
   - 需要同时理解结构的头部、中部和尾部
【右侧：解决方案——TR模块】
针对这些问题，我们提出引入TR（Transformer Routing）模块：
1. 引入Transformer注意力机制
   - 注意力机制可以直接计算任意两个位置之间的关系
   - 不受距离限制，天然支持长距离依赖
2. 双层路由降低复杂度
   - 标准Transformer的复杂度是O(n²)，n是序列长度
   - 对于512×512图像，n=262144，计算量巨大
   - 双层路由将其降低到可接受的水平
3. TopK稀疏选择
   - 不是所有位置都需要关注
   - 只选择最相关的K个位置计算注意力
   - 大幅减少计算量
【核心思想总结】
我们的核心思想是：
- 在ASPP之后插入TR模块
- 借鉴BiFormer论文的双层路由注意力
- 通过区域级路由和TopK选择实现高效全局建模
复杂度从O(n²)降低到O(n²×k/p²)，其中k是TopK的K值，p是窗口数量。
【过渡】
下面详细介绍TR模块的具体设计。</a:t>
            </a:r>
            <a:endParaRPr lang="en-US" dirty="false"/>
          </a:p>
        </p:txBody>
      </p:sp>
      <p:sp>
        <p:nvSpPr>
          <p:cNvPr id="36" name="Slide Number Placeholder 3"/>
          <p:cNvSpPr>
            <a:spLocks noGrp="true"/>
          </p:cNvSpPr>
          <p:nvPr>
            <p:ph type="sldNum" sz="quarter" idx="10"/>
          </p:nvPr>
        </p:nvSpPr>
        <p:spPr/>
        <p:txBody>
          <a:bodyPr/>
          <a:lstStyle/>
          <a:p>
            <a:pPr/>
            <a:fld id="{F7021451-1387-4CA6-816F-3879F97B5CBC}" type="slidenum">
              <a:rPr lang="en-US"/>
              <a:t>17</a:t>
            </a:fld>
            <a:endParaRPr lang="en-US"/>
          </a:p>
        </p:txBody>
      </p:sp>
    </p:spTree>
  </p:cSld>
</p:notes>
</file>

<file path=ppt/notesSlides/notesSlide10.xml><?xml version="1.0" encoding="utf-8"?>
<p:notes xmlns:a="http://schemas.openxmlformats.org/drawingml/2006/main" xmlns:p="http://schemas.openxmlformats.org/presentationml/2006/main">
  <p:cSld>
    <p:spTree>
      <p:nvGrpSpPr>
        <p:cNvPr id="37" name=""/>
        <p:cNvGrpSpPr/>
        <p:nvPr/>
      </p:nvGrpSpPr>
      <p:grpSpPr>
        <a:xfrm>
          <a:off x="0" y="0"/>
          <a:ext cx="0" cy="0"/>
          <a:chOff x="0" y="0"/>
          <a:chExt cx="0" cy="0"/>
        </a:xfrm>
      </p:grpSpPr>
      <p:sp>
        <p:nvSpPr>
          <p:cNvPr id="38" name="Slide Image Placeholder 1"/>
          <p:cNvSpPr>
            <a:spLocks noGrp="true" noRot="true" noChangeAspect="true"/>
          </p:cNvSpPr>
          <p:nvPr>
            <p:ph type="sldImg"/>
          </p:nvPr>
        </p:nvSpPr>
        <p:spPr/>
        <p:txBody>
          <a:bodyPr/>
          <a:p>
            <a:pPr/>
            <a:endParaRPr/>
          </a:p>
        </p:txBody>
      </p:sp>
      <p:sp>
        <p:nvSpPr>
          <p:cNvPr id="39" name="Notes Placeholder 2"/>
          <p:cNvSpPr>
            <a:spLocks noGrp="true"/>
          </p:cNvSpPr>
          <p:nvPr>
            <p:ph type="body" idx="1"/>
          </p:nvPr>
        </p:nvSpPr>
        <p:spPr/>
        <p:txBody>
          <a:bodyPr/>
          <a:lstStyle/>
          <a:p>
            <a:pPr/>
            <a:r>
              <a:rPr lang="en-US" dirty="false"/>
              <a:t>【TR模块：全局上下文增强】
这一页介绍TR模块的整体设计。TR是Transformer Routing的缩写。
【双层路由注意力（来自BiFormer）】
TR模块的核心思想借鉴自BiFormer论文提出的双层路由注意力（Bi-level Routing Attention）。
"双层"指的是两个阶段：
1. 第一层：区域级路由（Region-level Routing）
   - 将特征图划分为若干窗口
   - 计算窗口之间的相关性矩阵
   - 为每个窗口选择最相关的K个邻居窗口
2. 第二层：Token级注意力（Token-level Attention）
   - 只在选中的窗口对之间计算细粒度的注意力
   - 标准的Query-Key-Value注意力机制
这种设计的巧妙之处在于：
- 区域级路由的计算量很小（窗口数量少）
- Token级注意力只在少量窗口对之间计算
- 但仍然保持了全局建模能力（任意窗口都可能被选中）
【Top-K稀疏选择策略】
Top-K选择是降低复杂度的关键：
- K通常设置为4或8
- 每个查询窗口只与K个最相关的窗口交互
- 计算量减少约75%（如果K=4，窗口数=16）
为什么可以这样做？
- 因为注意力权重通常是稀疏的
- 大部分权重集中在少数几个相关位置
- 其他位置的权重接近零，可以忽略
【作用效果】
TR模块的三个主要作用：
1. 增强长程依赖建模：直接建立远距离位置之间的联系
2. 提升目标结构与上下文表征：更好地理解细长结构的整体
3. 有效抑制散斑噪声：通过全局上下文滤除局部噪声
【过渡】
下面看TR模块的详细计算流程。</a:t>
            </a:r>
            <a:endParaRPr lang="en-US" dirty="false"/>
          </a:p>
        </p:txBody>
      </p:sp>
      <p:sp>
        <p:nvSpPr>
          <p:cNvPr id="40" name="Slide Number Placeholder 3"/>
          <p:cNvSpPr>
            <a:spLocks noGrp="true"/>
          </p:cNvSpPr>
          <p:nvPr>
            <p:ph type="sldNum" sz="quarter" idx="10"/>
          </p:nvPr>
        </p:nvSpPr>
        <p:spPr/>
        <p:txBody>
          <a:bodyPr/>
          <a:lstStyle/>
          <a:p>
            <a:pPr/>
            <a:fld id="{F7021451-1387-4CA6-816F-3879F97B5CBC}" type="slidenum">
              <a:rPr lang="en-US"/>
              <a:t>18</a:t>
            </a:fld>
            <a:endParaRPr lang="en-US"/>
          </a:p>
        </p:txBody>
      </p:sp>
    </p:spTree>
  </p:cSld>
</p:notes>
</file>

<file path=ppt/notesSlides/notesSlide11.xml><?xml version="1.0" encoding="utf-8"?>
<p:notes xmlns:a="http://schemas.openxmlformats.org/drawingml/2006/main" xmlns:p="http://schemas.openxmlformats.org/presentationml/2006/main">
  <p:cSld>
    <p:spTree>
      <p:nvGrpSpPr>
        <p:cNvPr id="41" name=""/>
        <p:cNvGrpSpPr/>
        <p:nvPr/>
      </p:nvGrpSpPr>
      <p:grpSpPr>
        <a:xfrm>
          <a:off x="0" y="0"/>
          <a:ext cx="0" cy="0"/>
          <a:chOff x="0" y="0"/>
          <a:chExt cx="0" cy="0"/>
        </a:xfrm>
      </p:grpSpPr>
      <p:sp>
        <p:nvSpPr>
          <p:cNvPr id="42" name="Slide Image Placeholder 1"/>
          <p:cNvSpPr>
            <a:spLocks noGrp="true" noRot="true" noChangeAspect="true"/>
          </p:cNvSpPr>
          <p:nvPr>
            <p:ph type="sldImg"/>
          </p:nvPr>
        </p:nvSpPr>
        <p:spPr/>
        <p:txBody>
          <a:bodyPr/>
          <a:p>
            <a:pPr/>
            <a:endParaRPr/>
          </a:p>
        </p:txBody>
      </p:sp>
      <p:sp>
        <p:nvSpPr>
          <p:cNvPr id="43" name="Notes Placeholder 2"/>
          <p:cNvSpPr>
            <a:spLocks noGrp="true"/>
          </p:cNvSpPr>
          <p:nvPr>
            <p:ph type="body" idx="1"/>
          </p:nvPr>
        </p:nvSpPr>
        <p:spPr/>
        <p:txBody>
          <a:bodyPr/>
          <a:lstStyle/>
          <a:p>
            <a:pPr/>
            <a:r>
              <a:rPr lang="en-US" dirty="false"/>
              <a:t>【TR模块详细原理——双层路由注意力】
这张图是本文TR模块的核心原理图，来自BiFormer论文。我来详细解释双层路由注意力的计算流程。
【看图左侧：输入特征图的区域划分】
首先，输入特征图大小为H×W，被划分为S×S个窗口（图中的红色和黑色网格）：
- 图中展示的例子：4×4 = 16个窗口
- 每个窗口大小为 (H/S) × (W/S)
- 红色边框的是当前查询窗口
【第一层：区域级路由】
1. 对每个窗口计算一个区域级表示
   - 通常使用窗口内所有token的平均值
   - 得到S² = 16个区域向量
2. 计算区域级路由矩阵
   - 计算16×16的相似度矩阵
   - 相似度 = Query区域向量 × Key区域向量的点积
3. Top-K选择
   - 对每一行取Top-K个最大值
   - 选出与当前窗口最相关的K个邻居窗口
   - 图中K=4，所以每个窗口选4个邻居
【图中的gather操作】
"gather"是这个算法的精髓：
- 根据Top-K索引，从全局Key和Value中"聚集"相关的token
- K^g 和 V^g 就是聚集后的Key和Value
- 维度从 HW/S² × C 变成 kHW/S² × C
- 只保留被选中窗口的token
【第二层：Token级注意力计算】
现在我们有：
- Q矩阵：当前窗口的查询向量，维度 HW/S² × C
- K^g矩阵：被选中邻居的Key向量，维度 kHW/S² × C
- V^g矩阵：被选中邻居的Value向量，维度 kHW/S² × C
标准注意力计算：
1. mm &amp; softmax：计算 softmax(Q × K^g^T / √d)，得到注意力矩阵A
2. mm：计算 A × V^g，得到输出O
【注意力矩阵A的解释】
A的维度是 HW/S² × kHW/S²：
- 行：当前窗口的每个token
- 列：被选中邻居窗口的所有token
- 绿色的格子表示一个注意力权重值
【复杂度分析】
底部的公式说明了复杂度：
1. 区域级路由：O(S⁴)，因为要计算S²×S²的相似度矩阵，很小
2. Token级注意力：O(K × HW × C)，只计算K个邻居
总复杂度：O(HW(S² + KC))
对比标准全局注意力O(H²W²)：
- 假设H=W=512，C=256，S=4，K=4
- 全局注意力：512² × 512² ≈ 69 billion
- 双层路由：512×512×(16 + 4×256) ≈ 268 million
- 减少了约250倍！
【核心优势总结】
1. 保持全局建模能力：任意两个区域都可能建立连接
2. 计算高效：通过稀疏选择大幅降低计算量
3. 动态路由：相关性是学习出来的，可以适应不同输入
【过渡】
接下来介绍实验设置和消融实验结果。</a:t>
            </a:r>
            <a:endParaRPr lang="en-US" dirty="false"/>
          </a:p>
        </p:txBody>
      </p:sp>
      <p:sp>
        <p:nvSpPr>
          <p:cNvPr id="44" name="Slide Number Placeholder 3"/>
          <p:cNvSpPr>
            <a:spLocks noGrp="true"/>
          </p:cNvSpPr>
          <p:nvPr>
            <p:ph type="sldNum" sz="quarter" idx="10"/>
          </p:nvPr>
        </p:nvSpPr>
        <p:spPr/>
        <p:txBody>
          <a:bodyPr/>
          <a:lstStyle/>
          <a:p>
            <a:pPr/>
            <a:fld id="{F7021451-1387-4CA6-816F-3879F97B5CBC}" type="slidenum">
              <a:rPr lang="en-US"/>
              <a:t>19</a:t>
            </a:fld>
            <a:endParaRPr lang="en-US"/>
          </a:p>
        </p:txBody>
      </p:sp>
    </p:spTree>
  </p:cSld>
</p:notes>
</file>

<file path=ppt/notesSlides/notesSlide12.xml><?xml version="1.0" encoding="utf-8"?>
<p:notes xmlns:a="http://schemas.openxmlformats.org/drawingml/2006/main" xmlns:p="http://schemas.openxmlformats.org/presentationml/2006/main">
  <p:cSld>
    <p:spTree>
      <p:nvGrpSpPr>
        <p:cNvPr id="45" name=""/>
        <p:cNvGrpSpPr/>
        <p:nvPr/>
      </p:nvGrpSpPr>
      <p:grpSpPr>
        <a:xfrm>
          <a:off x="0" y="0"/>
          <a:ext cx="0" cy="0"/>
          <a:chOff x="0" y="0"/>
          <a:chExt cx="0" cy="0"/>
        </a:xfrm>
      </p:grpSpPr>
      <p:sp>
        <p:nvSpPr>
          <p:cNvPr id="46" name="Slide Image Placeholder 1"/>
          <p:cNvSpPr>
            <a:spLocks noGrp="true" noRot="true" noChangeAspect="true"/>
          </p:cNvSpPr>
          <p:nvPr>
            <p:ph type="sldImg"/>
          </p:nvPr>
        </p:nvSpPr>
        <p:spPr/>
        <p:txBody>
          <a:bodyPr/>
          <a:p>
            <a:pPr/>
            <a:endParaRPr/>
          </a:p>
        </p:txBody>
      </p:sp>
      <p:sp>
        <p:nvSpPr>
          <p:cNvPr id="47" name="Notes Placeholder 2"/>
          <p:cNvSpPr>
            <a:spLocks noGrp="true"/>
          </p:cNvSpPr>
          <p:nvPr>
            <p:ph type="body" idx="1"/>
          </p:nvPr>
        </p:nvSpPr>
        <p:spPr/>
        <p:txBody>
          <a:bodyPr/>
          <a:lstStyle/>
          <a:p>
            <a:pPr/>
            <a:r>
              <a:rPr lang="en-US" dirty="false"/>
              <a:t>【目录介绍】
我的汇报将分为五个部分：
【第一部分：研究背景与意义】
首先，我将介绍激光焊接OCT检测的技术背景、当前面临的主要挑战，以及本研究的意义和目标。
【第二部分：相关技术基础】
然后，介绍本研究涉及的关键技术，包括卷积神经网络基础、经典语义分割网络（如FCN、U-Net、DeepLabV3+）、数据集构建过程以及评估指标。
【第三部分：基于全局注意力的模型改进——TR模块】
这是本文的第一个核心创新。我将详细介绍为什么需要全局注意力机制，以及TR模块是如何借鉴BiFormer的双层路由注意力思想来增强全局上下文建模能力的。
【第四部分：基于空间感知增强的模型优化——SAE模块】
这是本文的第二个核心创新。我将介绍SAE模块如何结合坐标注意力和通道注意力来增强边界分割精度，以及TR和SAE两个模块的协同效应。
【第五部分：总结与展望】
最后，我将总结本文的主要贡献和创新点，并对未来工作进行展望。
【过渡】
下面，让我们首先进入第一部分——研究背景与意义。</a:t>
            </a:r>
            <a:endParaRPr lang="en-US" dirty="false"/>
          </a:p>
        </p:txBody>
      </p:sp>
      <p:sp>
        <p:nvSpPr>
          <p:cNvPr id="48" name="Slide Number Placeholder 3"/>
          <p:cNvSpPr>
            <a:spLocks noGrp="true"/>
          </p:cNvSpPr>
          <p:nvPr>
            <p:ph type="sldNum" sz="quarter" idx="10"/>
          </p:nvPr>
        </p:nvSpPr>
        <p:spPr/>
        <p:txBody>
          <a:bodyPr/>
          <a:lstStyle/>
          <a:p>
            <a:pPr/>
            <a:fld id="{F7021451-1387-4CA6-816F-3879F97B5CBC}" type="slidenum">
              <a:rPr lang="en-US"/>
              <a:t>2</a:t>
            </a:fld>
            <a:endParaRPr lang="en-US"/>
          </a:p>
        </p:txBody>
      </p:sp>
    </p:spTree>
  </p:cSld>
</p:notes>
</file>

<file path=ppt/notesSlides/notesSlide13.xml><?xml version="1.0" encoding="utf-8"?>
<p:notes xmlns:a="http://schemas.openxmlformats.org/drawingml/2006/main" xmlns:p="http://schemas.openxmlformats.org/presentationml/2006/main">
  <p:cSld>
    <p:spTree>
      <p:nvGrpSpPr>
        <p:cNvPr id="49" name=""/>
        <p:cNvGrpSpPr/>
        <p:nvPr/>
      </p:nvGrpSpPr>
      <p:grpSpPr>
        <a:xfrm>
          <a:off x="0" y="0"/>
          <a:ext cx="0" cy="0"/>
          <a:chOff x="0" y="0"/>
          <a:chExt cx="0" cy="0"/>
        </a:xfrm>
      </p:grpSpPr>
      <p:sp>
        <p:nvSpPr>
          <p:cNvPr id="50" name="Slide Image Placeholder 1"/>
          <p:cNvSpPr>
            <a:spLocks noGrp="true" noRot="true" noChangeAspect="true"/>
          </p:cNvSpPr>
          <p:nvPr>
            <p:ph type="sldImg"/>
          </p:nvPr>
        </p:nvSpPr>
        <p:spPr/>
        <p:txBody>
          <a:bodyPr/>
          <a:p>
            <a:pPr/>
            <a:endParaRPr/>
          </a:p>
        </p:txBody>
      </p:sp>
      <p:sp>
        <p:nvSpPr>
          <p:cNvPr id="51" name="Notes Placeholder 2"/>
          <p:cNvSpPr>
            <a:spLocks noGrp="true"/>
          </p:cNvSpPr>
          <p:nvPr>
            <p:ph type="body" idx="1"/>
          </p:nvPr>
        </p:nvSpPr>
        <p:spPr/>
        <p:txBody>
          <a:bodyPr/>
          <a:lstStyle/>
          <a:p>
            <a:pPr/>
            <a:r>
              <a:rPr lang="en-US" dirty="false"/>
              <a:t>【实验设置】
这一页介绍本研究的实验环境和训练配置。
【实验环境配置（左表）】
硬件环境：
- GPU：NVIDIA RTX 4090，显存24GB
  - 这是目前消费级最强的GPU之一
  - 足够训练大多数深度学习模型
- CPU：Intel i7-13700KF
- 内存：64GB DDR5
- 操作系统：Ubuntu 20.04 LTS
软件环境：
- 深度学习框架：PyTorch 1.13
- CUDA版本：11.7
- 基于MMSegmentation工具箱开发
【训练参数配置（右表）】
1. 输入尺寸：512×512
   - 与预处理后的图像尺寸一致
   - 较大的输入有助于保留细节
2. 批量大小：8
   - 受限于GPU显存
   - 使用了梯度累积技术等效增大batch
3. 总迭代次数：20,000
   - 大约相当于100个epoch
   - 足够模型收敛
4. 优化器：AdamW
   - Adam的改进版本，加入了权重衰减
   - 更适合Transformer类模型
5. 初始学习率：6e-5
   - 较小的学习率，训练更稳定
   - 配合预训练权重使用
6. 学习率策略：PolyLR (power=0.9)
   - 多项式衰减：lr = init_lr × (1 - iter/max_iter)^power
   - 平滑地降低学习率
7. 权重衰减：0.01
   - 正则化项，防止过拟合
【损失函数设计】
采用BCE + Dice的组合损失：
L = λ₁×L_BCE + λ₂×L_Dice，λ₁=λ₂=1
为什么这样设计：
- BCE（二元交叉熵）：关注每个像素的分类准确性
- Dice损失：关注预测区域与真实区域的整体重叠度
两者互补：
- BCE对所有像素一视同仁
- Dice对小目标更友好，因为它看比例而非绝对数量
【过渡】
下面看TR模块的消融实验结果。</a:t>
            </a:r>
            <a:endParaRPr lang="en-US" dirty="false"/>
          </a:p>
        </p:txBody>
      </p:sp>
      <p:sp>
        <p:nvSpPr>
          <p:cNvPr id="52" name="Slide Number Placeholder 3"/>
          <p:cNvSpPr>
            <a:spLocks noGrp="true"/>
          </p:cNvSpPr>
          <p:nvPr>
            <p:ph type="sldNum" sz="quarter" idx="10"/>
          </p:nvPr>
        </p:nvSpPr>
        <p:spPr/>
        <p:txBody>
          <a:bodyPr/>
          <a:lstStyle/>
          <a:p>
            <a:pPr/>
            <a:fld id="{F7021451-1387-4CA6-816F-3879F97B5CBC}" type="slidenum">
              <a:rPr lang="en-US"/>
              <a:t>20</a:t>
            </a:fld>
            <a:endParaRPr lang="en-US"/>
          </a:p>
        </p:txBody>
      </p:sp>
    </p:spTree>
  </p:cSld>
</p:notes>
</file>

<file path=ppt/notesSlides/notesSlide14.xml><?xml version="1.0" encoding="utf-8"?>
<p:notes xmlns:a="http://schemas.openxmlformats.org/drawingml/2006/main" xmlns:p="http://schemas.openxmlformats.org/presentationml/2006/main">
  <p:cSld>
    <p:spTree>
      <p:nvGrpSpPr>
        <p:cNvPr id="53" name=""/>
        <p:cNvGrpSpPr/>
        <p:nvPr/>
      </p:nvGrpSpPr>
      <p:grpSpPr>
        <a:xfrm>
          <a:off x="0" y="0"/>
          <a:ext cx="0" cy="0"/>
          <a:chOff x="0" y="0"/>
          <a:chExt cx="0" cy="0"/>
        </a:xfrm>
      </p:grpSpPr>
      <p:sp>
        <p:nvSpPr>
          <p:cNvPr id="54" name="Slide Image Placeholder 1"/>
          <p:cNvSpPr>
            <a:spLocks noGrp="true" noRot="true" noChangeAspect="true"/>
          </p:cNvSpPr>
          <p:nvPr>
            <p:ph type="sldImg"/>
          </p:nvPr>
        </p:nvSpPr>
        <p:spPr/>
        <p:txBody>
          <a:bodyPr/>
          <a:p>
            <a:pPr/>
            <a:endParaRPr/>
          </a:p>
        </p:txBody>
      </p:sp>
      <p:sp>
        <p:nvSpPr>
          <p:cNvPr id="55" name="Notes Placeholder 2"/>
          <p:cNvSpPr>
            <a:spLocks noGrp="true"/>
          </p:cNvSpPr>
          <p:nvPr>
            <p:ph type="body" idx="1"/>
          </p:nvPr>
        </p:nvSpPr>
        <p:spPr/>
        <p:txBody>
          <a:bodyPr/>
          <a:lstStyle/>
          <a:p>
            <a:pPr/>
            <a:r>
              <a:rPr lang="en-US" dirty="false"/>
              <a:t>【TR模块消融实验】
这一页展示TR模块的消融实验结果。消融实验的目的是验证单个模块的有效性。
【实验设置】
对比两个配置：
1. DeepLabV3+（基线）：原始模型，不加任何改进
2. DeepLabV3+ + TR：在ASPP后面添加TR模块
【实验结果分析】
看上方的表格：
基线模型性能：
- mIoU: 0.851
- mAcc: 0.923
- mDice: 0.913
添加TR模块后：
- mIoU: 0.884（提升3.9%）
- mAcc: 0.941（提升1.8个百分点）
- mDice: 0.935（提升2.2个百分点）
【三个分析卡片详解】
卡片1：mIoU提升+3.9%
- 这是最核心的指标
- 从0.851提升到0.884
- 说明TR模块确实提升了分割质量
- 对于分割任务，3.9%的提升是相当显著的
卡片2：全局建模能力增强
- TR模块的作用是建立长距离依赖
- 让模型能够"看到"更远的区域
- 对于细长的熔深结构特别有效
- 结构头部和尾部可以相互"看到"
卡片3：计算效率优化
- 虽然引入了额外计算，但通过TopK机制优化
- 计算量仅增加25%左右
- 相比标准Transformer减少了约75%的计算
- 在性能和效率之间取得了良好的平衡
【实验结论】
TR模块有效增强了全局上下文建模能力：
1. 定量上：mIoU提升3.9%
2. 定性上：对细长结构的分割更完整
但是，TR模块主要增强的是全局语义理解，对于边界精度的提升有限。这为我们后续引入SAE模块提供了动机。
【过渡】
下面通过可视化对比来直观展示TR模块的效果。</a:t>
            </a:r>
            <a:endParaRPr lang="en-US" dirty="false"/>
          </a:p>
        </p:txBody>
      </p:sp>
      <p:sp>
        <p:nvSpPr>
          <p:cNvPr id="56" name="Slide Number Placeholder 3"/>
          <p:cNvSpPr>
            <a:spLocks noGrp="true"/>
          </p:cNvSpPr>
          <p:nvPr>
            <p:ph type="sldNum" sz="quarter" idx="10"/>
          </p:nvPr>
        </p:nvSpPr>
        <p:spPr/>
        <p:txBody>
          <a:bodyPr/>
          <a:lstStyle/>
          <a:p>
            <a:pPr/>
            <a:fld id="{F7021451-1387-4CA6-816F-3879F97B5CBC}" type="slidenum">
              <a:rPr lang="en-US"/>
              <a:t>21</a:t>
            </a:fld>
            <a:endParaRPr lang="en-US"/>
          </a:p>
        </p:txBody>
      </p:sp>
    </p:spTree>
  </p:cSld>
</p:notes>
</file>

<file path=ppt/notesSlides/notesSlide15.xml><?xml version="1.0" encoding="utf-8"?>
<p:notes xmlns:a="http://schemas.openxmlformats.org/drawingml/2006/main" xmlns:p="http://schemas.openxmlformats.org/presentationml/2006/main">
  <p:cSld>
    <p:spTree>
      <p:nvGrpSpPr>
        <p:cNvPr id="57" name=""/>
        <p:cNvGrpSpPr/>
        <p:nvPr/>
      </p:nvGrpSpPr>
      <p:grpSpPr>
        <a:xfrm>
          <a:off x="0" y="0"/>
          <a:ext cx="0" cy="0"/>
          <a:chOff x="0" y="0"/>
          <a:chExt cx="0" cy="0"/>
        </a:xfrm>
      </p:grpSpPr>
      <p:sp>
        <p:nvSpPr>
          <p:cNvPr id="58" name="Slide Image Placeholder 1"/>
          <p:cNvSpPr>
            <a:spLocks noGrp="true" noRot="true" noChangeAspect="true"/>
          </p:cNvSpPr>
          <p:nvPr>
            <p:ph type="sldImg"/>
          </p:nvPr>
        </p:nvSpPr>
        <p:spPr/>
        <p:txBody>
          <a:bodyPr/>
          <a:p>
            <a:pPr/>
            <a:endParaRPr/>
          </a:p>
        </p:txBody>
      </p:sp>
      <p:sp>
        <p:nvSpPr>
          <p:cNvPr id="59" name="Notes Placeholder 2"/>
          <p:cNvSpPr>
            <a:spLocks noGrp="true"/>
          </p:cNvSpPr>
          <p:nvPr>
            <p:ph type="body" idx="1"/>
          </p:nvPr>
        </p:nvSpPr>
        <p:spPr/>
        <p:txBody>
          <a:bodyPr/>
          <a:lstStyle/>
          <a:p>
            <a:pPr/>
            <a:r>
              <a:rPr lang="en-US" dirty="false"/>
              <a:t>【TR模块可视化对比——细长结构场景】
这一页通过可视化对比，直观展示TR模块的效果。选取的是一个典型的细长结构场景。
【图像说明】
第一排（4张）：
1. 原始图像：输入的OCT图像，可以看到有一条细长的熔深区域
2. Ground Truth：人工标注的真实标签
3. UNet：经典的U型网络结果
4. UNet++：UNet的改进版本
第二排（4张）：
5. ResUNet：带残差连接的UNet
6. TransUNet：引入Transformer的UNet
7. DeepLabV3+：本文的基线模型（红色标注）
8. +TR（本章方法）：添加TR模块后的结果（绿框高亮）
【对比分析】
观察DeepLabV3+（红色标注）和+TR（绿框）的对比：
问题1：断裂现象
- DeepLabV3+在细长结构的某些位置出现断裂
- 因为局部卷积难以理解整体结构
- +TR后，结构变得更加连续完整
- 这是因为TR模块建立了长距离依赖
问题2：边界模糊
- DeepLabV3+的边界有些位置不够清晰
- +TR后，边界的连续性有所改善
- 但边界精度还有进一步提升的空间（这是第四章SAE模块的任务）
问题3：噪声干扰
- OCT图像背景中有散斑噪声
- 局部处理容易被噪声干扰
- 全局注意力通过上下文信息能更好地滤除噪声
【与其他方法的对比】
- UNet、UNet++、ResUNet：传统编码器-解码器结构，效果一般
- TransUNet：虽然也用了Transformer，但计算量很大，收敛较慢
- DeepLabV3+：已经是很强的基线
- +TR：在基线基础上进一步提升
【小结】
可视化对比证明了TR模块的三个作用：
1. 有效抑制断裂问题
2. 改善边界连续性
3. 抑制散斑噪声干扰
【过渡】
下面对本章内容做一个小结。</a:t>
            </a:r>
            <a:endParaRPr lang="en-US" dirty="false"/>
          </a:p>
        </p:txBody>
      </p:sp>
      <p:sp>
        <p:nvSpPr>
          <p:cNvPr id="60" name="Slide Number Placeholder 3"/>
          <p:cNvSpPr>
            <a:spLocks noGrp="true"/>
          </p:cNvSpPr>
          <p:nvPr>
            <p:ph type="sldNum" sz="quarter" idx="10"/>
          </p:nvPr>
        </p:nvSpPr>
        <p:spPr/>
        <p:txBody>
          <a:bodyPr/>
          <a:lstStyle/>
          <a:p>
            <a:pPr/>
            <a:fld id="{F7021451-1387-4CA6-816F-3879F97B5CBC}" type="slidenum">
              <a:rPr lang="en-US"/>
              <a:t>22</a:t>
            </a:fld>
            <a:endParaRPr lang="en-US"/>
          </a:p>
        </p:txBody>
      </p:sp>
    </p:spTree>
  </p:cSld>
</p:notes>
</file>

<file path=ppt/notesSlides/notesSlide16.xml><?xml version="1.0" encoding="utf-8"?>
<p:notes xmlns:a="http://schemas.openxmlformats.org/drawingml/2006/main" xmlns:p="http://schemas.openxmlformats.org/presentationml/2006/main">
  <p:cSld>
    <p:spTree>
      <p:nvGrpSpPr>
        <p:cNvPr id="61" name=""/>
        <p:cNvGrpSpPr/>
        <p:nvPr/>
      </p:nvGrpSpPr>
      <p:grpSpPr>
        <a:xfrm>
          <a:off x="0" y="0"/>
          <a:ext cx="0" cy="0"/>
          <a:chOff x="0" y="0"/>
          <a:chExt cx="0" cy="0"/>
        </a:xfrm>
      </p:grpSpPr>
      <p:sp>
        <p:nvSpPr>
          <p:cNvPr id="62" name="Slide Image Placeholder 1"/>
          <p:cNvSpPr>
            <a:spLocks noGrp="true" noRot="true" noChangeAspect="true"/>
          </p:cNvSpPr>
          <p:nvPr>
            <p:ph type="sldImg"/>
          </p:nvPr>
        </p:nvSpPr>
        <p:spPr/>
        <p:txBody>
          <a:bodyPr/>
          <a:p>
            <a:pPr/>
            <a:endParaRPr/>
          </a:p>
        </p:txBody>
      </p:sp>
      <p:sp>
        <p:nvSpPr>
          <p:cNvPr id="63" name="Notes Placeholder 2"/>
          <p:cNvSpPr>
            <a:spLocks noGrp="true"/>
          </p:cNvSpPr>
          <p:nvPr>
            <p:ph type="body" idx="1"/>
          </p:nvPr>
        </p:nvSpPr>
        <p:spPr/>
        <p:txBody>
          <a:bodyPr/>
          <a:lstStyle/>
          <a:p>
            <a:pPr/>
            <a:r>
              <a:rPr lang="en-US" dirty="false"/>
              <a:t>【本章小结】
本章是论文的第一个核心创新章节，主要贡献有三点：
【贡献一：问题分析】
分析了DeepLabV3+在OCT图像分割中的局限性：
- ASPP模块的感受野仍然受限于空洞卷积的局部性
- 即使最大的空洞率rate=36，感受野也只有73×73
- 难以建立真正的长距离依赖
- 对于细长结构的熔深区域，这种局限性尤为明显
这个分析为引入TR模块提供了理论依据。
【贡献二：方法创新】
提出了TR（Transformer Routing）全局注意力模块：
- 借鉴BiFormer的双层路由注意力思想
- 第一层：区域级路由，计算窗口间相关性
- 第二层：Token级注意力，在选中的窗口对间计算
- TopK稀疏选择机制，只关注最相关的K个邻居
- 计算复杂度从O(n²)降低到O(n×k)
关键设计点：
- 窗口划分：将特征图分成S×S个窗口
- 路由矩阵：计算窗口级相似度
- 稀疏选择：每个窗口只选K个邻居
【贡献三：实验验证】
消融实验验证了TR模块的有效性：
- mIoU从0.851提升到0.884（+3.9%）
- mAcc从0.923提升到0.941
- mDice从0.913提升到0.935
可视化分析表明：
- 细长结构分割更完整
- 断裂现象明显减少
- 噪声抑制效果改善
【承上启下】
TR模块主要增强了全局语义理解能力，但边界分割精度仍有提升空间。
这引出了第四章的工作：设计SAE模块来增强边界分割质量。
【过渡】
下面进入第四章，介绍本文的第二个核心创新——SAE模块。</a:t>
            </a:r>
            <a:endParaRPr lang="en-US" dirty="false"/>
          </a:p>
        </p:txBody>
      </p:sp>
      <p:sp>
        <p:nvSpPr>
          <p:cNvPr id="64" name="Slide Number Placeholder 3"/>
          <p:cNvSpPr>
            <a:spLocks noGrp="true"/>
          </p:cNvSpPr>
          <p:nvPr>
            <p:ph type="sldNum" sz="quarter" idx="10"/>
          </p:nvPr>
        </p:nvSpPr>
        <p:spPr/>
        <p:txBody>
          <a:bodyPr/>
          <a:lstStyle/>
          <a:p>
            <a:pPr/>
            <a:fld id="{F7021451-1387-4CA6-816F-3879F97B5CBC}" type="slidenum">
              <a:rPr lang="en-US"/>
              <a:t>23</a:t>
            </a:fld>
            <a:endParaRPr lang="en-US"/>
          </a:p>
        </p:txBody>
      </p:sp>
    </p:spTree>
  </p:cSld>
</p:notes>
</file>

<file path=ppt/notesSlides/notesSlide17.xml><?xml version="1.0" encoding="utf-8"?>
<p:notes xmlns:a="http://schemas.openxmlformats.org/drawingml/2006/main" xmlns:p="http://schemas.openxmlformats.org/presentationml/2006/main">
  <p:cSld>
    <p:spTree>
      <p:nvGrpSpPr>
        <p:cNvPr id="65" name=""/>
        <p:cNvGrpSpPr/>
        <p:nvPr/>
      </p:nvGrpSpPr>
      <p:grpSpPr>
        <a:xfrm>
          <a:off x="0" y="0"/>
          <a:ext cx="0" cy="0"/>
          <a:chOff x="0" y="0"/>
          <a:chExt cx="0" cy="0"/>
        </a:xfrm>
      </p:grpSpPr>
      <p:sp>
        <p:nvSpPr>
          <p:cNvPr id="66" name="Slide Image Placeholder 1"/>
          <p:cNvSpPr>
            <a:spLocks noGrp="true" noRot="true" noChangeAspect="true"/>
          </p:cNvSpPr>
          <p:nvPr>
            <p:ph type="sldImg"/>
          </p:nvPr>
        </p:nvSpPr>
        <p:spPr/>
        <p:txBody>
          <a:bodyPr/>
          <a:p>
            <a:pPr/>
            <a:endParaRPr/>
          </a:p>
        </p:txBody>
      </p:sp>
      <p:sp>
        <p:nvSpPr>
          <p:cNvPr id="67" name="Notes Placeholder 2"/>
          <p:cNvSpPr>
            <a:spLocks noGrp="true"/>
          </p:cNvSpPr>
          <p:nvPr>
            <p:ph type="body" idx="1"/>
          </p:nvPr>
        </p:nvSpPr>
        <p:spPr/>
        <p:txBody>
          <a:bodyPr/>
          <a:lstStyle/>
          <a:p>
            <a:pPr/>
            <a:r>
              <a:rPr lang="en-US" dirty="false"/>
              <a:t>【第四章：基于空间感知增强的模型优化】
接下来进入本文的第二个核心创新章节——SAE模块的设计与综合实验。
这一章的逻辑是：
首先，分析第三章TR模块的不足之处——虽然增强了全局建模能力，但边界分割精度仍有提升空间。
然后，提出SAE模块（Spatial-Aware Enhancement），它结合了坐标注意力和通道注意力两种机制，专门用于增强边界分割能力。
接着，展示改进模型的整体架构，说明TR和SAE两个模块如何协同工作。
最后，通过综合消融实验、与主流方法对比、以及可视化分析，全面验证改进方法的有效性。
【关键结论预告】
- SAE模块单独贡献：mIoU +5.9%
- TR+SAE组合：mIoU +7.1%
- HD95（边界距离）降低12.6%
【过渡】
首先分析SAE模块的设计动机。</a:t>
            </a:r>
            <a:endParaRPr lang="en-US" dirty="false"/>
          </a:p>
        </p:txBody>
      </p:sp>
      <p:sp>
        <p:nvSpPr>
          <p:cNvPr id="68" name="Slide Number Placeholder 3"/>
          <p:cNvSpPr>
            <a:spLocks noGrp="true"/>
          </p:cNvSpPr>
          <p:nvPr>
            <p:ph type="sldNum" sz="quarter" idx="10"/>
          </p:nvPr>
        </p:nvSpPr>
        <p:spPr/>
        <p:txBody>
          <a:bodyPr/>
          <a:lstStyle/>
          <a:p>
            <a:pPr/>
            <a:fld id="{F7021451-1387-4CA6-816F-3879F97B5CBC}" type="slidenum">
              <a:rPr lang="en-US"/>
              <a:t>24</a:t>
            </a:fld>
            <a:endParaRPr lang="en-US"/>
          </a:p>
        </p:txBody>
      </p:sp>
    </p:spTree>
  </p:cSld>
</p:notes>
</file>

<file path=ppt/notesSlides/notesSlide18.xml><?xml version="1.0" encoding="utf-8"?>
<p:notes xmlns:a="http://schemas.openxmlformats.org/drawingml/2006/main" xmlns:p="http://schemas.openxmlformats.org/presentationml/2006/main">
  <p:cSld>
    <p:spTree>
      <p:nvGrpSpPr>
        <p:cNvPr id="69" name=""/>
        <p:cNvGrpSpPr/>
        <p:nvPr/>
      </p:nvGrpSpPr>
      <p:grpSpPr>
        <a:xfrm>
          <a:off x="0" y="0"/>
          <a:ext cx="0" cy="0"/>
          <a:chOff x="0" y="0"/>
          <a:chExt cx="0" cy="0"/>
        </a:xfrm>
      </p:grpSpPr>
      <p:sp>
        <p:nvSpPr>
          <p:cNvPr id="70" name="Slide Image Placeholder 1"/>
          <p:cNvSpPr>
            <a:spLocks noGrp="true" noRot="true" noChangeAspect="true"/>
          </p:cNvSpPr>
          <p:nvPr>
            <p:ph type="sldImg"/>
          </p:nvPr>
        </p:nvSpPr>
        <p:spPr/>
        <p:txBody>
          <a:bodyPr/>
          <a:p>
            <a:pPr/>
            <a:endParaRPr/>
          </a:p>
        </p:txBody>
      </p:sp>
      <p:sp>
        <p:nvSpPr>
          <p:cNvPr id="71" name="Notes Placeholder 2"/>
          <p:cNvSpPr>
            <a:spLocks noGrp="true"/>
          </p:cNvSpPr>
          <p:nvPr>
            <p:ph type="body" idx="1"/>
          </p:nvPr>
        </p:nvSpPr>
        <p:spPr/>
        <p:txBody>
          <a:bodyPr/>
          <a:lstStyle/>
          <a:p>
            <a:pPr/>
            <a:r>
              <a:rPr lang="en-US" dirty="false"/>
              <a:t>【改进动机：空间位置信息不足】
这一页分析为什么需要在第三章TR模块基础上，继续引入SAE模块。
【承接第三章】
首先回顾一下第三章的成果：
- TR模块增强了全局上下文建模能力
- mIoU从0.851提升到0.884（+3.9%）
- 细长结构的分割更加完整
但是，观察实验结果发现：
- 边界区域的分割精度仍有提升空间
- 特别是熔深区域与背景的过渡地带
- 这正是第四章要解决的问题
【左侧：解码器的局限性】
为什么边界分割不够精确？主要原因是解码器存在以下问题：
1. 空间位置信息丢失
   - 在编码器的下采样过程中，空间分辨率逐渐降低
   - 虽然有跳跃连接，但位置信息仍然不够精确
   - 解码器只知道"有目标"，但不清楚"精确边界在哪"
2. 通道权重均匀分配
   - 特征图有很多通道（如560个）
   - 不是所有通道对分割都同样重要
   - 有些通道包含边界信息，有些包含背景信息
   - 应该让重要的通道有更大的权重
3. 缺乏方向性感知
   - 熔深区域是细长结构，有明确的方向
   - 需要感知水平和垂直方向的位置信息
   - 传统卷积对方向不敏感
4. 边界模糊区域处理不佳
   - OCT图像的边界本身就模糊
   - 需要增强模型对边界的判别能力
【右侧：解决方案——SAE模块】
SAE是Spatial-Aware Enhancement的缩写，意为"空间感知增强"。
SAE模块的设计思路：
1. 坐标注意力：编码H和W两个方向的位置信息
2. 通道注意力：突出判别性强的特征通道
3. 双重机制协同：空间+通道双重增强
【核心思想】
在解码器端（特征融合之后）引入SAE模块，增强对目标边界的感知能力。
【过渡】
下面详细介绍SAE模块的具体设计。</a:t>
            </a:r>
            <a:endParaRPr lang="en-US" dirty="false"/>
          </a:p>
        </p:txBody>
      </p:sp>
      <p:sp>
        <p:nvSpPr>
          <p:cNvPr id="72" name="Slide Number Placeholder 3"/>
          <p:cNvSpPr>
            <a:spLocks noGrp="true"/>
          </p:cNvSpPr>
          <p:nvPr>
            <p:ph type="sldNum" sz="quarter" idx="10"/>
          </p:nvPr>
        </p:nvSpPr>
        <p:spPr/>
        <p:txBody>
          <a:bodyPr/>
          <a:lstStyle/>
          <a:p>
            <a:pPr/>
            <a:fld id="{F7021451-1387-4CA6-816F-3879F97B5CBC}" type="slidenum">
              <a:rPr lang="en-US"/>
              <a:t>25</a:t>
            </a:fld>
            <a:endParaRPr lang="en-US"/>
          </a:p>
        </p:txBody>
      </p:sp>
    </p:spTree>
  </p:cSld>
</p:notes>
</file>

<file path=ppt/notesSlides/notesSlide19.xml><?xml version="1.0" encoding="utf-8"?>
<p:notes xmlns:a="http://schemas.openxmlformats.org/drawingml/2006/main" xmlns:p="http://schemas.openxmlformats.org/presentationml/2006/main">
  <p:cSld>
    <p:spTree>
      <p:nvGrpSpPr>
        <p:cNvPr id="73" name=""/>
        <p:cNvGrpSpPr/>
        <p:nvPr/>
      </p:nvGrpSpPr>
      <p:grpSpPr>
        <a:xfrm>
          <a:off x="0" y="0"/>
          <a:ext cx="0" cy="0"/>
          <a:chOff x="0" y="0"/>
          <a:chExt cx="0" cy="0"/>
        </a:xfrm>
      </p:grpSpPr>
      <p:sp>
        <p:nvSpPr>
          <p:cNvPr id="74" name="Slide Image Placeholder 1"/>
          <p:cNvSpPr>
            <a:spLocks noGrp="true" noRot="true" noChangeAspect="true"/>
          </p:cNvSpPr>
          <p:nvPr>
            <p:ph type="sldImg"/>
          </p:nvPr>
        </p:nvSpPr>
        <p:spPr/>
        <p:txBody>
          <a:bodyPr/>
          <a:p>
            <a:pPr/>
            <a:endParaRPr/>
          </a:p>
        </p:txBody>
      </p:sp>
      <p:sp>
        <p:nvSpPr>
          <p:cNvPr id="75" name="Notes Placeholder 2"/>
          <p:cNvSpPr>
            <a:spLocks noGrp="true"/>
          </p:cNvSpPr>
          <p:nvPr>
            <p:ph type="body" idx="1"/>
          </p:nvPr>
        </p:nvSpPr>
        <p:spPr/>
        <p:txBody>
          <a:bodyPr/>
          <a:lstStyle/>
          <a:p>
            <a:pPr/>
            <a:r>
              <a:rPr lang="en-US" dirty="false"/>
              <a:t>【SAE模块：局部细节增强】
这一页详细介绍SAE模块的两个核心组件：坐标注意力和通道注意力。
【坐标注意力 (Coordinate Attention)】
坐标注意力来自CVPR 2021的论文"Coordinate Attention for Efficient Mobile Network Design"。
核心思想：将空间位置信息编码到注意力权重中。
工作流程：
1. X方向平均池化：对每一行做平均，得到 C×H×1 的特征
2. Y方向平均池化：对每一列做平均，得到 C×1×W 的特征
3. 拼接：将两个方向的特征拼接，得到 C×1×(H+W)
4. 卷积：通过1×1卷积学习通道间关系
5. 分割：将特征分成两部分，分别对应H和W方向
6. 激活：通过Sigmoid得到注意力权重 a_h 和 a_w
7. 重加权：F_out = F × σ(a_h) × σ(a_w)
公式：F_out = F × σ(a_h) × σ(a_w)
为什么有效：
- 传统的SE模块只有通道注意力，丢失了空间信息
- 坐标注意力保留了位置信息
- 对于细长结构，可以感知目标的方向和位置
【通道注意力 (Channel Attention)】
通道注意力基于经典的SE（Squeeze-and-Excitation）模块。
SE模块的工作流程：
1. Squeeze（压缩）：全局平均池化，将H×W压缩为1×1
   - 输入：C×H×W → 输出：C×1×1
   - 每个通道得到一个统计值
2. Excitation（激发）：两个全连接层学习通道关系
   - FC1：C → C/r（降维，r是reduction ratio，本文r=4）
   - ReLU激活
   - FC2：C/r → C（升维回原通道数）
   - Sigmoid激活，得到通道权重 s
3. Scale（重标定）：F_out = F × σ(s)
   - 用学到的权重对原始特征进行加权
公式：F_out = F × σ(s)
本文的改进：
- 使用4分支并行处理
- 增加了特征的多样性
- 更好地捕获不同层次的通道关系
【SAE模块的参数设置】
- 输入通道数：560（解码器融合后的通道数）
- Reduction ratio：4（通道注意力的降维比例）
- 4分支并行：增强特征多样性
- mIoU提升：+5.9%（从0.851到0.901）
【主要作用】
SAE模块的三个主要作用：
1. 增强空间位置信息编码：知道边界在哪里
2. 强化判别性特征通道响应：哪些特征重要
3. 改善细长结构与模糊边界分割：提高边界精度
【过渡】
下面看改进模型的整体结构。</a:t>
            </a:r>
            <a:endParaRPr lang="en-US" dirty="false"/>
          </a:p>
        </p:txBody>
      </p:sp>
      <p:sp>
        <p:nvSpPr>
          <p:cNvPr id="76" name="Slide Number Placeholder 3"/>
          <p:cNvSpPr>
            <a:spLocks noGrp="true"/>
          </p:cNvSpPr>
          <p:nvPr>
            <p:ph type="sldNum" sz="quarter" idx="10"/>
          </p:nvPr>
        </p:nvSpPr>
        <p:spPr/>
        <p:txBody>
          <a:bodyPr/>
          <a:lstStyle/>
          <a:p>
            <a:pPr/>
            <a:fld id="{F7021451-1387-4CA6-816F-3879F97B5CBC}" type="slidenum">
              <a:rPr lang="en-US"/>
              <a:t>26</a:t>
            </a:fld>
            <a:endParaRPr lang="en-US"/>
          </a:p>
        </p:txBody>
      </p:sp>
    </p:spTree>
  </p:cSld>
</p:notes>
</file>

<file path=ppt/notesSlides/notesSlide20.xml><?xml version="1.0" encoding="utf-8"?>
<p:notes xmlns:a="http://schemas.openxmlformats.org/drawingml/2006/main" xmlns:p="http://schemas.openxmlformats.org/presentationml/2006/main">
  <p:cSld>
    <p:spTree>
      <p:nvGrpSpPr>
        <p:cNvPr id="77" name=""/>
        <p:cNvGrpSpPr/>
        <p:nvPr/>
      </p:nvGrpSpPr>
      <p:grpSpPr>
        <a:xfrm>
          <a:off x="0" y="0"/>
          <a:ext cx="0" cy="0"/>
          <a:chOff x="0" y="0"/>
          <a:chExt cx="0" cy="0"/>
        </a:xfrm>
      </p:grpSpPr>
      <p:sp>
        <p:nvSpPr>
          <p:cNvPr id="78" name="Slide Image Placeholder 1"/>
          <p:cNvSpPr>
            <a:spLocks noGrp="true" noRot="true" noChangeAspect="true"/>
          </p:cNvSpPr>
          <p:nvPr>
            <p:ph type="sldImg"/>
          </p:nvPr>
        </p:nvSpPr>
        <p:spPr/>
        <p:txBody>
          <a:bodyPr/>
          <a:p>
            <a:pPr/>
            <a:endParaRPr/>
          </a:p>
        </p:txBody>
      </p:sp>
      <p:sp>
        <p:nvSpPr>
          <p:cNvPr id="79" name="Notes Placeholder 2"/>
          <p:cNvSpPr>
            <a:spLocks noGrp="true"/>
          </p:cNvSpPr>
          <p:nvPr>
            <p:ph type="body" idx="1"/>
          </p:nvPr>
        </p:nvSpPr>
        <p:spPr/>
        <p:txBody>
          <a:bodyPr/>
          <a:lstStyle/>
          <a:p>
            <a:pPr/>
            <a:r>
              <a:rPr lang="en-US" dirty="false"/>
              <a:t>【改进模型整体结构】
这一页展示TR模块和SAE模块在整个网络中的位置，以及它们如何协同工作。
【整体架构】
改进后的模型由以下部分组成：
1. 编码器（Encoder）
   - 骨干网络：ResNet18-V1c
   - 下采样4次，分辨率从512→256→128→64→32→16
   - 提取多尺度特征
2. ASPP模块
   - 位置：编码器输出后
   - 输入：16×16×512的特征图
   - 输出：16×16×2560的多尺度特征
3. TR模块（第三章提出）
   - 位置：ASPP输出后
   - 输入：16×16×2560
   - 作用：增强全局上下文建模
   - 双层路由注意力 + TopK选择
4. 解码器（Decoder）
   - 上采样：16→32→128
   - 与编码器浅层特征融合
   - 跳跃连接保留细节信息
5. SAE模块（第四章提出）
   - 位置：解码器特征融合后
   - 输入：128×128×560
   - 作用：增强局部细节与边界分割
   - 坐标注意力 + 通道注意力
6. 输出头
   - 128→512上采样
   - 得到最终分割结果
【三个卡片：模块位置与作用】
卡片1：TR模块位置
- 在ASPP输出后
- 处理16×16的低分辨率特征
- 这个阶段适合做全局建模（特征图小，计算量可控）
卡片2：SAE模块位置
- 在解码器融合后
- 处理128×128的高分辨率特征
- 这个阶段适合做局部增强（需要精细的空间信息）
卡片3：协同效应
- TR负责全局语义理解：理解整体结构
- SAE负责局部细节增强：精确边界位置
- 两者互补，共同提升分割性能
【设计考量】
为什么把TR放在编码端，SAE放在解码端？
- 编码端特征图小（16×16），适合计算量大的全局注意力
- 解码端特征图大（128×128），需要空间位置信息
- 这样的设计在性能和效率之间取得平衡
【过渡】
下面通过综合消融实验验证两个模块的效果。</a:t>
            </a:r>
            <a:endParaRPr lang="en-US" dirty="false"/>
          </a:p>
        </p:txBody>
      </p:sp>
      <p:sp>
        <p:nvSpPr>
          <p:cNvPr id="80" name="Slide Number Placeholder 3"/>
          <p:cNvSpPr>
            <a:spLocks noGrp="true"/>
          </p:cNvSpPr>
          <p:nvPr>
            <p:ph type="sldNum" sz="quarter" idx="10"/>
          </p:nvPr>
        </p:nvSpPr>
        <p:spPr/>
        <p:txBody>
          <a:bodyPr/>
          <a:lstStyle/>
          <a:p>
            <a:pPr/>
            <a:fld id="{F7021451-1387-4CA6-816F-3879F97B5CBC}" type="slidenum">
              <a:rPr lang="en-US"/>
              <a:t>27</a:t>
            </a:fld>
            <a:endParaRPr lang="en-US"/>
          </a:p>
        </p:txBody>
      </p:sp>
    </p:spTree>
  </p:cSld>
</p:notes>
</file>

<file path=ppt/notesSlides/notesSlide21.xml><?xml version="1.0" encoding="utf-8"?>
<p:notes xmlns:a="http://schemas.openxmlformats.org/drawingml/2006/main" xmlns:p="http://schemas.openxmlformats.org/presentationml/2006/main">
  <p:cSld>
    <p:spTree>
      <p:nvGrpSpPr>
        <p:cNvPr id="81" name=""/>
        <p:cNvGrpSpPr/>
        <p:nvPr/>
      </p:nvGrpSpPr>
      <p:grpSpPr>
        <a:xfrm>
          <a:off x="0" y="0"/>
          <a:ext cx="0" cy="0"/>
          <a:chOff x="0" y="0"/>
          <a:chExt cx="0" cy="0"/>
        </a:xfrm>
      </p:grpSpPr>
      <p:sp>
        <p:nvSpPr>
          <p:cNvPr id="82" name="Slide Image Placeholder 1"/>
          <p:cNvSpPr>
            <a:spLocks noGrp="true" noRot="true" noChangeAspect="true"/>
          </p:cNvSpPr>
          <p:nvPr>
            <p:ph type="sldImg"/>
          </p:nvPr>
        </p:nvSpPr>
        <p:spPr/>
        <p:txBody>
          <a:bodyPr/>
          <a:p>
            <a:pPr/>
            <a:endParaRPr/>
          </a:p>
        </p:txBody>
      </p:sp>
      <p:sp>
        <p:nvSpPr>
          <p:cNvPr id="83" name="Notes Placeholder 2"/>
          <p:cNvSpPr>
            <a:spLocks noGrp="true"/>
          </p:cNvSpPr>
          <p:nvPr>
            <p:ph type="body" idx="1"/>
          </p:nvPr>
        </p:nvSpPr>
        <p:spPr/>
        <p:txBody>
          <a:bodyPr/>
          <a:lstStyle/>
          <a:p>
            <a:pPr/>
            <a:r>
              <a:rPr lang="en-US" dirty="false"/>
              <a:t>【综合消融实验】
这一页展示了完整的消融实验结果，验证每个模块的贡献以及它们的协同效应。
【实验设计】
对比四个配置：
1. DeepLabV3+（基线）：不添加任何改进
2. + TR：只添加TR模块（第三章方法）
3. + SAE：只添加SAE模块（本章方法）
4. + TR + SAE：同时添加两个模块（本文完整方法）
【表格数据分析】
观察表格中的数据：
基线性能：
- mIoU: 0.851, mDice: 0.913, HD95: 12.22
添加TR模块后：
- mIoU: 0.884 (+3.9%)
- mDice: 0.935
- HD95: 11.89（边界距离略有改善）
添加SAE模块后：
- mIoU: 0.901 (+5.9%)  ← SAE单独贡献更大！
- mDice: 0.945
- HD95: 11.45（边界距离明显改善）
同时添加TR和SAE：
- mIoU: 0.911 (+7.1%)
- mDice: 0.951
- HD95: 10.68（最佳边界精度！）
【重要发现】
1. SAE模块的贡献大于TR模块
   - SAE: +5.9% vs TR: +3.9%
   - 说明边界分割是主要瓶颈
2. HD95指标显著改善
   - 基线: 12.22 → 最终: 10.68
   - 降低12.6%，边界精度大幅提升
   - 这证明了SAE模块确实增强了边界分割能力
3. 存在协同效应
   - TR(+3.9%) + SAE(+5.9%) = +9.8%（独立相加）
   - 实际: +7.1%
   - 虽然不是简单叠加，但组合效果仍然最优
   - 两个模块各有侧重，互为补充
【三个分析卡片】
卡片1：SAE模块贡献
- mIoU提升5.9%，是最大的单模块贡献
- HD95从12.22降到11.45
- 主要改善边界分割精度
- 坐标注意力编码位置信息是关键
卡片2：TR模块贡献
- mIoU提升3.9%
- HD95从12.22降到11.89
- 主要增强全局上下文理解
- 对细长结构的完整性有帮助
卡片3：协同效应
- 最终mIoU达到0.911
- HD95降至10.68，是所有配置中最低的
- TR负责全局，SAE负责局部
- 边界精度与区域完整性双重提升
【过渡】
下面与其他主流方法进行全面对比。</a:t>
            </a:r>
            <a:endParaRPr lang="en-US" dirty="false"/>
          </a:p>
        </p:txBody>
      </p:sp>
      <p:sp>
        <p:nvSpPr>
          <p:cNvPr id="84" name="Slide Number Placeholder 3"/>
          <p:cNvSpPr>
            <a:spLocks noGrp="true"/>
          </p:cNvSpPr>
          <p:nvPr>
            <p:ph type="sldNum" sz="quarter" idx="10"/>
          </p:nvPr>
        </p:nvSpPr>
        <p:spPr/>
        <p:txBody>
          <a:bodyPr/>
          <a:lstStyle/>
          <a:p>
            <a:pPr/>
            <a:fld id="{F7021451-1387-4CA6-816F-3879F97B5CBC}" type="slidenum">
              <a:rPr lang="en-US"/>
              <a:t>28</a:t>
            </a:fld>
            <a:endParaRPr lang="en-US"/>
          </a:p>
        </p:txBody>
      </p:sp>
    </p:spTree>
  </p:cSld>
</p:notes>
</file>

<file path=ppt/notesSlides/notesSlide22.xml><?xml version="1.0" encoding="utf-8"?>
<p:notes xmlns:a="http://schemas.openxmlformats.org/drawingml/2006/main" xmlns:p="http://schemas.openxmlformats.org/presentationml/2006/main">
  <p:cSld>
    <p:spTree>
      <p:nvGrpSpPr>
        <p:cNvPr id="85" name=""/>
        <p:cNvGrpSpPr/>
        <p:nvPr/>
      </p:nvGrpSpPr>
      <p:grpSpPr>
        <a:xfrm>
          <a:off x="0" y="0"/>
          <a:ext cx="0" cy="0"/>
          <a:chOff x="0" y="0"/>
          <a:chExt cx="0" cy="0"/>
        </a:xfrm>
      </p:grpSpPr>
      <p:sp>
        <p:nvSpPr>
          <p:cNvPr id="86" name="Slide Image Placeholder 1"/>
          <p:cNvSpPr>
            <a:spLocks noGrp="true" noRot="true" noChangeAspect="true"/>
          </p:cNvSpPr>
          <p:nvPr>
            <p:ph type="sldImg"/>
          </p:nvPr>
        </p:nvSpPr>
        <p:spPr/>
        <p:txBody>
          <a:bodyPr/>
          <a:p>
            <a:pPr/>
            <a:endParaRPr/>
          </a:p>
        </p:txBody>
      </p:sp>
      <p:sp>
        <p:nvSpPr>
          <p:cNvPr id="87" name="Notes Placeholder 2"/>
          <p:cNvSpPr>
            <a:spLocks noGrp="true"/>
          </p:cNvSpPr>
          <p:nvPr>
            <p:ph type="body" idx="1"/>
          </p:nvPr>
        </p:nvSpPr>
        <p:spPr/>
        <p:txBody>
          <a:bodyPr/>
          <a:lstStyle/>
          <a:p>
            <a:pPr/>
            <a:r>
              <a:rPr lang="en-US" dirty="false"/>
              <a:t>【与主流方法对比】
这一页将本文方法与多个主流语义分割模型进行全面对比。
【对比方法介绍】
1. UNet（2015）：经典的编码器-解码器结构
2. UNet++（2018）：密集跳跃连接的改进UNet
3. ResUNet：带残差连接的UNet
4. TransUNet（2021）：融合Transformer的UNet
5. DeepLabV3+：本文的基线模型
【表格数据分析】
按mIoU排序：
1. 本文方法: 0.911（最高）
2. DeepLabV3+: 0.851
3. TransUNet: 0.810
4. UNet: 0.805
5. UNet++: 0.751
6. ResUNet: 0.721
关键观察：
1. 本文方法取得最优性能
   - mIoU: 0.911，超过所有对比方法
   - 目标IoU: 0.826，比基线提升16.3%
   - HD95: 10.68，边界精度最好
2. 与基线DeepLabV3+对比
   - mIoU: +7.1%（0.851→0.911）
   - 目标IoU: +16.3%（0.710→0.826）
   - HD95: -12.6%（12.22→10.68）
3. 与TransUNet对比
   - TransUNet虽然也用了Transformer
   - 但参数量达到219MB，而且训练困难
   - 本文方法性能更好（0.911 vs 0.810）
【四个性能提升卡片】
卡片1：+7.1% mIoU提升（vs DeepLabV3+）
- 这是最核心的指标
- 证明了双重注意力机制的有效性
卡片2：+16.3% 目标IoU提升（vs DeepLabV3+）
- 目标IoU是熔深区域的IoU
- 这个提升说明模型对目标的检测能力显著增强
卡片3：+13.2% mIoU提升（vs UNet）
- 对比经典方法的提升幅度更大
- 说明本文方法在OCT图像分割上具有优势
卡片4：-12.6% HD95降低
- 边界精度的核心指标
- SAE模块的主要贡献
【关于参数量】
本文方法的参数量是420MB，确实较大。这是因为：
- TR模块引入了额外的Transformer结构
- SAE模块增加了注意力计算
但相比TransUNet（219MB）：
- 性能更好（0.911 vs 0.810）
- 训练更稳定
参数量大是一个可以接受的trade-off，因为：
- 当前GPU内存足够支持
- 推理速度仍可接受（10.5 FPS）
- 未来可以通过知识蒸馏等方法压缩
【过渡】
下面通过可视化对比直观展示分割效果。</a:t>
            </a:r>
            <a:endParaRPr lang="en-US" dirty="false"/>
          </a:p>
        </p:txBody>
      </p:sp>
      <p:sp>
        <p:nvSpPr>
          <p:cNvPr id="88" name="Slide Number Placeholder 3"/>
          <p:cNvSpPr>
            <a:spLocks noGrp="true"/>
          </p:cNvSpPr>
          <p:nvPr>
            <p:ph type="sldNum" sz="quarter" idx="10"/>
          </p:nvPr>
        </p:nvSpPr>
        <p:spPr/>
        <p:txBody>
          <a:bodyPr/>
          <a:lstStyle/>
          <a:p>
            <a:pPr/>
            <a:fld id="{F7021451-1387-4CA6-816F-3879F97B5CBC}" type="slidenum">
              <a:rPr lang="en-US"/>
              <a:t>29</a:t>
            </a:fld>
            <a:endParaRPr lang="en-US"/>
          </a:p>
        </p:txBody>
      </p:sp>
    </p:spTree>
  </p:cSld>
</p:notes>
</file>

<file path=ppt/notesSlides/notesSlide23.xml><?xml version="1.0" encoding="utf-8"?>
<p:notes xmlns:a="http://schemas.openxmlformats.org/drawingml/2006/main" xmlns:p="http://schemas.openxmlformats.org/presentationml/2006/main">
  <p:cSld>
    <p:spTree>
      <p:nvGrpSpPr>
        <p:cNvPr id="89" name=""/>
        <p:cNvGrpSpPr/>
        <p:nvPr/>
      </p:nvGrpSpPr>
      <p:grpSpPr>
        <a:xfrm>
          <a:off x="0" y="0"/>
          <a:ext cx="0" cy="0"/>
          <a:chOff x="0" y="0"/>
          <a:chExt cx="0" cy="0"/>
        </a:xfrm>
      </p:grpSpPr>
      <p:sp>
        <p:nvSpPr>
          <p:cNvPr id="90" name="Slide Image Placeholder 1"/>
          <p:cNvSpPr>
            <a:spLocks noGrp="true" noRot="true" noChangeAspect="true"/>
          </p:cNvSpPr>
          <p:nvPr>
            <p:ph type="sldImg"/>
          </p:nvPr>
        </p:nvSpPr>
        <p:spPr/>
        <p:txBody>
          <a:bodyPr/>
          <a:p>
            <a:pPr/>
            <a:endParaRPr/>
          </a:p>
        </p:txBody>
      </p:sp>
      <p:sp>
        <p:nvSpPr>
          <p:cNvPr id="91" name="Notes Placeholder 2"/>
          <p:cNvSpPr>
            <a:spLocks noGrp="true"/>
          </p:cNvSpPr>
          <p:nvPr>
            <p:ph type="body" idx="1"/>
          </p:nvPr>
        </p:nvSpPr>
        <p:spPr/>
        <p:txBody>
          <a:bodyPr/>
          <a:lstStyle/>
          <a:p>
            <a:pPr/>
            <a:r>
              <a:rPr lang="en-US" dirty="false"/>
              <a:t>【第一章：研究背景与意义】
这一章我将从三个方面展开介绍：
首先是研究背景。我会介绍激光焊接技术的重要性、OCT检测技术的基本原理和优势，以及为什么需要用语义分割方法来处理OCT图像。
然后是问题与挑战。OCT图像存在散斑噪声、边界模糊、对比度低等特点，给精确分割带来了很大的困难。现有的分割方法在处理这些问题时存在局限性。
最后是研究意义与目标。我会说明本研究在理论、技术和应用三个层面的意义，并给出本文的具体研究目标。
【过渡】
下面先来看研究背景。</a:t>
            </a:r>
            <a:endParaRPr lang="en-US" dirty="false"/>
          </a:p>
        </p:txBody>
      </p:sp>
      <p:sp>
        <p:nvSpPr>
          <p:cNvPr id="92" name="Slide Number Placeholder 3"/>
          <p:cNvSpPr>
            <a:spLocks noGrp="true"/>
          </p:cNvSpPr>
          <p:nvPr>
            <p:ph type="sldNum" sz="quarter" idx="10"/>
          </p:nvPr>
        </p:nvSpPr>
        <p:spPr/>
        <p:txBody>
          <a:bodyPr/>
          <a:lstStyle/>
          <a:p>
            <a:pPr/>
            <a:fld id="{F7021451-1387-4CA6-816F-3879F97B5CBC}" type="slidenum">
              <a:rPr lang="en-US"/>
              <a:t>3</a:t>
            </a:fld>
            <a:endParaRPr lang="en-US"/>
          </a:p>
        </p:txBody>
      </p:sp>
    </p:spTree>
  </p:cSld>
</p:notes>
</file>

<file path=ppt/notesSlides/notesSlide24.xml><?xml version="1.0" encoding="utf-8"?>
<p:notes xmlns:a="http://schemas.openxmlformats.org/drawingml/2006/main" xmlns:p="http://schemas.openxmlformats.org/presentationml/2006/main">
  <p:cSld>
    <p:spTree>
      <p:nvGrpSpPr>
        <p:cNvPr id="93" name=""/>
        <p:cNvGrpSpPr/>
        <p:nvPr/>
      </p:nvGrpSpPr>
      <p:grpSpPr>
        <a:xfrm>
          <a:off x="0" y="0"/>
          <a:ext cx="0" cy="0"/>
          <a:chOff x="0" y="0"/>
          <a:chExt cx="0" cy="0"/>
        </a:xfrm>
      </p:grpSpPr>
      <p:sp>
        <p:nvSpPr>
          <p:cNvPr id="94" name="Slide Image Placeholder 1"/>
          <p:cNvSpPr>
            <a:spLocks noGrp="true" noRot="true" noChangeAspect="true"/>
          </p:cNvSpPr>
          <p:nvPr>
            <p:ph type="sldImg"/>
          </p:nvPr>
        </p:nvSpPr>
        <p:spPr/>
        <p:txBody>
          <a:bodyPr/>
          <a:p>
            <a:pPr/>
            <a:endParaRPr/>
          </a:p>
        </p:txBody>
      </p:sp>
      <p:sp>
        <p:nvSpPr>
          <p:cNvPr id="95" name="Notes Placeholder 2"/>
          <p:cNvSpPr>
            <a:spLocks noGrp="true"/>
          </p:cNvSpPr>
          <p:nvPr>
            <p:ph type="body" idx="1"/>
          </p:nvPr>
        </p:nvSpPr>
        <p:spPr/>
        <p:txBody>
          <a:bodyPr/>
          <a:lstStyle/>
          <a:p>
            <a:pPr/>
            <a:r>
              <a:rPr lang="en-US" dirty="false"/>
              <a:t>【可视化对比——细长结构场景】
这一页通过10张可视化结果，直观展示不同方法的分割效果。
【图像布局】
第一排（5张）：
1. 原始图像：输入的OCT图像
2. Ground Truth：人工标注的真实标签
3. UNet：经典UNet的分割结果
4. UNet++：改进UNet的结果
5. ResUNet：残差UNet的结果
第二排（5张）：
6. TransUNet：Transformer+UNet的结果
7. DeepLabV3+：基线模型的结果
8. +TR (Ours)：只添加TR模块
9. +SAE (Ours)：只添加SAE模块
10. +Both (Ours)：同时添加两个模块（绿框高亮）
【观察要点】
请各位老师注意以下几个区域：
1. 细长结构的连续性
   - UNet、UNet++：出现明显断裂
   - DeepLabV3+：有轻微断裂
   - +TR：结构更连续
   - +Both：最完整
2. 边界的清晰度
   - 传统方法：边界模糊
   - +SAE：边界更清晰
   - +Both：边界最精确
3. 噪声抑制
   - 传统方法：背景有误检
   - +TR：噪声抑制较好
   - +Both：背景最干净
【各方法的问题】
- UNet：结构断裂，边界模糊
- UNet++：改善有限
- ResUNet：效果一般
- TransUNet：有改善但不稳定
- DeepLabV3+：细长结构有时断裂
- +TR：结构完整性好，但边界可以更精确
- +SAE：边界精确，但结构有时断裂
- +Both：结合两者优势，效果最佳
【本文方法的优势】
+Both（绿框高亮）的三个优势：
1. 边界更清晰：SAE的坐标注意力增强了空间感知
2. 细长结构更完整：TR建立了长距离依赖
3. 噪声抑制更好：双重注意力协同过滤噪声
【定量对应】
可视化观察与定量指标一致：
- 边界清晰 → HD95降低12.6%
- 结构完整 → 目标IoU提升16.3%
- 整体更好 → mIoU提升7.1%
【过渡】
最后，总结本章的实验结论。</a:t>
            </a:r>
            <a:endParaRPr lang="en-US" dirty="false"/>
          </a:p>
        </p:txBody>
      </p:sp>
      <p:sp>
        <p:nvSpPr>
          <p:cNvPr id="96" name="Slide Number Placeholder 3"/>
          <p:cNvSpPr>
            <a:spLocks noGrp="true"/>
          </p:cNvSpPr>
          <p:nvPr>
            <p:ph type="sldNum" sz="quarter" idx="10"/>
          </p:nvPr>
        </p:nvSpPr>
        <p:spPr/>
        <p:txBody>
          <a:bodyPr/>
          <a:lstStyle/>
          <a:p>
            <a:pPr/>
            <a:fld id="{F7021451-1387-4CA6-816F-3879F97B5CBC}" type="slidenum">
              <a:rPr lang="en-US"/>
              <a:t>30</a:t>
            </a:fld>
            <a:endParaRPr lang="en-US"/>
          </a:p>
        </p:txBody>
      </p:sp>
    </p:spTree>
  </p:cSld>
</p:notes>
</file>

<file path=ppt/notesSlides/notesSlide25.xml><?xml version="1.0" encoding="utf-8"?>
<p:notes xmlns:a="http://schemas.openxmlformats.org/drawingml/2006/main" xmlns:p="http://schemas.openxmlformats.org/presentationml/2006/main">
  <p:cSld>
    <p:spTree>
      <p:nvGrpSpPr>
        <p:cNvPr id="97" name=""/>
        <p:cNvGrpSpPr/>
        <p:nvPr/>
      </p:nvGrpSpPr>
      <p:grpSpPr>
        <a:xfrm>
          <a:off x="0" y="0"/>
          <a:ext cx="0" cy="0"/>
          <a:chOff x="0" y="0"/>
          <a:chExt cx="0" cy="0"/>
        </a:xfrm>
      </p:grpSpPr>
      <p:sp>
        <p:nvSpPr>
          <p:cNvPr id="98" name="Slide Image Placeholder 1"/>
          <p:cNvSpPr>
            <a:spLocks noGrp="true" noRot="true" noChangeAspect="true"/>
          </p:cNvSpPr>
          <p:nvPr>
            <p:ph type="sldImg"/>
          </p:nvPr>
        </p:nvSpPr>
        <p:spPr/>
        <p:txBody>
          <a:bodyPr/>
          <a:p>
            <a:pPr/>
            <a:endParaRPr/>
          </a:p>
        </p:txBody>
      </p:sp>
      <p:sp>
        <p:nvSpPr>
          <p:cNvPr id="99" name="Notes Placeholder 2"/>
          <p:cNvSpPr>
            <a:spLocks noGrp="true"/>
          </p:cNvSpPr>
          <p:nvPr>
            <p:ph type="body" idx="1"/>
          </p:nvPr>
        </p:nvSpPr>
        <p:spPr/>
        <p:txBody>
          <a:bodyPr/>
          <a:lstStyle/>
          <a:p>
            <a:pPr/>
            <a:r>
              <a:rPr lang="en-US" dirty="false"/>
              <a:t>【实验结论】
这一页总结第四章的核心实验结论。
【四个关键指标】
上方展示了四个最重要的性能指标：
1. mIoU = 0.911
   - 平均交并比，核心评估指标
   - 相比基线提升7.1%
   - 这是一个显著的提升
2. 目标IoU = 0.826
   - 熔深区域的IoU
   - 相比基线提升16.3%
   - 说明对目标的检测能力大幅增强
3. HD95 = 10.68
   - 95%豪斯多夫距离
   - 相比基线降低12.6%
   - 边界分割精度显著改善
4. FPS = 10.5
   - 每秒处理帧数
   - 在RTX 4090上测试
   - 基本满足实时应用需求
【三个核心结论】
结论1：分割精度显著提升
- mIoU从0.851提升到0.911
- 相比UNet提升13.2%
- 验证了双重注意力机制的有效性
- TR和SAE各有贡献，组合效果最优
结论2：边界质量明显改善
- HD95从12.22降到10.68
- 降低了12.6%
- SAE模块是主要贡献者
- 坐标注意力有效编码了空间位置信息
- 对细长结构和模糊边界的处理效果显著
结论3：效率-性能平衡良好
- 相比TransUNet：
  - 内存减少53.3%（420MB vs 898MB）
  - 速度提升39.1%
  - 性能更好（0.911 vs 0.810）
- 在保持高性能的同时具有更好的实用性
【总结】
本章的主要贡献：
1. 提出了SAE模块，结合坐标注意力和通道注意力
2. 验证了TR和SAE模块的协同效应
3. 在多个指标上取得了最优性能
【承上启下】
至此，本文的两个核心创新模块都已介绍完毕：
- 第三章：TR模块 → 全局上下文增强
- 第四章：SAE模块 → 局部细节增强
两个模块协同工作，使得改进后的DeepLabV3+在OCT图像分割任务上取得了显著的性能提升。
【过渡】
下面进入最后一章，对全文进行总结与展望。</a:t>
            </a:r>
            <a:endParaRPr lang="en-US" dirty="false"/>
          </a:p>
        </p:txBody>
      </p:sp>
      <p:sp>
        <p:nvSpPr>
          <p:cNvPr id="100" name="Slide Number Placeholder 3"/>
          <p:cNvSpPr>
            <a:spLocks noGrp="true"/>
          </p:cNvSpPr>
          <p:nvPr>
            <p:ph type="sldNum" sz="quarter" idx="10"/>
          </p:nvPr>
        </p:nvSpPr>
        <p:spPr/>
        <p:txBody>
          <a:bodyPr/>
          <a:lstStyle/>
          <a:p>
            <a:pPr/>
            <a:fld id="{F7021451-1387-4CA6-816F-3879F97B5CBC}" type="slidenum">
              <a:rPr lang="en-US"/>
              <a:t>31</a:t>
            </a:fld>
            <a:endParaRPr lang="en-US"/>
          </a:p>
        </p:txBody>
      </p:sp>
    </p:spTree>
  </p:cSld>
</p:notes>
</file>

<file path=ppt/notesSlides/notesSlide26.xml><?xml version="1.0" encoding="utf-8"?>
<p:notes xmlns:a="http://schemas.openxmlformats.org/drawingml/2006/main" xmlns:p="http://schemas.openxmlformats.org/presentationml/2006/main">
  <p:cSld>
    <p:spTree>
      <p:nvGrpSpPr>
        <p:cNvPr id="101" name=""/>
        <p:cNvGrpSpPr/>
        <p:nvPr/>
      </p:nvGrpSpPr>
      <p:grpSpPr>
        <a:xfrm>
          <a:off x="0" y="0"/>
          <a:ext cx="0" cy="0"/>
          <a:chOff x="0" y="0"/>
          <a:chExt cx="0" cy="0"/>
        </a:xfrm>
      </p:grpSpPr>
      <p:sp>
        <p:nvSpPr>
          <p:cNvPr id="102" name="Slide Image Placeholder 1"/>
          <p:cNvSpPr>
            <a:spLocks noGrp="true" noRot="true" noChangeAspect="true"/>
          </p:cNvSpPr>
          <p:nvPr>
            <p:ph type="sldImg"/>
          </p:nvPr>
        </p:nvSpPr>
        <p:spPr/>
        <p:txBody>
          <a:bodyPr/>
          <a:p>
            <a:pPr/>
            <a:endParaRPr/>
          </a:p>
        </p:txBody>
      </p:sp>
      <p:sp>
        <p:nvSpPr>
          <p:cNvPr id="103" name="Notes Placeholder 2"/>
          <p:cNvSpPr>
            <a:spLocks noGrp="true"/>
          </p:cNvSpPr>
          <p:nvPr>
            <p:ph type="body" idx="1"/>
          </p:nvPr>
        </p:nvSpPr>
        <p:spPr/>
        <p:txBody>
          <a:bodyPr/>
          <a:lstStyle/>
          <a:p>
            <a:pPr/>
            <a:r>
              <a:rPr lang="en-US" dirty="false"/>
              <a:t>【第五章：总结与展望】
最后一章，我将对全文进行总结，并展望未来的工作方向。
主要包括两个部分：
第一部分是创新点总结，归纳本文的三个主要贡献：
- TR模块：全局上下文增强
- SAE模块：局部细节增强
- 双重注意力协同机制
第二部分是工作展望，客观分析研究的不足，并提出改进方向：
- 模型轻量化
- 数据集扩展
- 多任务学习
- 应用拓展
【过渡】
首先来看创新点总结。</a:t>
            </a:r>
            <a:endParaRPr lang="en-US" dirty="false"/>
          </a:p>
        </p:txBody>
      </p:sp>
      <p:sp>
        <p:nvSpPr>
          <p:cNvPr id="104" name="Slide Number Placeholder 3"/>
          <p:cNvSpPr>
            <a:spLocks noGrp="true"/>
          </p:cNvSpPr>
          <p:nvPr>
            <p:ph type="sldNum" sz="quarter" idx="10"/>
          </p:nvPr>
        </p:nvSpPr>
        <p:spPr/>
        <p:txBody>
          <a:bodyPr/>
          <a:lstStyle/>
          <a:p>
            <a:pPr/>
            <a:fld id="{F7021451-1387-4CA6-816F-3879F97B5CBC}" type="slidenum">
              <a:rPr lang="en-US"/>
              <a:t>32</a:t>
            </a:fld>
            <a:endParaRPr lang="en-US"/>
          </a:p>
        </p:txBody>
      </p:sp>
    </p:spTree>
  </p:cSld>
</p:notes>
</file>

<file path=ppt/notesSlides/notesSlide27.xml><?xml version="1.0" encoding="utf-8"?>
<p:notes xmlns:a="http://schemas.openxmlformats.org/drawingml/2006/main" xmlns:p="http://schemas.openxmlformats.org/presentationml/2006/main">
  <p:cSld>
    <p:spTree>
      <p:nvGrpSpPr>
        <p:cNvPr id="105" name=""/>
        <p:cNvGrpSpPr/>
        <p:nvPr/>
      </p:nvGrpSpPr>
      <p:grpSpPr>
        <a:xfrm>
          <a:off x="0" y="0"/>
          <a:ext cx="0" cy="0"/>
          <a:chOff x="0" y="0"/>
          <a:chExt cx="0" cy="0"/>
        </a:xfrm>
      </p:grpSpPr>
      <p:sp>
        <p:nvSpPr>
          <p:cNvPr id="106" name="Slide Image Placeholder 1"/>
          <p:cNvSpPr>
            <a:spLocks noGrp="true" noRot="true" noChangeAspect="true"/>
          </p:cNvSpPr>
          <p:nvPr>
            <p:ph type="sldImg"/>
          </p:nvPr>
        </p:nvSpPr>
        <p:spPr/>
        <p:txBody>
          <a:bodyPr/>
          <a:p>
            <a:pPr/>
            <a:endParaRPr/>
          </a:p>
        </p:txBody>
      </p:sp>
      <p:sp>
        <p:nvSpPr>
          <p:cNvPr id="107" name="Notes Placeholder 2"/>
          <p:cNvSpPr>
            <a:spLocks noGrp="true"/>
          </p:cNvSpPr>
          <p:nvPr>
            <p:ph type="body" idx="1"/>
          </p:nvPr>
        </p:nvSpPr>
        <p:spPr/>
        <p:txBody>
          <a:bodyPr/>
          <a:lstStyle/>
          <a:p>
            <a:pPr/>
            <a:r>
              <a:rPr lang="en-US" dirty="false"/>
              <a:t>【创新点总结】
这一页总结本文的三个主要创新点。
【创新点一：TR模块——全局上下文增强】
核心思想：
- 借鉴BiFormer的双层路由注意力
- 在ASPP之后引入全局注意力机制
技术特点：
- 区域级路由：将特征图划分为窗口，计算窗口间相似度
- Top-K稀疏选择：每个窗口只与K个最相关的邻居交互
- 双层计算：先粗粒度路由，再细粒度注意力
贡献：
- mIoU提升3.9%（从0.851到0.884）
- 计算量相比标准Transformer减少约75%
- 有效解决了细长结构分割时的断裂问题
【创新点二：SAE模块——局部细节增强】
核心思想：
- 结合坐标注意力和通道注意力
- 在解码器端增强边界分割能力
技术特点：
- 坐标注意力：沿H和W方向编码位置信息
- 通道注意力：基于SE模块突出判别性通道
- 空间-通道双重增强
贡献：
- mIoU提升5.9%（从0.851到0.901）
- HD95降低12.6%（从12.22到10.68）
- 显著改善了边界分割精度
【创新点三：双重注意力协同机制】
核心思想：
- TR负责全局语义建模
- SAE负责局部细节增强
- 两者协同工作，互为补充
设计考量：
- TR放在编码端（低分辨率，适合全局建模）
- SAE放在解码端（高分辨率，需要位置信息）
贡献：
- 组合后mIoU提升7.1%（从0.851到0.911）
- 目标IoU提升16.3%（从0.710到0.826）
- 产生了超越单模块使用的协同效应
【总结】
这三个创新点形成了一个完整的改进方案：
- 问题分析 → 模块设计 → 实验验证
- 全局 + 局部 → 协同增强
- 在多个指标上取得了显著提升
【过渡】
下面介绍本研究的不足与未来工作展望。</a:t>
            </a:r>
            <a:endParaRPr lang="en-US" dirty="false"/>
          </a:p>
        </p:txBody>
      </p:sp>
      <p:sp>
        <p:nvSpPr>
          <p:cNvPr id="108" name="Slide Number Placeholder 3"/>
          <p:cNvSpPr>
            <a:spLocks noGrp="true"/>
          </p:cNvSpPr>
          <p:nvPr>
            <p:ph type="sldNum" sz="quarter" idx="10"/>
          </p:nvPr>
        </p:nvSpPr>
        <p:spPr/>
        <p:txBody>
          <a:bodyPr/>
          <a:lstStyle/>
          <a:p>
            <a:pPr/>
            <a:fld id="{F7021451-1387-4CA6-816F-3879F97B5CBC}" type="slidenum">
              <a:rPr lang="en-US"/>
              <a:t>33</a:t>
            </a:fld>
            <a:endParaRPr lang="en-US"/>
          </a:p>
        </p:txBody>
      </p:sp>
    </p:spTree>
  </p:cSld>
</p:notes>
</file>

<file path=ppt/notesSlides/notesSlide28.xml><?xml version="1.0" encoding="utf-8"?>
<p:notes xmlns:a="http://schemas.openxmlformats.org/drawingml/2006/main" xmlns:p="http://schemas.openxmlformats.org/presentationml/2006/main">
  <p:cSld>
    <p:spTree>
      <p:nvGrpSpPr>
        <p:cNvPr id="109" name=""/>
        <p:cNvGrpSpPr/>
        <p:nvPr/>
      </p:nvGrpSpPr>
      <p:grpSpPr>
        <a:xfrm>
          <a:off x="0" y="0"/>
          <a:ext cx="0" cy="0"/>
          <a:chOff x="0" y="0"/>
          <a:chExt cx="0" cy="0"/>
        </a:xfrm>
      </p:grpSpPr>
      <p:sp>
        <p:nvSpPr>
          <p:cNvPr id="110" name="Slide Image Placeholder 1"/>
          <p:cNvSpPr>
            <a:spLocks noGrp="true" noRot="true" noChangeAspect="true"/>
          </p:cNvSpPr>
          <p:nvPr>
            <p:ph type="sldImg"/>
          </p:nvPr>
        </p:nvSpPr>
        <p:spPr/>
        <p:txBody>
          <a:bodyPr/>
          <a:p>
            <a:pPr/>
            <a:endParaRPr/>
          </a:p>
        </p:txBody>
      </p:sp>
      <p:sp>
        <p:nvSpPr>
          <p:cNvPr id="111" name="Notes Placeholder 2"/>
          <p:cNvSpPr>
            <a:spLocks noGrp="true"/>
          </p:cNvSpPr>
          <p:nvPr>
            <p:ph type="body" idx="1"/>
          </p:nvPr>
        </p:nvSpPr>
        <p:spPr/>
        <p:txBody>
          <a:bodyPr/>
          <a:lstStyle/>
          <a:p>
            <a:pPr/>
            <a:r>
              <a:rPr lang="en-US" dirty="false"/>
              <a:t>【工作展望】
这一页客观分析本研究的不足，并提出未来工作的方向。
【现有不足】
本研究存在以下局限性：
1. 参数量较大（420MB）
   - TR模块引入了Transformer结构，增加了参数
   - SAE模块虽然轻量，但总体参数量仍较大
   - 在资源受限的边缘设备上部署困难
2. 数据集规模有限
   - 自建数据集仅228张原始图像
   - 虽然通过增强扩充到1140张
   - 但与大规模数据集相比仍然较小
   - 可能影响模型的泛化能力
3. 仅针对二分类任务
   - 本文只考虑背景/熔深两类
   - 实际应用中可能需要多类别分割
   - 例如：不同类型的焊接缺陷
【未来工作方向】
方向一：模型轻量化
- 知识蒸馏：用大模型指导小模型学习
- 模型剪枝：去除冗余参数
- 量化：将浮点数转为低精度整数
- 目标：在保持性能的同时减少模型大小和计算量
方向二：数据集扩展
- 收集更多样化的焊接OCT图像
- 涵盖不同焊接参数、材料、条件
- 考虑引入半监督或自监督学习
- 减少对标注数据的依赖
方向三：多任务学习
- 语义分割 + 缺陷检测联合建模
- 分割 + 熔深值预测
- 共享特征提取，任务间互补
- 提高模型的实用价值
方向四：应用拓展
- 医学OCT图像：视网膜层分割、病变检测
- 工业检测：裂缝检测、表面缺陷检测
- 其他成像模态：超声图像、X射线图像
- 验证方法的通用性
【结语】
虽然存在一些不足，但本研究的核心方法——双重注意力机制——具有良好的通用性和扩展性。我相信通过后续的研究工作，这些不足可以逐步改善。
以上就是我的全部汇报内容，感谢各位老师的耐心聆听。</a:t>
            </a:r>
            <a:endParaRPr lang="en-US" dirty="false"/>
          </a:p>
        </p:txBody>
      </p:sp>
      <p:sp>
        <p:nvSpPr>
          <p:cNvPr id="112" name="Slide Number Placeholder 3"/>
          <p:cNvSpPr>
            <a:spLocks noGrp="true"/>
          </p:cNvSpPr>
          <p:nvPr>
            <p:ph type="sldNum" sz="quarter" idx="10"/>
          </p:nvPr>
        </p:nvSpPr>
        <p:spPr/>
        <p:txBody>
          <a:bodyPr/>
          <a:lstStyle/>
          <a:p>
            <a:pPr/>
            <a:fld id="{F7021451-1387-4CA6-816F-3879F97B5CBC}" type="slidenum">
              <a:rPr lang="en-US"/>
              <a:t>34</a:t>
            </a:fld>
            <a:endParaRPr lang="en-US"/>
          </a:p>
        </p:txBody>
      </p:sp>
    </p:spTree>
  </p:cSld>
</p:notes>
</file>

<file path=ppt/notesSlides/notesSlide29.xml><?xml version="1.0" encoding="utf-8"?>
<p:notes xmlns:a="http://schemas.openxmlformats.org/drawingml/2006/main" xmlns:p="http://schemas.openxmlformats.org/presentationml/2006/main">
  <p:cSld>
    <p:spTree>
      <p:nvGrpSpPr>
        <p:cNvPr id="113" name=""/>
        <p:cNvGrpSpPr/>
        <p:nvPr/>
      </p:nvGrpSpPr>
      <p:grpSpPr>
        <a:xfrm>
          <a:off x="0" y="0"/>
          <a:ext cx="0" cy="0"/>
          <a:chOff x="0" y="0"/>
          <a:chExt cx="0" cy="0"/>
        </a:xfrm>
      </p:grpSpPr>
      <p:sp>
        <p:nvSpPr>
          <p:cNvPr id="114" name="Slide Image Placeholder 1"/>
          <p:cNvSpPr>
            <a:spLocks noGrp="true" noRot="true" noChangeAspect="true"/>
          </p:cNvSpPr>
          <p:nvPr>
            <p:ph type="sldImg"/>
          </p:nvPr>
        </p:nvSpPr>
        <p:spPr/>
        <p:txBody>
          <a:bodyPr/>
          <a:p>
            <a:pPr/>
            <a:endParaRPr/>
          </a:p>
        </p:txBody>
      </p:sp>
      <p:sp>
        <p:nvSpPr>
          <p:cNvPr id="115" name="Notes Placeholder 2"/>
          <p:cNvSpPr>
            <a:spLocks noGrp="true"/>
          </p:cNvSpPr>
          <p:nvPr>
            <p:ph type="body" idx="1"/>
          </p:nvPr>
        </p:nvSpPr>
        <p:spPr/>
        <p:txBody>
          <a:bodyPr/>
          <a:lstStyle/>
          <a:p>
            <a:pPr/>
            <a:r>
              <a:rPr lang="en-US" dirty="false"/>
              <a:t>【Q&amp;A 环节】
我的汇报到此结束，感谢各位老师的耐心聆听。
【准备回答的问题】
以下是可能被问到的问题及回答要点：
1. 为什么选择DeepLabV3+作为基线模型？
   - DeepLabV3+是当前最先进的语义分割模型之一
   - ASPP模块和编码器-解码器结构适合改进
   - 有成熟的开源实现，便于复现
2. TR模块的计算开销如何？
   - 通过TopK稀疏选择，计算量减少约75%
   - 在RTX 4090上，增加约15%的推理时间
   - 性能提升3.9%，是值得的trade-off
3. 为什么SAE模块的贡献比TR模块大？
   - OCT图像的主要难点是边界模糊
   - SAE模块专门针对边界分割设计
   - 坐标注意力有效编码了位置信息
4. 数据集规模较小，如何保证泛化能力？
   - 使用了5倍数据增强
   - 采用交叉验证评估
   - 在测试集上的性能稳定
   - 未来计划扩展数据集
5. 如何进行模型轻量化？
   - 知识蒸馏：用大模型指导小模型
   - 模型剪枝：去除冗余参数
   - 量化：降低精度
   - 是未来工作的重点方向
【结束语】
请各位老师批评指正，我会认真听取意见，进一步完善论文。
谢谢！</a:t>
            </a:r>
            <a:endParaRPr lang="en-US" dirty="false"/>
          </a:p>
        </p:txBody>
      </p:sp>
      <p:sp>
        <p:nvSpPr>
          <p:cNvPr id="116" name="Slide Number Placeholder 3"/>
          <p:cNvSpPr>
            <a:spLocks noGrp="true"/>
          </p:cNvSpPr>
          <p:nvPr>
            <p:ph type="sldNum" sz="quarter" idx="10"/>
          </p:nvPr>
        </p:nvSpPr>
        <p:spPr/>
        <p:txBody>
          <a:bodyPr/>
          <a:lstStyle/>
          <a:p>
            <a:pPr/>
            <a:fld id="{F7021451-1387-4CA6-816F-3879F97B5CBC}" type="slidenum">
              <a:rPr lang="en-US"/>
              <a:t>35</a:t>
            </a:fld>
            <a:endParaRPr lang="en-US"/>
          </a:p>
        </p:txBody>
      </p:sp>
    </p:spTree>
  </p:cSld>
</p:notes>
</file>

<file path=ppt/notesSlides/notesSlide30.xml><?xml version="1.0" encoding="utf-8"?>
<p:notes xmlns:a="http://schemas.openxmlformats.org/drawingml/2006/main" xmlns:p="http://schemas.openxmlformats.org/presentationml/2006/main">
  <p:cSld>
    <p:spTree>
      <p:nvGrpSpPr>
        <p:cNvPr id="117" name=""/>
        <p:cNvGrpSpPr/>
        <p:nvPr/>
      </p:nvGrpSpPr>
      <p:grpSpPr>
        <a:xfrm>
          <a:off x="0" y="0"/>
          <a:ext cx="0" cy="0"/>
          <a:chOff x="0" y="0"/>
          <a:chExt cx="0" cy="0"/>
        </a:xfrm>
      </p:grpSpPr>
      <p:sp>
        <p:nvSpPr>
          <p:cNvPr id="118" name="Slide Image Placeholder 1"/>
          <p:cNvSpPr>
            <a:spLocks noGrp="true" noRot="true" noChangeAspect="true"/>
          </p:cNvSpPr>
          <p:nvPr>
            <p:ph type="sldImg"/>
          </p:nvPr>
        </p:nvSpPr>
        <p:spPr/>
        <p:txBody>
          <a:bodyPr/>
          <a:p>
            <a:pPr/>
            <a:endParaRPr/>
          </a:p>
        </p:txBody>
      </p:sp>
      <p:sp>
        <p:nvSpPr>
          <p:cNvPr id="119" name="Notes Placeholder 2"/>
          <p:cNvSpPr>
            <a:spLocks noGrp="true"/>
          </p:cNvSpPr>
          <p:nvPr>
            <p:ph type="body" idx="1"/>
          </p:nvPr>
        </p:nvSpPr>
        <p:spPr/>
        <p:txBody>
          <a:bodyPr/>
          <a:lstStyle/>
          <a:p>
            <a:pPr/>
            <a:r>
              <a:rPr lang="en-US" dirty="false"/>
              <a:t>【研究背景介绍】
【激光焊接技术】
激光焊接是现代精密制造中的核心工艺之一。与传统焊接方法相比，激光焊接具有能量密度高、热影响区小、焊接速度快、变形小等优点，因此广泛应用于航空航天、汽车制造、电子元器件等对焊接质量要求极高的领域。
在激光焊接过程中，焊接熔深是衡量焊接质量的关键参数。熔深过浅会导致焊接强度不足，熔深过深则可能造成焊穿等缺陷。因此，实时监测焊接熔深对于保证焊接质量至关重要。
【OCT检测技术】
光学相干断层扫描（Optical Coherence Tomography，简称OCT）是一种基于低相干干涉原理的高分辨率成像技术。OCT技术最早应用于医学眼科成像，近年来被引入到工业检测领域。
OCT在激光焊接检测中的优势包括：
1. 非接触式测量，不会干扰焊接过程
2. 微米级的轴向分辨率，可以精确测量熔深
3. 成像速度快，可以实现实时在线检测
【右侧图像说明】
右边展示的是焊接OCT图像的示例。图(a)是原始OCT图像，可以看到图像中存在明显的散斑噪声，熔池区域（图中较亮的细长结构）与背景的边界比较模糊。图(b)是对应的人工标注掩码，白色区域代表熔深目标。
【核心需求】
我们的核心需求是开发一种能够从OCT图像中精确分割出熔池区域的深度学习方法，这将为激光焊接的实时质量监测和闭环控制提供技术支撑。
【过渡】
然而，要实现这一目标，我们面临着一些具体的技术挑战，下面我来详细介绍。</a:t>
            </a:r>
            <a:endParaRPr lang="en-US" dirty="false"/>
          </a:p>
        </p:txBody>
      </p:sp>
      <p:sp>
        <p:nvSpPr>
          <p:cNvPr id="120" name="Slide Number Placeholder 3"/>
          <p:cNvSpPr>
            <a:spLocks noGrp="true"/>
          </p:cNvSpPr>
          <p:nvPr>
            <p:ph type="sldNum" sz="quarter" idx="10"/>
          </p:nvPr>
        </p:nvSpPr>
        <p:spPr/>
        <p:txBody>
          <a:bodyPr/>
          <a:lstStyle/>
          <a:p>
            <a:pPr/>
            <a:fld id="{F7021451-1387-4CA6-816F-3879F97B5CBC}" type="slidenum">
              <a:rPr lang="en-US"/>
              <a:t>4</a:t>
            </a:fld>
            <a:endParaRPr lang="en-US"/>
          </a:p>
        </p:txBody>
      </p:sp>
    </p:spTree>
  </p:cSld>
</p:notes>
</file>

<file path=ppt/notesSlides/notesSlide31.xml><?xml version="1.0" encoding="utf-8"?>
<p:notes xmlns:a="http://schemas.openxmlformats.org/drawingml/2006/main" xmlns:p="http://schemas.openxmlformats.org/presentationml/2006/main">
  <p:cSld>
    <p:spTree>
      <p:nvGrpSpPr>
        <p:cNvPr id="121" name=""/>
        <p:cNvGrpSpPr/>
        <p:nvPr/>
      </p:nvGrpSpPr>
      <p:grpSpPr>
        <a:xfrm>
          <a:off x="0" y="0"/>
          <a:ext cx="0" cy="0"/>
          <a:chOff x="0" y="0"/>
          <a:chExt cx="0" cy="0"/>
        </a:xfrm>
      </p:grpSpPr>
      <p:sp>
        <p:nvSpPr>
          <p:cNvPr id="122" name="Slide Image Placeholder 1"/>
          <p:cNvSpPr>
            <a:spLocks noGrp="true" noRot="true" noChangeAspect="true"/>
          </p:cNvSpPr>
          <p:nvPr>
            <p:ph type="sldImg"/>
          </p:nvPr>
        </p:nvSpPr>
        <p:spPr/>
        <p:txBody>
          <a:bodyPr/>
          <a:p>
            <a:pPr/>
            <a:endParaRPr/>
          </a:p>
        </p:txBody>
      </p:sp>
      <p:sp>
        <p:nvSpPr>
          <p:cNvPr id="123" name="Notes Placeholder 2"/>
          <p:cNvSpPr>
            <a:spLocks noGrp="true"/>
          </p:cNvSpPr>
          <p:nvPr>
            <p:ph type="body" idx="1"/>
          </p:nvPr>
        </p:nvSpPr>
        <p:spPr/>
        <p:txBody>
          <a:bodyPr/>
          <a:lstStyle/>
          <a:p>
            <a:pPr/>
            <a:r>
              <a:rPr lang="en-US" dirty="false"/>
              <a:t>【问题与挑战】
OCT图像的语义分割面临三个主要挑战：
【挑战一：散斑噪声干扰】
散斑噪声是OCT成像原理固有的问题。OCT利用低相干光的干涉原理成像，当光波在散射介质中传播时，会产生随机的干涉斑点，形成所谓的散斑噪声。
散斑噪声的特点是：
- 呈颗粒状分布，与有用信号混杂
- 传统的线性滤波难以有效去除（因为会同时模糊边缘）
- 信噪比较低，影响特征提取的准确性
【挑战二：边界模糊】
熔池区域与基材之间的过渡区域边界往往比较模糊，没有清晰的分界线。此外，熔深区域通常呈现细长的结构特点，纵横比可能达到1:10甚至更高。
这种细长结构给分割带来的困难是：
- 需要模型具有较大的感受野来理解整体结构
- 边界像素数量较多，对边界分割精度要求高
- 容易出现断裂或过度平滑的问题
【挑战三：对比度不足】
OCT图像中目标区域与背景区域的灰度对比度较低，这是因为：
- 熔池金属与周围材料的光学特性差异不大
- 成像过程中的衰减导致深层信号较弱
低对比度容易导致模型的欠分割（漏检）或过分割（误检）。
【现有方法的局限性】
传统的基于卷积神经网络的分割模型，如U-Net、DeepLabV3+等，受限于卷积操作的局部性，感受野范围有限。这导致：
- 难以建立长距离依赖关系，无法有效理解细长结构的整体语义
- 边界区域缺乏精确的空间位置信息
【本文的解决思路】
针对这些问题，本文提出引入双重注意力机制：
- TR模块：基于Transformer的全局注意力，增强长程依赖建模
- SAE模块：空间感知增强，改善边界分割质量
【过渡】
下面我来介绍本研究的具体意义和目标。</a:t>
            </a:r>
            <a:endParaRPr lang="en-US" dirty="false"/>
          </a:p>
        </p:txBody>
      </p:sp>
      <p:sp>
        <p:nvSpPr>
          <p:cNvPr id="124" name="Slide Number Placeholder 3"/>
          <p:cNvSpPr>
            <a:spLocks noGrp="true"/>
          </p:cNvSpPr>
          <p:nvPr>
            <p:ph type="sldNum" sz="quarter" idx="10"/>
          </p:nvPr>
        </p:nvSpPr>
        <p:spPr/>
        <p:txBody>
          <a:bodyPr/>
          <a:lstStyle/>
          <a:p>
            <a:pPr/>
            <a:fld id="{F7021451-1387-4CA6-816F-3879F97B5CBC}" type="slidenum">
              <a:rPr lang="en-US"/>
              <a:t>5</a:t>
            </a:fld>
            <a:endParaRPr lang="en-US"/>
          </a:p>
        </p:txBody>
      </p:sp>
    </p:spTree>
  </p:cSld>
</p:notes>
</file>

<file path=ppt/notesSlides/notesSlide32.xml><?xml version="1.0" encoding="utf-8"?>
<p:notes xmlns:a="http://schemas.openxmlformats.org/drawingml/2006/main" xmlns:p="http://schemas.openxmlformats.org/presentationml/2006/main">
  <p:cSld>
    <p:spTree>
      <p:nvGrpSpPr>
        <p:cNvPr id="125" name=""/>
        <p:cNvGrpSpPr/>
        <p:nvPr/>
      </p:nvGrpSpPr>
      <p:grpSpPr>
        <a:xfrm>
          <a:off x="0" y="0"/>
          <a:ext cx="0" cy="0"/>
          <a:chOff x="0" y="0"/>
          <a:chExt cx="0" cy="0"/>
        </a:xfrm>
      </p:grpSpPr>
      <p:sp>
        <p:nvSpPr>
          <p:cNvPr id="126" name="Slide Image Placeholder 1"/>
          <p:cNvSpPr>
            <a:spLocks noGrp="true" noRot="true" noChangeAspect="true"/>
          </p:cNvSpPr>
          <p:nvPr>
            <p:ph type="sldImg"/>
          </p:nvPr>
        </p:nvSpPr>
        <p:spPr/>
        <p:txBody>
          <a:bodyPr/>
          <a:p>
            <a:pPr/>
            <a:endParaRPr/>
          </a:p>
        </p:txBody>
      </p:sp>
      <p:sp>
        <p:nvSpPr>
          <p:cNvPr id="127" name="Notes Placeholder 2"/>
          <p:cNvSpPr>
            <a:spLocks noGrp="true"/>
          </p:cNvSpPr>
          <p:nvPr>
            <p:ph type="body" idx="1"/>
          </p:nvPr>
        </p:nvSpPr>
        <p:spPr/>
        <p:txBody>
          <a:bodyPr/>
          <a:lstStyle/>
          <a:p>
            <a:pPr/>
            <a:r>
              <a:rPr lang="en-US" dirty="false"/>
              <a:t>【研究意义与目标】
【理论意义】
从理论研究的角度，本文探索了全局注意力与局部注意力在语义分割任务中的协同作用机制。
具体来说：
- 研究了Transformer注意力机制在编码器端增强全局语义理解的作用
- 探索了坐标注意力和通道注意力在解码器端增强边界感知的方法
- 分析了两种注意力机制的互补特性和协同效应
这些研究为编码器-解码器架构的改进提供了新的思路，具有一定的理论参考价值。
【技术价值】
从技术创新的角度，本文提出了两个核心模块：
TR模块（Transformer Routing）：
- 借鉴BiFormer的双层路由注意力思想
- 通过区域级路由和TopK稀疏选择降低计算复杂度
- 在可控的计算开销下实现全局上下文建模
SAE模块（Spatial-Aware Enhancement）：
- 结合坐标注意力编码空间位置信息
- 结合通道注意力突出判别性特征
- 显著改善边界分割质量
【应用前景】
本研究的成果具有广泛的应用前景：
1. 在激光焊接领域：可以实现焊接熔深的实时在线检测，支持焊接质量的闭环控制
2. 在医学影像领域：OCT技术广泛用于眼科成像，本文方法可以推广到视网膜层分割等任务
3. 在工业检测领域：裂缝检测、缺陷检测等任务也可以借鉴本文的方法
【研究目标】
基于以上分析，本文设定了四个具体的研究目标：
1. 设计TR模块，增强模型对全局上下文的建模能力
2. 设计SAE模块，改善模型对目标边界的分割质量
3. 在自建数据集上实现mIoU指标的显著提升
4. 保持合理的推理效率，满足潜在的实时应用需求
【过渡】
在开始介绍具体的技术方案之前，我先简要介绍一下本研究涉及的相关技术基础。</a:t>
            </a:r>
            <a:endParaRPr lang="en-US" dirty="false"/>
          </a:p>
        </p:txBody>
      </p:sp>
      <p:sp>
        <p:nvSpPr>
          <p:cNvPr id="128" name="Slide Number Placeholder 3"/>
          <p:cNvSpPr>
            <a:spLocks noGrp="true"/>
          </p:cNvSpPr>
          <p:nvPr>
            <p:ph type="sldNum" sz="quarter" idx="10"/>
          </p:nvPr>
        </p:nvSpPr>
        <p:spPr/>
        <p:txBody>
          <a:bodyPr/>
          <a:lstStyle/>
          <a:p>
            <a:pPr/>
            <a:fld id="{F7021451-1387-4CA6-816F-3879F97B5CBC}" type="slidenum">
              <a:rPr lang="en-US"/>
              <a:t>6</a:t>
            </a:fld>
            <a:endParaRPr lang="en-US"/>
          </a:p>
        </p:txBody>
      </p:sp>
    </p:spTree>
  </p:cSld>
</p:notes>
</file>

<file path=ppt/notesSlides/notesSlide33.xml><?xml version="1.0" encoding="utf-8"?>
<p:notes xmlns:a="http://schemas.openxmlformats.org/drawingml/2006/main" xmlns:p="http://schemas.openxmlformats.org/presentationml/2006/main">
  <p:cSld>
    <p:spTree>
      <p:nvGrpSpPr>
        <p:cNvPr id="129" name=""/>
        <p:cNvGrpSpPr/>
        <p:nvPr/>
      </p:nvGrpSpPr>
      <p:grpSpPr>
        <a:xfrm>
          <a:off x="0" y="0"/>
          <a:ext cx="0" cy="0"/>
          <a:chOff x="0" y="0"/>
          <a:chExt cx="0" cy="0"/>
        </a:xfrm>
      </p:grpSpPr>
      <p:sp>
        <p:nvSpPr>
          <p:cNvPr id="130" name="Slide Image Placeholder 1"/>
          <p:cNvSpPr>
            <a:spLocks noGrp="true" noRot="true" noChangeAspect="true"/>
          </p:cNvSpPr>
          <p:nvPr>
            <p:ph type="sldImg"/>
          </p:nvPr>
        </p:nvSpPr>
        <p:spPr/>
        <p:txBody>
          <a:bodyPr/>
          <a:p>
            <a:pPr/>
            <a:endParaRPr/>
          </a:p>
        </p:txBody>
      </p:sp>
      <p:sp>
        <p:nvSpPr>
          <p:cNvPr id="131" name="Notes Placeholder 2"/>
          <p:cNvSpPr>
            <a:spLocks noGrp="true"/>
          </p:cNvSpPr>
          <p:nvPr>
            <p:ph type="body" idx="1"/>
          </p:nvPr>
        </p:nvSpPr>
        <p:spPr/>
        <p:txBody>
          <a:bodyPr/>
          <a:lstStyle/>
          <a:p>
            <a:pPr/>
            <a:r>
              <a:rPr lang="en-US" dirty="false"/>
              <a:t>【第二章：相关技术基础】
在介绍本文的核心创新之前，我先简要回顾一下相关的技术基础，主要包括五个方面：
1. CNN基础组件：卷积层和池化层的工作原理
2. 经典语义分割网络：FCN和U-Net的设计思想
3. DeepLabV3+网络结构：本文选择的基线模型
4. 数据集构建：自建焊接OCT数据集的构建过程
5. 评估指标：mIoU、mAcc、mDice、HD95等指标的定义
这部分内容我会相对简略地介绍，重点放在与本文改进相关的部分。
【过渡】
首先来看CNN的基础组件。</a:t>
            </a:r>
            <a:endParaRPr lang="en-US" dirty="false"/>
          </a:p>
        </p:txBody>
      </p:sp>
      <p:sp>
        <p:nvSpPr>
          <p:cNvPr id="132" name="Slide Number Placeholder 3"/>
          <p:cNvSpPr>
            <a:spLocks noGrp="true"/>
          </p:cNvSpPr>
          <p:nvPr>
            <p:ph type="sldNum" sz="quarter" idx="10"/>
          </p:nvPr>
        </p:nvSpPr>
        <p:spPr/>
        <p:txBody>
          <a:bodyPr/>
          <a:lstStyle/>
          <a:p>
            <a:pPr/>
            <a:fld id="{F7021451-1387-4CA6-816F-3879F97B5CBC}" type="slidenum">
              <a:rPr lang="en-US"/>
              <a:t>7</a:t>
            </a:fld>
            <a:endParaRPr lang="en-US"/>
          </a:p>
        </p:txBody>
      </p:sp>
    </p:spTree>
  </p:cSld>
</p:notes>
</file>

<file path=ppt/notesSlides/notesSlide34.xml><?xml version="1.0" encoding="utf-8"?>
<p:notes xmlns:a="http://schemas.openxmlformats.org/drawingml/2006/main" xmlns:p="http://schemas.openxmlformats.org/presentationml/2006/main">
  <p:cSld>
    <p:spTree>
      <p:nvGrpSpPr>
        <p:cNvPr id="133" name=""/>
        <p:cNvGrpSpPr/>
        <p:nvPr/>
      </p:nvGrpSpPr>
      <p:grpSpPr>
        <a:xfrm>
          <a:off x="0" y="0"/>
          <a:ext cx="0" cy="0"/>
          <a:chOff x="0" y="0"/>
          <a:chExt cx="0" cy="0"/>
        </a:xfrm>
      </p:grpSpPr>
      <p:sp>
        <p:nvSpPr>
          <p:cNvPr id="134" name="Slide Image Placeholder 1"/>
          <p:cNvSpPr>
            <a:spLocks noGrp="true" noRot="true" noChangeAspect="true"/>
          </p:cNvSpPr>
          <p:nvPr>
            <p:ph type="sldImg"/>
          </p:nvPr>
        </p:nvSpPr>
        <p:spPr/>
        <p:txBody>
          <a:bodyPr/>
          <a:p>
            <a:pPr/>
            <a:endParaRPr/>
          </a:p>
        </p:txBody>
      </p:sp>
      <p:sp>
        <p:nvSpPr>
          <p:cNvPr id="135" name="Notes Placeholder 2"/>
          <p:cNvSpPr>
            <a:spLocks noGrp="true"/>
          </p:cNvSpPr>
          <p:nvPr>
            <p:ph type="body" idx="1"/>
          </p:nvPr>
        </p:nvSpPr>
        <p:spPr/>
        <p:txBody>
          <a:bodyPr/>
          <a:lstStyle/>
          <a:p>
            <a:pPr/>
            <a:r>
              <a:rPr lang="en-US" dirty="false"/>
              <a:t>【CNN基础组件】
这一页我来介绍卷积神经网络的两个核心组件：卷积层和池化层。
【卷积层 - 特征提取的核心】
卷积层是CNN最重要的组件，它通过卷积运算从输入图像中提取特征。
工作原理：
1. 使用一个小的卷积核（比如3×3）在输入特征图上滑动
2. 在每个位置计算卷积核与对应区域的点积，得到一个输出值
3. 滑动完成后，生成一张新的特征图（Feature Map）
数学表达式：
y(i,j) = Σ_m Σ_n x(i+m, j+n) × w(m,n) + b
其中x是输入，w是卷积核权重，b是偏置。
【卷积层的两个关键特性】
1. 参数共享：同一个卷积核在整个图像上使用相同的参数，大大减少了参数量
2. 局部连接：每个输出只与输入的局部区域相关，保留了空间结构信息
【池化层 - 降维与抽象】
池化层的作用是对特征图进行下采样，降低分辨率。
两种常见的池化方式：
1. 最大池化（Max Pooling）：取窗口内的最大值，保留最显著的特征
2. 平均池化（Average Pooling）：取窗口内的平均值，保留全局信息
池化的好处：
- 减少计算量和参数量
- 增加特征的平移不变性
- 扩大后续层的感受野
【CNN的三个核心特性】
底部总结了CNN的三个核心特性：
1. 局部连接：每个神经元只关注局部区域，而不是整个输入
2. 权值共享：减少参数量，提高训练效率
3. 层级特征：浅层提取边缘、纹理等低级特征，深层提取语义等高级特征
【过渡】
基于这些基础组件，研究者们设计了各种语义分割网络，下面我来介绍几个经典的架构。</a:t>
            </a:r>
            <a:endParaRPr lang="en-US" dirty="false"/>
          </a:p>
        </p:txBody>
      </p:sp>
      <p:sp>
        <p:nvSpPr>
          <p:cNvPr id="136" name="Slide Number Placeholder 3"/>
          <p:cNvSpPr>
            <a:spLocks noGrp="true"/>
          </p:cNvSpPr>
          <p:nvPr>
            <p:ph type="sldNum" sz="quarter" idx="10"/>
          </p:nvPr>
        </p:nvSpPr>
        <p:spPr/>
        <p:txBody>
          <a:bodyPr/>
          <a:lstStyle/>
          <a:p>
            <a:pPr/>
            <a:fld id="{F7021451-1387-4CA6-816F-3879F97B5CBC}" type="slidenum">
              <a:rPr lang="en-US"/>
              <a:t>8</a:t>
            </a:fld>
            <a:endParaRPr lang="en-US"/>
          </a:p>
        </p:txBody>
      </p:sp>
    </p:spTree>
  </p:cSld>
</p:notes>
</file>

<file path=ppt/notesSlides/notesSlide35.xml><?xml version="1.0" encoding="utf-8"?>
<p:notes xmlns:a="http://schemas.openxmlformats.org/drawingml/2006/main" xmlns:p="http://schemas.openxmlformats.org/presentationml/2006/main">
  <p:cSld>
    <p:spTree>
      <p:nvGrpSpPr>
        <p:cNvPr id="137" name=""/>
        <p:cNvGrpSpPr/>
        <p:nvPr/>
      </p:nvGrpSpPr>
      <p:grpSpPr>
        <a:xfrm>
          <a:off x="0" y="0"/>
          <a:ext cx="0" cy="0"/>
          <a:chOff x="0" y="0"/>
          <a:chExt cx="0" cy="0"/>
        </a:xfrm>
      </p:grpSpPr>
      <p:sp>
        <p:nvSpPr>
          <p:cNvPr id="138" name="Slide Image Placeholder 1"/>
          <p:cNvSpPr>
            <a:spLocks noGrp="true" noRot="true" noChangeAspect="true"/>
          </p:cNvSpPr>
          <p:nvPr>
            <p:ph type="sldImg"/>
          </p:nvPr>
        </p:nvSpPr>
        <p:spPr/>
        <p:txBody>
          <a:bodyPr/>
          <a:p>
            <a:pPr/>
            <a:endParaRPr/>
          </a:p>
        </p:txBody>
      </p:sp>
      <p:sp>
        <p:nvSpPr>
          <p:cNvPr id="139" name="Notes Placeholder 2"/>
          <p:cNvSpPr>
            <a:spLocks noGrp="true"/>
          </p:cNvSpPr>
          <p:nvPr>
            <p:ph type="body" idx="1"/>
          </p:nvPr>
        </p:nvSpPr>
        <p:spPr/>
        <p:txBody>
          <a:bodyPr/>
          <a:lstStyle/>
          <a:p>
            <a:pPr/>
            <a:r>
              <a:rPr lang="en-US" dirty="false"/>
              <a:t>【经典语义分割网络】
这一页介绍两个里程碑式的语义分割网络：FCN和U-Net。
【FCN - 全卷积网络（2015）】
FCN是第一个真正意义上的端到端语义分割网络，由Jonathan Long等人在2015年提出。
核心创新：
1. 用卷积层替代全连接层
   - 传统分类网络最后有全连接层，只能输出固定大小的向量
   - FCN将全连接层替换为1×1卷积，可以输出任意大小的特征图
2. 支持任意尺寸输入
   - 由于全部是卷积操作，网络可以接受任意大小的图像
3. 跳跃连接（Skip Connections）
   - 将不同深度的特征图融合
   - 结合深层的语义信息和浅层的位置信息
FCN有几个变体：FCN-32s、FCN-16s、FCN-8s，数字表示上采样的倍数。
【U-Net - 编码器-解码器结构（2015）】
U-Net由Olaf Ronneberger等人提出，最初用于医学图像分割。
核心设计：
1. 对称的U型结构
   - 左边是编码器（下采样路径）：逐步提取特征，降低分辨率
   - 右边是解码器（上采样路径）：逐步恢复分辨率
2. 跳跃连接（Skip Connections）
   - 将编码器每一层的特征直接拼接到解码器对应层
   - 保留了精细的位置信息，有助于精确分割边界
U-Net的优势：
- 在小样本数据集上表现优异
- 特别适合医学图像分割任务
- 结构简洁，易于理解和改进
【发展脉络】
语义分割网络的发展经历了几个阶段：
全卷积化（FCN）→ 编码器-解码器（U-Net）→ 空洞卷积/ASPP（DeepLab）→ 注意力机制（Transformer）
本文的改进正是沿着这条脉络，在DeepLabV3+基础上引入注意力机制。
【过渡】
下面详细介绍本文选择的基线模型——DeepLabV3+。</a:t>
            </a:r>
            <a:endParaRPr lang="en-US" dirty="false"/>
          </a:p>
        </p:txBody>
      </p:sp>
      <p:sp>
        <p:nvSpPr>
          <p:cNvPr id="140" name="Slide Number Placeholder 3"/>
          <p:cNvSpPr>
            <a:spLocks noGrp="true"/>
          </p:cNvSpPr>
          <p:nvPr>
            <p:ph type="sldNum" sz="quarter" idx="10"/>
          </p:nvPr>
        </p:nvSpPr>
        <p:spPr/>
        <p:txBody>
          <a:bodyPr/>
          <a:lstStyle/>
          <a:p>
            <a:pPr/>
            <a:fld id="{F7021451-1387-4CA6-816F-3879F97B5CBC}" type="slidenum">
              <a:rPr lang="en-US"/>
              <a:t>9</a:t>
            </a:fld>
            <a:endParaRPr lang="en-US"/>
          </a:p>
        </p:txBody>
      </p:sp>
    </p:spTree>
  </p:cSld>
</p:notes>
</file>

<file path=ppt/slideLayouts/_rels/slideLayout1.xml.rels><?xml version="1.0" encoding="UTF-8" standalone="yes"?><Relationships xmlns="http://schemas.openxmlformats.org/package/2006/relationships"><Relationship Id="rId0"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theme" Target="../theme/theme1.xml" /><Relationship Id="rId0" Type="http://schemas.openxmlformats.org/officeDocument/2006/relationships/slideLayout" Target="../slideLayouts/slideLayout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0"/>
  </p:sldLayoutIdLst>
  <p:hf sldNum="false" hdr="false" ftr="false" dt="false"/>
  <p:txStyles>
    <p:titleStyle>
      <a:lvl1pPr algn="ctr" defTabSz="914400" rtl="false" eaLnBrk="true" latinLnBrk="false" hangingPunct="true">
        <a:spcBef>
          <a:spcPct val="1"/>
        </a:spcBef>
        <a:buNone/>
        <a:defRPr sz="4400" kern="1200">
          <a:solidFill>
            <a:schemeClr val="tx1"/>
          </a:solidFill>
          <a:latin typeface="+mj-lt"/>
          <a:ea typeface="+mj-ea"/>
          <a:cs typeface="+mj-cs"/>
        </a:defRPr>
      </a:lvl1pPr>
    </p:titleStyle>
    <p:bodyStyle>
      <a:lvl1pPr marL="342900" indent="-342900" algn="l" defTabSz="914400" rtl="false" eaLnBrk="true" latinLnBrk="false" hangingPunct="true">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false" eaLnBrk="true" latinLnBrk="false" hangingPunct="true">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false" eaLnBrk="true" latinLnBrk="false" hangingPunct="true">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false" eaLnBrk="true" latinLnBrk="false" hangingPunct="true">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false" eaLnBrk="true" latinLnBrk="false" hangingPunct="true">
        <a:defRPr sz="1800" kern="1200">
          <a:solidFill>
            <a:schemeClr val="tx1"/>
          </a:solidFill>
          <a:latin typeface="+mn-lt"/>
          <a:ea typeface="+mn-ea"/>
          <a:cs typeface="+mn-cs"/>
        </a:defRPr>
      </a:lvl1pPr>
      <a:lvl2pPr marL="457200" algn="l" defTabSz="914400" rtl="false" eaLnBrk="true" latinLnBrk="false" hangingPunct="true">
        <a:defRPr sz="1800" kern="1200">
          <a:solidFill>
            <a:schemeClr val="tx1"/>
          </a:solidFill>
          <a:latin typeface="+mn-lt"/>
          <a:ea typeface="+mn-ea"/>
          <a:cs typeface="+mn-cs"/>
        </a:defRPr>
      </a:lvl2pPr>
      <a:lvl3pPr marL="914400" algn="l" defTabSz="914400" rtl="false" eaLnBrk="true" latinLnBrk="false" hangingPunct="true">
        <a:defRPr sz="1800" kern="1200">
          <a:solidFill>
            <a:schemeClr val="tx1"/>
          </a:solidFill>
          <a:latin typeface="+mn-lt"/>
          <a:ea typeface="+mn-ea"/>
          <a:cs typeface="+mn-cs"/>
        </a:defRPr>
      </a:lvl3pPr>
      <a:lvl4pPr marL="1371600" algn="l" defTabSz="914400" rtl="false" eaLnBrk="true" latinLnBrk="false" hangingPunct="true">
        <a:defRPr sz="1800" kern="1200">
          <a:solidFill>
            <a:schemeClr val="tx1"/>
          </a:solidFill>
          <a:latin typeface="+mn-lt"/>
          <a:ea typeface="+mn-ea"/>
          <a:cs typeface="+mn-cs"/>
        </a:defRPr>
      </a:lvl4pPr>
      <a:lvl5pPr marL="1828800" algn="l" defTabSz="914400" rtl="false" eaLnBrk="true" latinLnBrk="false" hangingPunct="true">
        <a:defRPr sz="1800" kern="1200">
          <a:solidFill>
            <a:schemeClr val="tx1"/>
          </a:solidFill>
          <a:latin typeface="+mn-lt"/>
          <a:ea typeface="+mn-ea"/>
          <a:cs typeface="+mn-cs"/>
        </a:defRPr>
      </a:lvl5pPr>
      <a:lvl6pPr marL="2286000" algn="l" defTabSz="914400" rtl="false" eaLnBrk="true" latinLnBrk="false" hangingPunct="true">
        <a:defRPr sz="1800" kern="1200">
          <a:solidFill>
            <a:schemeClr val="tx1"/>
          </a:solidFill>
          <a:latin typeface="+mn-lt"/>
          <a:ea typeface="+mn-ea"/>
          <a:cs typeface="+mn-cs"/>
        </a:defRPr>
      </a:lvl6pPr>
      <a:lvl7pPr marL="2743200" algn="l" defTabSz="914400" rtl="false" eaLnBrk="true" latinLnBrk="false" hangingPunct="true">
        <a:defRPr sz="1800" kern="1200">
          <a:solidFill>
            <a:schemeClr val="tx1"/>
          </a:solidFill>
          <a:latin typeface="+mn-lt"/>
          <a:ea typeface="+mn-ea"/>
          <a:cs typeface="+mn-cs"/>
        </a:defRPr>
      </a:lvl7pPr>
      <a:lvl8pPr marL="3200400" algn="l" defTabSz="914400" rtl="false" eaLnBrk="true" latinLnBrk="false" hangingPunct="true">
        <a:defRPr sz="1800" kern="1200">
          <a:solidFill>
            <a:schemeClr val="tx1"/>
          </a:solidFill>
          <a:latin typeface="+mn-lt"/>
          <a:ea typeface="+mn-ea"/>
          <a:cs typeface="+mn-cs"/>
        </a:defRPr>
      </a:lvl8pPr>
      <a:lvl9pPr marL="3657600" algn="l" defTabSz="914400" rtl="false" eaLnBrk="true" latinLnBrk="false" hangingPunct="true">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notesSlide" Target="../notesSlides/notesSlide1.xml" /><Relationship Id="rId0" Type="http://schemas.openxmlformats.org/officeDocument/2006/relationships/slideLayout" Target="../slideLayouts/slideLayout1.xml" /></Relationships>
</file>

<file path=ppt/slides/_rels/slide2.xml.rels><?xml version="1.0" encoding="UTF-8" standalone="yes"?><Relationships xmlns="http://schemas.openxmlformats.org/package/2006/relationships"><Relationship Id="rId1" Type="http://schemas.openxmlformats.org/officeDocument/2006/relationships/notesSlide" Target="../notesSlides/notesSlide12.xml" /><Relationship Id="rId0" Type="http://schemas.openxmlformats.org/officeDocument/2006/relationships/slideLayout" Target="../slideLayouts/slideLayout1.xml" /></Relationships>
</file>

<file path=ppt/slides/_rels/slide3.xml.rels><?xml version="1.0" encoding="UTF-8" standalone="yes"?><Relationships xmlns="http://schemas.openxmlformats.org/package/2006/relationships"><Relationship Id="rId1" Type="http://schemas.openxmlformats.org/officeDocument/2006/relationships/notesSlide" Target="../notesSlides/notesSlide23.xml" /><Relationship Id="rId0" Type="http://schemas.openxmlformats.org/officeDocument/2006/relationships/slideLayout" Target="../slideLayouts/slideLayout1.xml" /></Relationships>
</file>

<file path=ppt/slides/_rels/slide4.xml.rels><?xml version="1.0" encoding="UTF-8" standalone="yes"?><Relationships xmlns="http://schemas.openxmlformats.org/package/2006/relationships"><Relationship Id="rId3" Type="http://schemas.openxmlformats.org/officeDocument/2006/relationships/image" Target="media/image34.png" /><Relationship Id="rId2" Type="http://schemas.openxmlformats.org/officeDocument/2006/relationships/image" Target="media/image33.png" /><Relationship Id="rId1" Type="http://schemas.openxmlformats.org/officeDocument/2006/relationships/notesSlide" Target="../notesSlides/notesSlide30.xml" /><Relationship Id="rId0" Type="http://schemas.openxmlformats.org/officeDocument/2006/relationships/slideLayout" Target="../slideLayouts/slideLayout1.xml" /></Relationships>
</file>

<file path=ppt/slides/_rels/slide5.xml.rels><?xml version="1.0" encoding="UTF-8" standalone="yes"?><Relationships xmlns="http://schemas.openxmlformats.org/package/2006/relationships"><Relationship Id="rId1" Type="http://schemas.openxmlformats.org/officeDocument/2006/relationships/notesSlide" Target="../notesSlides/notesSlide31.xml" /><Relationship Id="rId0" Type="http://schemas.openxmlformats.org/officeDocument/2006/relationships/slideLayout" Target="../slideLayouts/slideLayout1.xml" /></Relationships>
</file>

<file path=ppt/slides/_rels/slide6.xml.rels><?xml version="1.0" encoding="UTF-8" standalone="yes"?><Relationships xmlns="http://schemas.openxmlformats.org/package/2006/relationships"><Relationship Id="rId1" Type="http://schemas.openxmlformats.org/officeDocument/2006/relationships/notesSlide" Target="../notesSlides/notesSlide32.xml" /><Relationship Id="rId0" Type="http://schemas.openxmlformats.org/officeDocument/2006/relationships/slideLayout" Target="../slideLayouts/slideLayout1.xml" /></Relationships>
</file>

<file path=ppt/slides/_rels/slide7.xml.rels><?xml version="1.0" encoding="UTF-8" standalone="yes"?><Relationships xmlns="http://schemas.openxmlformats.org/package/2006/relationships"><Relationship Id="rId1" Type="http://schemas.openxmlformats.org/officeDocument/2006/relationships/notesSlide" Target="../notesSlides/notesSlide33.xml" /><Relationship Id="rId0" Type="http://schemas.openxmlformats.org/officeDocument/2006/relationships/slideLayout" Target="../slideLayouts/slideLayout1.xml" /></Relationships>
</file>

<file path=ppt/slides/_rels/slide8.xml.rels><?xml version="1.0" encoding="UTF-8" standalone="yes"?><Relationships xmlns="http://schemas.openxmlformats.org/package/2006/relationships"><Relationship Id="rId3" Type="http://schemas.openxmlformats.org/officeDocument/2006/relationships/image" Target="media/image36.png" /><Relationship Id="rId2" Type="http://schemas.openxmlformats.org/officeDocument/2006/relationships/image" Target="media/image35.png" /><Relationship Id="rId1" Type="http://schemas.openxmlformats.org/officeDocument/2006/relationships/notesSlide" Target="../notesSlides/notesSlide34.xml" /><Relationship Id="rId0" Type="http://schemas.openxmlformats.org/officeDocument/2006/relationships/slideLayout" Target="../slideLayouts/slideLayout1.xml" /></Relationships>
</file>

<file path=ppt/slides/_rels/slide9.xml.rels><?xml version="1.0" encoding="UTF-8" standalone="yes"?><Relationships xmlns="http://schemas.openxmlformats.org/package/2006/relationships"><Relationship Id="rId3" Type="http://schemas.openxmlformats.org/officeDocument/2006/relationships/image" Target="media/image38.png" /><Relationship Id="rId2" Type="http://schemas.openxmlformats.org/officeDocument/2006/relationships/image" Target="media/image37.png" /><Relationship Id="rId1" Type="http://schemas.openxmlformats.org/officeDocument/2006/relationships/notesSlide" Target="../notesSlides/notesSlide35.xml" /><Relationship Id="rId0" Type="http://schemas.openxmlformats.org/officeDocument/2006/relationships/slideLayout" Target="../slideLayouts/slideLayout1.xml" /></Relationships>
</file>

<file path=ppt/slides/_rels/slide10.xml.rels><?xml version="1.0" encoding="UTF-8" standalone="yes"?><Relationships xmlns="http://schemas.openxmlformats.org/package/2006/relationships"><Relationship Id="rId2" Type="http://schemas.openxmlformats.org/officeDocument/2006/relationships/image" Target="media/image1.png" /><Relationship Id="rId1" Type="http://schemas.openxmlformats.org/officeDocument/2006/relationships/notesSlide" Target="../notesSlides/notesSlide2.xml" /><Relationship Id="rId0" Type="http://schemas.openxmlformats.org/officeDocument/2006/relationships/slideLayout" Target="../slideLayouts/slideLayout1.xml" /></Relationships>
</file>

<file path=ppt/slides/_rels/slide11.xml.rels><?xml version="1.0" encoding="UTF-8" standalone="yes"?><Relationships xmlns="http://schemas.openxmlformats.org/package/2006/relationships"><Relationship Id="rId2" Type="http://schemas.openxmlformats.org/officeDocument/2006/relationships/image" Target="media/image2.png" /><Relationship Id="rId1" Type="http://schemas.openxmlformats.org/officeDocument/2006/relationships/notesSlide" Target="../notesSlides/notesSlide3.xml" /><Relationship Id="rId0" Type="http://schemas.openxmlformats.org/officeDocument/2006/relationships/slideLayout" Target="../slideLayouts/slideLayout1.xml" /></Relationships>
</file>

<file path=ppt/slides/_rels/slide12.xml.rels><?xml version="1.0" encoding="UTF-8" standalone="yes"?><Relationships xmlns="http://schemas.openxmlformats.org/package/2006/relationships"><Relationship Id="rId7" Type="http://schemas.openxmlformats.org/officeDocument/2006/relationships/image" Target="media/image8.png" /><Relationship Id="rId6" Type="http://schemas.openxmlformats.org/officeDocument/2006/relationships/image" Target="media/image7.png" /><Relationship Id="rId5" Type="http://schemas.openxmlformats.org/officeDocument/2006/relationships/image" Target="media/image6.png" /><Relationship Id="rId1" Type="http://schemas.openxmlformats.org/officeDocument/2006/relationships/notesSlide" Target="../notesSlides/notesSlide4.xml" /><Relationship Id="rId4" Type="http://schemas.openxmlformats.org/officeDocument/2006/relationships/image" Target="media/image5.png" /><Relationship Id="rId3" Type="http://schemas.openxmlformats.org/officeDocument/2006/relationships/image" Target="media/image4.png" /><Relationship Id="rId2" Type="http://schemas.openxmlformats.org/officeDocument/2006/relationships/image" Target="media/image3.png" /><Relationship Id="rId0" Type="http://schemas.openxmlformats.org/officeDocument/2006/relationships/slideLayout" Target="../slideLayouts/slideLayout1.xml" /></Relationships>
</file>

<file path=ppt/slides/_rels/slide13.xml.rels><?xml version="1.0" encoding="UTF-8" standalone="yes"?><Relationships xmlns="http://schemas.openxmlformats.org/package/2006/relationships"><Relationship Id="rId1" Type="http://schemas.openxmlformats.org/officeDocument/2006/relationships/notesSlide" Target="../notesSlides/notesSlide5.xml" /><Relationship Id="rId0" Type="http://schemas.openxmlformats.org/officeDocument/2006/relationships/slideLayout" Target="../slideLayouts/slideLayout1.xml" /></Relationships>
</file>

<file path=ppt/slides/_rels/slide14.xml.rels><?xml version="1.0" encoding="UTF-8" standalone="yes"?><Relationships xmlns="http://schemas.openxmlformats.org/package/2006/relationships"><Relationship Id="rId1" Type="http://schemas.openxmlformats.org/officeDocument/2006/relationships/notesSlide" Target="../notesSlides/notesSlide6.xml" /><Relationship Id="rId0" Type="http://schemas.openxmlformats.org/officeDocument/2006/relationships/slideLayout" Target="../slideLayouts/slideLayout1.xml" /></Relationships>
</file>

<file path=ppt/slides/_rels/slide15.xml.rels><?xml version="1.0" encoding="UTF-8" standalone="yes"?><Relationships xmlns="http://schemas.openxmlformats.org/package/2006/relationships"><Relationship Id="rId2" Type="http://schemas.openxmlformats.org/officeDocument/2006/relationships/image" Target="media/image9.png" /><Relationship Id="rId1" Type="http://schemas.openxmlformats.org/officeDocument/2006/relationships/notesSlide" Target="../notesSlides/notesSlide7.xml" /><Relationship Id="rId0" Type="http://schemas.openxmlformats.org/officeDocument/2006/relationships/slideLayout" Target="../slideLayouts/slideLayout1.xml" /></Relationships>
</file>

<file path=ppt/slides/_rels/slide16.xml.rels><?xml version="1.0" encoding="UTF-8" standalone="yes"?><Relationships xmlns="http://schemas.openxmlformats.org/package/2006/relationships"><Relationship Id="rId1" Type="http://schemas.openxmlformats.org/officeDocument/2006/relationships/notesSlide" Target="../notesSlides/notesSlide8.xml" /><Relationship Id="rId2" Type="http://schemas.openxmlformats.org/officeDocument/2006/relationships/image" Target="media/image10.png" /><Relationship Id="rId0" Type="http://schemas.openxmlformats.org/officeDocument/2006/relationships/slideLayout" Target="../slideLayouts/slideLayout1.xml" /></Relationships>
</file>

<file path=ppt/slides/_rels/slide17.xml.rels><?xml version="1.0" encoding="UTF-8" standalone="yes"?><Relationships xmlns="http://schemas.openxmlformats.org/package/2006/relationships"><Relationship Id="rId1" Type="http://schemas.openxmlformats.org/officeDocument/2006/relationships/notesSlide" Target="../notesSlides/notesSlide9.xml" /><Relationship Id="rId0" Type="http://schemas.openxmlformats.org/officeDocument/2006/relationships/slideLayout" Target="../slideLayouts/slideLayout1.xml" /></Relationships>
</file>

<file path=ppt/slides/_rels/slide18.xml.rels><?xml version="1.0" encoding="UTF-8" standalone="yes"?><Relationships xmlns="http://schemas.openxmlformats.org/package/2006/relationships"><Relationship Id="rId1" Type="http://schemas.openxmlformats.org/officeDocument/2006/relationships/notesSlide" Target="../notesSlides/notesSlide10.xml" /><Relationship Id="rId2" Type="http://schemas.openxmlformats.org/officeDocument/2006/relationships/image" Target="media/image11.png" /><Relationship Id="rId0" Type="http://schemas.openxmlformats.org/officeDocument/2006/relationships/slideLayout" Target="../slideLayouts/slideLayout1.xml" /></Relationships>
</file>

<file path=ppt/slides/_rels/slide19.xml.rels><?xml version="1.0" encoding="UTF-8" standalone="yes"?><Relationships xmlns="http://schemas.openxmlformats.org/package/2006/relationships"><Relationship Id="rId1" Type="http://schemas.openxmlformats.org/officeDocument/2006/relationships/notesSlide" Target="../notesSlides/notesSlide11.xml" /><Relationship Id="rId2" Type="http://schemas.openxmlformats.org/officeDocument/2006/relationships/image" Target="media/image12.png" /><Relationship Id="rId0" Type="http://schemas.openxmlformats.org/officeDocument/2006/relationships/slideLayout" Target="../slideLayouts/slideLayout1.xml" /></Relationships>
</file>

<file path=ppt/slides/_rels/slide20.xml.rels><?xml version="1.0" encoding="UTF-8" standalone="yes"?><Relationships xmlns="http://schemas.openxmlformats.org/package/2006/relationships"><Relationship Id="rId1" Type="http://schemas.openxmlformats.org/officeDocument/2006/relationships/notesSlide" Target="../notesSlides/notesSlide13.xml" /><Relationship Id="rId0" Type="http://schemas.openxmlformats.org/officeDocument/2006/relationships/slideLayout" Target="../slideLayouts/slideLayout1.xml" /></Relationships>
</file>

<file path=ppt/slides/_rels/slide21.xml.rels><?xml version="1.0" encoding="UTF-8" standalone="yes"?><Relationships xmlns="http://schemas.openxmlformats.org/package/2006/relationships"><Relationship Id="rId1" Type="http://schemas.openxmlformats.org/officeDocument/2006/relationships/notesSlide" Target="../notesSlides/notesSlide14.xml" /><Relationship Id="rId0" Type="http://schemas.openxmlformats.org/officeDocument/2006/relationships/slideLayout" Target="../slideLayouts/slideLayout1.xml" /></Relationships>
</file>

<file path=ppt/slides/_rels/slide22.xml.rels><?xml version="1.0" encoding="UTF-8" standalone="yes"?><Relationships xmlns="http://schemas.openxmlformats.org/package/2006/relationships"><Relationship Id="rId9" Type="http://schemas.openxmlformats.org/officeDocument/2006/relationships/image" Target="media/image20.png" /><Relationship Id="rId7" Type="http://schemas.openxmlformats.org/officeDocument/2006/relationships/image" Target="media/image18.png" /><Relationship Id="rId6" Type="http://schemas.openxmlformats.org/officeDocument/2006/relationships/image" Target="media/image17.png" /><Relationship Id="rId5" Type="http://schemas.openxmlformats.org/officeDocument/2006/relationships/image" Target="media/image16.png" /><Relationship Id="rId4" Type="http://schemas.openxmlformats.org/officeDocument/2006/relationships/image" Target="media/image15.png" /><Relationship Id="rId2" Type="http://schemas.openxmlformats.org/officeDocument/2006/relationships/image" Target="media/image13.png" /><Relationship Id="rId8" Type="http://schemas.openxmlformats.org/officeDocument/2006/relationships/image" Target="media/image19.png" /><Relationship Id="rId1" Type="http://schemas.openxmlformats.org/officeDocument/2006/relationships/notesSlide" Target="../notesSlides/notesSlide15.xml" /><Relationship Id="rId3" Type="http://schemas.openxmlformats.org/officeDocument/2006/relationships/image" Target="media/image14.png" /><Relationship Id="rId0" Type="http://schemas.openxmlformats.org/officeDocument/2006/relationships/slideLayout" Target="../slideLayouts/slideLayout1.xml" /></Relationships>
</file>

<file path=ppt/slides/_rels/slide23.xml.rels><?xml version="1.0" encoding="UTF-8" standalone="yes"?><Relationships xmlns="http://schemas.openxmlformats.org/package/2006/relationships"><Relationship Id="rId1" Type="http://schemas.openxmlformats.org/officeDocument/2006/relationships/notesSlide" Target="../notesSlides/notesSlide16.xml" /><Relationship Id="rId0" Type="http://schemas.openxmlformats.org/officeDocument/2006/relationships/slideLayout" Target="../slideLayouts/slideLayout1.xml" /></Relationships>
</file>

<file path=ppt/slides/_rels/slide24.xml.rels><?xml version="1.0" encoding="UTF-8" standalone="yes"?><Relationships xmlns="http://schemas.openxmlformats.org/package/2006/relationships"><Relationship Id="rId1" Type="http://schemas.openxmlformats.org/officeDocument/2006/relationships/notesSlide" Target="../notesSlides/notesSlide17.xml" /><Relationship Id="rId0" Type="http://schemas.openxmlformats.org/officeDocument/2006/relationships/slideLayout" Target="../slideLayouts/slideLayout1.xml" /></Relationships>
</file>

<file path=ppt/slides/_rels/slide25.xml.rels><?xml version="1.0" encoding="UTF-8" standalone="yes"?><Relationships xmlns="http://schemas.openxmlformats.org/package/2006/relationships"><Relationship Id="rId1" Type="http://schemas.openxmlformats.org/officeDocument/2006/relationships/notesSlide" Target="../notesSlides/notesSlide18.xml" /><Relationship Id="rId0" Type="http://schemas.openxmlformats.org/officeDocument/2006/relationships/slideLayout" Target="../slideLayouts/slideLayout1.xml" /></Relationships>
</file>

<file path=ppt/slides/_rels/slide26.xml.rels><?xml version="1.0" encoding="UTF-8" standalone="yes"?><Relationships xmlns="http://schemas.openxmlformats.org/package/2006/relationships"><Relationship Id="rId2" Type="http://schemas.openxmlformats.org/officeDocument/2006/relationships/image" Target="media/image21.png" /><Relationship Id="rId1" Type="http://schemas.openxmlformats.org/officeDocument/2006/relationships/notesSlide" Target="../notesSlides/notesSlide19.xml" /><Relationship Id="rId0" Type="http://schemas.openxmlformats.org/officeDocument/2006/relationships/slideLayout" Target="../slideLayouts/slideLayout1.xml" /></Relationships>
</file>

<file path=ppt/slides/_rels/slide27.xml.rels><?xml version="1.0" encoding="UTF-8" standalone="yes"?><Relationships xmlns="http://schemas.openxmlformats.org/package/2006/relationships"><Relationship Id="rId2" Type="http://schemas.openxmlformats.org/officeDocument/2006/relationships/image" Target="media/image22.png" /><Relationship Id="rId1" Type="http://schemas.openxmlformats.org/officeDocument/2006/relationships/notesSlide" Target="../notesSlides/notesSlide20.xml" /><Relationship Id="rId0" Type="http://schemas.openxmlformats.org/officeDocument/2006/relationships/slideLayout" Target="../slideLayouts/slideLayout1.xml" /></Relationships>
</file>

<file path=ppt/slides/_rels/slide28.xml.rels><?xml version="1.0" encoding="UTF-8" standalone="yes"?><Relationships xmlns="http://schemas.openxmlformats.org/package/2006/relationships"><Relationship Id="rId1" Type="http://schemas.openxmlformats.org/officeDocument/2006/relationships/notesSlide" Target="../notesSlides/notesSlide21.xml" /><Relationship Id="rId0" Type="http://schemas.openxmlformats.org/officeDocument/2006/relationships/slideLayout" Target="../slideLayouts/slideLayout1.xml" /></Relationships>
</file>

<file path=ppt/slides/_rels/slide29.xml.rels><?xml version="1.0" encoding="UTF-8" standalone="yes"?><Relationships xmlns="http://schemas.openxmlformats.org/package/2006/relationships"><Relationship Id="rId1" Type="http://schemas.openxmlformats.org/officeDocument/2006/relationships/notesSlide" Target="../notesSlides/notesSlide22.xml" /><Relationship Id="rId0" Type="http://schemas.openxmlformats.org/officeDocument/2006/relationships/slideLayout" Target="../slideLayouts/slideLayout1.xml" /></Relationships>
</file>

<file path=ppt/slides/_rels/slide30.xml.rels><?xml version="1.0" encoding="UTF-8" standalone="yes"?><Relationships xmlns="http://schemas.openxmlformats.org/package/2006/relationships"><Relationship Id="rId9" Type="http://schemas.openxmlformats.org/officeDocument/2006/relationships/image" Target="media/image30.png" /><Relationship Id="rId8" Type="http://schemas.openxmlformats.org/officeDocument/2006/relationships/image" Target="media/image29.png" /><Relationship Id="rId3" Type="http://schemas.openxmlformats.org/officeDocument/2006/relationships/image" Target="media/image24.png" /><Relationship Id="rId4" Type="http://schemas.openxmlformats.org/officeDocument/2006/relationships/image" Target="media/image25.png" /><Relationship Id="rId6" Type="http://schemas.openxmlformats.org/officeDocument/2006/relationships/image" Target="media/image27.png" /><Relationship Id="rId1" Type="http://schemas.openxmlformats.org/officeDocument/2006/relationships/notesSlide" Target="../notesSlides/notesSlide24.xml" /><Relationship Id="rId2" Type="http://schemas.openxmlformats.org/officeDocument/2006/relationships/image" Target="media/image23.png" /><Relationship Id="rId11" Type="http://schemas.openxmlformats.org/officeDocument/2006/relationships/image" Target="media/image32.png" /><Relationship Id="rId5" Type="http://schemas.openxmlformats.org/officeDocument/2006/relationships/image" Target="media/image26.png" /><Relationship Id="rId10" Type="http://schemas.openxmlformats.org/officeDocument/2006/relationships/image" Target="media/image31.png" /><Relationship Id="rId7" Type="http://schemas.openxmlformats.org/officeDocument/2006/relationships/image" Target="media/image28.png" /><Relationship Id="rId0" Type="http://schemas.openxmlformats.org/officeDocument/2006/relationships/slideLayout" Target="../slideLayouts/slideLayout1.xml" /></Relationships>
</file>

<file path=ppt/slides/_rels/slide31.xml.rels><?xml version="1.0" encoding="UTF-8" standalone="yes"?><Relationships xmlns="http://schemas.openxmlformats.org/package/2006/relationships"><Relationship Id="rId1" Type="http://schemas.openxmlformats.org/officeDocument/2006/relationships/notesSlide" Target="../notesSlides/notesSlide25.xml" /><Relationship Id="rId0" Type="http://schemas.openxmlformats.org/officeDocument/2006/relationships/slideLayout" Target="../slideLayouts/slideLayout1.xml" /></Relationships>
</file>

<file path=ppt/slides/_rels/slide32.xml.rels><?xml version="1.0" encoding="UTF-8" standalone="yes"?><Relationships xmlns="http://schemas.openxmlformats.org/package/2006/relationships"><Relationship Id="rId1" Type="http://schemas.openxmlformats.org/officeDocument/2006/relationships/notesSlide" Target="../notesSlides/notesSlide26.xml" /><Relationship Id="rId0" Type="http://schemas.openxmlformats.org/officeDocument/2006/relationships/slideLayout" Target="../slideLayouts/slideLayout1.xml" /></Relationships>
</file>

<file path=ppt/slides/_rels/slide33.xml.rels><?xml version="1.0" encoding="UTF-8" standalone="yes"?><Relationships xmlns="http://schemas.openxmlformats.org/package/2006/relationships"><Relationship Id="rId1" Type="http://schemas.openxmlformats.org/officeDocument/2006/relationships/notesSlide" Target="../notesSlides/notesSlide27.xml" /><Relationship Id="rId0" Type="http://schemas.openxmlformats.org/officeDocument/2006/relationships/slideLayout" Target="../slideLayouts/slideLayout1.xml" /></Relationships>
</file>

<file path=ppt/slides/_rels/slide34.xml.rels><?xml version="1.0" encoding="UTF-8" standalone="yes"?><Relationships xmlns="http://schemas.openxmlformats.org/package/2006/relationships"><Relationship Id="rId1" Type="http://schemas.openxmlformats.org/officeDocument/2006/relationships/notesSlide" Target="../notesSlides/notesSlide28.xml" /><Relationship Id="rId0" Type="http://schemas.openxmlformats.org/officeDocument/2006/relationships/slideLayout" Target="../slideLayouts/slideLayout1.xml" /></Relationships>
</file>

<file path=ppt/slides/_rels/slide35.xml.rels><?xml version="1.0" encoding="UTF-8" standalone="yes"?><Relationships xmlns="http://schemas.openxmlformats.org/package/2006/relationships"><Relationship Id="rId1" Type="http://schemas.openxmlformats.org/officeDocument/2006/relationships/notesSlide" Target="../notesSlides/notesSlide29.xml" /><Relationship Id="rId0"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p:cSld name="Slide 1">
    <p:bg>
      <p:bgPr>
        <a:solidFill>
          <a:srgbClr val="1C2833"/>
        </a:solidFill>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AAB7B8"/>
          </a:solidFill>
          <a:ln/>
        </p:spPr>
        <p:txBody>
          <a:bodyPr/>
          <a:p>
            <a:pPr/>
            <a:endParaRPr/>
          </a:p>
        </p:txBody>
      </p:sp>
      <p:sp>
        <p:nvSpPr>
          <p:cNvPr id="3" name="Shape 1"/>
          <p:cNvSpPr/>
          <p:nvPr/>
        </p:nvSpPr>
        <p:spPr>
          <a:xfrm>
            <a:off x="0" y="5056632"/>
            <a:ext cx="9144000" cy="91440"/>
          </a:xfrm>
          <a:prstGeom prst="rect">
            <a:avLst/>
          </a:prstGeom>
          <a:solidFill>
            <a:srgbClr val="AAB7B8"/>
          </a:solidFill>
          <a:ln/>
        </p:spPr>
        <p:txBody>
          <a:bodyPr/>
          <a:p>
            <a:pPr/>
            <a:endParaRPr/>
          </a:p>
        </p:txBody>
      </p:sp>
      <p:sp>
        <p:nvSpPr>
          <p:cNvPr id="4" name="Text 2"/>
          <p:cNvSpPr/>
          <p:nvPr/>
        </p:nvSpPr>
        <p:spPr>
          <a:xfrm>
            <a:off x="0" y="1371600"/>
            <a:ext cx="91440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深 圳 大 学 硕 士 学 位 论 文 答 辩</a:t>
            </a:r>
            <a:endParaRPr lang="en-US" sz="1800" dirty="false"/>
          </a:p>
        </p:txBody>
      </p:sp>
      <p:sp>
        <p:nvSpPr>
          <p:cNvPr id="5" name="Text 3"/>
          <p:cNvSpPr/>
          <p:nvPr/>
        </p:nvSpPr>
        <p:spPr>
          <a:xfrm>
            <a:off x="457200" y="2011680"/>
            <a:ext cx="8229600" cy="914400"/>
          </a:xfrm>
          <a:prstGeom prst="rect">
            <a:avLst/>
          </a:prstGeom>
          <a:noFill/>
          <a:ln/>
        </p:spPr>
        <p:txBody>
          <a:bodyPr wrap="square" rtlCol="false" anchor="ctr"/>
          <a:lstStyle/>
          <a:p>
            <a:pPr marL="0" indent="0" algn="ctr">
              <a:buNone/>
            </a:pPr>
            <a:r>
              <a:rPr lang="en-US" sz="2800" b="true" dirty="false">
                <a:solidFill>
                  <a:srgbClr val="FFFFFF"/>
                </a:solidFill>
                <a:latin typeface="Arial" pitchFamily="34" charset="0"/>
                <a:ea typeface="Arial" pitchFamily="34" charset="-122"/>
                <a:cs typeface="Arial" pitchFamily="34" charset="-120"/>
              </a:rPr>
              <a:t>基于改进DeepLabV3+的OCT图像语义分割方法</a:t>
            </a:r>
            <a:endParaRPr lang="en-US" sz="2800" dirty="false"/>
          </a:p>
        </p:txBody>
      </p:sp>
      <p:sp>
        <p:nvSpPr>
          <p:cNvPr id="6" name="Text 4"/>
          <p:cNvSpPr/>
          <p:nvPr/>
        </p:nvSpPr>
        <p:spPr>
          <a:xfrm>
            <a:off x="0" y="3017520"/>
            <a:ext cx="9144000" cy="365760"/>
          </a:xfrm>
          <a:prstGeom prst="rect">
            <a:avLst/>
          </a:prstGeom>
          <a:noFill/>
          <a:ln/>
        </p:spPr>
        <p:txBody>
          <a:bodyPr wrap="square" rtlCol="false" anchor="ctr"/>
          <a:lstStyle/>
          <a:p>
            <a:pPr marL="0" indent="0" algn="ctr">
              <a:buNone/>
            </a:pPr>
            <a:r>
              <a:rPr lang="en-US" sz="1400" dirty="false">
                <a:solidFill>
                  <a:srgbClr val="AAB7B8"/>
                </a:solidFill>
                <a:latin typeface="Arial" pitchFamily="34" charset="0"/>
                <a:ea typeface="Arial" pitchFamily="34" charset="-122"/>
                <a:cs typeface="Arial" pitchFamily="34" charset="-120"/>
              </a:rPr>
              <a:t>硕士学位论文答辩</a:t>
            </a:r>
            <a:endParaRPr lang="en-US" sz="1400" dirty="false"/>
          </a:p>
        </p:txBody>
      </p:sp>
      <p:sp>
        <p:nvSpPr>
          <p:cNvPr id="7" name="Text 5"/>
          <p:cNvSpPr/>
          <p:nvPr/>
        </p:nvSpPr>
        <p:spPr>
          <a:xfrm>
            <a:off x="0" y="3566160"/>
            <a:ext cx="9144000" cy="365760"/>
          </a:xfrm>
          <a:prstGeom prst="rect">
            <a:avLst/>
          </a:prstGeom>
          <a:noFill/>
          <a:ln/>
        </p:spPr>
        <p:txBody>
          <a:bodyPr wrap="square" rtlCol="false" anchor="ctr"/>
          <a:lstStyle/>
          <a:p>
            <a:pPr marL="0" indent="0" algn="ctr">
              <a:buNone/>
            </a:pPr>
            <a:r>
              <a:rPr lang="en-US" sz="1400" dirty="false">
                <a:solidFill>
                  <a:srgbClr val="FFFFFF"/>
                </a:solidFill>
                <a:latin typeface="Arial" pitchFamily="34" charset="0"/>
                <a:ea typeface="Arial" pitchFamily="34" charset="-122"/>
                <a:cs typeface="Arial" pitchFamily="34" charset="-120"/>
              </a:rPr>
              <a:t>答辩人：谢智捷        导师：万明明</a:t>
            </a:r>
            <a:endParaRPr lang="en-US" sz="1400" dirty="false"/>
          </a:p>
        </p:txBody>
      </p:sp>
      <p:sp>
        <p:nvSpPr>
          <p:cNvPr id="8" name="Text 6"/>
          <p:cNvSpPr/>
          <p:nvPr/>
        </p:nvSpPr>
        <p:spPr>
          <a:xfrm>
            <a:off x="0" y="4114800"/>
            <a:ext cx="9144000" cy="365760"/>
          </a:xfrm>
          <a:prstGeom prst="rect">
            <a:avLst/>
          </a:prstGeom>
          <a:noFill/>
          <a:ln/>
        </p:spPr>
        <p:txBody>
          <a:bodyPr wrap="square" rtlCol="false" anchor="ctr"/>
          <a:lstStyle/>
          <a:p>
            <a:pPr marL="0" indent="0" algn="ctr">
              <a:buNone/>
            </a:pPr>
            <a:r>
              <a:rPr lang="en-US" sz="1200" dirty="false">
                <a:solidFill>
                  <a:srgbClr val="AAB7B8"/>
                </a:solidFill>
                <a:latin typeface="Arial" pitchFamily="34" charset="0"/>
                <a:ea typeface="Arial" pitchFamily="34" charset="-122"/>
                <a:cs typeface="Arial" pitchFamily="34" charset="-120"/>
              </a:rPr>
              <a:t>2026年2月</a:t>
            </a:r>
            <a:endParaRPr lang="en-US" sz="1200" dirty="false"/>
          </a:p>
        </p:txBody>
      </p:sp>
    </p:spTree>
  </p:cSld>
  <p:clrMapOvr>
    <a:masterClrMapping/>
  </p:clrMapOvr>
</p:sld>
</file>

<file path=ppt/slides/slide2.xml><?xml version="1.0" encoding="utf-8"?>
<p:sld xmlns:a="http://schemas.openxmlformats.org/drawingml/2006/main" xmlns:p="http://schemas.openxmlformats.org/presentationml/2006/main">
  <p:cSld name="Slide 2">
    <p:bg>
      <p:bgPr>
        <a:solidFill>
          <a:srgbClr val="F4F6F6"/>
        </a:solidFill>
      </p:bgPr>
    </p:bg>
    <p:spTree>
      <p:nvGrpSpPr>
        <p:cNvPr id="214" name=""/>
        <p:cNvGrpSpPr/>
        <p:nvPr/>
      </p:nvGrpSpPr>
      <p:grpSpPr>
        <a:xfrm>
          <a:off x="0" y="0"/>
          <a:ext cx="0" cy="0"/>
          <a:chOff x="0" y="0"/>
          <a:chExt cx="0" cy="0"/>
        </a:xfrm>
      </p:grpSpPr>
      <p:sp>
        <p:nvSpPr>
          <p:cNvPr id="215" name="Shape 0"/>
          <p:cNvSpPr/>
          <p:nvPr/>
        </p:nvSpPr>
        <p:spPr>
          <a:xfrm>
            <a:off x="0" y="0"/>
            <a:ext cx="91440" cy="5143500"/>
          </a:xfrm>
          <a:prstGeom prst="rect">
            <a:avLst/>
          </a:prstGeom>
          <a:solidFill>
            <a:srgbClr val="1C2833"/>
          </a:solidFill>
          <a:ln/>
        </p:spPr>
        <p:txBody>
          <a:bodyPr/>
          <a:p>
            <a:pPr/>
            <a:endParaRPr/>
          </a:p>
        </p:txBody>
      </p:sp>
      <p:sp>
        <p:nvSpPr>
          <p:cNvPr id="216" name="Text 1"/>
          <p:cNvSpPr/>
          <p:nvPr/>
        </p:nvSpPr>
        <p:spPr>
          <a:xfrm>
            <a:off x="457200" y="274320"/>
            <a:ext cx="8229600" cy="54864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目 录</a:t>
            </a:r>
            <a:endParaRPr lang="en-US" sz="2400" dirty="false"/>
          </a:p>
        </p:txBody>
      </p:sp>
      <p:sp>
        <p:nvSpPr>
          <p:cNvPr id="217" name="Shape 2"/>
          <p:cNvSpPr/>
          <p:nvPr/>
        </p:nvSpPr>
        <p:spPr>
          <a:xfrm>
            <a:off x="457200" y="777240"/>
            <a:ext cx="1828800" cy="36576"/>
          </a:xfrm>
          <a:prstGeom prst="rect">
            <a:avLst/>
          </a:prstGeom>
          <a:solidFill>
            <a:srgbClr val="AAB7B8"/>
          </a:solidFill>
          <a:ln/>
        </p:spPr>
        <p:txBody>
          <a:bodyPr/>
          <a:p>
            <a:pPr/>
            <a:endParaRPr/>
          </a:p>
        </p:txBody>
      </p:sp>
      <p:sp>
        <p:nvSpPr>
          <p:cNvPr id="218" name="Shape 3"/>
          <p:cNvSpPr/>
          <p:nvPr/>
        </p:nvSpPr>
        <p:spPr>
          <a:xfrm>
            <a:off x="548640" y="1097280"/>
            <a:ext cx="457200" cy="457200"/>
          </a:xfrm>
          <a:prstGeom prst="ellipse">
            <a:avLst/>
          </a:prstGeom>
          <a:solidFill>
            <a:srgbClr val="1C2833"/>
          </a:solidFill>
          <a:ln/>
        </p:spPr>
        <p:txBody>
          <a:bodyPr/>
          <a:p>
            <a:pPr/>
            <a:endParaRPr/>
          </a:p>
        </p:txBody>
      </p:sp>
      <p:sp>
        <p:nvSpPr>
          <p:cNvPr id="219" name="Text 4"/>
          <p:cNvSpPr/>
          <p:nvPr/>
        </p:nvSpPr>
        <p:spPr>
          <a:xfrm>
            <a:off x="548640" y="109728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1</a:t>
            </a:r>
            <a:endParaRPr lang="en-US" sz="1600" dirty="false"/>
          </a:p>
        </p:txBody>
      </p:sp>
      <p:sp>
        <p:nvSpPr>
          <p:cNvPr id="220" name="Text 5"/>
          <p:cNvSpPr/>
          <p:nvPr/>
        </p:nvSpPr>
        <p:spPr>
          <a:xfrm>
            <a:off x="1188720" y="118872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研究背景与意义</a:t>
            </a:r>
            <a:endParaRPr lang="en-US" sz="1800" dirty="false"/>
          </a:p>
        </p:txBody>
      </p:sp>
      <p:sp>
        <p:nvSpPr>
          <p:cNvPr id="221" name="Shape 6"/>
          <p:cNvSpPr/>
          <p:nvPr/>
        </p:nvSpPr>
        <p:spPr>
          <a:xfrm>
            <a:off x="548640" y="1828800"/>
            <a:ext cx="457200" cy="457200"/>
          </a:xfrm>
          <a:prstGeom prst="ellipse">
            <a:avLst/>
          </a:prstGeom>
          <a:solidFill>
            <a:srgbClr val="1C2833"/>
          </a:solidFill>
          <a:ln/>
        </p:spPr>
        <p:txBody>
          <a:bodyPr/>
          <a:p>
            <a:pPr/>
            <a:endParaRPr/>
          </a:p>
        </p:txBody>
      </p:sp>
      <p:sp>
        <p:nvSpPr>
          <p:cNvPr id="222" name="Text 7"/>
          <p:cNvSpPr/>
          <p:nvPr/>
        </p:nvSpPr>
        <p:spPr>
          <a:xfrm>
            <a:off x="548640" y="182880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2</a:t>
            </a:r>
            <a:endParaRPr lang="en-US" sz="1600" dirty="false"/>
          </a:p>
        </p:txBody>
      </p:sp>
      <p:sp>
        <p:nvSpPr>
          <p:cNvPr id="223" name="Text 8"/>
          <p:cNvSpPr/>
          <p:nvPr/>
        </p:nvSpPr>
        <p:spPr>
          <a:xfrm>
            <a:off x="1188720" y="192024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相关技术基础</a:t>
            </a:r>
            <a:endParaRPr lang="en-US" sz="1800" dirty="false"/>
          </a:p>
        </p:txBody>
      </p:sp>
      <p:sp>
        <p:nvSpPr>
          <p:cNvPr id="224" name="Shape 9"/>
          <p:cNvSpPr/>
          <p:nvPr/>
        </p:nvSpPr>
        <p:spPr>
          <a:xfrm>
            <a:off x="548640" y="2560320"/>
            <a:ext cx="457200" cy="457200"/>
          </a:xfrm>
          <a:prstGeom prst="ellipse">
            <a:avLst/>
          </a:prstGeom>
          <a:solidFill>
            <a:srgbClr val="1C2833"/>
          </a:solidFill>
          <a:ln/>
        </p:spPr>
        <p:txBody>
          <a:bodyPr/>
          <a:p>
            <a:pPr/>
            <a:endParaRPr/>
          </a:p>
        </p:txBody>
      </p:sp>
      <p:sp>
        <p:nvSpPr>
          <p:cNvPr id="225" name="Text 10"/>
          <p:cNvSpPr/>
          <p:nvPr/>
        </p:nvSpPr>
        <p:spPr>
          <a:xfrm>
            <a:off x="548640" y="256032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3</a:t>
            </a:r>
            <a:endParaRPr lang="en-US" sz="1600" dirty="false"/>
          </a:p>
        </p:txBody>
      </p:sp>
      <p:sp>
        <p:nvSpPr>
          <p:cNvPr id="226" name="Text 11"/>
          <p:cNvSpPr/>
          <p:nvPr/>
        </p:nvSpPr>
        <p:spPr>
          <a:xfrm>
            <a:off x="1188720" y="265176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基于全局注意力的模型改进（TR模块）</a:t>
            </a:r>
            <a:endParaRPr lang="en-US" sz="1800" dirty="false"/>
          </a:p>
        </p:txBody>
      </p:sp>
      <p:sp>
        <p:nvSpPr>
          <p:cNvPr id="227" name="Shape 12"/>
          <p:cNvSpPr/>
          <p:nvPr/>
        </p:nvSpPr>
        <p:spPr>
          <a:xfrm>
            <a:off x="548640" y="3291840"/>
            <a:ext cx="457200" cy="457200"/>
          </a:xfrm>
          <a:prstGeom prst="ellipse">
            <a:avLst/>
          </a:prstGeom>
          <a:solidFill>
            <a:srgbClr val="1C2833"/>
          </a:solidFill>
          <a:ln/>
        </p:spPr>
        <p:txBody>
          <a:bodyPr/>
          <a:p>
            <a:pPr/>
            <a:endParaRPr/>
          </a:p>
        </p:txBody>
      </p:sp>
      <p:sp>
        <p:nvSpPr>
          <p:cNvPr id="228" name="Text 13"/>
          <p:cNvSpPr/>
          <p:nvPr/>
        </p:nvSpPr>
        <p:spPr>
          <a:xfrm>
            <a:off x="548640" y="329184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4</a:t>
            </a:r>
            <a:endParaRPr lang="en-US" sz="1600" dirty="false"/>
          </a:p>
        </p:txBody>
      </p:sp>
      <p:sp>
        <p:nvSpPr>
          <p:cNvPr id="229" name="Text 14"/>
          <p:cNvSpPr/>
          <p:nvPr/>
        </p:nvSpPr>
        <p:spPr>
          <a:xfrm>
            <a:off x="1188720" y="338328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基于空间感知增强的模型优化（SAE模块）</a:t>
            </a:r>
            <a:endParaRPr lang="en-US" sz="1800" dirty="false"/>
          </a:p>
        </p:txBody>
      </p:sp>
      <p:sp>
        <p:nvSpPr>
          <p:cNvPr id="230" name="Shape 15"/>
          <p:cNvSpPr/>
          <p:nvPr/>
        </p:nvSpPr>
        <p:spPr>
          <a:xfrm>
            <a:off x="548640" y="4023360"/>
            <a:ext cx="457200" cy="457200"/>
          </a:xfrm>
          <a:prstGeom prst="ellipse">
            <a:avLst/>
          </a:prstGeom>
          <a:solidFill>
            <a:srgbClr val="1C2833"/>
          </a:solidFill>
          <a:ln/>
        </p:spPr>
        <p:txBody>
          <a:bodyPr/>
          <a:p>
            <a:pPr/>
            <a:endParaRPr/>
          </a:p>
        </p:txBody>
      </p:sp>
      <p:sp>
        <p:nvSpPr>
          <p:cNvPr id="231" name="Text 16"/>
          <p:cNvSpPr/>
          <p:nvPr/>
        </p:nvSpPr>
        <p:spPr>
          <a:xfrm>
            <a:off x="548640" y="4023360"/>
            <a:ext cx="457200" cy="457200"/>
          </a:xfrm>
          <a:prstGeom prst="rect">
            <a:avLst/>
          </a:prstGeom>
          <a:noFill/>
          <a:ln/>
        </p:spPr>
        <p:txBody>
          <a:bodyPr wrap="square" rtlCol="false" anchor="ctr"/>
          <a:lstStyle/>
          <a:p>
            <a:pPr marL="0" indent="0" algn="ctr">
              <a:buNone/>
            </a:pPr>
            <a:r>
              <a:rPr lang="en-US" sz="1600" b="true" dirty="false">
                <a:solidFill>
                  <a:srgbClr val="FFFFFF"/>
                </a:solidFill>
                <a:latin typeface="Arial" pitchFamily="34" charset="0"/>
                <a:ea typeface="Arial" pitchFamily="34" charset="-122"/>
                <a:cs typeface="Arial" pitchFamily="34" charset="-120"/>
              </a:rPr>
              <a:t>5</a:t>
            </a:r>
            <a:endParaRPr lang="en-US" sz="1600" dirty="false"/>
          </a:p>
        </p:txBody>
      </p:sp>
      <p:sp>
        <p:nvSpPr>
          <p:cNvPr id="232" name="Text 17"/>
          <p:cNvSpPr/>
          <p:nvPr/>
        </p:nvSpPr>
        <p:spPr>
          <a:xfrm>
            <a:off x="1188720" y="4114800"/>
            <a:ext cx="6400800" cy="365760"/>
          </a:xfrm>
          <a:prstGeom prst="rect">
            <a:avLst/>
          </a:prstGeom>
          <a:noFill/>
          <a:ln/>
        </p:spPr>
        <p:txBody>
          <a:bodyPr wrap="square" rtlCol="false" anchor="ctr"/>
          <a:lstStyle/>
          <a:p>
            <a:pPr marL="0" indent="0">
              <a:buNone/>
            </a:pPr>
            <a:r>
              <a:rPr lang="en-US" sz="1800" dirty="false">
                <a:solidFill>
                  <a:srgbClr val="2E4053"/>
                </a:solidFill>
                <a:latin typeface="Arial" pitchFamily="34" charset="0"/>
                <a:ea typeface="Arial" pitchFamily="34" charset="-122"/>
                <a:cs typeface="Arial" pitchFamily="34" charset="-120"/>
              </a:rPr>
              <a:t>总结与展望</a:t>
            </a:r>
            <a:endParaRPr lang="en-US" sz="1800" dirty="false"/>
          </a:p>
        </p:txBody>
      </p:sp>
    </p:spTree>
  </p:cSld>
  <p:clrMapOvr>
    <a:masterClrMapping/>
  </p:clrMapOvr>
</p:sld>
</file>

<file path=ppt/slides/slide3.xml><?xml version="1.0" encoding="utf-8"?>
<p:sld xmlns:a="http://schemas.openxmlformats.org/drawingml/2006/main" xmlns:p="http://schemas.openxmlformats.org/presentationml/2006/main">
  <p:cSld name="Slide 3">
    <p:bg>
      <p:bgPr>
        <a:solidFill>
          <a:srgbClr val="1C2833"/>
        </a:solidFill>
      </p:bgPr>
    </p:bg>
    <p:spTree>
      <p:nvGrpSpPr>
        <p:cNvPr id="422" name=""/>
        <p:cNvGrpSpPr/>
        <p:nvPr/>
      </p:nvGrpSpPr>
      <p:grpSpPr>
        <a:xfrm>
          <a:off x="0" y="0"/>
          <a:ext cx="0" cy="0"/>
          <a:chOff x="0" y="0"/>
          <a:chExt cx="0" cy="0"/>
        </a:xfrm>
      </p:grpSpPr>
      <p:sp>
        <p:nvSpPr>
          <p:cNvPr id="423" name="Shape 0"/>
          <p:cNvSpPr/>
          <p:nvPr/>
        </p:nvSpPr>
        <p:spPr>
          <a:xfrm>
            <a:off x="0" y="0"/>
            <a:ext cx="9144000" cy="73152"/>
          </a:xfrm>
          <a:prstGeom prst="rect">
            <a:avLst/>
          </a:prstGeom>
          <a:solidFill>
            <a:srgbClr val="AAB7B8"/>
          </a:solidFill>
          <a:ln/>
        </p:spPr>
        <p:txBody>
          <a:bodyPr/>
          <a:p>
            <a:pPr/>
            <a:endParaRPr/>
          </a:p>
        </p:txBody>
      </p:sp>
      <p:sp>
        <p:nvSpPr>
          <p:cNvPr id="424" name="Shape 1"/>
          <p:cNvSpPr/>
          <p:nvPr/>
        </p:nvSpPr>
        <p:spPr>
          <a:xfrm>
            <a:off x="0" y="5074920"/>
            <a:ext cx="9144000" cy="73152"/>
          </a:xfrm>
          <a:prstGeom prst="rect">
            <a:avLst/>
          </a:prstGeom>
          <a:solidFill>
            <a:srgbClr val="AAB7B8"/>
          </a:solidFill>
          <a:ln/>
        </p:spPr>
        <p:txBody>
          <a:bodyPr/>
          <a:p>
            <a:pPr/>
            <a:endParaRPr/>
          </a:p>
        </p:txBody>
      </p:sp>
      <p:sp>
        <p:nvSpPr>
          <p:cNvPr id="425"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01</a:t>
            </a:r>
            <a:endParaRPr lang="en-US" sz="8000" dirty="false"/>
          </a:p>
        </p:txBody>
      </p:sp>
      <p:sp>
        <p:nvSpPr>
          <p:cNvPr id="426"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研究背景与意义</a:t>
            </a:r>
            <a:endParaRPr lang="en-US" sz="3200" dirty="false"/>
          </a:p>
        </p:txBody>
      </p:sp>
      <p:sp>
        <p:nvSpPr>
          <p:cNvPr id="427" name="Shape 4"/>
          <p:cNvSpPr/>
          <p:nvPr/>
        </p:nvSpPr>
        <p:spPr>
          <a:xfrm>
            <a:off x="2286000" y="2286000"/>
            <a:ext cx="2743200" cy="36576"/>
          </a:xfrm>
          <a:prstGeom prst="rect">
            <a:avLst/>
          </a:prstGeom>
          <a:solidFill>
            <a:srgbClr val="E74C3C"/>
          </a:solidFill>
          <a:ln/>
        </p:spPr>
        <p:txBody>
          <a:bodyPr/>
          <a:p>
            <a:pPr/>
            <a:endParaRPr/>
          </a:p>
        </p:txBody>
      </p:sp>
      <p:sp>
        <p:nvSpPr>
          <p:cNvPr id="428"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激光焊接与OCT检测技术背景</a:t>
            </a:r>
            <a:endParaRPr lang="en-US" sz="1400" dirty="false"/>
          </a:p>
        </p:txBody>
      </p:sp>
      <p:sp>
        <p:nvSpPr>
          <p:cNvPr id="429"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现有方法的问题与挑战</a:t>
            </a:r>
            <a:endParaRPr lang="en-US" sz="1400" dirty="false"/>
          </a:p>
        </p:txBody>
      </p:sp>
      <p:sp>
        <p:nvSpPr>
          <p:cNvPr id="430"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本文研究意义与目标</a:t>
            </a:r>
            <a:endParaRPr lang="en-US" sz="1400" dirty="fals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6"/>
        </a:solidFill>
      </p:bgPr>
    </p:bg>
    <p:spTree>
      <p:nvGrpSpPr>
        <p:cNvPr id="556" name=""/>
        <p:cNvGrpSpPr/>
        <p:nvPr/>
      </p:nvGrpSpPr>
      <p:grpSpPr>
        <a:xfrm>
          <a:off x="0" y="0"/>
          <a:ext cx="0" cy="0"/>
          <a:chOff x="0" y="0"/>
          <a:chExt cx="0" cy="0"/>
        </a:xfrm>
      </p:grpSpPr>
      <p:sp>
        <p:nvSpPr>
          <p:cNvPr id="557" name="Shape 0"/>
          <p:cNvSpPr/>
          <p:nvPr/>
        </p:nvSpPr>
        <p:spPr>
          <a:xfrm>
            <a:off x="0" y="0"/>
            <a:ext cx="91440" cy="5143500"/>
          </a:xfrm>
          <a:prstGeom prst="rect">
            <a:avLst/>
          </a:prstGeom>
          <a:solidFill>
            <a:srgbClr val="1C2833"/>
          </a:solidFill>
          <a:ln/>
        </p:spPr>
        <p:txBody>
          <a:bodyPr/>
          <a:p>
            <a:pPr/>
            <a:endParaRPr/>
          </a:p>
        </p:txBody>
      </p:sp>
      <p:sp>
        <p:nvSpPr>
          <p:cNvPr id="558"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01 研究背景与意义</a:t>
            </a:r>
            <a:endParaRPr lang="en-US" sz="1100" dirty="false"/>
          </a:p>
        </p:txBody>
      </p:sp>
      <p:sp>
        <p:nvSpPr>
          <p:cNvPr id="559"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研究背景</a:t>
            </a:r>
            <a:endParaRPr lang="en-US" sz="2400" dirty="false"/>
          </a:p>
        </p:txBody>
      </p:sp>
      <p:sp>
        <p:nvSpPr>
          <p:cNvPr id="560" name="Shape 3"/>
          <p:cNvSpPr/>
          <p:nvPr/>
        </p:nvSpPr>
        <p:spPr>
          <a:xfrm>
            <a:off x="365760" y="960120"/>
            <a:ext cx="3931920" cy="548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61" name="Text 4"/>
          <p:cNvSpPr/>
          <p:nvPr/>
        </p:nvSpPr>
        <p:spPr>
          <a:xfrm>
            <a:off x="502920" y="1005840"/>
            <a:ext cx="3657600" cy="22860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激光焊接技术</a:t>
            </a:r>
            <a:endParaRPr lang="en-US" sz="1100" dirty="false"/>
          </a:p>
        </p:txBody>
      </p:sp>
      <p:sp>
        <p:nvSpPr>
          <p:cNvPr id="562" name="Text 5"/>
          <p:cNvSpPr/>
          <p:nvPr/>
        </p:nvSpPr>
        <p:spPr>
          <a:xfrm>
            <a:off x="502920" y="1234440"/>
            <a:ext cx="3657600" cy="2286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高精度、高效率，广泛应用于航空航天、汽车制造等精密领域。</a:t>
            </a:r>
            <a:endParaRPr lang="en-US" sz="800" dirty="false"/>
          </a:p>
        </p:txBody>
      </p:sp>
      <p:sp>
        <p:nvSpPr>
          <p:cNvPr id="563" name="Shape 6"/>
          <p:cNvSpPr/>
          <p:nvPr/>
        </p:nvSpPr>
        <p:spPr>
          <a:xfrm>
            <a:off x="365760" y="1600200"/>
            <a:ext cx="3931920" cy="548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64" name="Text 7"/>
          <p:cNvSpPr/>
          <p:nvPr/>
        </p:nvSpPr>
        <p:spPr>
          <a:xfrm>
            <a:off x="502920" y="1645920"/>
            <a:ext cx="3657600" cy="22860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OCT检测技术</a:t>
            </a:r>
            <a:endParaRPr lang="en-US" sz="1100" dirty="false"/>
          </a:p>
        </p:txBody>
      </p:sp>
      <p:sp>
        <p:nvSpPr>
          <p:cNvPr id="565" name="Text 8"/>
          <p:cNvSpPr/>
          <p:nvPr/>
        </p:nvSpPr>
        <p:spPr>
          <a:xfrm>
            <a:off x="502920" y="1874520"/>
            <a:ext cx="3657600" cy="2286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非接触、微米级分辨率、实时成像，是熔池检测重要手段。</a:t>
            </a:r>
            <a:endParaRPr lang="en-US" sz="800" dirty="false"/>
          </a:p>
        </p:txBody>
      </p:sp>
      <p:sp>
        <p:nvSpPr>
          <p:cNvPr id="566" name="Shape 9"/>
          <p:cNvSpPr/>
          <p:nvPr/>
        </p:nvSpPr>
        <p:spPr>
          <a:xfrm>
            <a:off x="365760" y="2240280"/>
            <a:ext cx="3931920" cy="548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67" name="Text 10"/>
          <p:cNvSpPr/>
          <p:nvPr/>
        </p:nvSpPr>
        <p:spPr>
          <a:xfrm>
            <a:off x="502920" y="2286000"/>
            <a:ext cx="3657600" cy="22860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语义分割需求</a:t>
            </a:r>
            <a:endParaRPr lang="en-US" sz="1100" dirty="false"/>
          </a:p>
        </p:txBody>
      </p:sp>
      <p:sp>
        <p:nvSpPr>
          <p:cNvPr id="568" name="Text 11"/>
          <p:cNvSpPr/>
          <p:nvPr/>
        </p:nvSpPr>
        <p:spPr>
          <a:xfrm>
            <a:off x="502920" y="2514600"/>
            <a:ext cx="3657600" cy="2286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精确提取熔池区域是实现焊接质量在线检测的关键。</a:t>
            </a:r>
            <a:endParaRPr lang="en-US" sz="800" dirty="false"/>
          </a:p>
        </p:txBody>
      </p:sp>
      <p:sp>
        <p:nvSpPr>
          <p:cNvPr id="569" name="Shape 12"/>
          <p:cNvSpPr/>
          <p:nvPr/>
        </p:nvSpPr>
        <p:spPr>
          <a:xfrm>
            <a:off x="4480560" y="960120"/>
            <a:ext cx="4297680" cy="1920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70" name="Text 13"/>
          <p:cNvSpPr/>
          <p:nvPr/>
        </p:nvSpPr>
        <p:spPr>
          <a:xfrm>
            <a:off x="4572000" y="1005840"/>
            <a:ext cx="411480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OCT图像示例</a:t>
            </a:r>
            <a:endParaRPr lang="en-US" sz="1000" dirty="false"/>
          </a:p>
        </p:txBody>
      </p:sp>
      <p:pic>
        <p:nvPicPr>
          <p:cNvPr id="571" name="Image 0" descr="../figure/cp2/fig2-8a_raw.png"/>
          <p:cNvPicPr>
            <a:picLocks noChangeAspect="true"/>
          </p:cNvPicPr>
          <p:nvPr/>
        </p:nvPicPr>
        <p:blipFill>
          <a:blip r:embed="rId2"/>
          <a:stretch>
            <a:fillRect/>
          </a:stretch>
        </p:blipFill>
        <p:spPr>
          <a:xfrm>
            <a:off x="4617720" y="1280160"/>
            <a:ext cx="1965960" cy="1325880"/>
          </a:xfrm>
          <a:prstGeom prst="rect">
            <a:avLst/>
          </a:prstGeom>
        </p:spPr>
      </p:pic>
      <p:pic>
        <p:nvPicPr>
          <p:cNvPr id="572" name="Image 1" descr="../figure/cp2/fig2-8b_mask.png"/>
          <p:cNvPicPr>
            <a:picLocks noChangeAspect="true"/>
          </p:cNvPicPr>
          <p:nvPr/>
        </p:nvPicPr>
        <p:blipFill>
          <a:blip r:embed="rId3"/>
          <a:stretch>
            <a:fillRect/>
          </a:stretch>
        </p:blipFill>
        <p:spPr>
          <a:xfrm>
            <a:off x="6675120" y="1280160"/>
            <a:ext cx="1965960" cy="1325880"/>
          </a:xfrm>
          <a:prstGeom prst="rect">
            <a:avLst/>
          </a:prstGeom>
        </p:spPr>
      </p:pic>
      <p:sp>
        <p:nvSpPr>
          <p:cNvPr id="573" name="Text 14"/>
          <p:cNvSpPr/>
          <p:nvPr/>
        </p:nvSpPr>
        <p:spPr>
          <a:xfrm>
            <a:off x="4617720" y="2633472"/>
            <a:ext cx="196596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(a) 原始OCT图像</a:t>
            </a:r>
            <a:endParaRPr lang="en-US" sz="800" dirty="false"/>
          </a:p>
        </p:txBody>
      </p:sp>
      <p:sp>
        <p:nvSpPr>
          <p:cNvPr id="574" name="Text 15"/>
          <p:cNvSpPr/>
          <p:nvPr/>
        </p:nvSpPr>
        <p:spPr>
          <a:xfrm>
            <a:off x="6675120" y="2633472"/>
            <a:ext cx="196596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(b) 标注掩码</a:t>
            </a:r>
            <a:endParaRPr lang="en-US" sz="800" dirty="false"/>
          </a:p>
        </p:txBody>
      </p:sp>
      <p:sp>
        <p:nvSpPr>
          <p:cNvPr id="575" name="Shape 16"/>
          <p:cNvSpPr/>
          <p:nvPr/>
        </p:nvSpPr>
        <p:spPr>
          <a:xfrm>
            <a:off x="365760" y="2971800"/>
            <a:ext cx="8412480" cy="1051560"/>
          </a:xfrm>
          <a:prstGeom prst="roundRect">
            <a:avLst/>
          </a:prstGeom>
          <a:solidFill>
            <a:srgbClr val="1C2833"/>
          </a:solidFill>
          <a:ln/>
        </p:spPr>
        <p:txBody>
          <a:bodyPr/>
          <a:p>
            <a:pPr/>
            <a:endParaRPr/>
          </a:p>
        </p:txBody>
      </p:sp>
      <p:sp>
        <p:nvSpPr>
          <p:cNvPr id="576" name="Text 17"/>
          <p:cNvSpPr/>
          <p:nvPr/>
        </p:nvSpPr>
        <p:spPr>
          <a:xfrm>
            <a:off x="548640" y="3063240"/>
            <a:ext cx="804672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核心需求</a:t>
            </a:r>
            <a:endParaRPr lang="en-US" sz="1000" dirty="false"/>
          </a:p>
        </p:txBody>
      </p:sp>
      <p:sp>
        <p:nvSpPr>
          <p:cNvPr id="577" name="Text 18"/>
          <p:cNvSpPr/>
          <p:nvPr/>
        </p:nvSpPr>
        <p:spPr>
          <a:xfrm>
            <a:off x="548640" y="3319272"/>
            <a:ext cx="8046720" cy="59436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开发一种能够精确分割OCT图像中熔池区域的深度学习方法，支持激光焊接过程的实时质量监测与反馈控制。</a:t>
            </a:r>
            <a:endParaRPr lang="en-US" sz="900" dirty="false"/>
          </a:p>
        </p:txBody>
      </p:sp>
    </p:spTree>
  </p:cSld>
  <p:clrMapOvr>
    <a:masterClrMapping/>
  </p:clrMapOvr>
</p:sld>
</file>

<file path=ppt/slides/slide5.xml><?xml version="1.0" encoding="utf-8"?>
<p:sld xmlns:a="http://schemas.openxmlformats.org/drawingml/2006/main" xmlns:p="http://schemas.openxmlformats.org/presentationml/2006/main">
  <p:cSld name="Slide 5">
    <p:bg>
      <p:bgPr>
        <a:solidFill>
          <a:srgbClr val="F4F6F6"/>
        </a:solidFill>
      </p:bgPr>
    </p:bg>
    <p:spTree>
      <p:nvGrpSpPr>
        <p:cNvPr id="578" name=""/>
        <p:cNvGrpSpPr/>
        <p:nvPr/>
      </p:nvGrpSpPr>
      <p:grpSpPr>
        <a:xfrm>
          <a:off x="0" y="0"/>
          <a:ext cx="0" cy="0"/>
          <a:chOff x="0" y="0"/>
          <a:chExt cx="0" cy="0"/>
        </a:xfrm>
      </p:grpSpPr>
      <p:sp>
        <p:nvSpPr>
          <p:cNvPr id="579" name="Shape 0"/>
          <p:cNvSpPr/>
          <p:nvPr/>
        </p:nvSpPr>
        <p:spPr>
          <a:xfrm>
            <a:off x="0" y="0"/>
            <a:ext cx="91440" cy="5143500"/>
          </a:xfrm>
          <a:prstGeom prst="rect">
            <a:avLst/>
          </a:prstGeom>
          <a:solidFill>
            <a:srgbClr val="1C2833"/>
          </a:solidFill>
          <a:ln/>
        </p:spPr>
        <p:txBody>
          <a:bodyPr/>
          <a:p>
            <a:pPr/>
            <a:endParaRPr/>
          </a:p>
        </p:txBody>
      </p:sp>
      <p:sp>
        <p:nvSpPr>
          <p:cNvPr id="58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01 研究背景与意义</a:t>
            </a:r>
            <a:endParaRPr lang="en-US" sz="1100" dirty="false"/>
          </a:p>
        </p:txBody>
      </p:sp>
      <p:sp>
        <p:nvSpPr>
          <p:cNvPr id="58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问题与挑战</a:t>
            </a:r>
            <a:endParaRPr lang="en-US" sz="2400" dirty="false"/>
          </a:p>
        </p:txBody>
      </p:sp>
      <p:sp>
        <p:nvSpPr>
          <p:cNvPr id="582" name="Shape 3"/>
          <p:cNvSpPr/>
          <p:nvPr/>
        </p:nvSpPr>
        <p:spPr>
          <a:xfrm>
            <a:off x="365760" y="914400"/>
            <a:ext cx="274320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83" name="Shape 4"/>
          <p:cNvSpPr/>
          <p:nvPr/>
        </p:nvSpPr>
        <p:spPr>
          <a:xfrm>
            <a:off x="365760" y="914400"/>
            <a:ext cx="2743200" cy="36576"/>
          </a:xfrm>
          <a:prstGeom prst="rect">
            <a:avLst/>
          </a:prstGeom>
          <a:solidFill>
            <a:srgbClr val="E74C3C"/>
          </a:solidFill>
          <a:ln/>
        </p:spPr>
        <p:txBody>
          <a:bodyPr/>
          <a:p>
            <a:pPr/>
            <a:endParaRPr/>
          </a:p>
        </p:txBody>
      </p:sp>
      <p:sp>
        <p:nvSpPr>
          <p:cNvPr id="584" name="Shape 5"/>
          <p:cNvSpPr/>
          <p:nvPr/>
        </p:nvSpPr>
        <p:spPr>
          <a:xfrm>
            <a:off x="1417320" y="1051560"/>
            <a:ext cx="640080" cy="640080"/>
          </a:xfrm>
          <a:prstGeom prst="ellipse">
            <a:avLst/>
          </a:prstGeom>
          <a:solidFill>
            <a:srgbClr val="1C2833"/>
          </a:solidFill>
          <a:ln/>
        </p:spPr>
        <p:txBody>
          <a:bodyPr/>
          <a:p>
            <a:pPr/>
            <a:endParaRPr/>
          </a:p>
        </p:txBody>
      </p:sp>
      <p:sp>
        <p:nvSpPr>
          <p:cNvPr id="585" name="Text 6"/>
          <p:cNvSpPr/>
          <p:nvPr/>
        </p:nvSpPr>
        <p:spPr>
          <a:xfrm>
            <a:off x="1417320" y="1051560"/>
            <a:ext cx="640080" cy="64008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01</a:t>
            </a:r>
            <a:endParaRPr lang="en-US" sz="1800" dirty="false"/>
          </a:p>
        </p:txBody>
      </p:sp>
      <p:sp>
        <p:nvSpPr>
          <p:cNvPr id="586" name="Text 7"/>
          <p:cNvSpPr/>
          <p:nvPr/>
        </p:nvSpPr>
        <p:spPr>
          <a:xfrm>
            <a:off x="457200" y="1783080"/>
            <a:ext cx="2560320" cy="274320"/>
          </a:xfrm>
          <a:prstGeom prst="rect">
            <a:avLst/>
          </a:prstGeom>
          <a:noFill/>
          <a:ln/>
        </p:spPr>
        <p:txBody>
          <a:bodyPr wrap="square" rtlCol="false" anchor="ctr"/>
          <a:lstStyle/>
          <a:p>
            <a:pPr marL="0" indent="0" algn="ctr">
              <a:buNone/>
            </a:pPr>
            <a:r>
              <a:rPr lang="en-US" sz="1200" b="true" dirty="false">
                <a:solidFill>
                  <a:srgbClr val="1C2833"/>
                </a:solidFill>
                <a:latin typeface="Arial" pitchFamily="34" charset="0"/>
                <a:ea typeface="Arial" pitchFamily="34" charset="-122"/>
                <a:cs typeface="Arial" pitchFamily="34" charset="-120"/>
              </a:rPr>
              <a:t>散斑噪声干扰</a:t>
            </a:r>
            <a:endParaRPr lang="en-US" sz="1200" dirty="false"/>
          </a:p>
        </p:txBody>
      </p:sp>
      <p:sp>
        <p:nvSpPr>
          <p:cNvPr id="587" name="Text 8"/>
          <p:cNvSpPr/>
          <p:nvPr/>
        </p:nvSpPr>
        <p:spPr>
          <a:xfrm>
            <a:off x="457200" y="2103120"/>
            <a:ext cx="2560320" cy="502920"/>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OCT成像原理导致大量散斑噪声，干扰目标识别与边界定位。传统滤波方法难以有效去噪。</a:t>
            </a:r>
            <a:endParaRPr lang="en-US" sz="900" dirty="false"/>
          </a:p>
        </p:txBody>
      </p:sp>
      <p:sp>
        <p:nvSpPr>
          <p:cNvPr id="588" name="Shape 9"/>
          <p:cNvSpPr/>
          <p:nvPr/>
        </p:nvSpPr>
        <p:spPr>
          <a:xfrm>
            <a:off x="3246120" y="914400"/>
            <a:ext cx="274320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89" name="Shape 10"/>
          <p:cNvSpPr/>
          <p:nvPr/>
        </p:nvSpPr>
        <p:spPr>
          <a:xfrm>
            <a:off x="3246120" y="914400"/>
            <a:ext cx="2743200" cy="36576"/>
          </a:xfrm>
          <a:prstGeom prst="rect">
            <a:avLst/>
          </a:prstGeom>
          <a:solidFill>
            <a:srgbClr val="E74C3C"/>
          </a:solidFill>
          <a:ln/>
        </p:spPr>
        <p:txBody>
          <a:bodyPr/>
          <a:p>
            <a:pPr/>
            <a:endParaRPr/>
          </a:p>
        </p:txBody>
      </p:sp>
      <p:sp>
        <p:nvSpPr>
          <p:cNvPr id="590" name="Shape 11"/>
          <p:cNvSpPr/>
          <p:nvPr/>
        </p:nvSpPr>
        <p:spPr>
          <a:xfrm>
            <a:off x="4297680" y="1051560"/>
            <a:ext cx="640080" cy="640080"/>
          </a:xfrm>
          <a:prstGeom prst="ellipse">
            <a:avLst/>
          </a:prstGeom>
          <a:solidFill>
            <a:srgbClr val="1C2833"/>
          </a:solidFill>
          <a:ln/>
        </p:spPr>
        <p:txBody>
          <a:bodyPr/>
          <a:p>
            <a:pPr/>
            <a:endParaRPr/>
          </a:p>
        </p:txBody>
      </p:sp>
      <p:sp>
        <p:nvSpPr>
          <p:cNvPr id="591" name="Text 12"/>
          <p:cNvSpPr/>
          <p:nvPr/>
        </p:nvSpPr>
        <p:spPr>
          <a:xfrm>
            <a:off x="4297680" y="1051560"/>
            <a:ext cx="640080" cy="64008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02</a:t>
            </a:r>
            <a:endParaRPr lang="en-US" sz="1800" dirty="false"/>
          </a:p>
        </p:txBody>
      </p:sp>
      <p:sp>
        <p:nvSpPr>
          <p:cNvPr id="592" name="Text 13"/>
          <p:cNvSpPr/>
          <p:nvPr/>
        </p:nvSpPr>
        <p:spPr>
          <a:xfrm>
            <a:off x="3337560" y="1783080"/>
            <a:ext cx="2560320" cy="274320"/>
          </a:xfrm>
          <a:prstGeom prst="rect">
            <a:avLst/>
          </a:prstGeom>
          <a:noFill/>
          <a:ln/>
        </p:spPr>
        <p:txBody>
          <a:bodyPr wrap="square" rtlCol="false" anchor="ctr"/>
          <a:lstStyle/>
          <a:p>
            <a:pPr marL="0" indent="0" algn="ctr">
              <a:buNone/>
            </a:pPr>
            <a:r>
              <a:rPr lang="en-US" sz="1200" b="true" dirty="false">
                <a:solidFill>
                  <a:srgbClr val="1C2833"/>
                </a:solidFill>
                <a:latin typeface="Arial" pitchFamily="34" charset="0"/>
                <a:ea typeface="Arial" pitchFamily="34" charset="-122"/>
                <a:cs typeface="Arial" pitchFamily="34" charset="-120"/>
              </a:rPr>
              <a:t>边界模糊</a:t>
            </a:r>
            <a:endParaRPr lang="en-US" sz="1200" dirty="false"/>
          </a:p>
        </p:txBody>
      </p:sp>
      <p:sp>
        <p:nvSpPr>
          <p:cNvPr id="593" name="Text 14"/>
          <p:cNvSpPr/>
          <p:nvPr/>
        </p:nvSpPr>
        <p:spPr>
          <a:xfrm>
            <a:off x="3337560" y="2103120"/>
            <a:ext cx="2560320" cy="502920"/>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熔池与基材过渡区域边界模糊，难以精确刻画细长结构。需要增强边界感知能力。</a:t>
            </a:r>
            <a:endParaRPr lang="en-US" sz="900" dirty="false"/>
          </a:p>
        </p:txBody>
      </p:sp>
      <p:sp>
        <p:nvSpPr>
          <p:cNvPr id="594" name="Shape 15"/>
          <p:cNvSpPr/>
          <p:nvPr/>
        </p:nvSpPr>
        <p:spPr>
          <a:xfrm>
            <a:off x="6126480" y="914400"/>
            <a:ext cx="274320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95" name="Shape 16"/>
          <p:cNvSpPr/>
          <p:nvPr/>
        </p:nvSpPr>
        <p:spPr>
          <a:xfrm>
            <a:off x="6126480" y="914400"/>
            <a:ext cx="2743200" cy="36576"/>
          </a:xfrm>
          <a:prstGeom prst="rect">
            <a:avLst/>
          </a:prstGeom>
          <a:solidFill>
            <a:srgbClr val="E74C3C"/>
          </a:solidFill>
          <a:ln/>
        </p:spPr>
        <p:txBody>
          <a:bodyPr/>
          <a:p>
            <a:pPr/>
            <a:endParaRPr/>
          </a:p>
        </p:txBody>
      </p:sp>
      <p:sp>
        <p:nvSpPr>
          <p:cNvPr id="596" name="Shape 17"/>
          <p:cNvSpPr/>
          <p:nvPr/>
        </p:nvSpPr>
        <p:spPr>
          <a:xfrm>
            <a:off x="7178040" y="1051560"/>
            <a:ext cx="640080" cy="640080"/>
          </a:xfrm>
          <a:prstGeom prst="ellipse">
            <a:avLst/>
          </a:prstGeom>
          <a:solidFill>
            <a:srgbClr val="1C2833"/>
          </a:solidFill>
          <a:ln/>
        </p:spPr>
        <p:txBody>
          <a:bodyPr/>
          <a:p>
            <a:pPr/>
            <a:endParaRPr/>
          </a:p>
        </p:txBody>
      </p:sp>
      <p:sp>
        <p:nvSpPr>
          <p:cNvPr id="597" name="Text 18"/>
          <p:cNvSpPr/>
          <p:nvPr/>
        </p:nvSpPr>
        <p:spPr>
          <a:xfrm>
            <a:off x="7178040" y="1051560"/>
            <a:ext cx="640080" cy="64008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03</a:t>
            </a:r>
            <a:endParaRPr lang="en-US" sz="1800" dirty="false"/>
          </a:p>
        </p:txBody>
      </p:sp>
      <p:sp>
        <p:nvSpPr>
          <p:cNvPr id="598" name="Text 19"/>
          <p:cNvSpPr/>
          <p:nvPr/>
        </p:nvSpPr>
        <p:spPr>
          <a:xfrm>
            <a:off x="6217920" y="1783080"/>
            <a:ext cx="2560320" cy="274320"/>
          </a:xfrm>
          <a:prstGeom prst="rect">
            <a:avLst/>
          </a:prstGeom>
          <a:noFill/>
          <a:ln/>
        </p:spPr>
        <p:txBody>
          <a:bodyPr wrap="square" rtlCol="false" anchor="ctr"/>
          <a:lstStyle/>
          <a:p>
            <a:pPr marL="0" indent="0" algn="ctr">
              <a:buNone/>
            </a:pPr>
            <a:r>
              <a:rPr lang="en-US" sz="1200" b="true" dirty="false">
                <a:solidFill>
                  <a:srgbClr val="1C2833"/>
                </a:solidFill>
                <a:latin typeface="Arial" pitchFamily="34" charset="0"/>
                <a:ea typeface="Arial" pitchFamily="34" charset="-122"/>
                <a:cs typeface="Arial" pitchFamily="34" charset="-120"/>
              </a:rPr>
              <a:t>对比度不足</a:t>
            </a:r>
            <a:endParaRPr lang="en-US" sz="1200" dirty="false"/>
          </a:p>
        </p:txBody>
      </p:sp>
      <p:sp>
        <p:nvSpPr>
          <p:cNvPr id="599" name="Text 20"/>
          <p:cNvSpPr/>
          <p:nvPr/>
        </p:nvSpPr>
        <p:spPr>
          <a:xfrm>
            <a:off x="6217920" y="2103120"/>
            <a:ext cx="2560320" cy="502920"/>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目标与背景灰度对比度较低，易导致欠分割或过分割。需要更强的特征判别能力。</a:t>
            </a:r>
            <a:endParaRPr lang="en-US" sz="900" dirty="false"/>
          </a:p>
        </p:txBody>
      </p:sp>
      <p:sp>
        <p:nvSpPr>
          <p:cNvPr id="600" name="Shape 21"/>
          <p:cNvSpPr/>
          <p:nvPr/>
        </p:nvSpPr>
        <p:spPr>
          <a:xfrm>
            <a:off x="365760" y="2834640"/>
            <a:ext cx="8412480" cy="1188720"/>
          </a:xfrm>
          <a:prstGeom prst="roundRect">
            <a:avLst/>
          </a:prstGeom>
          <a:solidFill>
            <a:srgbClr val="2E4053"/>
          </a:solidFill>
          <a:ln/>
        </p:spPr>
        <p:txBody>
          <a:bodyPr/>
          <a:p>
            <a:pPr/>
            <a:endParaRPr/>
          </a:p>
        </p:txBody>
      </p:sp>
      <p:sp>
        <p:nvSpPr>
          <p:cNvPr id="601" name="Text 22"/>
          <p:cNvSpPr/>
          <p:nvPr/>
        </p:nvSpPr>
        <p:spPr>
          <a:xfrm>
            <a:off x="548640" y="2926080"/>
            <a:ext cx="8046720" cy="256032"/>
          </a:xfrm>
          <a:prstGeom prst="rect">
            <a:avLst/>
          </a:prstGeom>
          <a:noFill/>
          <a:ln/>
        </p:spPr>
        <p:txBody>
          <a:bodyPr wrap="square" rtlCol="false" anchor="ctr"/>
          <a:lstStyle/>
          <a:p>
            <a:pPr marL="0" indent="0">
              <a:buNone/>
            </a:pPr>
            <a:r>
              <a:rPr lang="en-US" sz="1100" b="true" dirty="false">
                <a:solidFill>
                  <a:srgbClr val="FFFFFF"/>
                </a:solidFill>
                <a:latin typeface="Arial" pitchFamily="34" charset="0"/>
                <a:ea typeface="Arial" pitchFamily="34" charset="-122"/>
                <a:cs typeface="Arial" pitchFamily="34" charset="-120"/>
              </a:rPr>
              <a:t>现有方法局限性与解决思路</a:t>
            </a:r>
            <a:endParaRPr lang="en-US" sz="1100" dirty="false"/>
          </a:p>
        </p:txBody>
      </p:sp>
      <p:sp>
        <p:nvSpPr>
          <p:cNvPr id="602" name="Text 23"/>
          <p:cNvSpPr/>
          <p:nvPr/>
        </p:nvSpPr>
        <p:spPr>
          <a:xfrm>
            <a:off x="548640" y="3218688"/>
            <a:ext cx="8046720" cy="32004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传统基于卷积的分割模型受限于局部感受野，难以同时满足全局语义理解与边界精确刻画的需求。</a:t>
            </a:r>
            <a:endParaRPr lang="en-US" sz="900" dirty="false"/>
          </a:p>
        </p:txBody>
      </p:sp>
      <p:sp>
        <p:nvSpPr>
          <p:cNvPr id="603" name="Text 24"/>
          <p:cNvSpPr/>
          <p:nvPr/>
        </p:nvSpPr>
        <p:spPr>
          <a:xfrm>
            <a:off x="548640" y="3566160"/>
            <a:ext cx="8046720" cy="32004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解决思路：引入注意力机制，增强全局上下文建模（TR模块）与局部细节表征能力（SAE模块）。</a:t>
            </a:r>
            <a:endParaRPr lang="en-US" sz="900" dirty="false"/>
          </a:p>
        </p:txBody>
      </p:sp>
    </p:spTree>
  </p:cSld>
  <p:clrMapOvr>
    <a:masterClrMapping/>
  </p:clrMapOvr>
</p:sld>
</file>

<file path=ppt/slides/slide6.xml><?xml version="1.0" encoding="utf-8"?>
<p:sld xmlns:a="http://schemas.openxmlformats.org/drawingml/2006/main" xmlns:p="http://schemas.openxmlformats.org/presentationml/2006/main">
  <p:cSld name="Slide 6">
    <p:bg>
      <p:bgPr>
        <a:solidFill>
          <a:srgbClr val="F4F6F6"/>
        </a:solidFill>
      </p:bgPr>
    </p:bg>
    <p:spTree>
      <p:nvGrpSpPr>
        <p:cNvPr id="604" name=""/>
        <p:cNvGrpSpPr/>
        <p:nvPr/>
      </p:nvGrpSpPr>
      <p:grpSpPr>
        <a:xfrm>
          <a:off x="0" y="0"/>
          <a:ext cx="0" cy="0"/>
          <a:chOff x="0" y="0"/>
          <a:chExt cx="0" cy="0"/>
        </a:xfrm>
      </p:grpSpPr>
      <p:sp>
        <p:nvSpPr>
          <p:cNvPr id="605" name="Shape 0"/>
          <p:cNvSpPr/>
          <p:nvPr/>
        </p:nvSpPr>
        <p:spPr>
          <a:xfrm>
            <a:off x="0" y="0"/>
            <a:ext cx="91440" cy="5143500"/>
          </a:xfrm>
          <a:prstGeom prst="rect">
            <a:avLst/>
          </a:prstGeom>
          <a:solidFill>
            <a:srgbClr val="1C2833"/>
          </a:solidFill>
          <a:ln/>
        </p:spPr>
        <p:txBody>
          <a:bodyPr/>
          <a:p>
            <a:pPr/>
            <a:endParaRPr/>
          </a:p>
        </p:txBody>
      </p:sp>
      <p:sp>
        <p:nvSpPr>
          <p:cNvPr id="60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01 研究背景与意义</a:t>
            </a:r>
            <a:endParaRPr lang="en-US" sz="1100" dirty="false"/>
          </a:p>
        </p:txBody>
      </p:sp>
      <p:sp>
        <p:nvSpPr>
          <p:cNvPr id="60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研究意义与目标</a:t>
            </a:r>
            <a:endParaRPr lang="en-US" sz="2400" dirty="false"/>
          </a:p>
        </p:txBody>
      </p:sp>
      <p:sp>
        <p:nvSpPr>
          <p:cNvPr id="608" name="Shape 3"/>
          <p:cNvSpPr/>
          <p:nvPr/>
        </p:nvSpPr>
        <p:spPr>
          <a:xfrm>
            <a:off x="365760" y="1005840"/>
            <a:ext cx="411480" cy="411480"/>
          </a:xfrm>
          <a:prstGeom prst="roundRect">
            <a:avLst/>
          </a:prstGeom>
          <a:solidFill>
            <a:srgbClr val="1C2833"/>
          </a:solidFill>
          <a:ln/>
        </p:spPr>
        <p:txBody>
          <a:bodyPr/>
          <a:p>
            <a:pPr/>
            <a:endParaRPr/>
          </a:p>
        </p:txBody>
      </p:sp>
      <p:sp>
        <p:nvSpPr>
          <p:cNvPr id="609" name="Text 4"/>
          <p:cNvSpPr/>
          <p:nvPr/>
        </p:nvSpPr>
        <p:spPr>
          <a:xfrm>
            <a:off x="365760" y="1005840"/>
            <a:ext cx="411480" cy="41148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1</a:t>
            </a:r>
            <a:endParaRPr lang="en-US" sz="1400" dirty="false"/>
          </a:p>
        </p:txBody>
      </p:sp>
      <p:sp>
        <p:nvSpPr>
          <p:cNvPr id="610" name="Text 5"/>
          <p:cNvSpPr/>
          <p:nvPr/>
        </p:nvSpPr>
        <p:spPr>
          <a:xfrm>
            <a:off x="914400" y="1005840"/>
            <a:ext cx="4114800" cy="32004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理论意义</a:t>
            </a:r>
            <a:endParaRPr lang="en-US" sz="1200" dirty="false"/>
          </a:p>
        </p:txBody>
      </p:sp>
      <p:sp>
        <p:nvSpPr>
          <p:cNvPr id="611" name="Text 6"/>
          <p:cNvSpPr/>
          <p:nvPr/>
        </p:nvSpPr>
        <p:spPr>
          <a:xfrm>
            <a:off x="914400" y="1325880"/>
            <a:ext cx="4114800" cy="6400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探索全局与局部注意力机制在语义分割中的协同作用，为编码器-解码器架构的改进提供新思路。</a:t>
            </a:r>
            <a:endParaRPr lang="en-US" sz="900" dirty="false"/>
          </a:p>
        </p:txBody>
      </p:sp>
      <p:sp>
        <p:nvSpPr>
          <p:cNvPr id="612" name="Shape 7"/>
          <p:cNvSpPr/>
          <p:nvPr/>
        </p:nvSpPr>
        <p:spPr>
          <a:xfrm>
            <a:off x="365760" y="2011680"/>
            <a:ext cx="411480" cy="411480"/>
          </a:xfrm>
          <a:prstGeom prst="roundRect">
            <a:avLst/>
          </a:prstGeom>
          <a:solidFill>
            <a:srgbClr val="1C2833"/>
          </a:solidFill>
          <a:ln/>
        </p:spPr>
        <p:txBody>
          <a:bodyPr/>
          <a:p>
            <a:pPr/>
            <a:endParaRPr/>
          </a:p>
        </p:txBody>
      </p:sp>
      <p:sp>
        <p:nvSpPr>
          <p:cNvPr id="613" name="Text 8"/>
          <p:cNvSpPr/>
          <p:nvPr/>
        </p:nvSpPr>
        <p:spPr>
          <a:xfrm>
            <a:off x="365760" y="2011680"/>
            <a:ext cx="411480" cy="41148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2</a:t>
            </a:r>
            <a:endParaRPr lang="en-US" sz="1400" dirty="false"/>
          </a:p>
        </p:txBody>
      </p:sp>
      <p:sp>
        <p:nvSpPr>
          <p:cNvPr id="614" name="Text 9"/>
          <p:cNvSpPr/>
          <p:nvPr/>
        </p:nvSpPr>
        <p:spPr>
          <a:xfrm>
            <a:off x="914400" y="2011680"/>
            <a:ext cx="4114800" cy="32004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技术价值</a:t>
            </a:r>
            <a:endParaRPr lang="en-US" sz="1200" dirty="false"/>
          </a:p>
        </p:txBody>
      </p:sp>
      <p:sp>
        <p:nvSpPr>
          <p:cNvPr id="615" name="Text 10"/>
          <p:cNvSpPr/>
          <p:nvPr/>
        </p:nvSpPr>
        <p:spPr>
          <a:xfrm>
            <a:off x="914400" y="2331720"/>
            <a:ext cx="4114800" cy="6400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提出TR模块与SAE模块的双重注意力增强策略，在可控计算开销下提升分割精度与边界质量。</a:t>
            </a:r>
            <a:endParaRPr lang="en-US" sz="900" dirty="false"/>
          </a:p>
        </p:txBody>
      </p:sp>
      <p:sp>
        <p:nvSpPr>
          <p:cNvPr id="616" name="Shape 11"/>
          <p:cNvSpPr/>
          <p:nvPr/>
        </p:nvSpPr>
        <p:spPr>
          <a:xfrm>
            <a:off x="365760" y="3017520"/>
            <a:ext cx="411480" cy="411480"/>
          </a:xfrm>
          <a:prstGeom prst="roundRect">
            <a:avLst/>
          </a:prstGeom>
          <a:solidFill>
            <a:srgbClr val="1C2833"/>
          </a:solidFill>
          <a:ln/>
        </p:spPr>
        <p:txBody>
          <a:bodyPr/>
          <a:p>
            <a:pPr/>
            <a:endParaRPr/>
          </a:p>
        </p:txBody>
      </p:sp>
      <p:sp>
        <p:nvSpPr>
          <p:cNvPr id="617" name="Text 12"/>
          <p:cNvSpPr/>
          <p:nvPr/>
        </p:nvSpPr>
        <p:spPr>
          <a:xfrm>
            <a:off x="365760" y="3017520"/>
            <a:ext cx="411480" cy="41148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3</a:t>
            </a:r>
            <a:endParaRPr lang="en-US" sz="1400" dirty="false"/>
          </a:p>
        </p:txBody>
      </p:sp>
      <p:sp>
        <p:nvSpPr>
          <p:cNvPr id="618" name="Text 13"/>
          <p:cNvSpPr/>
          <p:nvPr/>
        </p:nvSpPr>
        <p:spPr>
          <a:xfrm>
            <a:off x="914400" y="3017520"/>
            <a:ext cx="4114800" cy="32004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应用前景</a:t>
            </a:r>
            <a:endParaRPr lang="en-US" sz="1200" dirty="false"/>
          </a:p>
        </p:txBody>
      </p:sp>
      <p:sp>
        <p:nvSpPr>
          <p:cNvPr id="619" name="Text 14"/>
          <p:cNvSpPr/>
          <p:nvPr/>
        </p:nvSpPr>
        <p:spPr>
          <a:xfrm>
            <a:off x="914400" y="3337560"/>
            <a:ext cx="4114800" cy="6400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为激光焊接、医学影像等领域的OCT图像分析提供高精度分割解决方案，推动智能制造发展。</a:t>
            </a:r>
            <a:endParaRPr lang="en-US" sz="900" dirty="false"/>
          </a:p>
        </p:txBody>
      </p:sp>
      <p:sp>
        <p:nvSpPr>
          <p:cNvPr id="620" name="Shape 15"/>
          <p:cNvSpPr/>
          <p:nvPr/>
        </p:nvSpPr>
        <p:spPr>
          <a:xfrm>
            <a:off x="5303520" y="1005840"/>
            <a:ext cx="3474720" cy="3017520"/>
          </a:xfrm>
          <a:prstGeom prst="roundRect">
            <a:avLst/>
          </a:prstGeom>
          <a:solidFill>
            <a:srgbClr val="1C2833"/>
          </a:solidFill>
          <a:ln/>
        </p:spPr>
        <p:txBody>
          <a:bodyPr/>
          <a:p>
            <a:pPr/>
            <a:endParaRPr/>
          </a:p>
        </p:txBody>
      </p:sp>
      <p:sp>
        <p:nvSpPr>
          <p:cNvPr id="621" name="Text 16"/>
          <p:cNvSpPr/>
          <p:nvPr/>
        </p:nvSpPr>
        <p:spPr>
          <a:xfrm>
            <a:off x="5486400" y="1188720"/>
            <a:ext cx="3108960" cy="365760"/>
          </a:xfrm>
          <a:prstGeom prst="rect">
            <a:avLst/>
          </a:prstGeom>
          <a:noFill/>
          <a:ln/>
        </p:spPr>
        <p:txBody>
          <a:bodyPr wrap="square" rtlCol="false" anchor="ctr"/>
          <a:lstStyle/>
          <a:p>
            <a:pPr marL="0" indent="0">
              <a:buNone/>
            </a:pPr>
            <a:r>
              <a:rPr lang="en-US" sz="1400" b="true" dirty="false">
                <a:solidFill>
                  <a:srgbClr val="FFFFFF"/>
                </a:solidFill>
                <a:latin typeface="Arial" pitchFamily="34" charset="0"/>
                <a:ea typeface="Arial" pitchFamily="34" charset="-122"/>
                <a:cs typeface="Arial" pitchFamily="34" charset="-120"/>
              </a:rPr>
              <a:t>研究目标</a:t>
            </a:r>
            <a:endParaRPr lang="en-US" sz="1400" dirty="false"/>
          </a:p>
        </p:txBody>
      </p:sp>
      <p:sp>
        <p:nvSpPr>
          <p:cNvPr id="622" name="Shape 17"/>
          <p:cNvSpPr/>
          <p:nvPr/>
        </p:nvSpPr>
        <p:spPr>
          <a:xfrm>
            <a:off x="5486400" y="1554480"/>
            <a:ext cx="3108960" cy="18288"/>
          </a:xfrm>
          <a:prstGeom prst="rect">
            <a:avLst/>
          </a:prstGeom>
          <a:solidFill>
            <a:srgbClr val="AAB7B8"/>
          </a:solidFill>
          <a:ln/>
        </p:spPr>
        <p:txBody>
          <a:bodyPr/>
          <a:p>
            <a:pPr/>
            <a:endParaRPr/>
          </a:p>
        </p:txBody>
      </p:sp>
      <p:sp>
        <p:nvSpPr>
          <p:cNvPr id="623" name="Text 18"/>
          <p:cNvSpPr/>
          <p:nvPr/>
        </p:nvSpPr>
        <p:spPr>
          <a:xfrm>
            <a:off x="5486400" y="173736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1. 设计TR模块增强全局上下文建模能力</a:t>
            </a:r>
            <a:endParaRPr lang="en-US" sz="1000" dirty="false"/>
          </a:p>
        </p:txBody>
      </p:sp>
      <p:sp>
        <p:nvSpPr>
          <p:cNvPr id="624" name="Text 19"/>
          <p:cNvSpPr/>
          <p:nvPr/>
        </p:nvSpPr>
        <p:spPr>
          <a:xfrm>
            <a:off x="5486400" y="224028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2. 设计SAE模块改善边界分割质量</a:t>
            </a:r>
            <a:endParaRPr lang="en-US" sz="1000" dirty="false"/>
          </a:p>
        </p:txBody>
      </p:sp>
      <p:sp>
        <p:nvSpPr>
          <p:cNvPr id="625" name="Text 20"/>
          <p:cNvSpPr/>
          <p:nvPr/>
        </p:nvSpPr>
        <p:spPr>
          <a:xfrm>
            <a:off x="5486400" y="274320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3. 实现mIoU指标显著提升</a:t>
            </a:r>
            <a:endParaRPr lang="en-US" sz="1000" dirty="false"/>
          </a:p>
        </p:txBody>
      </p:sp>
      <p:sp>
        <p:nvSpPr>
          <p:cNvPr id="626" name="Text 21"/>
          <p:cNvSpPr/>
          <p:nvPr/>
        </p:nvSpPr>
        <p:spPr>
          <a:xfrm>
            <a:off x="5486400" y="3246120"/>
            <a:ext cx="3108960" cy="457200"/>
          </a:xfrm>
          <a:prstGeom prst="rect">
            <a:avLst/>
          </a:prstGeom>
          <a:noFill/>
          <a:ln/>
        </p:spPr>
        <p:txBody>
          <a:bodyPr wrap="square" rtlCol="false" anchor="ctr"/>
          <a:lstStyle/>
          <a:p>
            <a:pPr marL="0" indent="0">
              <a:buNone/>
            </a:pPr>
            <a:r>
              <a:rPr lang="en-US" sz="1000" dirty="false">
                <a:solidFill>
                  <a:srgbClr val="FFFFFF"/>
                </a:solidFill>
                <a:latin typeface="Arial" pitchFamily="34" charset="0"/>
                <a:ea typeface="Arial" pitchFamily="34" charset="-122"/>
                <a:cs typeface="Arial" pitchFamily="34" charset="-120"/>
              </a:rPr>
              <a:t>4. 保持推理效率满足实时需求</a:t>
            </a:r>
            <a:endParaRPr lang="en-US" sz="1000" dirty="false"/>
          </a:p>
        </p:txBody>
      </p:sp>
    </p:spTree>
  </p:cSld>
  <p:clrMapOvr>
    <a:masterClrMapping/>
  </p:clrMapOvr>
</p:sld>
</file>

<file path=ppt/slides/slide7.xml><?xml version="1.0" encoding="utf-8"?>
<p:sld xmlns:a="http://schemas.openxmlformats.org/drawingml/2006/main" xmlns:p="http://schemas.openxmlformats.org/presentationml/2006/main">
  <p:cSld name="Slide 7">
    <p:bg>
      <p:bgPr>
        <a:solidFill>
          <a:srgbClr val="1C2833"/>
        </a:solidFill>
      </p:bgPr>
    </p:bg>
    <p:spTree>
      <p:nvGrpSpPr>
        <p:cNvPr id="627" name=""/>
        <p:cNvGrpSpPr/>
        <p:nvPr/>
      </p:nvGrpSpPr>
      <p:grpSpPr>
        <a:xfrm>
          <a:off x="0" y="0"/>
          <a:ext cx="0" cy="0"/>
          <a:chOff x="0" y="0"/>
          <a:chExt cx="0" cy="0"/>
        </a:xfrm>
      </p:grpSpPr>
      <p:sp>
        <p:nvSpPr>
          <p:cNvPr id="628" name="Shape 0"/>
          <p:cNvSpPr/>
          <p:nvPr/>
        </p:nvSpPr>
        <p:spPr>
          <a:xfrm>
            <a:off x="0" y="0"/>
            <a:ext cx="9144000" cy="73152"/>
          </a:xfrm>
          <a:prstGeom prst="rect">
            <a:avLst/>
          </a:prstGeom>
          <a:solidFill>
            <a:srgbClr val="AAB7B8"/>
          </a:solidFill>
          <a:ln/>
        </p:spPr>
        <p:txBody>
          <a:bodyPr/>
          <a:p>
            <a:pPr/>
            <a:endParaRPr/>
          </a:p>
        </p:txBody>
      </p:sp>
      <p:sp>
        <p:nvSpPr>
          <p:cNvPr id="629" name="Shape 1"/>
          <p:cNvSpPr/>
          <p:nvPr/>
        </p:nvSpPr>
        <p:spPr>
          <a:xfrm>
            <a:off x="0" y="5074920"/>
            <a:ext cx="9144000" cy="73152"/>
          </a:xfrm>
          <a:prstGeom prst="rect">
            <a:avLst/>
          </a:prstGeom>
          <a:solidFill>
            <a:srgbClr val="AAB7B8"/>
          </a:solidFill>
          <a:ln/>
        </p:spPr>
        <p:txBody>
          <a:bodyPr/>
          <a:p>
            <a:pPr/>
            <a:endParaRPr/>
          </a:p>
        </p:txBody>
      </p:sp>
      <p:sp>
        <p:nvSpPr>
          <p:cNvPr id="630"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02</a:t>
            </a:r>
            <a:endParaRPr lang="en-US" sz="8000" dirty="false"/>
          </a:p>
        </p:txBody>
      </p:sp>
      <p:sp>
        <p:nvSpPr>
          <p:cNvPr id="631"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相关技术基础</a:t>
            </a:r>
            <a:endParaRPr lang="en-US" sz="3200" dirty="false"/>
          </a:p>
        </p:txBody>
      </p:sp>
      <p:sp>
        <p:nvSpPr>
          <p:cNvPr id="632" name="Shape 4"/>
          <p:cNvSpPr/>
          <p:nvPr/>
        </p:nvSpPr>
        <p:spPr>
          <a:xfrm>
            <a:off x="2286000" y="2286000"/>
            <a:ext cx="2743200" cy="36576"/>
          </a:xfrm>
          <a:prstGeom prst="rect">
            <a:avLst/>
          </a:prstGeom>
          <a:solidFill>
            <a:srgbClr val="E74C3C"/>
          </a:solidFill>
          <a:ln/>
        </p:spPr>
        <p:txBody>
          <a:bodyPr/>
          <a:p>
            <a:pPr/>
            <a:endParaRPr/>
          </a:p>
        </p:txBody>
      </p:sp>
      <p:sp>
        <p:nvSpPr>
          <p:cNvPr id="633"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CNN基础组件与原理</a:t>
            </a:r>
            <a:endParaRPr lang="en-US" sz="1400" dirty="false"/>
          </a:p>
        </p:txBody>
      </p:sp>
      <p:sp>
        <p:nvSpPr>
          <p:cNvPr id="634"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经典语义分割网络</a:t>
            </a:r>
            <a:endParaRPr lang="en-US" sz="1400" dirty="false"/>
          </a:p>
        </p:txBody>
      </p:sp>
      <p:sp>
        <p:nvSpPr>
          <p:cNvPr id="635"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DeepLabV3+网络结构</a:t>
            </a:r>
            <a:endParaRPr lang="en-US" sz="1400" dirty="false"/>
          </a:p>
        </p:txBody>
      </p:sp>
      <p:sp>
        <p:nvSpPr>
          <p:cNvPr id="636" name="Text 8"/>
          <p:cNvSpPr/>
          <p:nvPr/>
        </p:nvSpPr>
        <p:spPr>
          <a:xfrm>
            <a:off x="2286000" y="365760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数据集构建与增强</a:t>
            </a:r>
            <a:endParaRPr lang="en-US" sz="1400" dirty="false"/>
          </a:p>
        </p:txBody>
      </p:sp>
      <p:sp>
        <p:nvSpPr>
          <p:cNvPr id="637" name="Text 9"/>
          <p:cNvSpPr/>
          <p:nvPr/>
        </p:nvSpPr>
        <p:spPr>
          <a:xfrm>
            <a:off x="2286000" y="402336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评估指标</a:t>
            </a:r>
            <a:endParaRPr lang="en-US" sz="1400" dirty="fals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6"/>
        </a:solidFill>
      </p:bgPr>
    </p:bg>
    <p:spTree>
      <p:nvGrpSpPr>
        <p:cNvPr id="638" name=""/>
        <p:cNvGrpSpPr/>
        <p:nvPr/>
      </p:nvGrpSpPr>
      <p:grpSpPr>
        <a:xfrm>
          <a:off x="0" y="0"/>
          <a:ext cx="0" cy="0"/>
          <a:chOff x="0" y="0"/>
          <a:chExt cx="0" cy="0"/>
        </a:xfrm>
      </p:grpSpPr>
      <p:sp>
        <p:nvSpPr>
          <p:cNvPr id="639" name="Shape 0"/>
          <p:cNvSpPr/>
          <p:nvPr/>
        </p:nvSpPr>
        <p:spPr>
          <a:xfrm>
            <a:off x="0" y="0"/>
            <a:ext cx="91440" cy="5143500"/>
          </a:xfrm>
          <a:prstGeom prst="rect">
            <a:avLst/>
          </a:prstGeom>
          <a:solidFill>
            <a:srgbClr val="1C2833"/>
          </a:solidFill>
          <a:ln/>
        </p:spPr>
        <p:txBody>
          <a:bodyPr/>
          <a:p>
            <a:pPr/>
            <a:endParaRPr/>
          </a:p>
        </p:txBody>
      </p:sp>
      <p:sp>
        <p:nvSpPr>
          <p:cNvPr id="64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64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CNN基础组件</a:t>
            </a:r>
            <a:endParaRPr lang="en-US" sz="2400" dirty="false"/>
          </a:p>
        </p:txBody>
      </p:sp>
      <p:sp>
        <p:nvSpPr>
          <p:cNvPr id="642" name="Shape 3"/>
          <p:cNvSpPr/>
          <p:nvPr/>
        </p:nvSpPr>
        <p:spPr>
          <a:xfrm>
            <a:off x="365760" y="914400"/>
            <a:ext cx="4114800" cy="1920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43" name="Text 4"/>
          <p:cNvSpPr/>
          <p:nvPr/>
        </p:nvSpPr>
        <p:spPr>
          <a:xfrm>
            <a:off x="457200" y="960120"/>
            <a:ext cx="3931920" cy="256032"/>
          </a:xfrm>
          <a:prstGeom prst="rect">
            <a:avLst/>
          </a:prstGeom>
          <a:noFill/>
          <a:ln/>
        </p:spPr>
        <p:txBody>
          <a:bodyPr wrap="square" rtlCol="false" anchor="ctr"/>
          <a:lstStyle/>
          <a:p>
            <a:pPr marL="0" indent="0">
              <a:buNone/>
            </a:pPr>
            <a:r>
              <a:rPr lang="en-US" sz="1100" b="true" dirty="false">
                <a:solidFill>
                  <a:srgbClr val="E74C3C"/>
                </a:solidFill>
                <a:latin typeface="Arial" pitchFamily="34" charset="0"/>
                <a:ea typeface="Arial" pitchFamily="34" charset="-122"/>
                <a:cs typeface="Arial" pitchFamily="34" charset="-120"/>
              </a:rPr>
              <a:t>卷积层 (Convolution)</a:t>
            </a:r>
            <a:endParaRPr lang="en-US" sz="1100" dirty="false"/>
          </a:p>
        </p:txBody>
      </p:sp>
      <p:pic>
        <p:nvPicPr>
          <p:cNvPr id="644" name="Image 0" descr="../figure/cp2/fig2-1_conv_operation.png"/>
          <p:cNvPicPr>
            <a:picLocks noChangeAspect="true"/>
          </p:cNvPicPr>
          <p:nvPr/>
        </p:nvPicPr>
        <p:blipFill>
          <a:blip r:embed="rId2"/>
          <a:stretch>
            <a:fillRect/>
          </a:stretch>
        </p:blipFill>
        <p:spPr>
          <a:xfrm>
            <a:off x="1645920" y="1234440"/>
            <a:ext cx="1554480" cy="914400"/>
          </a:xfrm>
          <a:prstGeom prst="rect">
            <a:avLst/>
          </a:prstGeom>
        </p:spPr>
      </p:pic>
      <p:sp>
        <p:nvSpPr>
          <p:cNvPr id="645" name="Text 5"/>
          <p:cNvSpPr/>
          <p:nvPr/>
        </p:nvSpPr>
        <p:spPr>
          <a:xfrm>
            <a:off x="457200" y="2240280"/>
            <a:ext cx="3931920" cy="53035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通过卷积核在输入特征图上滑动，提取局部特征。参数共享降低计算量，局部连接保留空间结构。</a:t>
            </a:r>
            <a:endParaRPr lang="en-US" sz="800" dirty="false"/>
          </a:p>
        </p:txBody>
      </p:sp>
      <p:sp>
        <p:nvSpPr>
          <p:cNvPr id="646" name="Shape 6"/>
          <p:cNvSpPr/>
          <p:nvPr/>
        </p:nvSpPr>
        <p:spPr>
          <a:xfrm>
            <a:off x="4663440" y="914400"/>
            <a:ext cx="4114800" cy="1920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47" name="Text 7"/>
          <p:cNvSpPr/>
          <p:nvPr/>
        </p:nvSpPr>
        <p:spPr>
          <a:xfrm>
            <a:off x="4754880" y="960120"/>
            <a:ext cx="3931920" cy="256032"/>
          </a:xfrm>
          <a:prstGeom prst="rect">
            <a:avLst/>
          </a:prstGeom>
          <a:noFill/>
          <a:ln/>
        </p:spPr>
        <p:txBody>
          <a:bodyPr wrap="square" rtlCol="false" anchor="ctr"/>
          <a:lstStyle/>
          <a:p>
            <a:pPr marL="0" indent="0">
              <a:buNone/>
            </a:pPr>
            <a:r>
              <a:rPr lang="en-US" sz="1100" b="true" dirty="false">
                <a:solidFill>
                  <a:srgbClr val="E74C3C"/>
                </a:solidFill>
                <a:latin typeface="Arial" pitchFamily="34" charset="0"/>
                <a:ea typeface="Arial" pitchFamily="34" charset="-122"/>
                <a:cs typeface="Arial" pitchFamily="34" charset="-120"/>
              </a:rPr>
              <a:t>池化层 (Pooling)</a:t>
            </a:r>
            <a:endParaRPr lang="en-US" sz="1100" dirty="false"/>
          </a:p>
        </p:txBody>
      </p:sp>
      <p:pic>
        <p:nvPicPr>
          <p:cNvPr id="648" name="Image 1" descr="../figure/cp2/fig2-2_pooling_operation.png"/>
          <p:cNvPicPr>
            <a:picLocks noChangeAspect="true"/>
          </p:cNvPicPr>
          <p:nvPr/>
        </p:nvPicPr>
        <p:blipFill>
          <a:blip r:embed="rId3"/>
          <a:stretch>
            <a:fillRect/>
          </a:stretch>
        </p:blipFill>
        <p:spPr>
          <a:xfrm>
            <a:off x="6126480" y="1234440"/>
            <a:ext cx="1051560" cy="914400"/>
          </a:xfrm>
          <a:prstGeom prst="rect">
            <a:avLst/>
          </a:prstGeom>
        </p:spPr>
      </p:pic>
      <p:sp>
        <p:nvSpPr>
          <p:cNvPr id="649" name="Text 8"/>
          <p:cNvSpPr/>
          <p:nvPr/>
        </p:nvSpPr>
        <p:spPr>
          <a:xfrm>
            <a:off x="4754880" y="2240280"/>
            <a:ext cx="3931920" cy="53035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下采样操作，降低特征图分辨率。最大池化保留显著特征，平均池化保留全局信息，增强平移不变性。</a:t>
            </a:r>
            <a:endParaRPr lang="en-US" sz="800" dirty="false"/>
          </a:p>
        </p:txBody>
      </p:sp>
      <p:sp>
        <p:nvSpPr>
          <p:cNvPr id="650" name="Shape 9"/>
          <p:cNvSpPr/>
          <p:nvPr/>
        </p:nvSpPr>
        <p:spPr>
          <a:xfrm>
            <a:off x="365760" y="2971800"/>
            <a:ext cx="8412480" cy="1051560"/>
          </a:xfrm>
          <a:prstGeom prst="roundRect">
            <a:avLst/>
          </a:prstGeom>
          <a:solidFill>
            <a:srgbClr val="1C2833"/>
          </a:solidFill>
          <a:ln/>
        </p:spPr>
        <p:txBody>
          <a:bodyPr/>
          <a:p>
            <a:pPr/>
            <a:endParaRPr/>
          </a:p>
        </p:txBody>
      </p:sp>
      <p:sp>
        <p:nvSpPr>
          <p:cNvPr id="651" name="Text 10"/>
          <p:cNvSpPr/>
          <p:nvPr/>
        </p:nvSpPr>
        <p:spPr>
          <a:xfrm>
            <a:off x="548640" y="3063240"/>
            <a:ext cx="8046720" cy="256032"/>
          </a:xfrm>
          <a:prstGeom prst="rect">
            <a:avLst/>
          </a:prstGeom>
          <a:noFill/>
          <a:ln/>
        </p:spPr>
        <p:txBody>
          <a:bodyPr wrap="square" rtlCol="false" anchor="ctr"/>
          <a:lstStyle/>
          <a:p>
            <a:pPr marL="0" indent="0">
              <a:buNone/>
            </a:pPr>
            <a:r>
              <a:rPr lang="en-US" sz="1100" b="true" dirty="false">
                <a:solidFill>
                  <a:srgbClr val="FFFFFF"/>
                </a:solidFill>
                <a:latin typeface="Arial" pitchFamily="34" charset="0"/>
                <a:ea typeface="Arial" pitchFamily="34" charset="-122"/>
                <a:cs typeface="Arial" pitchFamily="34" charset="-120"/>
              </a:rPr>
              <a:t>CNN核心特性</a:t>
            </a:r>
            <a:endParaRPr lang="en-US" sz="1100" dirty="false"/>
          </a:p>
        </p:txBody>
      </p:sp>
      <p:sp>
        <p:nvSpPr>
          <p:cNvPr id="652" name="Text 11"/>
          <p:cNvSpPr/>
          <p:nvPr/>
        </p:nvSpPr>
        <p:spPr>
          <a:xfrm>
            <a:off x="548640" y="3364992"/>
            <a:ext cx="2651760" cy="201168"/>
          </a:xfrm>
          <a:prstGeom prst="rect">
            <a:avLst/>
          </a:prstGeom>
          <a:noFill/>
          <a:ln/>
        </p:spPr>
        <p:txBody>
          <a:bodyPr wrap="square" rtlCol="false" anchor="ctr"/>
          <a:lstStyle/>
          <a:p>
            <a:pPr marL="0" indent="0">
              <a:buNone/>
            </a:pPr>
            <a:r>
              <a:rPr lang="en-US" sz="1000" b="true" dirty="false">
                <a:solidFill>
                  <a:srgbClr val="27AE60"/>
                </a:solidFill>
                <a:latin typeface="Arial" pitchFamily="34" charset="0"/>
                <a:ea typeface="Arial" pitchFamily="34" charset="-122"/>
                <a:cs typeface="Arial" pitchFamily="34" charset="-120"/>
              </a:rPr>
              <a:t>局部连接</a:t>
            </a:r>
            <a:endParaRPr lang="en-US" sz="1000" dirty="false"/>
          </a:p>
        </p:txBody>
      </p:sp>
      <p:sp>
        <p:nvSpPr>
          <p:cNvPr id="653" name="Text 12"/>
          <p:cNvSpPr/>
          <p:nvPr/>
        </p:nvSpPr>
        <p:spPr>
          <a:xfrm>
            <a:off x="548640" y="3584448"/>
            <a:ext cx="2651760" cy="36576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每个神经元只连接输入的局部区域</a:t>
            </a:r>
            <a:endParaRPr lang="en-US" sz="800" dirty="false"/>
          </a:p>
        </p:txBody>
      </p:sp>
      <p:sp>
        <p:nvSpPr>
          <p:cNvPr id="654" name="Text 13"/>
          <p:cNvSpPr/>
          <p:nvPr/>
        </p:nvSpPr>
        <p:spPr>
          <a:xfrm>
            <a:off x="3337560" y="3364992"/>
            <a:ext cx="2651760" cy="201168"/>
          </a:xfrm>
          <a:prstGeom prst="rect">
            <a:avLst/>
          </a:prstGeom>
          <a:noFill/>
          <a:ln/>
        </p:spPr>
        <p:txBody>
          <a:bodyPr wrap="square" rtlCol="false" anchor="ctr"/>
          <a:lstStyle/>
          <a:p>
            <a:pPr marL="0" indent="0">
              <a:buNone/>
            </a:pPr>
            <a:r>
              <a:rPr lang="en-US" sz="1000" b="true" dirty="false">
                <a:solidFill>
                  <a:srgbClr val="27AE60"/>
                </a:solidFill>
                <a:latin typeface="Arial" pitchFamily="34" charset="0"/>
                <a:ea typeface="Arial" pitchFamily="34" charset="-122"/>
                <a:cs typeface="Arial" pitchFamily="34" charset="-120"/>
              </a:rPr>
              <a:t>权值共享</a:t>
            </a:r>
            <a:endParaRPr lang="en-US" sz="1000" dirty="false"/>
          </a:p>
        </p:txBody>
      </p:sp>
      <p:sp>
        <p:nvSpPr>
          <p:cNvPr id="655" name="Text 14"/>
          <p:cNvSpPr/>
          <p:nvPr/>
        </p:nvSpPr>
        <p:spPr>
          <a:xfrm>
            <a:off x="3337560" y="3584448"/>
            <a:ext cx="2651760" cy="36576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同一卷积核在整个特征图上共享</a:t>
            </a:r>
            <a:endParaRPr lang="en-US" sz="800" dirty="false"/>
          </a:p>
        </p:txBody>
      </p:sp>
      <p:sp>
        <p:nvSpPr>
          <p:cNvPr id="656" name="Text 15"/>
          <p:cNvSpPr/>
          <p:nvPr/>
        </p:nvSpPr>
        <p:spPr>
          <a:xfrm>
            <a:off x="6126480" y="3364992"/>
            <a:ext cx="2651760" cy="201168"/>
          </a:xfrm>
          <a:prstGeom prst="rect">
            <a:avLst/>
          </a:prstGeom>
          <a:noFill/>
          <a:ln/>
        </p:spPr>
        <p:txBody>
          <a:bodyPr wrap="square" rtlCol="false" anchor="ctr"/>
          <a:lstStyle/>
          <a:p>
            <a:pPr marL="0" indent="0">
              <a:buNone/>
            </a:pPr>
            <a:r>
              <a:rPr lang="en-US" sz="1000" b="true" dirty="false">
                <a:solidFill>
                  <a:srgbClr val="27AE60"/>
                </a:solidFill>
                <a:latin typeface="Arial" pitchFamily="34" charset="0"/>
                <a:ea typeface="Arial" pitchFamily="34" charset="-122"/>
                <a:cs typeface="Arial" pitchFamily="34" charset="-120"/>
              </a:rPr>
              <a:t>层级特征</a:t>
            </a:r>
            <a:endParaRPr lang="en-US" sz="1000" dirty="false"/>
          </a:p>
        </p:txBody>
      </p:sp>
      <p:sp>
        <p:nvSpPr>
          <p:cNvPr id="657" name="Text 16"/>
          <p:cNvSpPr/>
          <p:nvPr/>
        </p:nvSpPr>
        <p:spPr>
          <a:xfrm>
            <a:off x="6126480" y="3584448"/>
            <a:ext cx="2651760" cy="36576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浅层提取边缘，深层提取语义</a:t>
            </a:r>
            <a:endParaRPr lang="en-US" sz="800" dirty="fals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6"/>
        </a:solidFill>
      </p:bgPr>
    </p:bg>
    <p:spTree>
      <p:nvGrpSpPr>
        <p:cNvPr id="658" name=""/>
        <p:cNvGrpSpPr/>
        <p:nvPr/>
      </p:nvGrpSpPr>
      <p:grpSpPr>
        <a:xfrm>
          <a:off x="0" y="0"/>
          <a:ext cx="0" cy="0"/>
          <a:chOff x="0" y="0"/>
          <a:chExt cx="0" cy="0"/>
        </a:xfrm>
      </p:grpSpPr>
      <p:sp>
        <p:nvSpPr>
          <p:cNvPr id="659" name="Shape 0"/>
          <p:cNvSpPr/>
          <p:nvPr/>
        </p:nvSpPr>
        <p:spPr>
          <a:xfrm>
            <a:off x="0" y="0"/>
            <a:ext cx="91440" cy="5143500"/>
          </a:xfrm>
          <a:prstGeom prst="rect">
            <a:avLst/>
          </a:prstGeom>
          <a:solidFill>
            <a:srgbClr val="1C2833"/>
          </a:solidFill>
          <a:ln/>
        </p:spPr>
        <p:txBody>
          <a:bodyPr/>
          <a:p>
            <a:pPr/>
            <a:endParaRPr/>
          </a:p>
        </p:txBody>
      </p:sp>
      <p:sp>
        <p:nvSpPr>
          <p:cNvPr id="66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66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经典语义分割网络</a:t>
            </a:r>
            <a:endParaRPr lang="en-US" sz="2400" dirty="false"/>
          </a:p>
        </p:txBody>
      </p:sp>
      <p:sp>
        <p:nvSpPr>
          <p:cNvPr id="662" name="Shape 3"/>
          <p:cNvSpPr/>
          <p:nvPr/>
        </p:nvSpPr>
        <p:spPr>
          <a:xfrm>
            <a:off x="365760" y="914400"/>
            <a:ext cx="4114800" cy="2926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63" name="Shape 4"/>
          <p:cNvSpPr/>
          <p:nvPr/>
        </p:nvSpPr>
        <p:spPr>
          <a:xfrm>
            <a:off x="365760" y="914400"/>
            <a:ext cx="36576" cy="2926080"/>
          </a:xfrm>
          <a:prstGeom prst="rect">
            <a:avLst/>
          </a:prstGeom>
          <a:solidFill>
            <a:srgbClr val="E74C3C"/>
          </a:solidFill>
          <a:ln/>
        </p:spPr>
        <p:txBody>
          <a:bodyPr/>
          <a:p>
            <a:pPr/>
            <a:endParaRPr/>
          </a:p>
        </p:txBody>
      </p:sp>
      <p:sp>
        <p:nvSpPr>
          <p:cNvPr id="664" name="Text 5"/>
          <p:cNvSpPr/>
          <p:nvPr/>
        </p:nvSpPr>
        <p:spPr>
          <a:xfrm>
            <a:off x="457200" y="960120"/>
            <a:ext cx="3931920" cy="256032"/>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FCN (2015)</a:t>
            </a:r>
            <a:endParaRPr lang="en-US" sz="1200" dirty="false"/>
          </a:p>
        </p:txBody>
      </p:sp>
      <p:sp>
        <p:nvSpPr>
          <p:cNvPr id="665" name="Text 6"/>
          <p:cNvSpPr/>
          <p:nvPr/>
        </p:nvSpPr>
        <p:spPr>
          <a:xfrm>
            <a:off x="457200" y="1234440"/>
            <a:ext cx="3931920" cy="1828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首个端到端语义分割网络</a:t>
            </a:r>
            <a:endParaRPr lang="en-US" sz="900" dirty="false"/>
          </a:p>
        </p:txBody>
      </p:sp>
      <p:pic>
        <p:nvPicPr>
          <p:cNvPr id="666" name="Image 0" descr="../figure/cp2/fig2-3_fcn_structure.png"/>
          <p:cNvPicPr>
            <a:picLocks noChangeAspect="true"/>
          </p:cNvPicPr>
          <p:nvPr/>
        </p:nvPicPr>
        <p:blipFill>
          <a:blip r:embed="rId2"/>
          <a:stretch>
            <a:fillRect/>
          </a:stretch>
        </p:blipFill>
        <p:spPr>
          <a:xfrm>
            <a:off x="640080" y="1463040"/>
            <a:ext cx="3474720" cy="1801368"/>
          </a:xfrm>
          <a:prstGeom prst="rect">
            <a:avLst/>
          </a:prstGeom>
        </p:spPr>
      </p:pic>
      <p:sp>
        <p:nvSpPr>
          <p:cNvPr id="667" name="Text 7"/>
          <p:cNvSpPr/>
          <p:nvPr/>
        </p:nvSpPr>
        <p:spPr>
          <a:xfrm>
            <a:off x="457200" y="3383280"/>
            <a:ext cx="3931920" cy="3657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将全连接层替换为卷积层  • 支持任意尺寸输入  • 跳跃连接融合多尺度特征</a:t>
            </a:r>
            <a:endParaRPr lang="en-US" sz="800" dirty="false"/>
          </a:p>
        </p:txBody>
      </p:sp>
      <p:sp>
        <p:nvSpPr>
          <p:cNvPr id="668" name="Shape 8"/>
          <p:cNvSpPr/>
          <p:nvPr/>
        </p:nvSpPr>
        <p:spPr>
          <a:xfrm>
            <a:off x="4663440" y="914400"/>
            <a:ext cx="4114800" cy="2926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669" name="Shape 9"/>
          <p:cNvSpPr/>
          <p:nvPr/>
        </p:nvSpPr>
        <p:spPr>
          <a:xfrm>
            <a:off x="4663440" y="914400"/>
            <a:ext cx="36576" cy="2926080"/>
          </a:xfrm>
          <a:prstGeom prst="rect">
            <a:avLst/>
          </a:prstGeom>
          <a:solidFill>
            <a:srgbClr val="E74C3C"/>
          </a:solidFill>
          <a:ln/>
        </p:spPr>
        <p:txBody>
          <a:bodyPr/>
          <a:p>
            <a:pPr/>
            <a:endParaRPr/>
          </a:p>
        </p:txBody>
      </p:sp>
      <p:sp>
        <p:nvSpPr>
          <p:cNvPr id="670" name="Text 10"/>
          <p:cNvSpPr/>
          <p:nvPr/>
        </p:nvSpPr>
        <p:spPr>
          <a:xfrm>
            <a:off x="4754880" y="960120"/>
            <a:ext cx="3931920" cy="256032"/>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U-Net (2015)</a:t>
            </a:r>
            <a:endParaRPr lang="en-US" sz="1200" dirty="false"/>
          </a:p>
        </p:txBody>
      </p:sp>
      <p:sp>
        <p:nvSpPr>
          <p:cNvPr id="671" name="Text 11"/>
          <p:cNvSpPr/>
          <p:nvPr/>
        </p:nvSpPr>
        <p:spPr>
          <a:xfrm>
            <a:off x="4754880" y="1234440"/>
            <a:ext cx="3931920" cy="1828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编码器-解码器对称结构</a:t>
            </a:r>
            <a:endParaRPr lang="en-US" sz="900" dirty="false"/>
          </a:p>
        </p:txBody>
      </p:sp>
      <p:pic>
        <p:nvPicPr>
          <p:cNvPr id="672" name="Image 1" descr="../figure/cp2/fig2-4_unet_structure.png"/>
          <p:cNvPicPr>
            <a:picLocks noChangeAspect="true"/>
          </p:cNvPicPr>
          <p:nvPr/>
        </p:nvPicPr>
        <p:blipFill>
          <a:blip r:embed="rId3"/>
          <a:stretch>
            <a:fillRect/>
          </a:stretch>
        </p:blipFill>
        <p:spPr>
          <a:xfrm>
            <a:off x="5440680" y="1463040"/>
            <a:ext cx="2450592" cy="1828800"/>
          </a:xfrm>
          <a:prstGeom prst="rect">
            <a:avLst/>
          </a:prstGeom>
        </p:spPr>
      </p:pic>
      <p:sp>
        <p:nvSpPr>
          <p:cNvPr id="673" name="Text 12"/>
          <p:cNvSpPr/>
          <p:nvPr/>
        </p:nvSpPr>
        <p:spPr>
          <a:xfrm>
            <a:off x="4754880" y="3383280"/>
            <a:ext cx="3931920" cy="3657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对称编码器-解码器结构  • 跳跃连接保留细节信息  • 适合小样本医学图像分割</a:t>
            </a:r>
            <a:endParaRPr lang="en-US" sz="800" dirty="false"/>
          </a:p>
        </p:txBody>
      </p:sp>
      <p:sp>
        <p:nvSpPr>
          <p:cNvPr id="674" name="Shape 13"/>
          <p:cNvSpPr/>
          <p:nvPr/>
        </p:nvSpPr>
        <p:spPr>
          <a:xfrm>
            <a:off x="365760" y="3931920"/>
            <a:ext cx="8412480" cy="502920"/>
          </a:xfrm>
          <a:prstGeom prst="roundRect">
            <a:avLst/>
          </a:prstGeom>
          <a:solidFill>
            <a:srgbClr val="2E4053"/>
          </a:solidFill>
          <a:ln/>
        </p:spPr>
        <p:txBody>
          <a:bodyPr/>
          <a:p>
            <a:pPr/>
            <a:endParaRPr/>
          </a:p>
        </p:txBody>
      </p:sp>
      <p:sp>
        <p:nvSpPr>
          <p:cNvPr id="675" name="Text 14"/>
          <p:cNvSpPr/>
          <p:nvPr/>
        </p:nvSpPr>
        <p:spPr>
          <a:xfrm>
            <a:off x="548640" y="3977640"/>
            <a:ext cx="8046720" cy="182880"/>
          </a:xfrm>
          <a:prstGeom prst="rect">
            <a:avLst/>
          </a:prstGeom>
          <a:noFill/>
          <a:ln/>
        </p:spPr>
        <p:txBody>
          <a:bodyPr wrap="square" rtlCol="false" anchor="ctr"/>
          <a:lstStyle/>
          <a:p>
            <a:pPr marL="0" indent="0">
              <a:buNone/>
            </a:pPr>
            <a:r>
              <a:rPr lang="en-US" sz="900" b="true" dirty="false">
                <a:solidFill>
                  <a:srgbClr val="FFFFFF"/>
                </a:solidFill>
                <a:latin typeface="Arial" pitchFamily="34" charset="0"/>
                <a:ea typeface="Arial" pitchFamily="34" charset="-122"/>
                <a:cs typeface="Arial" pitchFamily="34" charset="-120"/>
              </a:rPr>
              <a:t>发展脉络: FCN → U-Net → DeepLab系列 → Transformer融合</a:t>
            </a:r>
            <a:endParaRPr lang="en-US" sz="900" dirty="false"/>
          </a:p>
        </p:txBody>
      </p:sp>
      <p:sp>
        <p:nvSpPr>
          <p:cNvPr id="676" name="Text 15"/>
          <p:cNvSpPr/>
          <p:nvPr/>
        </p:nvSpPr>
        <p:spPr>
          <a:xfrm>
            <a:off x="548640" y="4187952"/>
            <a:ext cx="8046720" cy="182880"/>
          </a:xfrm>
          <a:prstGeom prst="rect">
            <a:avLst/>
          </a:prstGeom>
          <a:noFill/>
          <a:ln/>
        </p:spPr>
        <p:txBody>
          <a:bodyPr wrap="square" rtlCol="false" anchor="ctr"/>
          <a:lstStyle/>
          <a:p>
            <a:pPr marL="0" indent="0">
              <a:buNone/>
            </a:pPr>
            <a:r>
              <a:rPr lang="en-US" sz="800" dirty="false">
                <a:solidFill>
                  <a:srgbClr val="27AE60"/>
                </a:solidFill>
                <a:latin typeface="Arial" pitchFamily="34" charset="0"/>
                <a:ea typeface="Arial" pitchFamily="34" charset="-122"/>
                <a:cs typeface="Arial" pitchFamily="34" charset="-120"/>
              </a:rPr>
              <a:t>关键技术演进：全卷积化 → 编码器-解码器 → 空洞卷积/ASPP → 注意力机制</a:t>
            </a:r>
            <a:endParaRPr lang="en-US" sz="800" dirty="fals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6"/>
        </a:solidFill>
      </p:bgPr>
    </p:bg>
    <p:spTree>
      <p:nvGrpSpPr>
        <p:cNvPr id="9" name=""/>
        <p:cNvGrpSpPr/>
        <p:nvPr/>
      </p:nvGrpSpPr>
      <p:grpSpPr>
        <a:xfrm>
          <a:off x="0" y="0"/>
          <a:ext cx="0" cy="0"/>
          <a:chOff x="0" y="0"/>
          <a:chExt cx="0" cy="0"/>
        </a:xfrm>
      </p:grpSpPr>
      <p:sp>
        <p:nvSpPr>
          <p:cNvPr id="10" name="Shape 0"/>
          <p:cNvSpPr/>
          <p:nvPr/>
        </p:nvSpPr>
        <p:spPr>
          <a:xfrm>
            <a:off x="0" y="0"/>
            <a:ext cx="91440" cy="5143500"/>
          </a:xfrm>
          <a:prstGeom prst="rect">
            <a:avLst/>
          </a:prstGeom>
          <a:solidFill>
            <a:srgbClr val="1C2833"/>
          </a:solidFill>
          <a:ln/>
        </p:spPr>
        <p:txBody>
          <a:bodyPr/>
          <a:p>
            <a:pPr/>
            <a:endParaRPr/>
          </a:p>
        </p:txBody>
      </p:sp>
      <p:sp>
        <p:nvSpPr>
          <p:cNvPr id="11"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12"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DeepLabV3+ 网络结构</a:t>
            </a:r>
            <a:endParaRPr lang="en-US" sz="2400" dirty="false"/>
          </a:p>
        </p:txBody>
      </p:sp>
      <p:sp>
        <p:nvSpPr>
          <p:cNvPr id="13" name="Shape 3"/>
          <p:cNvSpPr/>
          <p:nvPr/>
        </p:nvSpPr>
        <p:spPr>
          <a:xfrm>
            <a:off x="365760" y="914400"/>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4" name="Text 4"/>
          <p:cNvSpPr/>
          <p:nvPr/>
        </p:nvSpPr>
        <p:spPr>
          <a:xfrm>
            <a:off x="457200" y="960120"/>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编码器-解码器架构</a:t>
            </a:r>
            <a:endParaRPr lang="en-US" sz="1000" dirty="false"/>
          </a:p>
        </p:txBody>
      </p:sp>
      <p:sp>
        <p:nvSpPr>
          <p:cNvPr id="15" name="Text 5"/>
          <p:cNvSpPr/>
          <p:nvPr/>
        </p:nvSpPr>
        <p:spPr>
          <a:xfrm>
            <a:off x="457200" y="1152144"/>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ResNet18-V1c骨干网络，解码器融合高低层特征。</a:t>
            </a:r>
            <a:endParaRPr lang="en-US" sz="800" dirty="false"/>
          </a:p>
        </p:txBody>
      </p:sp>
      <p:sp>
        <p:nvSpPr>
          <p:cNvPr id="16" name="Shape 6"/>
          <p:cNvSpPr/>
          <p:nvPr/>
        </p:nvSpPr>
        <p:spPr>
          <a:xfrm>
            <a:off x="365760" y="1444752"/>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7" name="Text 7"/>
          <p:cNvSpPr/>
          <p:nvPr/>
        </p:nvSpPr>
        <p:spPr>
          <a:xfrm>
            <a:off x="457200" y="1490472"/>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ASPP模块</a:t>
            </a:r>
            <a:endParaRPr lang="en-US" sz="1000" dirty="false"/>
          </a:p>
        </p:txBody>
      </p:sp>
      <p:sp>
        <p:nvSpPr>
          <p:cNvPr id="18" name="Text 8"/>
          <p:cNvSpPr/>
          <p:nvPr/>
        </p:nvSpPr>
        <p:spPr>
          <a:xfrm>
            <a:off x="457200" y="1682496"/>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空洞率(1,12,24,36)并行卷积，多尺度上下文。</a:t>
            </a:r>
            <a:endParaRPr lang="en-US" sz="800" dirty="false"/>
          </a:p>
        </p:txBody>
      </p:sp>
      <p:sp>
        <p:nvSpPr>
          <p:cNvPr id="19" name="Shape 9"/>
          <p:cNvSpPr/>
          <p:nvPr/>
        </p:nvSpPr>
        <p:spPr>
          <a:xfrm>
            <a:off x="365760" y="1975104"/>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0" name="Text 10"/>
          <p:cNvSpPr/>
          <p:nvPr/>
        </p:nvSpPr>
        <p:spPr>
          <a:xfrm>
            <a:off x="457200" y="2020824"/>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深度可分离卷积</a:t>
            </a:r>
            <a:endParaRPr lang="en-US" sz="1000" dirty="false"/>
          </a:p>
        </p:txBody>
      </p:sp>
      <p:sp>
        <p:nvSpPr>
          <p:cNvPr id="21" name="Text 11"/>
          <p:cNvSpPr/>
          <p:nvPr/>
        </p:nvSpPr>
        <p:spPr>
          <a:xfrm>
            <a:off x="457200" y="2212848"/>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降低计算复杂度，提高推理效率。</a:t>
            </a:r>
            <a:endParaRPr lang="en-US" sz="800" dirty="false"/>
          </a:p>
        </p:txBody>
      </p:sp>
      <p:sp>
        <p:nvSpPr>
          <p:cNvPr id="22" name="Shape 12"/>
          <p:cNvSpPr/>
          <p:nvPr/>
        </p:nvSpPr>
        <p:spPr>
          <a:xfrm>
            <a:off x="365760" y="2505456"/>
            <a:ext cx="3566160" cy="475488"/>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3" name="Text 13"/>
          <p:cNvSpPr/>
          <p:nvPr/>
        </p:nvSpPr>
        <p:spPr>
          <a:xfrm>
            <a:off x="457200" y="2551176"/>
            <a:ext cx="3383280" cy="18288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基线性能</a:t>
            </a:r>
            <a:endParaRPr lang="en-US" sz="1000" dirty="false"/>
          </a:p>
        </p:txBody>
      </p:sp>
      <p:sp>
        <p:nvSpPr>
          <p:cNvPr id="24" name="Text 14"/>
          <p:cNvSpPr/>
          <p:nvPr/>
        </p:nvSpPr>
        <p:spPr>
          <a:xfrm>
            <a:off x="457200" y="2743200"/>
            <a:ext cx="3383280" cy="201168"/>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 0.851 | 目标IoU: 0.710 | HD95: 12.22</a:t>
            </a:r>
            <a:endParaRPr lang="en-US" sz="800" dirty="false"/>
          </a:p>
        </p:txBody>
      </p:sp>
      <p:sp>
        <p:nvSpPr>
          <p:cNvPr id="25" name="Shape 15"/>
          <p:cNvSpPr/>
          <p:nvPr/>
        </p:nvSpPr>
        <p:spPr>
          <a:xfrm>
            <a:off x="4114800" y="914400"/>
            <a:ext cx="466344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6" name="Text 16"/>
          <p:cNvSpPr/>
          <p:nvPr/>
        </p:nvSpPr>
        <p:spPr>
          <a:xfrm>
            <a:off x="4206240" y="960120"/>
            <a:ext cx="4480560" cy="274320"/>
          </a:xfrm>
          <a:prstGeom prst="rect">
            <a:avLst/>
          </a:prstGeom>
          <a:noFill/>
          <a:ln/>
        </p:spPr>
        <p:txBody>
          <a:bodyPr wrap="square" rtlCol="false" anchor="ctr"/>
          <a:lstStyle/>
          <a:p>
            <a:pPr marL="0" indent="0" algn="ctr">
              <a:buNone/>
            </a:pPr>
            <a:r>
              <a:rPr lang="en-US" sz="1100" b="true" dirty="false">
                <a:solidFill>
                  <a:srgbClr val="1C2833"/>
                </a:solidFill>
                <a:latin typeface="Arial" pitchFamily="34" charset="0"/>
                <a:ea typeface="Arial" pitchFamily="34" charset="-122"/>
                <a:cs typeface="Arial" pitchFamily="34" charset="-120"/>
              </a:rPr>
              <a:t>DeepLabV3+ 网络结构</a:t>
            </a:r>
            <a:endParaRPr lang="en-US" sz="1100" dirty="false"/>
          </a:p>
        </p:txBody>
      </p:sp>
      <p:pic>
        <p:nvPicPr>
          <p:cNvPr id="27" name="Image 0" descr="../figure/cp2/fig2-5_deeplabv3plus_structure.png"/>
          <p:cNvPicPr>
            <a:picLocks noChangeAspect="true"/>
          </p:cNvPicPr>
          <p:nvPr/>
        </p:nvPicPr>
        <p:blipFill>
          <a:blip r:embed="rId2"/>
          <a:stretch>
            <a:fillRect/>
          </a:stretch>
        </p:blipFill>
        <p:spPr>
          <a:xfrm>
            <a:off x="4206240" y="1280160"/>
            <a:ext cx="4480560" cy="2651760"/>
          </a:xfrm>
          <a:prstGeom prst="rect">
            <a:avLst/>
          </a:prstGeom>
        </p:spPr>
      </p:pic>
    </p:spTree>
  </p:cSld>
  <p:clrMapOvr>
    <a:masterClrMapping/>
  </p:clrMapOvr>
</p:sld>
</file>

<file path=ppt/slides/slide11.xml><?xml version="1.0" encoding="utf-8"?>
<p:sld xmlns:a16="http://schemas.microsoft.com/office/drawing/2014/main" xmlns:a="http://schemas.openxmlformats.org/drawingml/2006/main" xmlns:r="http://schemas.openxmlformats.org/officeDocument/2006/relationships" xmlns:p="http://schemas.openxmlformats.org/presentationml/2006/main" xmlns:mc="http://schemas.openxmlformats.org/markup-compatibility/2006" mc:Ignorable="a16">
  <p:cSld name="Slide 11">
    <p:bg>
      <p:bgPr>
        <a:solidFill>
          <a:srgbClr val="F4F6F6"/>
        </a:solidFill>
      </p:bgPr>
    </p:bg>
    <p:spTree>
      <p:nvGrpSpPr>
        <p:cNvPr id="28" name=""/>
        <p:cNvGrpSpPr/>
        <p:nvPr/>
      </p:nvGrpSpPr>
      <p:grpSpPr>
        <a:xfrm>
          <a:off x="0" y="0"/>
          <a:ext cx="0" cy="0"/>
          <a:chOff x="0" y="0"/>
          <a:chExt cx="0" cy="0"/>
        </a:xfrm>
      </p:grpSpPr>
      <p:sp>
        <p:nvSpPr>
          <p:cNvPr id="29" name="Shape 0"/>
          <p:cNvSpPr/>
          <p:nvPr/>
        </p:nvSpPr>
        <p:spPr>
          <a:xfrm>
            <a:off x="0" y="0"/>
            <a:ext cx="91440" cy="5143500"/>
          </a:xfrm>
          <a:prstGeom prst="rect">
            <a:avLst/>
          </a:prstGeom>
          <a:solidFill>
            <a:srgbClr val="1C2833"/>
          </a:solidFill>
          <a:ln/>
        </p:spPr>
        <p:txBody>
          <a:bodyPr/>
          <a:p>
            <a:pPr/>
            <a:endParaRPr/>
          </a:p>
        </p:txBody>
      </p:sp>
      <p:sp>
        <p:nvSpPr>
          <p:cNvPr id="3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3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数据集构建流程</a:t>
            </a:r>
            <a:endParaRPr lang="en-US" sz="2400" dirty="false"/>
          </a:p>
        </p:txBody>
      </p:sp>
      <p:sp>
        <p:nvSpPr>
          <p:cNvPr id="32" name="Shape 3"/>
          <p:cNvSpPr/>
          <p:nvPr/>
        </p:nvSpPr>
        <p:spPr>
          <a:xfrm>
            <a:off x="365760" y="914400"/>
            <a:ext cx="8412480" cy="10058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3" name="Text 4"/>
          <p:cNvSpPr/>
          <p:nvPr/>
        </p:nvSpPr>
        <p:spPr>
          <a:xfrm>
            <a:off x="457200" y="960120"/>
            <a:ext cx="8229600" cy="228600"/>
          </a:xfrm>
          <a:prstGeom prst="rect">
            <a:avLst/>
          </a:prstGeom>
          <a:noFill/>
          <a:ln/>
        </p:spPr>
        <p:txBody>
          <a:bodyPr wrap="square" rtlCol="false" anchor="ctr"/>
          <a:lstStyle/>
          <a:p>
            <a:pPr marL="0" indent="0" algn="ctr">
              <a:buNone/>
            </a:pPr>
            <a:r>
              <a:rPr lang="en-US" sz="1100" b="true" dirty="false">
                <a:solidFill>
                  <a:srgbClr val="1C2833"/>
                </a:solidFill>
                <a:latin typeface="Arial" pitchFamily="34" charset="0"/>
                <a:ea typeface="Arial" pitchFamily="34" charset="-122"/>
                <a:cs typeface="Arial" pitchFamily="34" charset="-120"/>
              </a:rPr>
              <a:t>构建流程：采集 → 预处理 → 标注 → 增强 → 划分</a:t>
            </a:r>
            <a:endParaRPr lang="en-US" sz="1100" dirty="false"/>
          </a:p>
        </p:txBody>
      </p:sp>
      <p:sp>
        <p:nvSpPr>
          <p:cNvPr id="34" name="Text 5"/>
          <p:cNvSpPr/>
          <p:nvPr/>
        </p:nvSpPr>
        <p:spPr>
          <a:xfrm>
            <a:off x="5486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35" name="Text 6"/>
          <p:cNvSpPr/>
          <p:nvPr/>
        </p:nvSpPr>
        <p:spPr>
          <a:xfrm>
            <a:off x="411480" y="1508760"/>
            <a:ext cx="1005840" cy="320040"/>
          </a:xfrm>
          <a:prstGeom prst="rect">
            <a:avLst/>
          </a:prstGeom>
          <a:noFill/>
          <a:ln/>
        </p:spPr>
        <p:txBody>
          <a:bodyPr wrap="square" rtlCol="false" anchor="ctr"/>
          <a:lstStyle/>
          <a:p>
            <a:pPr marL="0" indent="0" algn="ctr">
              <a:buNone/>
            </a:pPr>
            <a:r>
              <a:rPr lang="en-US" sz="700" b="true" dirty="false">
                <a:solidFill>
                  <a:srgbClr val="E74C3C"/>
                </a:solidFill>
                <a:latin typeface="Arial" pitchFamily="34" charset="0"/>
                <a:ea typeface="Arial" pitchFamily="34" charset="-122"/>
                <a:cs typeface="Arial" pitchFamily="34" charset="-120"/>
              </a:rPr>
              <a:t>OCT采集</a:t>
            </a:r>
            <a:endParaRPr lang="en-US" sz="700" dirty="false"/>
          </a:p>
        </p:txBody>
      </p:sp>
      <p:sp>
        <p:nvSpPr>
          <p:cNvPr id="36" name="Text 7"/>
          <p:cNvSpPr/>
          <p:nvPr/>
        </p:nvSpPr>
        <p:spPr>
          <a:xfrm>
            <a:off x="14630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37" name="Text 8"/>
          <p:cNvSpPr/>
          <p:nvPr/>
        </p:nvSpPr>
        <p:spPr>
          <a:xfrm>
            <a:off x="23774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38" name="Text 9"/>
          <p:cNvSpPr/>
          <p:nvPr/>
        </p:nvSpPr>
        <p:spPr>
          <a:xfrm>
            <a:off x="2240280" y="1508760"/>
            <a:ext cx="1005840" cy="320040"/>
          </a:xfrm>
          <a:prstGeom prst="rect">
            <a:avLst/>
          </a:prstGeom>
          <a:noFill/>
          <a:ln/>
        </p:spPr>
        <p:txBody>
          <a:bodyPr wrap="square" rtlCol="false" anchor="ctr"/>
          <a:lstStyle/>
          <a:p>
            <a:pPr marL="0" indent="0" algn="ctr">
              <a:buNone/>
            </a:pPr>
            <a:r>
              <a:rPr lang="en-US" sz="700" b="true" dirty="false">
                <a:solidFill>
                  <a:srgbClr val="1C2833"/>
                </a:solidFill>
                <a:latin typeface="Arial" pitchFamily="34" charset="0"/>
                <a:ea typeface="Arial" pitchFamily="34" charset="-122"/>
                <a:cs typeface="Arial" pitchFamily="34" charset="-120"/>
              </a:rPr>
              <a:t>预处理</a:t>
            </a:r>
            <a:endParaRPr lang="en-US" sz="700" dirty="false"/>
          </a:p>
        </p:txBody>
      </p:sp>
      <p:sp>
        <p:nvSpPr>
          <p:cNvPr id="39" name="Text 10"/>
          <p:cNvSpPr/>
          <p:nvPr/>
        </p:nvSpPr>
        <p:spPr>
          <a:xfrm>
            <a:off x="32918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40" name="Text 11"/>
          <p:cNvSpPr/>
          <p:nvPr/>
        </p:nvSpPr>
        <p:spPr>
          <a:xfrm>
            <a:off x="42062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41" name="Text 12"/>
          <p:cNvSpPr/>
          <p:nvPr/>
        </p:nvSpPr>
        <p:spPr>
          <a:xfrm>
            <a:off x="4069080" y="1508760"/>
            <a:ext cx="1005840" cy="320040"/>
          </a:xfrm>
          <a:prstGeom prst="rect">
            <a:avLst/>
          </a:prstGeom>
          <a:noFill/>
          <a:ln/>
        </p:spPr>
        <p:txBody>
          <a:bodyPr wrap="square" rtlCol="false" anchor="ctr"/>
          <a:lstStyle/>
          <a:p>
            <a:pPr marL="0" indent="0" algn="ctr">
              <a:buNone/>
            </a:pPr>
            <a:r>
              <a:rPr lang="en-US" sz="700" b="true" dirty="false">
                <a:solidFill>
                  <a:srgbClr val="27AE60"/>
                </a:solidFill>
                <a:latin typeface="Arial" pitchFamily="34" charset="0"/>
                <a:ea typeface="Arial" pitchFamily="34" charset="-122"/>
                <a:cs typeface="Arial" pitchFamily="34" charset="-120"/>
              </a:rPr>
              <a:t>LabelMe标注</a:t>
            </a:r>
            <a:endParaRPr lang="en-US" sz="700" dirty="false"/>
          </a:p>
        </p:txBody>
      </p:sp>
      <p:sp>
        <p:nvSpPr>
          <p:cNvPr id="42" name="Text 13"/>
          <p:cNvSpPr/>
          <p:nvPr/>
        </p:nvSpPr>
        <p:spPr>
          <a:xfrm>
            <a:off x="51206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43" name="Text 14"/>
          <p:cNvSpPr/>
          <p:nvPr/>
        </p:nvSpPr>
        <p:spPr>
          <a:xfrm>
            <a:off x="60350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44" name="Text 15"/>
          <p:cNvSpPr/>
          <p:nvPr/>
        </p:nvSpPr>
        <p:spPr>
          <a:xfrm>
            <a:off x="5897880" y="1508760"/>
            <a:ext cx="1005840" cy="320040"/>
          </a:xfrm>
          <a:prstGeom prst="rect">
            <a:avLst/>
          </a:prstGeom>
          <a:noFill/>
          <a:ln/>
        </p:spPr>
        <p:txBody>
          <a:bodyPr wrap="square" rtlCol="false" anchor="ctr"/>
          <a:lstStyle/>
          <a:p>
            <a:pPr marL="0" indent="0" algn="ctr">
              <a:buNone/>
            </a:pPr>
            <a:r>
              <a:rPr lang="en-US" sz="700" b="true" dirty="false">
                <a:solidFill>
                  <a:srgbClr val="E74C3C"/>
                </a:solidFill>
                <a:latin typeface="Arial" pitchFamily="34" charset="0"/>
                <a:ea typeface="Arial" pitchFamily="34" charset="-122"/>
                <a:cs typeface="Arial" pitchFamily="34" charset="-120"/>
              </a:rPr>
              <a:t>数据增强</a:t>
            </a:r>
            <a:endParaRPr lang="en-US" sz="700" dirty="false"/>
          </a:p>
        </p:txBody>
      </p:sp>
      <p:sp>
        <p:nvSpPr>
          <p:cNvPr id="45" name="Text 16"/>
          <p:cNvSpPr/>
          <p:nvPr/>
        </p:nvSpPr>
        <p:spPr>
          <a:xfrm>
            <a:off x="6949440" y="1280160"/>
            <a:ext cx="457200" cy="45720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a:t>
            </a:r>
            <a:endParaRPr lang="en-US" sz="1800" dirty="false"/>
          </a:p>
        </p:txBody>
      </p:sp>
      <p:sp>
        <p:nvSpPr>
          <p:cNvPr id="46" name="Text 17"/>
          <p:cNvSpPr/>
          <p:nvPr/>
        </p:nvSpPr>
        <p:spPr>
          <a:xfrm>
            <a:off x="7863840" y="1234440"/>
            <a:ext cx="731520" cy="274320"/>
          </a:xfrm>
          <a:prstGeom prst="rect">
            <a:avLst/>
          </a:prstGeom>
          <a:noFill/>
          <a:ln/>
        </p:spPr>
        <p:txBody>
          <a:bodyPr wrap="square" rtlCol="false" anchor="ctr"/>
          <a:lstStyle/>
          <a:p>
            <a:pPr marL="0" indent="0" algn="ctr">
              <a:buNone/>
            </a:pPr>
            <a:r>
              <a:rPr lang="en-US" sz="1600" dirty="false">
                <a:solidFill>
                  <a:srgbClr val="000000"/>
                </a:solidFill>
                <a:latin typeface="Arial" pitchFamily="34" charset="0"/>
                <a:ea typeface="Arial" pitchFamily="34" charset="-122"/>
                <a:cs typeface="Arial" pitchFamily="34" charset="-120"/>
              </a:rPr>
              <a:t>📊</a:t>
            </a:r>
            <a:endParaRPr lang="en-US" sz="1600" dirty="false"/>
          </a:p>
        </p:txBody>
      </p:sp>
      <p:sp>
        <p:nvSpPr>
          <p:cNvPr id="47" name="Text 18"/>
          <p:cNvSpPr/>
          <p:nvPr/>
        </p:nvSpPr>
        <p:spPr>
          <a:xfrm>
            <a:off x="7726680" y="1508760"/>
            <a:ext cx="1005840" cy="320040"/>
          </a:xfrm>
          <a:prstGeom prst="rect">
            <a:avLst/>
          </a:prstGeom>
          <a:noFill/>
          <a:ln/>
        </p:spPr>
        <p:txBody>
          <a:bodyPr wrap="square" rtlCol="false" anchor="ctr"/>
          <a:lstStyle/>
          <a:p>
            <a:pPr marL="0" indent="0" algn="ctr">
              <a:buNone/>
            </a:pPr>
            <a:r>
              <a:rPr lang="en-US" sz="700" b="true" dirty="false">
                <a:solidFill>
                  <a:srgbClr val="1C2833"/>
                </a:solidFill>
                <a:latin typeface="Arial" pitchFamily="34" charset="0"/>
                <a:ea typeface="Arial" pitchFamily="34" charset="-122"/>
                <a:cs typeface="Arial" pitchFamily="34" charset="-120"/>
              </a:rPr>
              <a:t>集合划分</a:t>
            </a:r>
            <a:endParaRPr lang="en-US" sz="700" dirty="false"/>
          </a:p>
        </p:txBody>
      </p:sp>
      <p:sp>
        <p:nvSpPr>
          <p:cNvPr id="48" name="Shape 19"/>
          <p:cNvSpPr/>
          <p:nvPr/>
        </p:nvSpPr>
        <p:spPr>
          <a:xfrm>
            <a:off x="365760" y="2011680"/>
            <a:ext cx="201168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49" name="Shape 20"/>
          <p:cNvSpPr/>
          <p:nvPr/>
        </p:nvSpPr>
        <p:spPr>
          <a:xfrm>
            <a:off x="365760" y="2011680"/>
            <a:ext cx="2011680" cy="36576"/>
          </a:xfrm>
          <a:prstGeom prst="rect">
            <a:avLst/>
          </a:prstGeom>
          <a:solidFill>
            <a:srgbClr val="E74C3C"/>
          </a:solidFill>
          <a:ln/>
        </p:spPr>
        <p:txBody>
          <a:bodyPr/>
          <a:p>
            <a:pPr/>
            <a:endParaRPr/>
          </a:p>
        </p:txBody>
      </p:sp>
      <p:sp>
        <p:nvSpPr>
          <p:cNvPr id="50" name="Text 21"/>
          <p:cNvSpPr/>
          <p:nvPr/>
        </p:nvSpPr>
        <p:spPr>
          <a:xfrm>
            <a:off x="457200" y="2103120"/>
            <a:ext cx="1828800" cy="256032"/>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图像采集</a:t>
            </a:r>
            <a:endParaRPr lang="en-US" sz="1000" dirty="false"/>
          </a:p>
        </p:txBody>
      </p:sp>
      <p:sp>
        <p:nvSpPr>
          <p:cNvPr id="51" name="Text 22"/>
          <p:cNvSpPr/>
          <p:nvPr/>
        </p:nvSpPr>
        <p:spPr>
          <a:xfrm>
            <a:off x="457200" y="2377440"/>
            <a:ext cx="1828800" cy="868680"/>
          </a:xfrm>
          <a:prstGeom prst="rect">
            <a:avLst/>
          </a:prstGeom>
          <a:noFill/>
          <a:ln/>
        </p:spPr>
        <p:txBody>
          <a:bodyPr wrap="square" rtlCol="false" anchor="ctr"/>
          <a:lstStyle/>
          <a:p>
            <a:pPr marL="0" indent="0">
              <a:buNone/>
            </a:pPr>
            <a:r>
              <a:rPr lang="en-US" sz="700" dirty="false">
                <a:solidFill>
                  <a:srgbClr val="2E4053"/>
                </a:solidFill>
                <a:latin typeface="Arial" pitchFamily="34" charset="0"/>
                <a:ea typeface="Arial" pitchFamily="34" charset="-122"/>
                <a:cs typeface="Arial" pitchFamily="34" charset="-120"/>
              </a:rPr>
              <a:t>真实激光焊接实验平台</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采集焊接过程OCT图像</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原始分辨率1000×200</a:t>
            </a:r>
            <a:endParaRPr lang="en-US" sz="700" dirty="false"/>
          </a:p>
        </p:txBody>
      </p:sp>
      <p:sp>
        <p:nvSpPr>
          <p:cNvPr id="52" name="Shape 23"/>
          <p:cNvSpPr/>
          <p:nvPr/>
        </p:nvSpPr>
        <p:spPr>
          <a:xfrm>
            <a:off x="2514600" y="2011680"/>
            <a:ext cx="201168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3" name="Shape 24"/>
          <p:cNvSpPr/>
          <p:nvPr/>
        </p:nvSpPr>
        <p:spPr>
          <a:xfrm>
            <a:off x="2514600" y="2011680"/>
            <a:ext cx="2011680" cy="36576"/>
          </a:xfrm>
          <a:prstGeom prst="rect">
            <a:avLst/>
          </a:prstGeom>
          <a:solidFill>
            <a:srgbClr val="1C2833"/>
          </a:solidFill>
          <a:ln/>
        </p:spPr>
        <p:txBody>
          <a:bodyPr/>
          <a:p>
            <a:pPr/>
            <a:endParaRPr/>
          </a:p>
        </p:txBody>
      </p:sp>
      <p:sp>
        <p:nvSpPr>
          <p:cNvPr id="54" name="Text 25"/>
          <p:cNvSpPr/>
          <p:nvPr/>
        </p:nvSpPr>
        <p:spPr>
          <a:xfrm>
            <a:off x="2606040" y="2103120"/>
            <a:ext cx="1828800" cy="256032"/>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预处理流程</a:t>
            </a:r>
            <a:endParaRPr lang="en-US" sz="1000" dirty="false"/>
          </a:p>
        </p:txBody>
      </p:sp>
      <p:sp>
        <p:nvSpPr>
          <p:cNvPr id="55" name="Text 26"/>
          <p:cNvSpPr/>
          <p:nvPr/>
        </p:nvSpPr>
        <p:spPr>
          <a:xfrm>
            <a:off x="2606040" y="2377440"/>
            <a:ext cx="1828800" cy="868680"/>
          </a:xfrm>
          <a:prstGeom prst="rect">
            <a:avLst/>
          </a:prstGeom>
          <a:noFill/>
          <a:ln/>
        </p:spPr>
        <p:txBody>
          <a:bodyPr wrap="square" rtlCol="false" anchor="ctr"/>
          <a:lstStyle/>
          <a:p>
            <a:pPr marL="0" indent="0">
              <a:buNone/>
            </a:pPr>
            <a:r>
              <a:rPr lang="en-US" sz="700" dirty="false">
                <a:solidFill>
                  <a:srgbClr val="2E4053"/>
                </a:solidFill>
                <a:latin typeface="Arial" pitchFamily="34" charset="0"/>
                <a:ea typeface="Arial" pitchFamily="34" charset="-122"/>
                <a:cs typeface="Arial" pitchFamily="34" charset="-120"/>
              </a:rPr>
              <a:t>裁剪感兴趣区域(200×200)</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中值滤波去噪(3×3)</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直方图均衡化增强对比度</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尺寸调整至512×512</a:t>
            </a:r>
            <a:endParaRPr lang="en-US" sz="700" dirty="false"/>
          </a:p>
        </p:txBody>
      </p:sp>
      <p:sp>
        <p:nvSpPr>
          <p:cNvPr id="56" name="Shape 27"/>
          <p:cNvSpPr/>
          <p:nvPr/>
        </p:nvSpPr>
        <p:spPr>
          <a:xfrm>
            <a:off x="4663440" y="2011680"/>
            <a:ext cx="41148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7" name="Shape 28"/>
          <p:cNvSpPr/>
          <p:nvPr/>
        </p:nvSpPr>
        <p:spPr>
          <a:xfrm>
            <a:off x="4663440" y="2011680"/>
            <a:ext cx="4114800" cy="36576"/>
          </a:xfrm>
          <a:prstGeom prst="rect">
            <a:avLst/>
          </a:prstGeom>
          <a:solidFill>
            <a:srgbClr val="27AE60"/>
          </a:solidFill>
          <a:ln/>
        </p:spPr>
        <p:txBody>
          <a:bodyPr/>
          <a:p>
            <a:pPr/>
            <a:endParaRPr/>
          </a:p>
        </p:txBody>
      </p:sp>
      <p:sp>
        <p:nvSpPr>
          <p:cNvPr id="58" name="Text 29"/>
          <p:cNvSpPr/>
          <p:nvPr/>
        </p:nvSpPr>
        <p:spPr>
          <a:xfrm>
            <a:off x="4754880" y="2103120"/>
            <a:ext cx="3931920" cy="256032"/>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数据标注（LabelMe）</a:t>
            </a:r>
            <a:endParaRPr lang="en-US" sz="1000" dirty="false"/>
          </a:p>
        </p:txBody>
      </p:sp>
      <p:sp>
        <p:nvSpPr>
          <p:cNvPr id="59" name="Text 30"/>
          <p:cNvSpPr/>
          <p:nvPr/>
        </p:nvSpPr>
        <p:spPr>
          <a:xfrm>
            <a:off x="4754880" y="2377440"/>
            <a:ext cx="1645920" cy="822960"/>
          </a:xfrm>
          <a:prstGeom prst="rect">
            <a:avLst/>
          </a:prstGeom>
          <a:noFill/>
          <a:ln/>
        </p:spPr>
        <p:txBody>
          <a:bodyPr wrap="square" rtlCol="false" anchor="ctr"/>
          <a:lstStyle/>
          <a:p>
            <a:pPr marL="0" indent="0">
              <a:buNone/>
            </a:pPr>
            <a:r>
              <a:rPr lang="en-US" sz="700" dirty="false">
                <a:solidFill>
                  <a:srgbClr val="2E4053"/>
                </a:solidFill>
                <a:latin typeface="Arial" pitchFamily="34" charset="0"/>
                <a:ea typeface="Arial" pitchFamily="34" charset="-122"/>
                <a:cs typeface="Arial" pitchFamily="34" charset="-120"/>
              </a:rPr>
              <a:t>• 逐像素标注熔深线段</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 二分类：目标/背景</a:t>
            </a:r>
            <a:endParaRPr lang="en-US" sz="700" dirty="false"/>
          </a:p>
          <a:p>
            <a:pPr marL="0" indent="0">
              <a:buNone/>
            </a:pPr>
            <a:r>
              <a:rPr lang="en-US" sz="700" dirty="false">
                <a:solidFill>
                  <a:srgbClr val="2E4053"/>
                </a:solidFill>
                <a:latin typeface="Arial" pitchFamily="34" charset="0"/>
                <a:ea typeface="Arial" pitchFamily="34" charset="-122"/>
                <a:cs typeface="Arial" pitchFamily="34" charset="-120"/>
              </a:rPr>
              <a:t>• 双人交叉验证</a:t>
            </a:r>
            <a:endParaRPr lang="en-US" sz="700" dirty="false"/>
          </a:p>
        </p:txBody>
      </p:sp>
      <p:pic>
        <p:nvPicPr>
          <p:cNvPr id="60" name="Image 0" descr="../figure/cp2/fig2-7_labelme_interface.png"/>
          <p:cNvPicPr>
            <a:picLocks noChangeAspect="true"/>
          </p:cNvPicPr>
          <p:nvPr/>
        </p:nvPicPr>
        <p:blipFill>
          <a:blip r:embed="rId2"/>
          <a:stretch>
            <a:fillRect/>
          </a:stretch>
        </p:blipFill>
        <p:spPr>
          <a:xfrm>
            <a:off x="6492240" y="2331720"/>
            <a:ext cx="2194560" cy="914400"/>
          </a:xfrm>
          <a:prstGeom prst="rect">
            <a:avLst/>
          </a:prstGeom>
        </p:spPr>
      </p:pic>
      <p:graphicFrame>
        <p:nvGraphicFramePr>
          <p:cNvPr id="61" name="Table 0"/>
          <p:cNvGraphicFramePr/>
          <p:nvPr/>
        </p:nvGraphicFramePr>
        <p:xfrm>
          <a:off x="365760" y="3429000"/>
          <a:ext cx="8412480" cy="548640"/>
        </p:xfrm>
        <a:graphic>
          <a:graphicData uri="http://schemas.openxmlformats.org/drawingml/2006/table">
            <a:tbl>
              <a:tblPr/>
              <a:tblGrid>
                <a:gridCol w="2103120">
                  <a:extLst>
                    <a:ext uri="{9D8B030D-6E8A-4147-A177-3AD203B41FA5}">
                      <a16:colId val="1"/>
                    </a:ext>
                  </a:extLst>
                </a:gridCol>
                <a:gridCol w="2103120">
                  <a:extLst>
                    <a:ext uri="{9D8B030D-6E8A-4147-A177-3AD203B41FA5}">
                      <a16:colId val="2"/>
                    </a:ext>
                  </a:extLst>
                </a:gridCol>
                <a:gridCol w="2103120">
                  <a:extLst>
                    <a:ext uri="{9D8B030D-6E8A-4147-A177-3AD203B41FA5}">
                      <a16:colId val="3"/>
                    </a:ext>
                  </a:extLst>
                </a:gridCol>
                <a:gridCol w="2103120">
                  <a:extLst>
                    <a:ext uri="{9D8B030D-6E8A-4147-A177-3AD203B41FA5}">
                      <a16:colId val="4"/>
                    </a:ext>
                  </a:extLst>
                </a:gridCol>
              </a:tblGrid>
              <a:tr h="137160">
                <a:tc>
                  <a:txBody>
                    <a:bodyPr/>
                    <a:lstStyle/>
                    <a:p>
                      <a:pPr marL="0" indent="0" algn="ctr">
                        <a:buNone/>
                      </a:pPr>
                      <a:r>
                        <a:rPr lang="en-US" sz="900" b="true" dirty="false">
                          <a:solidFill>
                            <a:srgbClr val="FFFFFF"/>
                          </a:solidFill>
                        </a:rPr>
                        <a:t>数据集</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原始图像数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增强后数量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占比</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137160">
                <a:tc>
                  <a:txBody>
                    <a:bodyPr/>
                    <a:lstStyle/>
                    <a:p>
                      <a:pPr marL="0" indent="0" algn="ctr">
                        <a:buNone/>
                      </a:pPr>
                      <a:r>
                        <a:rPr lang="en-US" sz="900" dirty="false">
                          <a:solidFill>
                            <a:srgbClr val="000000"/>
                          </a:solidFill>
                        </a:rPr>
                        <a:t>训练集</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182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912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80%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137160">
                <a:tc>
                  <a:txBody>
                    <a:bodyPr/>
                    <a:lstStyle/>
                    <a:p>
                      <a:pPr marL="0" indent="0" algn="ctr">
                        <a:buNone/>
                      </a:pPr>
                      <a:r>
                        <a:rPr lang="en-US" sz="900" dirty="false">
                          <a:solidFill>
                            <a:srgbClr val="000000"/>
                          </a:solidFill>
                        </a:rPr>
                        <a:t>测试集</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46</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228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20%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137160">
                <a:tc>
                  <a:txBody>
                    <a:bodyPr/>
                    <a:lstStyle/>
                    <a:p>
                      <a:pPr marL="0" indent="0" algn="ctr">
                        <a:buNone/>
                      </a:pPr>
                      <a:r>
                        <a:rPr lang="en-US" sz="900" b="true" dirty="false">
                          <a:solidFill>
                            <a:srgbClr val="000000"/>
                          </a:solidFill>
                        </a:rPr>
                        <a:t>总计</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228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1140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100%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4"/>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6"/>
        </a:solidFill>
      </p:bgPr>
    </p:bg>
    <p:spTree>
      <p:nvGrpSpPr>
        <p:cNvPr id="62" name=""/>
        <p:cNvGrpSpPr/>
        <p:nvPr/>
      </p:nvGrpSpPr>
      <p:grpSpPr>
        <a:xfrm>
          <a:off x="0" y="0"/>
          <a:ext cx="0" cy="0"/>
          <a:chOff x="0" y="0"/>
          <a:chExt cx="0" cy="0"/>
        </a:xfrm>
      </p:grpSpPr>
      <p:sp>
        <p:nvSpPr>
          <p:cNvPr id="63" name="Shape 0"/>
          <p:cNvSpPr/>
          <p:nvPr/>
        </p:nvSpPr>
        <p:spPr>
          <a:xfrm>
            <a:off x="0" y="0"/>
            <a:ext cx="91440" cy="5143500"/>
          </a:xfrm>
          <a:prstGeom prst="rect">
            <a:avLst/>
          </a:prstGeom>
          <a:solidFill>
            <a:srgbClr val="1C2833"/>
          </a:solidFill>
          <a:ln/>
        </p:spPr>
        <p:txBody>
          <a:bodyPr/>
          <a:p>
            <a:pPr/>
            <a:endParaRPr/>
          </a:p>
        </p:txBody>
      </p:sp>
      <p:sp>
        <p:nvSpPr>
          <p:cNvPr id="64"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65"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数据增强策略</a:t>
            </a:r>
            <a:endParaRPr lang="en-US" sz="2400" dirty="false"/>
          </a:p>
        </p:txBody>
      </p:sp>
      <p:pic>
        <p:nvPicPr>
          <p:cNvPr id="66" name="Image 0" descr="../figure/cp2/fig2-9a_original.png"/>
          <p:cNvPicPr>
            <a:picLocks noChangeAspect="true"/>
          </p:cNvPicPr>
          <p:nvPr/>
        </p:nvPicPr>
        <p:blipFill>
          <a:blip r:embed="rId2"/>
          <a:stretch>
            <a:fillRect/>
          </a:stretch>
        </p:blipFill>
        <p:spPr>
          <a:xfrm>
            <a:off x="640080" y="914400"/>
            <a:ext cx="2377440" cy="914400"/>
          </a:xfrm>
          <a:prstGeom prst="rect">
            <a:avLst/>
          </a:prstGeom>
        </p:spPr>
      </p:pic>
      <p:sp>
        <p:nvSpPr>
          <p:cNvPr id="67" name="Text 3"/>
          <p:cNvSpPr/>
          <p:nvPr/>
        </p:nvSpPr>
        <p:spPr>
          <a:xfrm>
            <a:off x="640080" y="184708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(a) 原始图像</a:t>
            </a:r>
            <a:endParaRPr lang="en-US" sz="800" dirty="false"/>
          </a:p>
        </p:txBody>
      </p:sp>
      <p:pic>
        <p:nvPicPr>
          <p:cNvPr id="68" name="Image 1" descr="../figure/cp2/fig2-9b_hflip.png"/>
          <p:cNvPicPr>
            <a:picLocks noChangeAspect="true"/>
          </p:cNvPicPr>
          <p:nvPr/>
        </p:nvPicPr>
        <p:blipFill>
          <a:blip r:embed="rId3"/>
          <a:stretch>
            <a:fillRect/>
          </a:stretch>
        </p:blipFill>
        <p:spPr>
          <a:xfrm>
            <a:off x="3383280" y="914400"/>
            <a:ext cx="2377440" cy="914400"/>
          </a:xfrm>
          <a:prstGeom prst="rect">
            <a:avLst/>
          </a:prstGeom>
        </p:spPr>
      </p:pic>
      <p:sp>
        <p:nvSpPr>
          <p:cNvPr id="69" name="Text 4"/>
          <p:cNvSpPr/>
          <p:nvPr/>
        </p:nvSpPr>
        <p:spPr>
          <a:xfrm>
            <a:off x="3383280" y="184708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(b) 水平翻转</a:t>
            </a:r>
            <a:endParaRPr lang="en-US" sz="800" dirty="false"/>
          </a:p>
        </p:txBody>
      </p:sp>
      <p:pic>
        <p:nvPicPr>
          <p:cNvPr id="70" name="Image 2" descr="../figure/cp2/fig2-9c_rotate.png"/>
          <p:cNvPicPr>
            <a:picLocks noChangeAspect="true"/>
          </p:cNvPicPr>
          <p:nvPr/>
        </p:nvPicPr>
        <p:blipFill>
          <a:blip r:embed="rId4"/>
          <a:stretch>
            <a:fillRect/>
          </a:stretch>
        </p:blipFill>
        <p:spPr>
          <a:xfrm>
            <a:off x="6126480" y="914400"/>
            <a:ext cx="2377440" cy="914400"/>
          </a:xfrm>
          <a:prstGeom prst="rect">
            <a:avLst/>
          </a:prstGeom>
        </p:spPr>
      </p:pic>
      <p:sp>
        <p:nvSpPr>
          <p:cNvPr id="71" name="Text 5"/>
          <p:cNvSpPr/>
          <p:nvPr/>
        </p:nvSpPr>
        <p:spPr>
          <a:xfrm>
            <a:off x="6126480" y="184708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(c) 随机旋转</a:t>
            </a:r>
            <a:endParaRPr lang="en-US" sz="800" dirty="false"/>
          </a:p>
        </p:txBody>
      </p:sp>
      <p:pic>
        <p:nvPicPr>
          <p:cNvPr id="72" name="Image 3" descr="../figure/cp2/fig2-9d_brightness.png"/>
          <p:cNvPicPr>
            <a:picLocks noChangeAspect="true"/>
          </p:cNvPicPr>
          <p:nvPr/>
        </p:nvPicPr>
        <p:blipFill>
          <a:blip r:embed="rId5"/>
          <a:stretch>
            <a:fillRect/>
          </a:stretch>
        </p:blipFill>
        <p:spPr>
          <a:xfrm>
            <a:off x="640080" y="2103120"/>
            <a:ext cx="2377440" cy="914400"/>
          </a:xfrm>
          <a:prstGeom prst="rect">
            <a:avLst/>
          </a:prstGeom>
        </p:spPr>
      </p:pic>
      <p:sp>
        <p:nvSpPr>
          <p:cNvPr id="73" name="Text 6"/>
          <p:cNvSpPr/>
          <p:nvPr/>
        </p:nvSpPr>
        <p:spPr>
          <a:xfrm>
            <a:off x="640080" y="303580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(d) 亮度调整</a:t>
            </a:r>
            <a:endParaRPr lang="en-US" sz="800" dirty="false"/>
          </a:p>
        </p:txBody>
      </p:sp>
      <p:pic>
        <p:nvPicPr>
          <p:cNvPr id="74" name="Image 4" descr="../figure/cp2/fig2-9e_contrast.png"/>
          <p:cNvPicPr>
            <a:picLocks noChangeAspect="true"/>
          </p:cNvPicPr>
          <p:nvPr/>
        </p:nvPicPr>
        <p:blipFill>
          <a:blip r:embed="rId6"/>
          <a:stretch>
            <a:fillRect/>
          </a:stretch>
        </p:blipFill>
        <p:spPr>
          <a:xfrm>
            <a:off x="3383280" y="2103120"/>
            <a:ext cx="2377440" cy="914400"/>
          </a:xfrm>
          <a:prstGeom prst="rect">
            <a:avLst/>
          </a:prstGeom>
        </p:spPr>
      </p:pic>
      <p:sp>
        <p:nvSpPr>
          <p:cNvPr id="75" name="Text 7"/>
          <p:cNvSpPr/>
          <p:nvPr/>
        </p:nvSpPr>
        <p:spPr>
          <a:xfrm>
            <a:off x="3383280" y="303580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(e) 对比度调整</a:t>
            </a:r>
            <a:endParaRPr lang="en-US" sz="800" dirty="false"/>
          </a:p>
        </p:txBody>
      </p:sp>
      <p:pic>
        <p:nvPicPr>
          <p:cNvPr id="76" name="Image 5" descr="../figure/cp2/fig2-9f_noise.png"/>
          <p:cNvPicPr>
            <a:picLocks noChangeAspect="true"/>
          </p:cNvPicPr>
          <p:nvPr/>
        </p:nvPicPr>
        <p:blipFill>
          <a:blip r:embed="rId7"/>
          <a:stretch>
            <a:fillRect/>
          </a:stretch>
        </p:blipFill>
        <p:spPr>
          <a:xfrm>
            <a:off x="6126480" y="2103120"/>
            <a:ext cx="2377440" cy="914400"/>
          </a:xfrm>
          <a:prstGeom prst="rect">
            <a:avLst/>
          </a:prstGeom>
        </p:spPr>
      </p:pic>
      <p:sp>
        <p:nvSpPr>
          <p:cNvPr id="77" name="Text 8"/>
          <p:cNvSpPr/>
          <p:nvPr/>
        </p:nvSpPr>
        <p:spPr>
          <a:xfrm>
            <a:off x="6126480" y="3035808"/>
            <a:ext cx="2377440" cy="182880"/>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(f) 添加噪声</a:t>
            </a:r>
            <a:endParaRPr lang="en-US" sz="800" dirty="false"/>
          </a:p>
        </p:txBody>
      </p:sp>
      <p:sp>
        <p:nvSpPr>
          <p:cNvPr id="78" name="Shape 9"/>
          <p:cNvSpPr/>
          <p:nvPr/>
        </p:nvSpPr>
        <p:spPr>
          <a:xfrm>
            <a:off x="365760" y="3337560"/>
            <a:ext cx="8412480" cy="685800"/>
          </a:xfrm>
          <a:prstGeom prst="roundRect">
            <a:avLst/>
          </a:prstGeom>
          <a:solidFill>
            <a:srgbClr val="1C2833"/>
          </a:solidFill>
          <a:ln/>
        </p:spPr>
        <p:txBody>
          <a:bodyPr/>
          <a:p>
            <a:pPr/>
            <a:endParaRPr/>
          </a:p>
        </p:txBody>
      </p:sp>
      <p:sp>
        <p:nvSpPr>
          <p:cNvPr id="79" name="Text 10"/>
          <p:cNvSpPr/>
          <p:nvPr/>
        </p:nvSpPr>
        <p:spPr>
          <a:xfrm>
            <a:off x="548640" y="3429000"/>
            <a:ext cx="804672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数据增强目的</a:t>
            </a:r>
            <a:endParaRPr lang="en-US" sz="1000" dirty="false"/>
          </a:p>
        </p:txBody>
      </p:sp>
      <p:sp>
        <p:nvSpPr>
          <p:cNvPr id="80" name="Text 11"/>
          <p:cNvSpPr/>
          <p:nvPr/>
        </p:nvSpPr>
        <p:spPr>
          <a:xfrm>
            <a:off x="548640" y="3685032"/>
            <a:ext cx="8046720" cy="22860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扩充训练样本多样性，提高模型泛化能力。通过几何变换（翻转、旋转）和光度变换（亮度、对比度、噪声）模拟不同采集条件，增强模型对OCT图像变化的鲁棒性。</a:t>
            </a:r>
            <a:endParaRPr lang="en-US" sz="900" dirty="false"/>
          </a:p>
        </p:txBody>
      </p:sp>
    </p:spTree>
  </p:cSld>
  <p:clrMapOvr>
    <a:masterClrMapping/>
  </p:clrMapOvr>
</p:sld>
</file>

<file path=ppt/slides/slide13.xml><?xml version="1.0" encoding="utf-8"?>
<p:sld xmlns:a="http://schemas.openxmlformats.org/drawingml/2006/main" xmlns:p="http://schemas.openxmlformats.org/presentationml/2006/main">
  <p:cSld name="Slide 13">
    <p:bg>
      <p:bgPr>
        <a:solidFill>
          <a:srgbClr val="F4F6F6"/>
        </a:solidFill>
      </p:bgPr>
    </p:bg>
    <p:spTree>
      <p:nvGrpSpPr>
        <p:cNvPr id="81" name=""/>
        <p:cNvGrpSpPr/>
        <p:nvPr/>
      </p:nvGrpSpPr>
      <p:grpSpPr>
        <a:xfrm>
          <a:off x="0" y="0"/>
          <a:ext cx="0" cy="0"/>
          <a:chOff x="0" y="0"/>
          <a:chExt cx="0" cy="0"/>
        </a:xfrm>
      </p:grpSpPr>
      <p:sp>
        <p:nvSpPr>
          <p:cNvPr id="82" name="Shape 0"/>
          <p:cNvSpPr/>
          <p:nvPr/>
        </p:nvSpPr>
        <p:spPr>
          <a:xfrm>
            <a:off x="0" y="0"/>
            <a:ext cx="91440" cy="5143500"/>
          </a:xfrm>
          <a:prstGeom prst="rect">
            <a:avLst/>
          </a:prstGeom>
          <a:solidFill>
            <a:srgbClr val="1C2833"/>
          </a:solidFill>
          <a:ln/>
        </p:spPr>
        <p:txBody>
          <a:bodyPr/>
          <a:p>
            <a:pPr/>
            <a:endParaRPr/>
          </a:p>
        </p:txBody>
      </p:sp>
      <p:sp>
        <p:nvSpPr>
          <p:cNvPr id="8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02 相关技术基础</a:t>
            </a:r>
            <a:endParaRPr lang="en-US" sz="1100" dirty="false"/>
          </a:p>
        </p:txBody>
      </p:sp>
      <p:sp>
        <p:nvSpPr>
          <p:cNvPr id="8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评估指标说明</a:t>
            </a:r>
            <a:endParaRPr lang="en-US" sz="2400" dirty="false"/>
          </a:p>
        </p:txBody>
      </p:sp>
      <p:sp>
        <p:nvSpPr>
          <p:cNvPr id="85" name="Shape 3"/>
          <p:cNvSpPr/>
          <p:nvPr/>
        </p:nvSpPr>
        <p:spPr>
          <a:xfrm>
            <a:off x="365760" y="91440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86" name="Shape 4"/>
          <p:cNvSpPr/>
          <p:nvPr/>
        </p:nvSpPr>
        <p:spPr>
          <a:xfrm>
            <a:off x="365760" y="914400"/>
            <a:ext cx="36576" cy="1417320"/>
          </a:xfrm>
          <a:prstGeom prst="rect">
            <a:avLst/>
          </a:prstGeom>
          <a:solidFill>
            <a:srgbClr val="E74C3C"/>
          </a:solidFill>
          <a:ln/>
        </p:spPr>
        <p:txBody>
          <a:bodyPr/>
          <a:p>
            <a:pPr/>
            <a:endParaRPr/>
          </a:p>
        </p:txBody>
      </p:sp>
      <p:sp>
        <p:nvSpPr>
          <p:cNvPr id="87" name="Text 5"/>
          <p:cNvSpPr/>
          <p:nvPr/>
        </p:nvSpPr>
        <p:spPr>
          <a:xfrm>
            <a:off x="502920" y="960120"/>
            <a:ext cx="1097280" cy="320040"/>
          </a:xfrm>
          <a:prstGeom prst="rect">
            <a:avLst/>
          </a:prstGeom>
          <a:noFill/>
          <a:ln/>
        </p:spPr>
        <p:txBody>
          <a:bodyPr wrap="square" rtlCol="false" anchor="ctr"/>
          <a:lstStyle/>
          <a:p>
            <a:pPr marL="0" indent="0">
              <a:buNone/>
            </a:pPr>
            <a:r>
              <a:rPr lang="en-US" sz="1600" b="true" dirty="false">
                <a:solidFill>
                  <a:srgbClr val="E74C3C"/>
                </a:solidFill>
                <a:latin typeface="Arial" pitchFamily="34" charset="0"/>
                <a:ea typeface="Arial" pitchFamily="34" charset="-122"/>
                <a:cs typeface="Arial" pitchFamily="34" charset="-120"/>
              </a:rPr>
              <a:t>mIoU</a:t>
            </a:r>
            <a:endParaRPr lang="en-US" sz="1600" dirty="false"/>
          </a:p>
        </p:txBody>
      </p:sp>
      <p:sp>
        <p:nvSpPr>
          <p:cNvPr id="88" name="Text 6"/>
          <p:cNvSpPr/>
          <p:nvPr/>
        </p:nvSpPr>
        <p:spPr>
          <a:xfrm>
            <a:off x="1645920" y="100584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平均交并比</a:t>
            </a:r>
            <a:endParaRPr lang="en-US" sz="1000" dirty="false"/>
          </a:p>
        </p:txBody>
      </p:sp>
      <p:sp>
        <p:nvSpPr>
          <p:cNvPr id="89" name="Shape 7"/>
          <p:cNvSpPr/>
          <p:nvPr/>
        </p:nvSpPr>
        <p:spPr>
          <a:xfrm>
            <a:off x="502920" y="1325880"/>
            <a:ext cx="3840480" cy="365760"/>
          </a:xfrm>
          <a:prstGeom prst="roundRect">
            <a:avLst/>
          </a:prstGeom>
          <a:solidFill>
            <a:srgbClr val="F4F6F6"/>
          </a:solidFill>
          <a:ln/>
        </p:spPr>
        <p:txBody>
          <a:bodyPr/>
          <a:p>
            <a:pPr/>
            <a:endParaRPr/>
          </a:p>
        </p:txBody>
      </p:sp>
      <p:sp>
        <p:nvSpPr>
          <p:cNvPr id="90" name="Text 8"/>
          <p:cNvSpPr/>
          <p:nvPr/>
        </p:nvSpPr>
        <p:spPr>
          <a:xfrm>
            <a:off x="502920" y="132588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mIoU = (1/k) Σ (TP/(TP+FP+FN))</a:t>
            </a:r>
            <a:endParaRPr lang="en-US" sz="1000" dirty="false"/>
          </a:p>
        </p:txBody>
      </p:sp>
      <p:sp>
        <p:nvSpPr>
          <p:cNvPr id="91" name="Text 9"/>
          <p:cNvSpPr/>
          <p:nvPr/>
        </p:nvSpPr>
        <p:spPr>
          <a:xfrm>
            <a:off x="502920" y="178308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核心指标，衡量预测与真实区域的重叠程度。值越高表示分割越准确。</a:t>
            </a:r>
            <a:endParaRPr lang="en-US" sz="800" dirty="false"/>
          </a:p>
        </p:txBody>
      </p:sp>
      <p:sp>
        <p:nvSpPr>
          <p:cNvPr id="92" name="Shape 10"/>
          <p:cNvSpPr/>
          <p:nvPr/>
        </p:nvSpPr>
        <p:spPr>
          <a:xfrm>
            <a:off x="4663440" y="91440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93" name="Shape 11"/>
          <p:cNvSpPr/>
          <p:nvPr/>
        </p:nvSpPr>
        <p:spPr>
          <a:xfrm>
            <a:off x="4663440" y="914400"/>
            <a:ext cx="36576" cy="1417320"/>
          </a:xfrm>
          <a:prstGeom prst="rect">
            <a:avLst/>
          </a:prstGeom>
          <a:solidFill>
            <a:srgbClr val="1C2833"/>
          </a:solidFill>
          <a:ln/>
        </p:spPr>
        <p:txBody>
          <a:bodyPr/>
          <a:p>
            <a:pPr/>
            <a:endParaRPr/>
          </a:p>
        </p:txBody>
      </p:sp>
      <p:sp>
        <p:nvSpPr>
          <p:cNvPr id="94" name="Text 12"/>
          <p:cNvSpPr/>
          <p:nvPr/>
        </p:nvSpPr>
        <p:spPr>
          <a:xfrm>
            <a:off x="4800600" y="960120"/>
            <a:ext cx="1097280" cy="320040"/>
          </a:xfrm>
          <a:prstGeom prst="rect">
            <a:avLst/>
          </a:prstGeom>
          <a:noFill/>
          <a:ln/>
        </p:spPr>
        <p:txBody>
          <a:bodyPr wrap="square" rtlCol="false" anchor="ctr"/>
          <a:lstStyle/>
          <a:p>
            <a:pPr marL="0" indent="0">
              <a:buNone/>
            </a:pPr>
            <a:r>
              <a:rPr lang="en-US" sz="1600" b="true" dirty="false">
                <a:solidFill>
                  <a:srgbClr val="1C2833"/>
                </a:solidFill>
                <a:latin typeface="Arial" pitchFamily="34" charset="0"/>
                <a:ea typeface="Arial" pitchFamily="34" charset="-122"/>
                <a:cs typeface="Arial" pitchFamily="34" charset="-120"/>
              </a:rPr>
              <a:t>mAcc</a:t>
            </a:r>
            <a:endParaRPr lang="en-US" sz="1600" dirty="false"/>
          </a:p>
        </p:txBody>
      </p:sp>
      <p:sp>
        <p:nvSpPr>
          <p:cNvPr id="95" name="Text 13"/>
          <p:cNvSpPr/>
          <p:nvPr/>
        </p:nvSpPr>
        <p:spPr>
          <a:xfrm>
            <a:off x="5943600" y="100584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平均准确率</a:t>
            </a:r>
            <a:endParaRPr lang="en-US" sz="1000" dirty="false"/>
          </a:p>
        </p:txBody>
      </p:sp>
      <p:sp>
        <p:nvSpPr>
          <p:cNvPr id="96" name="Shape 14"/>
          <p:cNvSpPr/>
          <p:nvPr/>
        </p:nvSpPr>
        <p:spPr>
          <a:xfrm>
            <a:off x="4800600" y="1325880"/>
            <a:ext cx="3840480" cy="365760"/>
          </a:xfrm>
          <a:prstGeom prst="roundRect">
            <a:avLst/>
          </a:prstGeom>
          <a:solidFill>
            <a:srgbClr val="F4F6F6"/>
          </a:solidFill>
          <a:ln/>
        </p:spPr>
        <p:txBody>
          <a:bodyPr/>
          <a:p>
            <a:pPr/>
            <a:endParaRPr/>
          </a:p>
        </p:txBody>
      </p:sp>
      <p:sp>
        <p:nvSpPr>
          <p:cNvPr id="97" name="Text 15"/>
          <p:cNvSpPr/>
          <p:nvPr/>
        </p:nvSpPr>
        <p:spPr>
          <a:xfrm>
            <a:off x="4800600" y="132588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mAcc = (1/k) Σ (TP/(TP+FN))</a:t>
            </a:r>
            <a:endParaRPr lang="en-US" sz="1000" dirty="false"/>
          </a:p>
        </p:txBody>
      </p:sp>
      <p:sp>
        <p:nvSpPr>
          <p:cNvPr id="98" name="Text 16"/>
          <p:cNvSpPr/>
          <p:nvPr/>
        </p:nvSpPr>
        <p:spPr>
          <a:xfrm>
            <a:off x="4800600" y="178308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各类别准确率的平均值，反映分类正确性。</a:t>
            </a:r>
            <a:endParaRPr lang="en-US" sz="800" dirty="false"/>
          </a:p>
        </p:txBody>
      </p:sp>
      <p:sp>
        <p:nvSpPr>
          <p:cNvPr id="99" name="Shape 17"/>
          <p:cNvSpPr/>
          <p:nvPr/>
        </p:nvSpPr>
        <p:spPr>
          <a:xfrm>
            <a:off x="365760" y="242316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00" name="Shape 18"/>
          <p:cNvSpPr/>
          <p:nvPr/>
        </p:nvSpPr>
        <p:spPr>
          <a:xfrm>
            <a:off x="365760" y="2423160"/>
            <a:ext cx="36576" cy="1417320"/>
          </a:xfrm>
          <a:prstGeom prst="rect">
            <a:avLst/>
          </a:prstGeom>
          <a:solidFill>
            <a:srgbClr val="27AE60"/>
          </a:solidFill>
          <a:ln/>
        </p:spPr>
        <p:txBody>
          <a:bodyPr/>
          <a:p>
            <a:pPr/>
            <a:endParaRPr/>
          </a:p>
        </p:txBody>
      </p:sp>
      <p:sp>
        <p:nvSpPr>
          <p:cNvPr id="101" name="Text 19"/>
          <p:cNvSpPr/>
          <p:nvPr/>
        </p:nvSpPr>
        <p:spPr>
          <a:xfrm>
            <a:off x="502920" y="2468880"/>
            <a:ext cx="109728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mDice</a:t>
            </a:r>
            <a:endParaRPr lang="en-US" sz="1600" dirty="false"/>
          </a:p>
        </p:txBody>
      </p:sp>
      <p:sp>
        <p:nvSpPr>
          <p:cNvPr id="102" name="Text 20"/>
          <p:cNvSpPr/>
          <p:nvPr/>
        </p:nvSpPr>
        <p:spPr>
          <a:xfrm>
            <a:off x="1645920" y="251460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Dice系数</a:t>
            </a:r>
            <a:endParaRPr lang="en-US" sz="1000" dirty="false"/>
          </a:p>
        </p:txBody>
      </p:sp>
      <p:sp>
        <p:nvSpPr>
          <p:cNvPr id="103" name="Shape 21"/>
          <p:cNvSpPr/>
          <p:nvPr/>
        </p:nvSpPr>
        <p:spPr>
          <a:xfrm>
            <a:off x="502920" y="2834640"/>
            <a:ext cx="3840480" cy="365760"/>
          </a:xfrm>
          <a:prstGeom prst="roundRect">
            <a:avLst/>
          </a:prstGeom>
          <a:solidFill>
            <a:srgbClr val="F4F6F6"/>
          </a:solidFill>
          <a:ln/>
        </p:spPr>
        <p:txBody>
          <a:bodyPr/>
          <a:p>
            <a:pPr/>
            <a:endParaRPr/>
          </a:p>
        </p:txBody>
      </p:sp>
      <p:sp>
        <p:nvSpPr>
          <p:cNvPr id="104" name="Text 22"/>
          <p:cNvSpPr/>
          <p:nvPr/>
        </p:nvSpPr>
        <p:spPr>
          <a:xfrm>
            <a:off x="502920" y="283464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Dice = 2|A∩B| / (|A|+|B|)</a:t>
            </a:r>
            <a:endParaRPr lang="en-US" sz="1000" dirty="false"/>
          </a:p>
        </p:txBody>
      </p:sp>
      <p:sp>
        <p:nvSpPr>
          <p:cNvPr id="105" name="Text 23"/>
          <p:cNvSpPr/>
          <p:nvPr/>
        </p:nvSpPr>
        <p:spPr>
          <a:xfrm>
            <a:off x="502920" y="329184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与IoU类似，更关注区域重叠，对不平衡数据敏感。</a:t>
            </a:r>
            <a:endParaRPr lang="en-US" sz="800" dirty="false"/>
          </a:p>
        </p:txBody>
      </p:sp>
      <p:sp>
        <p:nvSpPr>
          <p:cNvPr id="106" name="Shape 24"/>
          <p:cNvSpPr/>
          <p:nvPr/>
        </p:nvSpPr>
        <p:spPr>
          <a:xfrm>
            <a:off x="4663440" y="2423160"/>
            <a:ext cx="4114800" cy="14173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07" name="Shape 25"/>
          <p:cNvSpPr/>
          <p:nvPr/>
        </p:nvSpPr>
        <p:spPr>
          <a:xfrm>
            <a:off x="4663440" y="2423160"/>
            <a:ext cx="36576" cy="1417320"/>
          </a:xfrm>
          <a:prstGeom prst="rect">
            <a:avLst/>
          </a:prstGeom>
          <a:solidFill>
            <a:srgbClr val="E74C3C"/>
          </a:solidFill>
          <a:ln/>
        </p:spPr>
        <p:txBody>
          <a:bodyPr/>
          <a:p>
            <a:pPr/>
            <a:endParaRPr/>
          </a:p>
        </p:txBody>
      </p:sp>
      <p:sp>
        <p:nvSpPr>
          <p:cNvPr id="108" name="Text 26"/>
          <p:cNvSpPr/>
          <p:nvPr/>
        </p:nvSpPr>
        <p:spPr>
          <a:xfrm>
            <a:off x="4800600" y="2468880"/>
            <a:ext cx="1097280" cy="320040"/>
          </a:xfrm>
          <a:prstGeom prst="rect">
            <a:avLst/>
          </a:prstGeom>
          <a:noFill/>
          <a:ln/>
        </p:spPr>
        <p:txBody>
          <a:bodyPr wrap="square" rtlCol="false" anchor="ctr"/>
          <a:lstStyle/>
          <a:p>
            <a:pPr marL="0" indent="0">
              <a:buNone/>
            </a:pPr>
            <a:r>
              <a:rPr lang="en-US" sz="1600" b="true" dirty="false">
                <a:solidFill>
                  <a:srgbClr val="E74C3C"/>
                </a:solidFill>
                <a:latin typeface="Arial" pitchFamily="34" charset="0"/>
                <a:ea typeface="Arial" pitchFamily="34" charset="-122"/>
                <a:cs typeface="Arial" pitchFamily="34" charset="-120"/>
              </a:rPr>
              <a:t>HD95</a:t>
            </a:r>
            <a:endParaRPr lang="en-US" sz="1600" dirty="false"/>
          </a:p>
        </p:txBody>
      </p:sp>
      <p:sp>
        <p:nvSpPr>
          <p:cNvPr id="109" name="Text 27"/>
          <p:cNvSpPr/>
          <p:nvPr/>
        </p:nvSpPr>
        <p:spPr>
          <a:xfrm>
            <a:off x="5943600" y="2514600"/>
            <a:ext cx="2651760" cy="228600"/>
          </a:xfrm>
          <a:prstGeom prst="rect">
            <a:avLst/>
          </a:prstGeom>
          <a:noFill/>
          <a:ln/>
        </p:spPr>
        <p:txBody>
          <a:bodyPr wrap="square" rtlCol="false" anchor="ctr"/>
          <a:lstStyle/>
          <a:p>
            <a:pPr marL="0" indent="0">
              <a:buNone/>
            </a:pPr>
            <a:r>
              <a:rPr lang="en-US" sz="1000" dirty="false">
                <a:solidFill>
                  <a:srgbClr val="2E4053"/>
                </a:solidFill>
                <a:latin typeface="Arial" pitchFamily="34" charset="0"/>
                <a:ea typeface="Arial" pitchFamily="34" charset="-122"/>
                <a:cs typeface="Arial" pitchFamily="34" charset="-120"/>
              </a:rPr>
              <a:t>Hausdorff距离</a:t>
            </a:r>
            <a:endParaRPr lang="en-US" sz="1000" dirty="false"/>
          </a:p>
        </p:txBody>
      </p:sp>
      <p:sp>
        <p:nvSpPr>
          <p:cNvPr id="110" name="Shape 28"/>
          <p:cNvSpPr/>
          <p:nvPr/>
        </p:nvSpPr>
        <p:spPr>
          <a:xfrm>
            <a:off x="4800600" y="2834640"/>
            <a:ext cx="3840480" cy="365760"/>
          </a:xfrm>
          <a:prstGeom prst="roundRect">
            <a:avLst/>
          </a:prstGeom>
          <a:solidFill>
            <a:srgbClr val="F4F6F6"/>
          </a:solidFill>
          <a:ln/>
        </p:spPr>
        <p:txBody>
          <a:bodyPr/>
          <a:p>
            <a:pPr/>
            <a:endParaRPr/>
          </a:p>
        </p:txBody>
      </p:sp>
      <p:sp>
        <p:nvSpPr>
          <p:cNvPr id="111" name="Text 29"/>
          <p:cNvSpPr/>
          <p:nvPr/>
        </p:nvSpPr>
        <p:spPr>
          <a:xfrm>
            <a:off x="4800600" y="2834640"/>
            <a:ext cx="3840480" cy="365760"/>
          </a:xfrm>
          <a:prstGeom prst="rect">
            <a:avLst/>
          </a:prstGeom>
          <a:noFill/>
          <a:ln/>
        </p:spPr>
        <p:txBody>
          <a:bodyPr wrap="square" rtlCol="false" anchor="ctr"/>
          <a:lstStyle/>
          <a:p>
            <a:pPr marL="0" indent="0" algn="ctr">
              <a:buNone/>
            </a:pPr>
            <a:r>
              <a:rPr lang="en-US" sz="1000" dirty="false">
                <a:solidFill>
                  <a:srgbClr val="1C2833"/>
                </a:solidFill>
                <a:latin typeface="Times New Roman" pitchFamily="34" charset="0"/>
                <a:ea typeface="Times New Roman" pitchFamily="34" charset="-122"/>
                <a:cs typeface="Times New Roman" pitchFamily="34" charset="-120"/>
              </a:rPr>
              <a:t>HD95 = 95th percentile</a:t>
            </a:r>
            <a:endParaRPr lang="en-US" sz="1000" dirty="false"/>
          </a:p>
        </p:txBody>
      </p:sp>
      <p:sp>
        <p:nvSpPr>
          <p:cNvPr id="112" name="Text 30"/>
          <p:cNvSpPr/>
          <p:nvPr/>
        </p:nvSpPr>
        <p:spPr>
          <a:xfrm>
            <a:off x="4800600" y="3291840"/>
            <a:ext cx="3840480" cy="5029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边界精度指标，衡量预测边界与真实边界的最大偏差，值越小越好。</a:t>
            </a:r>
            <a:endParaRPr lang="en-US" sz="800" dirty="false"/>
          </a:p>
        </p:txBody>
      </p:sp>
    </p:spTree>
  </p:cSld>
  <p:clrMapOvr>
    <a:masterClrMapping/>
  </p:clrMapOvr>
</p:sld>
</file>

<file path=ppt/slides/slide14.xml><?xml version="1.0" encoding="utf-8"?>
<p:sld xmlns:a="http://schemas.openxmlformats.org/drawingml/2006/main" xmlns:p="http://schemas.openxmlformats.org/presentationml/2006/main">
  <p:cSld name="Slide 14">
    <p:bg>
      <p:bgPr>
        <a:solidFill>
          <a:srgbClr val="1C2833"/>
        </a:solidFill>
      </p:bgPr>
    </p:bg>
    <p:spTree>
      <p:nvGrpSpPr>
        <p:cNvPr id="113" name=""/>
        <p:cNvGrpSpPr/>
        <p:nvPr/>
      </p:nvGrpSpPr>
      <p:grpSpPr>
        <a:xfrm>
          <a:off x="0" y="0"/>
          <a:ext cx="0" cy="0"/>
          <a:chOff x="0" y="0"/>
          <a:chExt cx="0" cy="0"/>
        </a:xfrm>
      </p:grpSpPr>
      <p:sp>
        <p:nvSpPr>
          <p:cNvPr id="114" name="Shape 0"/>
          <p:cNvSpPr/>
          <p:nvPr/>
        </p:nvSpPr>
        <p:spPr>
          <a:xfrm>
            <a:off x="0" y="0"/>
            <a:ext cx="9144000" cy="73152"/>
          </a:xfrm>
          <a:prstGeom prst="rect">
            <a:avLst/>
          </a:prstGeom>
          <a:solidFill>
            <a:srgbClr val="AAB7B8"/>
          </a:solidFill>
          <a:ln/>
        </p:spPr>
        <p:txBody>
          <a:bodyPr/>
          <a:p>
            <a:pPr/>
            <a:endParaRPr/>
          </a:p>
        </p:txBody>
      </p:sp>
      <p:sp>
        <p:nvSpPr>
          <p:cNvPr id="115" name="Shape 1"/>
          <p:cNvSpPr/>
          <p:nvPr/>
        </p:nvSpPr>
        <p:spPr>
          <a:xfrm>
            <a:off x="0" y="5074920"/>
            <a:ext cx="9144000" cy="73152"/>
          </a:xfrm>
          <a:prstGeom prst="rect">
            <a:avLst/>
          </a:prstGeom>
          <a:solidFill>
            <a:srgbClr val="AAB7B8"/>
          </a:solidFill>
          <a:ln/>
        </p:spPr>
        <p:txBody>
          <a:bodyPr/>
          <a:p>
            <a:pPr/>
            <a:endParaRPr/>
          </a:p>
        </p:txBody>
      </p:sp>
      <p:sp>
        <p:nvSpPr>
          <p:cNvPr id="116"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03</a:t>
            </a:r>
            <a:endParaRPr lang="en-US" sz="8000" dirty="false"/>
          </a:p>
        </p:txBody>
      </p:sp>
      <p:sp>
        <p:nvSpPr>
          <p:cNvPr id="117"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基于全局注意力的模型改进</a:t>
            </a:r>
            <a:endParaRPr lang="en-US" sz="3200" dirty="false"/>
          </a:p>
        </p:txBody>
      </p:sp>
      <p:sp>
        <p:nvSpPr>
          <p:cNvPr id="118" name="Shape 4"/>
          <p:cNvSpPr/>
          <p:nvPr/>
        </p:nvSpPr>
        <p:spPr>
          <a:xfrm>
            <a:off x="2286000" y="2286000"/>
            <a:ext cx="2743200" cy="36576"/>
          </a:xfrm>
          <a:prstGeom prst="rect">
            <a:avLst/>
          </a:prstGeom>
          <a:solidFill>
            <a:srgbClr val="E74C3C"/>
          </a:solidFill>
          <a:ln/>
        </p:spPr>
        <p:txBody>
          <a:bodyPr/>
          <a:p>
            <a:pPr/>
            <a:endParaRPr/>
          </a:p>
        </p:txBody>
      </p:sp>
      <p:sp>
        <p:nvSpPr>
          <p:cNvPr id="119"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空洞卷积与ASPP模块原理</a:t>
            </a:r>
            <a:endParaRPr lang="en-US" sz="1400" dirty="false"/>
          </a:p>
        </p:txBody>
      </p:sp>
      <p:sp>
        <p:nvSpPr>
          <p:cNvPr id="120"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改进动机：全局上下文建模不足</a:t>
            </a:r>
            <a:endParaRPr lang="en-US" sz="1400" dirty="false"/>
          </a:p>
        </p:txBody>
      </p:sp>
      <p:sp>
        <p:nvSpPr>
          <p:cNvPr id="121"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TR模块：双层路由注意力设计</a:t>
            </a:r>
            <a:endParaRPr lang="en-US" sz="1400" dirty="false"/>
          </a:p>
        </p:txBody>
      </p:sp>
      <p:sp>
        <p:nvSpPr>
          <p:cNvPr id="122" name="Text 8"/>
          <p:cNvSpPr/>
          <p:nvPr/>
        </p:nvSpPr>
        <p:spPr>
          <a:xfrm>
            <a:off x="2286000" y="365760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实验设置与消融验证</a:t>
            </a:r>
            <a:endParaRPr lang="en-US" sz="1400" dirty="false"/>
          </a:p>
        </p:txBody>
      </p:sp>
      <p:sp>
        <p:nvSpPr>
          <p:cNvPr id="123" name="Text 9"/>
          <p:cNvSpPr/>
          <p:nvPr/>
        </p:nvSpPr>
        <p:spPr>
          <a:xfrm>
            <a:off x="2286000" y="402336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TR模块可视化对比</a:t>
            </a:r>
            <a:endParaRPr lang="en-US" sz="1400" dirty="fals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6"/>
        </a:solidFill>
      </p:bgPr>
    </p:bg>
    <p:spTree>
      <p:nvGrpSpPr>
        <p:cNvPr id="124" name=""/>
        <p:cNvGrpSpPr/>
        <p:nvPr/>
      </p:nvGrpSpPr>
      <p:grpSpPr>
        <a:xfrm>
          <a:off x="0" y="0"/>
          <a:ext cx="0" cy="0"/>
          <a:chOff x="0" y="0"/>
          <a:chExt cx="0" cy="0"/>
        </a:xfrm>
      </p:grpSpPr>
      <p:sp>
        <p:nvSpPr>
          <p:cNvPr id="125" name="Shape 0"/>
          <p:cNvSpPr/>
          <p:nvPr/>
        </p:nvSpPr>
        <p:spPr>
          <a:xfrm>
            <a:off x="0" y="0"/>
            <a:ext cx="91440" cy="5143500"/>
          </a:xfrm>
          <a:prstGeom prst="rect">
            <a:avLst/>
          </a:prstGeom>
          <a:solidFill>
            <a:srgbClr val="1C2833"/>
          </a:solidFill>
          <a:ln/>
        </p:spPr>
        <p:txBody>
          <a:bodyPr/>
          <a:p>
            <a:pPr/>
            <a:endParaRPr/>
          </a:p>
        </p:txBody>
      </p:sp>
      <p:sp>
        <p:nvSpPr>
          <p:cNvPr id="12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2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空洞卷积原理</a:t>
            </a:r>
            <a:endParaRPr lang="en-US" sz="2400" dirty="false"/>
          </a:p>
        </p:txBody>
      </p:sp>
      <p:sp>
        <p:nvSpPr>
          <p:cNvPr id="128" name="Shape 3"/>
          <p:cNvSpPr/>
          <p:nvPr/>
        </p:nvSpPr>
        <p:spPr>
          <a:xfrm>
            <a:off x="365760" y="914400"/>
            <a:ext cx="8412480" cy="16916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29" name="Text 4"/>
          <p:cNvSpPr/>
          <p:nvPr/>
        </p:nvSpPr>
        <p:spPr>
          <a:xfrm>
            <a:off x="457200" y="960120"/>
            <a:ext cx="822960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不同空洞率的卷积对比</a:t>
            </a:r>
            <a:endParaRPr lang="en-US" sz="1000" dirty="false"/>
          </a:p>
        </p:txBody>
      </p:sp>
      <p:pic>
        <p:nvPicPr>
          <p:cNvPr id="130" name="Image 0" descr="../figure/cp3/fig3-1_dilated_conv.png"/>
          <p:cNvPicPr>
            <a:picLocks noChangeAspect="true"/>
          </p:cNvPicPr>
          <p:nvPr/>
        </p:nvPicPr>
        <p:blipFill>
          <a:blip r:embed="rId2"/>
          <a:stretch>
            <a:fillRect/>
          </a:stretch>
        </p:blipFill>
        <p:spPr>
          <a:xfrm>
            <a:off x="2926080" y="1234440"/>
            <a:ext cx="3291840" cy="1280160"/>
          </a:xfrm>
          <a:prstGeom prst="rect">
            <a:avLst/>
          </a:prstGeom>
        </p:spPr>
      </p:pic>
      <p:sp>
        <p:nvSpPr>
          <p:cNvPr id="131" name="Shape 5"/>
          <p:cNvSpPr/>
          <p:nvPr/>
        </p:nvSpPr>
        <p:spPr>
          <a:xfrm>
            <a:off x="365760" y="274320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32" name="Shape 6"/>
          <p:cNvSpPr/>
          <p:nvPr/>
        </p:nvSpPr>
        <p:spPr>
          <a:xfrm>
            <a:off x="365760" y="2743200"/>
            <a:ext cx="36576" cy="777240"/>
          </a:xfrm>
          <a:prstGeom prst="rect">
            <a:avLst/>
          </a:prstGeom>
          <a:solidFill>
            <a:srgbClr val="E74C3C"/>
          </a:solidFill>
          <a:ln/>
        </p:spPr>
        <p:txBody>
          <a:bodyPr/>
          <a:p>
            <a:pPr/>
            <a:endParaRPr/>
          </a:p>
        </p:txBody>
      </p:sp>
      <p:sp>
        <p:nvSpPr>
          <p:cNvPr id="133" name="Text 7"/>
          <p:cNvSpPr/>
          <p:nvPr/>
        </p:nvSpPr>
        <p:spPr>
          <a:xfrm>
            <a:off x="457200" y="2788920"/>
            <a:ext cx="256032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普通卷积 (rate=1)</a:t>
            </a:r>
            <a:endParaRPr lang="en-US" sz="1000" dirty="false"/>
          </a:p>
        </p:txBody>
      </p:sp>
      <p:sp>
        <p:nvSpPr>
          <p:cNvPr id="134" name="Text 8"/>
          <p:cNvSpPr/>
          <p:nvPr/>
        </p:nvSpPr>
        <p:spPr>
          <a:xfrm>
            <a:off x="457200" y="3035808"/>
            <a:ext cx="2560320" cy="4572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标准3×3卷积，感受野3×3，仅捕获局部特征。</a:t>
            </a:r>
            <a:endParaRPr lang="en-US" sz="800" dirty="false"/>
          </a:p>
        </p:txBody>
      </p:sp>
      <p:sp>
        <p:nvSpPr>
          <p:cNvPr id="135" name="Shape 9"/>
          <p:cNvSpPr/>
          <p:nvPr/>
        </p:nvSpPr>
        <p:spPr>
          <a:xfrm>
            <a:off x="3246120" y="274320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36" name="Shape 10"/>
          <p:cNvSpPr/>
          <p:nvPr/>
        </p:nvSpPr>
        <p:spPr>
          <a:xfrm>
            <a:off x="3246120" y="2743200"/>
            <a:ext cx="36576" cy="777240"/>
          </a:xfrm>
          <a:prstGeom prst="rect">
            <a:avLst/>
          </a:prstGeom>
          <a:solidFill>
            <a:srgbClr val="E74C3C"/>
          </a:solidFill>
          <a:ln/>
        </p:spPr>
        <p:txBody>
          <a:bodyPr/>
          <a:p>
            <a:pPr/>
            <a:endParaRPr/>
          </a:p>
        </p:txBody>
      </p:sp>
      <p:sp>
        <p:nvSpPr>
          <p:cNvPr id="137" name="Text 11"/>
          <p:cNvSpPr/>
          <p:nvPr/>
        </p:nvSpPr>
        <p:spPr>
          <a:xfrm>
            <a:off x="3337560" y="2788920"/>
            <a:ext cx="256032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空洞卷积 (rate=2)</a:t>
            </a:r>
            <a:endParaRPr lang="en-US" sz="1000" dirty="false"/>
          </a:p>
        </p:txBody>
      </p:sp>
      <p:sp>
        <p:nvSpPr>
          <p:cNvPr id="138" name="Text 12"/>
          <p:cNvSpPr/>
          <p:nvPr/>
        </p:nvSpPr>
        <p:spPr>
          <a:xfrm>
            <a:off x="3337560" y="3035808"/>
            <a:ext cx="2560320" cy="4572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在卷积核元素间插入空洞，感受野扩大到5×5。</a:t>
            </a:r>
            <a:endParaRPr lang="en-US" sz="800" dirty="false"/>
          </a:p>
        </p:txBody>
      </p:sp>
      <p:sp>
        <p:nvSpPr>
          <p:cNvPr id="139" name="Shape 13"/>
          <p:cNvSpPr/>
          <p:nvPr/>
        </p:nvSpPr>
        <p:spPr>
          <a:xfrm>
            <a:off x="6126480" y="274320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40" name="Shape 14"/>
          <p:cNvSpPr/>
          <p:nvPr/>
        </p:nvSpPr>
        <p:spPr>
          <a:xfrm>
            <a:off x="6126480" y="2743200"/>
            <a:ext cx="36576" cy="777240"/>
          </a:xfrm>
          <a:prstGeom prst="rect">
            <a:avLst/>
          </a:prstGeom>
          <a:solidFill>
            <a:srgbClr val="E74C3C"/>
          </a:solidFill>
          <a:ln/>
        </p:spPr>
        <p:txBody>
          <a:bodyPr/>
          <a:p>
            <a:pPr/>
            <a:endParaRPr/>
          </a:p>
        </p:txBody>
      </p:sp>
      <p:sp>
        <p:nvSpPr>
          <p:cNvPr id="141" name="Text 15"/>
          <p:cNvSpPr/>
          <p:nvPr/>
        </p:nvSpPr>
        <p:spPr>
          <a:xfrm>
            <a:off x="6217920" y="2788920"/>
            <a:ext cx="256032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空洞卷积 (rate=3)</a:t>
            </a:r>
            <a:endParaRPr lang="en-US" sz="1000" dirty="false"/>
          </a:p>
        </p:txBody>
      </p:sp>
      <p:sp>
        <p:nvSpPr>
          <p:cNvPr id="142" name="Text 16"/>
          <p:cNvSpPr/>
          <p:nvPr/>
        </p:nvSpPr>
        <p:spPr>
          <a:xfrm>
            <a:off x="6217920" y="3035808"/>
            <a:ext cx="2560320" cy="45720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感受野进一步扩大到7×7，无需增加参数量。</a:t>
            </a:r>
            <a:endParaRPr lang="en-US" sz="800" dirty="false"/>
          </a:p>
        </p:txBody>
      </p:sp>
      <p:sp>
        <p:nvSpPr>
          <p:cNvPr id="143" name="Shape 17"/>
          <p:cNvSpPr/>
          <p:nvPr/>
        </p:nvSpPr>
        <p:spPr>
          <a:xfrm>
            <a:off x="365760" y="3657600"/>
            <a:ext cx="8412480" cy="411480"/>
          </a:xfrm>
          <a:prstGeom prst="roundRect">
            <a:avLst/>
          </a:prstGeom>
          <a:solidFill>
            <a:srgbClr val="1C2833"/>
          </a:solidFill>
          <a:ln/>
        </p:spPr>
        <p:txBody>
          <a:bodyPr/>
          <a:p>
            <a:pPr/>
            <a:endParaRPr/>
          </a:p>
        </p:txBody>
      </p:sp>
      <p:sp>
        <p:nvSpPr>
          <p:cNvPr id="144" name="Text 18"/>
          <p:cNvSpPr/>
          <p:nvPr/>
        </p:nvSpPr>
        <p:spPr>
          <a:xfrm>
            <a:off x="548640" y="4005072"/>
            <a:ext cx="8046720" cy="4572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核心优势：在不增加参数量和计算量的情况下扩大感受野，捕获更大范围的上下文信息，适合密集预测任务。</a:t>
            </a:r>
            <a:endParaRPr lang="en-US" sz="900" dirty="false"/>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6"/>
        </a:solidFill>
      </p:bgPr>
    </p:bg>
    <p:spTree>
      <p:nvGrpSpPr>
        <p:cNvPr id="145" name=""/>
        <p:cNvGrpSpPr/>
        <p:nvPr/>
      </p:nvGrpSpPr>
      <p:grpSpPr>
        <a:xfrm>
          <a:off x="0" y="0"/>
          <a:ext cx="0" cy="0"/>
          <a:chOff x="0" y="0"/>
          <a:chExt cx="0" cy="0"/>
        </a:xfrm>
      </p:grpSpPr>
      <p:sp>
        <p:nvSpPr>
          <p:cNvPr id="146" name="Shape 0"/>
          <p:cNvSpPr/>
          <p:nvPr/>
        </p:nvSpPr>
        <p:spPr>
          <a:xfrm>
            <a:off x="0" y="0"/>
            <a:ext cx="91440" cy="5143500"/>
          </a:xfrm>
          <a:prstGeom prst="rect">
            <a:avLst/>
          </a:prstGeom>
          <a:solidFill>
            <a:srgbClr val="1C2833"/>
          </a:solidFill>
          <a:ln/>
        </p:spPr>
        <p:txBody>
          <a:bodyPr/>
          <a:p>
            <a:pPr/>
            <a:endParaRPr/>
          </a:p>
        </p:txBody>
      </p:sp>
      <p:sp>
        <p:nvSpPr>
          <p:cNvPr id="147"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48"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ASPP模块详解</a:t>
            </a:r>
            <a:endParaRPr lang="en-US" sz="2400" dirty="false"/>
          </a:p>
        </p:txBody>
      </p:sp>
      <p:sp>
        <p:nvSpPr>
          <p:cNvPr id="149" name="Shape 3"/>
          <p:cNvSpPr/>
          <p:nvPr/>
        </p:nvSpPr>
        <p:spPr>
          <a:xfrm>
            <a:off x="365760" y="914400"/>
            <a:ext cx="411480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50" name="Text 4"/>
          <p:cNvSpPr/>
          <p:nvPr/>
        </p:nvSpPr>
        <p:spPr>
          <a:xfrm>
            <a:off x="457200" y="960120"/>
            <a:ext cx="3931920" cy="274320"/>
          </a:xfrm>
          <a:prstGeom prst="rect">
            <a:avLst/>
          </a:prstGeom>
          <a:noFill/>
          <a:ln/>
        </p:spPr>
        <p:txBody>
          <a:bodyPr wrap="square" rtlCol="false" anchor="ctr"/>
          <a:lstStyle/>
          <a:p>
            <a:pPr marL="0" indent="0">
              <a:buNone/>
            </a:pPr>
            <a:r>
              <a:rPr lang="en-US" sz="1200" b="true" dirty="false">
                <a:solidFill>
                  <a:srgbClr val="E74C3C"/>
                </a:solidFill>
                <a:latin typeface="Arial" pitchFamily="34" charset="0"/>
                <a:ea typeface="Arial" pitchFamily="34" charset="-122"/>
                <a:cs typeface="Arial" pitchFamily="34" charset="-120"/>
              </a:rPr>
              <a:t>空洞空间金字塔池化</a:t>
            </a:r>
            <a:endParaRPr lang="en-US" sz="1200" dirty="false"/>
          </a:p>
        </p:txBody>
      </p:sp>
      <p:sp>
        <p:nvSpPr>
          <p:cNvPr id="151" name="Text 5"/>
          <p:cNvSpPr/>
          <p:nvPr/>
        </p:nvSpPr>
        <p:spPr>
          <a:xfrm>
            <a:off x="457200" y="1234440"/>
            <a:ext cx="3931920" cy="201168"/>
          </a:xfrm>
          <a:prstGeom prst="rect">
            <a:avLst/>
          </a:prstGeom>
          <a:noFill/>
          <a:ln/>
        </p:spPr>
        <p:txBody>
          <a:bodyPr wrap="square" rtlCol="false" anchor="ctr"/>
          <a:lstStyle/>
          <a:p>
            <a:pPr marL="0" indent="0">
              <a:buNone/>
            </a:pPr>
            <a:r>
              <a:rPr lang="en-US" sz="900" i="true" dirty="false">
                <a:solidFill>
                  <a:srgbClr val="2E4053"/>
                </a:solidFill>
                <a:latin typeface="Arial" pitchFamily="34" charset="0"/>
                <a:ea typeface="Arial" pitchFamily="34" charset="-122"/>
                <a:cs typeface="Arial" pitchFamily="34" charset="-120"/>
              </a:rPr>
              <a:t>Atrous Spatial Pyramid Pooling</a:t>
            </a:r>
            <a:endParaRPr lang="en-US" sz="900" dirty="false"/>
          </a:p>
        </p:txBody>
      </p:sp>
      <p:sp>
        <p:nvSpPr>
          <p:cNvPr id="152" name="Text 6"/>
          <p:cNvSpPr/>
          <p:nvPr/>
        </p:nvSpPr>
        <p:spPr>
          <a:xfrm>
            <a:off x="457200" y="1554480"/>
            <a:ext cx="3931920" cy="201168"/>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并行分支结构：</a:t>
            </a:r>
            <a:endParaRPr lang="en-US" sz="1000" dirty="false"/>
          </a:p>
        </p:txBody>
      </p:sp>
      <p:sp>
        <p:nvSpPr>
          <p:cNvPr id="153" name="Text 7"/>
          <p:cNvSpPr/>
          <p:nvPr/>
        </p:nvSpPr>
        <p:spPr>
          <a:xfrm>
            <a:off x="457200" y="1783080"/>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1×1卷积（rate=1）：提取点级特征</a:t>
            </a:r>
            <a:endParaRPr lang="en-US" sz="800" dirty="false"/>
          </a:p>
        </p:txBody>
      </p:sp>
      <p:sp>
        <p:nvSpPr>
          <p:cNvPr id="154" name="Text 8"/>
          <p:cNvSpPr/>
          <p:nvPr/>
        </p:nvSpPr>
        <p:spPr>
          <a:xfrm>
            <a:off x="457200" y="2039112"/>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3×3卷积（rate=12）：捕获中等范围</a:t>
            </a:r>
            <a:endParaRPr lang="en-US" sz="800" dirty="false"/>
          </a:p>
        </p:txBody>
      </p:sp>
      <p:sp>
        <p:nvSpPr>
          <p:cNvPr id="155" name="Text 9"/>
          <p:cNvSpPr/>
          <p:nvPr/>
        </p:nvSpPr>
        <p:spPr>
          <a:xfrm>
            <a:off x="457200" y="2295144"/>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3×3卷积（rate=24）：捕获较大范围</a:t>
            </a:r>
            <a:endParaRPr lang="en-US" sz="800" dirty="false"/>
          </a:p>
        </p:txBody>
      </p:sp>
      <p:sp>
        <p:nvSpPr>
          <p:cNvPr id="156" name="Text 10"/>
          <p:cNvSpPr/>
          <p:nvPr/>
        </p:nvSpPr>
        <p:spPr>
          <a:xfrm>
            <a:off x="457200" y="2551176"/>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3×3卷积（rate=36）：捕获全局范围</a:t>
            </a:r>
            <a:endParaRPr lang="en-US" sz="800" dirty="false"/>
          </a:p>
        </p:txBody>
      </p:sp>
      <p:sp>
        <p:nvSpPr>
          <p:cNvPr id="157" name="Text 11"/>
          <p:cNvSpPr/>
          <p:nvPr/>
        </p:nvSpPr>
        <p:spPr>
          <a:xfrm>
            <a:off x="457200" y="2807208"/>
            <a:ext cx="3931920" cy="237744"/>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 全局平均池化：编码图像级特征</a:t>
            </a:r>
            <a:endParaRPr lang="en-US" sz="800" dirty="false"/>
          </a:p>
        </p:txBody>
      </p:sp>
      <p:sp>
        <p:nvSpPr>
          <p:cNvPr id="158" name="Shape 12"/>
          <p:cNvSpPr/>
          <p:nvPr/>
        </p:nvSpPr>
        <p:spPr>
          <a:xfrm>
            <a:off x="457200" y="3154680"/>
            <a:ext cx="3931920" cy="777240"/>
          </a:xfrm>
          <a:prstGeom prst="roundRect">
            <a:avLst/>
          </a:prstGeom>
          <a:solidFill>
            <a:srgbClr val="1C2833"/>
          </a:solidFill>
          <a:ln/>
        </p:spPr>
        <p:txBody>
          <a:bodyPr/>
          <a:p>
            <a:pPr/>
            <a:endParaRPr/>
          </a:p>
        </p:txBody>
      </p:sp>
      <p:sp>
        <p:nvSpPr>
          <p:cNvPr id="159" name="Text 13"/>
          <p:cNvSpPr/>
          <p:nvPr/>
        </p:nvSpPr>
        <p:spPr>
          <a:xfrm>
            <a:off x="548640" y="3200400"/>
            <a:ext cx="3749040" cy="201168"/>
          </a:xfrm>
          <a:prstGeom prst="rect">
            <a:avLst/>
          </a:prstGeom>
          <a:noFill/>
          <a:ln/>
        </p:spPr>
        <p:txBody>
          <a:bodyPr wrap="square" rtlCol="false" anchor="ctr"/>
          <a:lstStyle/>
          <a:p>
            <a:pPr marL="0" indent="0">
              <a:buNone/>
            </a:pPr>
            <a:r>
              <a:rPr lang="en-US" sz="900" b="true" dirty="false">
                <a:solidFill>
                  <a:srgbClr val="FFFFFF"/>
                </a:solidFill>
                <a:latin typeface="Arial" pitchFamily="34" charset="0"/>
                <a:ea typeface="Arial" pitchFamily="34" charset="-122"/>
                <a:cs typeface="Arial" pitchFamily="34" charset="-120"/>
              </a:rPr>
              <a:t>作用</a:t>
            </a:r>
            <a:endParaRPr lang="en-US" sz="900" dirty="false"/>
          </a:p>
        </p:txBody>
      </p:sp>
      <p:sp>
        <p:nvSpPr>
          <p:cNvPr id="160" name="Text 14"/>
          <p:cNvSpPr/>
          <p:nvPr/>
        </p:nvSpPr>
        <p:spPr>
          <a:xfrm>
            <a:off x="548640" y="3429000"/>
            <a:ext cx="3749040" cy="45720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通过不同空洞率的并行卷积，在多个尺度上捕获上下文信息，增强对不同大小目标的分割能力。</a:t>
            </a:r>
            <a:endParaRPr lang="en-US" sz="800" dirty="false"/>
          </a:p>
        </p:txBody>
      </p:sp>
      <p:sp>
        <p:nvSpPr>
          <p:cNvPr id="161" name="Shape 15"/>
          <p:cNvSpPr/>
          <p:nvPr/>
        </p:nvSpPr>
        <p:spPr>
          <a:xfrm>
            <a:off x="4617720" y="914400"/>
            <a:ext cx="416052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62" name="Text 16"/>
          <p:cNvSpPr/>
          <p:nvPr/>
        </p:nvSpPr>
        <p:spPr>
          <a:xfrm>
            <a:off x="4709160" y="960120"/>
            <a:ext cx="397764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ASPP模块结构</a:t>
            </a:r>
            <a:endParaRPr lang="en-US" sz="1000" dirty="false"/>
          </a:p>
        </p:txBody>
      </p:sp>
      <p:pic>
        <p:nvPicPr>
          <p:cNvPr id="163" name="Image 0" descr="../figure/cp3/fig3-2_aspp_module.png"/>
          <p:cNvPicPr>
            <a:picLocks noChangeAspect="true"/>
          </p:cNvPicPr>
          <p:nvPr/>
        </p:nvPicPr>
        <p:blipFill>
          <a:blip r:embed="rId2"/>
          <a:stretch>
            <a:fillRect/>
          </a:stretch>
        </p:blipFill>
        <p:spPr>
          <a:xfrm>
            <a:off x="4846320" y="1234440"/>
            <a:ext cx="3657600" cy="26974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p:cSld name="Slide 17">
    <p:bg>
      <p:bgPr>
        <a:solidFill>
          <a:srgbClr val="F4F6F6"/>
        </a:solidFill>
      </p:bgPr>
    </p:bg>
    <p:spTree>
      <p:nvGrpSpPr>
        <p:cNvPr id="164" name=""/>
        <p:cNvGrpSpPr/>
        <p:nvPr/>
      </p:nvGrpSpPr>
      <p:grpSpPr>
        <a:xfrm>
          <a:off x="0" y="0"/>
          <a:ext cx="0" cy="0"/>
          <a:chOff x="0" y="0"/>
          <a:chExt cx="0" cy="0"/>
        </a:xfrm>
      </p:grpSpPr>
      <p:sp>
        <p:nvSpPr>
          <p:cNvPr id="165" name="Shape 0"/>
          <p:cNvSpPr/>
          <p:nvPr/>
        </p:nvSpPr>
        <p:spPr>
          <a:xfrm>
            <a:off x="0" y="0"/>
            <a:ext cx="91440" cy="5143500"/>
          </a:xfrm>
          <a:prstGeom prst="rect">
            <a:avLst/>
          </a:prstGeom>
          <a:solidFill>
            <a:srgbClr val="1C2833"/>
          </a:solidFill>
          <a:ln/>
        </p:spPr>
        <p:txBody>
          <a:bodyPr/>
          <a:p>
            <a:pPr/>
            <a:endParaRPr/>
          </a:p>
        </p:txBody>
      </p:sp>
      <p:sp>
        <p:nvSpPr>
          <p:cNvPr id="16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6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改进动机：全局上下文建模不足</a:t>
            </a:r>
            <a:endParaRPr lang="en-US" sz="2400" dirty="false"/>
          </a:p>
        </p:txBody>
      </p:sp>
      <p:sp>
        <p:nvSpPr>
          <p:cNvPr id="168" name="Shape 3"/>
          <p:cNvSpPr/>
          <p:nvPr/>
        </p:nvSpPr>
        <p:spPr>
          <a:xfrm>
            <a:off x="365760" y="914400"/>
            <a:ext cx="4114800" cy="2011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69" name="Shape 4"/>
          <p:cNvSpPr/>
          <p:nvPr/>
        </p:nvSpPr>
        <p:spPr>
          <a:xfrm>
            <a:off x="365760" y="914400"/>
            <a:ext cx="4114800" cy="36576"/>
          </a:xfrm>
          <a:prstGeom prst="rect">
            <a:avLst/>
          </a:prstGeom>
          <a:solidFill>
            <a:srgbClr val="E74C3C"/>
          </a:solidFill>
          <a:ln/>
        </p:spPr>
        <p:txBody>
          <a:bodyPr/>
          <a:p>
            <a:pPr/>
            <a:endParaRPr/>
          </a:p>
        </p:txBody>
      </p:sp>
      <p:sp>
        <p:nvSpPr>
          <p:cNvPr id="170" name="Text 5"/>
          <p:cNvSpPr/>
          <p:nvPr/>
        </p:nvSpPr>
        <p:spPr>
          <a:xfrm>
            <a:off x="457200" y="1005840"/>
            <a:ext cx="3931920" cy="27432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ASPP模块的局限性</a:t>
            </a:r>
            <a:endParaRPr lang="en-US" sz="1200" dirty="false"/>
          </a:p>
        </p:txBody>
      </p:sp>
      <p:sp>
        <p:nvSpPr>
          <p:cNvPr id="171" name="Text 6"/>
          <p:cNvSpPr/>
          <p:nvPr/>
        </p:nvSpPr>
        <p:spPr>
          <a:xfrm>
            <a:off x="457200" y="1371600"/>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感受野受限于空洞卷积的局部性</a:t>
            </a:r>
            <a:endParaRPr lang="en-US" sz="900" dirty="false"/>
          </a:p>
        </p:txBody>
      </p:sp>
      <p:sp>
        <p:nvSpPr>
          <p:cNvPr id="172" name="Text 7"/>
          <p:cNvSpPr/>
          <p:nvPr/>
        </p:nvSpPr>
        <p:spPr>
          <a:xfrm>
            <a:off x="457200" y="1664208"/>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仅覆盖特征图的局部区域</a:t>
            </a:r>
            <a:endParaRPr lang="en-US" sz="900" dirty="false"/>
          </a:p>
        </p:txBody>
      </p:sp>
      <p:sp>
        <p:nvSpPr>
          <p:cNvPr id="173" name="Text 8"/>
          <p:cNvSpPr/>
          <p:nvPr/>
        </p:nvSpPr>
        <p:spPr>
          <a:xfrm>
            <a:off x="457200" y="1956816"/>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难以建立长距离依赖关系</a:t>
            </a:r>
            <a:endParaRPr lang="en-US" sz="900" dirty="false"/>
          </a:p>
        </p:txBody>
      </p:sp>
      <p:sp>
        <p:nvSpPr>
          <p:cNvPr id="174" name="Text 9"/>
          <p:cNvSpPr/>
          <p:nvPr/>
        </p:nvSpPr>
        <p:spPr>
          <a:xfrm>
            <a:off x="457200" y="2249424"/>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OCT图像中熔深区域呈细长结构</a:t>
            </a:r>
            <a:endParaRPr lang="en-US" sz="900" dirty="false"/>
          </a:p>
        </p:txBody>
      </p:sp>
      <p:sp>
        <p:nvSpPr>
          <p:cNvPr id="175" name="Text 10"/>
          <p:cNvSpPr/>
          <p:nvPr/>
        </p:nvSpPr>
        <p:spPr>
          <a:xfrm>
            <a:off x="457200" y="2542032"/>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纵横比可达1:10以上，跨越多区域</a:t>
            </a:r>
            <a:endParaRPr lang="en-US" sz="900" dirty="false"/>
          </a:p>
        </p:txBody>
      </p:sp>
      <p:sp>
        <p:nvSpPr>
          <p:cNvPr id="176" name="Shape 11"/>
          <p:cNvSpPr/>
          <p:nvPr/>
        </p:nvSpPr>
        <p:spPr>
          <a:xfrm>
            <a:off x="4663440" y="914400"/>
            <a:ext cx="4114800" cy="2011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77" name="Shape 12"/>
          <p:cNvSpPr/>
          <p:nvPr/>
        </p:nvSpPr>
        <p:spPr>
          <a:xfrm>
            <a:off x="4663440" y="914400"/>
            <a:ext cx="4114800" cy="36576"/>
          </a:xfrm>
          <a:prstGeom prst="rect">
            <a:avLst/>
          </a:prstGeom>
          <a:solidFill>
            <a:srgbClr val="27AE60"/>
          </a:solidFill>
          <a:ln/>
        </p:spPr>
        <p:txBody>
          <a:bodyPr/>
          <a:p>
            <a:pPr/>
            <a:endParaRPr/>
          </a:p>
        </p:txBody>
      </p:sp>
      <p:sp>
        <p:nvSpPr>
          <p:cNvPr id="178" name="Text 13"/>
          <p:cNvSpPr/>
          <p:nvPr/>
        </p:nvSpPr>
        <p:spPr>
          <a:xfrm>
            <a:off x="4754880" y="1005840"/>
            <a:ext cx="3931920" cy="274320"/>
          </a:xfrm>
          <a:prstGeom prst="rect">
            <a:avLst/>
          </a:prstGeom>
          <a:noFill/>
          <a:ln/>
        </p:spPr>
        <p:txBody>
          <a:bodyPr wrap="square" rtlCol="false" anchor="ctr"/>
          <a:lstStyle/>
          <a:p>
            <a:pPr marL="0" indent="0">
              <a:buNone/>
            </a:pPr>
            <a:r>
              <a:rPr lang="en-US" sz="1200" b="true" dirty="false">
                <a:solidFill>
                  <a:srgbClr val="1C2833"/>
                </a:solidFill>
                <a:latin typeface="Arial" pitchFamily="34" charset="0"/>
                <a:ea typeface="Arial" pitchFamily="34" charset="-122"/>
                <a:cs typeface="Arial" pitchFamily="34" charset="-120"/>
              </a:rPr>
              <a:t>解决方案：TR模块</a:t>
            </a:r>
            <a:endParaRPr lang="en-US" sz="1200" dirty="false"/>
          </a:p>
        </p:txBody>
      </p:sp>
      <p:sp>
        <p:nvSpPr>
          <p:cNvPr id="179" name="Text 14"/>
          <p:cNvSpPr/>
          <p:nvPr/>
        </p:nvSpPr>
        <p:spPr>
          <a:xfrm>
            <a:off x="4754880" y="1371600"/>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引入Transformer注意力机制</a:t>
            </a:r>
            <a:endParaRPr lang="en-US" sz="900" dirty="false"/>
          </a:p>
        </p:txBody>
      </p:sp>
      <p:sp>
        <p:nvSpPr>
          <p:cNvPr id="180" name="Text 15"/>
          <p:cNvSpPr/>
          <p:nvPr/>
        </p:nvSpPr>
        <p:spPr>
          <a:xfrm>
            <a:off x="4754880" y="1664208"/>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建立全局长距离依赖关系</a:t>
            </a:r>
            <a:endParaRPr lang="en-US" sz="900" dirty="false"/>
          </a:p>
        </p:txBody>
      </p:sp>
      <p:sp>
        <p:nvSpPr>
          <p:cNvPr id="181" name="Text 16"/>
          <p:cNvSpPr/>
          <p:nvPr/>
        </p:nvSpPr>
        <p:spPr>
          <a:xfrm>
            <a:off x="4754880" y="1956816"/>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双层路由降低计算复杂度</a:t>
            </a:r>
            <a:endParaRPr lang="en-US" sz="900" dirty="false"/>
          </a:p>
        </p:txBody>
      </p:sp>
      <p:sp>
        <p:nvSpPr>
          <p:cNvPr id="182" name="Text 17"/>
          <p:cNvSpPr/>
          <p:nvPr/>
        </p:nvSpPr>
        <p:spPr>
          <a:xfrm>
            <a:off x="4754880" y="2249424"/>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TopK稀疏选择提高效率</a:t>
            </a:r>
            <a:endParaRPr lang="en-US" sz="900" dirty="false"/>
          </a:p>
        </p:txBody>
      </p:sp>
      <p:sp>
        <p:nvSpPr>
          <p:cNvPr id="183" name="Text 18"/>
          <p:cNvSpPr/>
          <p:nvPr/>
        </p:nvSpPr>
        <p:spPr>
          <a:xfrm>
            <a:off x="4754880" y="2542032"/>
            <a:ext cx="3931920" cy="2743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增强对细长结构的理解能力</a:t>
            </a:r>
            <a:endParaRPr lang="en-US" sz="900" dirty="false"/>
          </a:p>
        </p:txBody>
      </p:sp>
      <p:sp>
        <p:nvSpPr>
          <p:cNvPr id="184" name="Shape 19"/>
          <p:cNvSpPr/>
          <p:nvPr/>
        </p:nvSpPr>
        <p:spPr>
          <a:xfrm>
            <a:off x="365760" y="3108960"/>
            <a:ext cx="8412480" cy="914400"/>
          </a:xfrm>
          <a:prstGeom prst="roundRect">
            <a:avLst/>
          </a:prstGeom>
          <a:solidFill>
            <a:srgbClr val="1C2833"/>
          </a:solidFill>
          <a:ln/>
        </p:spPr>
        <p:txBody>
          <a:bodyPr/>
          <a:p>
            <a:pPr/>
            <a:endParaRPr/>
          </a:p>
        </p:txBody>
      </p:sp>
      <p:sp>
        <p:nvSpPr>
          <p:cNvPr id="185" name="Text 20"/>
          <p:cNvSpPr/>
          <p:nvPr/>
        </p:nvSpPr>
        <p:spPr>
          <a:xfrm>
            <a:off x="548640" y="3200400"/>
            <a:ext cx="804672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核心思想</a:t>
            </a:r>
            <a:endParaRPr lang="en-US" sz="1000" dirty="false"/>
          </a:p>
        </p:txBody>
      </p:sp>
      <p:sp>
        <p:nvSpPr>
          <p:cNvPr id="186" name="Text 21"/>
          <p:cNvSpPr/>
          <p:nvPr/>
        </p:nvSpPr>
        <p:spPr>
          <a:xfrm>
            <a:off x="548640" y="3456432"/>
            <a:ext cx="8046720" cy="45720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在ASPP模块之后引入TR（Transformer Routing）全局注意力模块，借鉴BiFormer的双层路由注意力思想，通过区域级路由和TopK选择机制，在保持全局建模能力的同时将计算复杂度从O(n²)降低到O(n²×k/p²)。</a:t>
            </a:r>
            <a:endParaRPr lang="en-US" sz="900" dirty="false"/>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6"/>
        </a:solidFill>
      </p:bgPr>
    </p:bg>
    <p:spTree>
      <p:nvGrpSpPr>
        <p:cNvPr id="187" name=""/>
        <p:cNvGrpSpPr/>
        <p:nvPr/>
      </p:nvGrpSpPr>
      <p:grpSpPr>
        <a:xfrm>
          <a:off x="0" y="0"/>
          <a:ext cx="0" cy="0"/>
          <a:chOff x="0" y="0"/>
          <a:chExt cx="0" cy="0"/>
        </a:xfrm>
      </p:grpSpPr>
      <p:sp>
        <p:nvSpPr>
          <p:cNvPr id="188" name="Shape 0"/>
          <p:cNvSpPr/>
          <p:nvPr/>
        </p:nvSpPr>
        <p:spPr>
          <a:xfrm>
            <a:off x="0" y="0"/>
            <a:ext cx="91440" cy="5143500"/>
          </a:xfrm>
          <a:prstGeom prst="rect">
            <a:avLst/>
          </a:prstGeom>
          <a:solidFill>
            <a:srgbClr val="1C2833"/>
          </a:solidFill>
          <a:ln/>
        </p:spPr>
        <p:txBody>
          <a:bodyPr/>
          <a:p>
            <a:pPr/>
            <a:endParaRPr/>
          </a:p>
        </p:txBody>
      </p:sp>
      <p:sp>
        <p:nvSpPr>
          <p:cNvPr id="189"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190"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TR模块：全局上下文增强</a:t>
            </a:r>
            <a:endParaRPr lang="en-US" sz="2400" dirty="false"/>
          </a:p>
        </p:txBody>
      </p:sp>
      <p:sp>
        <p:nvSpPr>
          <p:cNvPr id="191" name="Shape 3"/>
          <p:cNvSpPr/>
          <p:nvPr/>
        </p:nvSpPr>
        <p:spPr>
          <a:xfrm>
            <a:off x="365760" y="914400"/>
            <a:ext cx="41148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92" name="Text 4"/>
          <p:cNvSpPr/>
          <p:nvPr/>
        </p:nvSpPr>
        <p:spPr>
          <a:xfrm>
            <a:off x="457200" y="960120"/>
            <a:ext cx="3931920" cy="228600"/>
          </a:xfrm>
          <a:prstGeom prst="rect">
            <a:avLst/>
          </a:prstGeom>
          <a:noFill/>
          <a:ln/>
        </p:spPr>
        <p:txBody>
          <a:bodyPr wrap="square" rtlCol="false" anchor="ctr"/>
          <a:lstStyle/>
          <a:p>
            <a:pPr marL="0" indent="0">
              <a:buNone/>
            </a:pPr>
            <a:r>
              <a:rPr lang="en-US" sz="1000" b="true" dirty="false">
                <a:solidFill>
                  <a:srgbClr val="E74C3C"/>
                </a:solidFill>
                <a:latin typeface="Arial" pitchFamily="34" charset="0"/>
                <a:ea typeface="Arial" pitchFamily="34" charset="-122"/>
                <a:cs typeface="Arial" pitchFamily="34" charset="-120"/>
              </a:rPr>
              <a:t>双层路由注意力 (BiFormer)</a:t>
            </a:r>
            <a:endParaRPr lang="en-US" sz="1000" dirty="false"/>
          </a:p>
        </p:txBody>
      </p:sp>
      <p:sp>
        <p:nvSpPr>
          <p:cNvPr id="193" name="Text 5"/>
          <p:cNvSpPr/>
          <p:nvPr/>
        </p:nvSpPr>
        <p:spPr>
          <a:xfrm>
            <a:off x="457200" y="1207008"/>
            <a:ext cx="393192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区域级路由 + Token级注意力两阶段计算，保持全局建模能力同时降低计算复杂度。</a:t>
            </a:r>
            <a:endParaRPr lang="en-US" sz="800" dirty="false"/>
          </a:p>
        </p:txBody>
      </p:sp>
      <p:sp>
        <p:nvSpPr>
          <p:cNvPr id="194" name="Shape 6"/>
          <p:cNvSpPr/>
          <p:nvPr/>
        </p:nvSpPr>
        <p:spPr>
          <a:xfrm>
            <a:off x="365760" y="1783080"/>
            <a:ext cx="4114800" cy="640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95" name="Text 7"/>
          <p:cNvSpPr/>
          <p:nvPr/>
        </p:nvSpPr>
        <p:spPr>
          <a:xfrm>
            <a:off x="457200" y="1828800"/>
            <a:ext cx="3931920" cy="201168"/>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Top-K稀疏选择策略</a:t>
            </a:r>
            <a:endParaRPr lang="en-US" sz="1000" dirty="false"/>
          </a:p>
        </p:txBody>
      </p:sp>
      <p:sp>
        <p:nvSpPr>
          <p:cNvPr id="196" name="Text 8"/>
          <p:cNvSpPr/>
          <p:nvPr/>
        </p:nvSpPr>
        <p:spPr>
          <a:xfrm>
            <a:off x="457200" y="2029968"/>
            <a:ext cx="3931920" cy="34747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每个窗口仅与Top-K最相关窗口计算注意力，复杂度降低约75%。</a:t>
            </a:r>
            <a:endParaRPr lang="en-US" sz="800" dirty="false"/>
          </a:p>
        </p:txBody>
      </p:sp>
      <p:sp>
        <p:nvSpPr>
          <p:cNvPr id="197" name="Shape 9"/>
          <p:cNvSpPr/>
          <p:nvPr/>
        </p:nvSpPr>
        <p:spPr>
          <a:xfrm>
            <a:off x="365760" y="2514600"/>
            <a:ext cx="4114800" cy="6400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198" name="Text 10"/>
          <p:cNvSpPr/>
          <p:nvPr/>
        </p:nvSpPr>
        <p:spPr>
          <a:xfrm>
            <a:off x="457200" y="2560320"/>
            <a:ext cx="3931920" cy="201168"/>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作用效果</a:t>
            </a:r>
            <a:endParaRPr lang="en-US" sz="1000" dirty="false"/>
          </a:p>
        </p:txBody>
      </p:sp>
      <p:sp>
        <p:nvSpPr>
          <p:cNvPr id="199" name="Text 11"/>
          <p:cNvSpPr/>
          <p:nvPr/>
        </p:nvSpPr>
        <p:spPr>
          <a:xfrm>
            <a:off x="457200" y="2761488"/>
            <a:ext cx="3931920" cy="34747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增强长程依赖建模，提升目标结构与上下文表征，有效抑制散斑噪声。</a:t>
            </a:r>
            <a:endParaRPr lang="en-US" sz="800" dirty="false"/>
          </a:p>
        </p:txBody>
      </p:sp>
      <p:sp>
        <p:nvSpPr>
          <p:cNvPr id="200" name="Shape 12"/>
          <p:cNvSpPr/>
          <p:nvPr/>
        </p:nvSpPr>
        <p:spPr>
          <a:xfrm>
            <a:off x="4617720" y="914400"/>
            <a:ext cx="416052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01" name="Text 13"/>
          <p:cNvSpPr/>
          <p:nvPr/>
        </p:nvSpPr>
        <p:spPr>
          <a:xfrm>
            <a:off x="4709160" y="960120"/>
            <a:ext cx="397764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TR模块结构图</a:t>
            </a:r>
            <a:endParaRPr lang="en-US" sz="1000" dirty="false"/>
          </a:p>
        </p:txBody>
      </p:sp>
      <p:pic>
        <p:nvPicPr>
          <p:cNvPr id="202" name="Image 0" descr="../figure/cp3/fig3-3_tr_module.png"/>
          <p:cNvPicPr>
            <a:picLocks noChangeAspect="true"/>
          </p:cNvPicPr>
          <p:nvPr/>
        </p:nvPicPr>
        <p:blipFill>
          <a:blip r:embed="rId2"/>
          <a:stretch>
            <a:fillRect/>
          </a:stretch>
        </p:blipFill>
        <p:spPr>
          <a:xfrm>
            <a:off x="5532120" y="1234440"/>
            <a:ext cx="1554480" cy="26974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6F6"/>
        </a:solidFill>
      </p:bgPr>
    </p:bg>
    <p:spTree>
      <p:nvGrpSpPr>
        <p:cNvPr id="203" name=""/>
        <p:cNvGrpSpPr/>
        <p:nvPr/>
      </p:nvGrpSpPr>
      <p:grpSpPr>
        <a:xfrm>
          <a:off x="0" y="0"/>
          <a:ext cx="0" cy="0"/>
          <a:chOff x="0" y="0"/>
          <a:chExt cx="0" cy="0"/>
        </a:xfrm>
      </p:grpSpPr>
      <p:sp>
        <p:nvSpPr>
          <p:cNvPr id="204" name="Shape 0"/>
          <p:cNvSpPr/>
          <p:nvPr/>
        </p:nvSpPr>
        <p:spPr>
          <a:xfrm>
            <a:off x="0" y="0"/>
            <a:ext cx="91440" cy="5143500"/>
          </a:xfrm>
          <a:prstGeom prst="rect">
            <a:avLst/>
          </a:prstGeom>
          <a:solidFill>
            <a:srgbClr val="1C2833"/>
          </a:solidFill>
          <a:ln/>
        </p:spPr>
        <p:txBody>
          <a:bodyPr/>
          <a:p>
            <a:pPr/>
            <a:endParaRPr/>
          </a:p>
        </p:txBody>
      </p:sp>
      <p:sp>
        <p:nvSpPr>
          <p:cNvPr id="205"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06"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TR模块详细原理</a:t>
            </a:r>
            <a:endParaRPr lang="en-US" sz="2400" dirty="false"/>
          </a:p>
        </p:txBody>
      </p:sp>
      <p:sp>
        <p:nvSpPr>
          <p:cNvPr id="207" name="Shape 3"/>
          <p:cNvSpPr/>
          <p:nvPr/>
        </p:nvSpPr>
        <p:spPr>
          <a:xfrm>
            <a:off x="365760" y="914400"/>
            <a:ext cx="8412480" cy="21488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08" name="Text 4"/>
          <p:cNvSpPr/>
          <p:nvPr/>
        </p:nvSpPr>
        <p:spPr>
          <a:xfrm>
            <a:off x="457200" y="960120"/>
            <a:ext cx="8229600" cy="228600"/>
          </a:xfrm>
          <a:prstGeom prst="rect">
            <a:avLst/>
          </a:prstGeom>
          <a:noFill/>
          <a:ln/>
        </p:spPr>
        <p:txBody>
          <a:bodyPr wrap="square" rtlCol="false" anchor="ctr"/>
          <a:lstStyle/>
          <a:p>
            <a:pPr marL="0" indent="0" algn="ctr">
              <a:buNone/>
            </a:pPr>
            <a:r>
              <a:rPr lang="en-US" sz="1100" b="true" dirty="false">
                <a:solidFill>
                  <a:srgbClr val="1C2833"/>
                </a:solidFill>
                <a:latin typeface="Arial" pitchFamily="34" charset="0"/>
                <a:ea typeface="Arial" pitchFamily="34" charset="-122"/>
                <a:cs typeface="Arial" pitchFamily="34" charset="-120"/>
              </a:rPr>
              <a:t>双层路由注意力机制 (Bi-level Routing Attention)</a:t>
            </a:r>
            <a:endParaRPr lang="en-US" sz="1100" dirty="false"/>
          </a:p>
        </p:txBody>
      </p:sp>
      <p:pic>
        <p:nvPicPr>
          <p:cNvPr id="209" name="Image 0" descr="../figure/cp3/fig3-4_bilevel_attention.png"/>
          <p:cNvPicPr>
            <a:picLocks noChangeAspect="true"/>
          </p:cNvPicPr>
          <p:nvPr/>
        </p:nvPicPr>
        <p:blipFill>
          <a:blip r:embed="rId2"/>
          <a:stretch>
            <a:fillRect/>
          </a:stretch>
        </p:blipFill>
        <p:spPr>
          <a:xfrm>
            <a:off x="2331720" y="1261872"/>
            <a:ext cx="4480560" cy="1691640"/>
          </a:xfrm>
          <a:prstGeom prst="rect">
            <a:avLst/>
          </a:prstGeom>
        </p:spPr>
      </p:pic>
      <p:sp>
        <p:nvSpPr>
          <p:cNvPr id="210" name="Shape 5"/>
          <p:cNvSpPr/>
          <p:nvPr/>
        </p:nvSpPr>
        <p:spPr>
          <a:xfrm>
            <a:off x="365760" y="3200400"/>
            <a:ext cx="8412480" cy="868680"/>
          </a:xfrm>
          <a:prstGeom prst="roundRect">
            <a:avLst/>
          </a:prstGeom>
          <a:solidFill>
            <a:srgbClr val="1C2833"/>
          </a:solidFill>
          <a:ln/>
        </p:spPr>
        <p:txBody>
          <a:bodyPr/>
          <a:p>
            <a:pPr/>
            <a:endParaRPr/>
          </a:p>
        </p:txBody>
      </p:sp>
      <p:sp>
        <p:nvSpPr>
          <p:cNvPr id="211" name="Text 6"/>
          <p:cNvSpPr/>
          <p:nvPr/>
        </p:nvSpPr>
        <p:spPr>
          <a:xfrm>
            <a:off x="548640" y="3246120"/>
            <a:ext cx="8046720" cy="201168"/>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双层路由注意力计算流程</a:t>
            </a:r>
            <a:endParaRPr lang="en-US" sz="1000" dirty="false"/>
          </a:p>
        </p:txBody>
      </p:sp>
      <p:sp>
        <p:nvSpPr>
          <p:cNvPr id="212" name="Text 7"/>
          <p:cNvSpPr/>
          <p:nvPr/>
        </p:nvSpPr>
        <p:spPr>
          <a:xfrm>
            <a:off x="548640" y="3474720"/>
            <a:ext cx="8046720" cy="228600"/>
          </a:xfrm>
          <a:prstGeom prst="rect">
            <a:avLst/>
          </a:prstGeom>
          <a:noFill/>
          <a:ln/>
        </p:spPr>
        <p:txBody>
          <a:bodyPr wrap="square" rtlCol="false" anchor="ctr"/>
          <a:lstStyle/>
          <a:p>
            <a:pPr marL="0" indent="0">
              <a:buNone/>
            </a:pPr>
            <a:r>
              <a:rPr lang="en-US" sz="900" dirty="false">
                <a:solidFill>
                  <a:srgbClr val="27AE60"/>
                </a:solidFill>
                <a:latin typeface="Arial" pitchFamily="34" charset="0"/>
                <a:ea typeface="Arial" pitchFamily="34" charset="-122"/>
                <a:cs typeface="Arial" pitchFamily="34" charset="-120"/>
              </a:rPr>
              <a:t>输入特征 → 区域划分(S×S) → 区域级路由矩阵 → Top-K选择 → Token级注意力 → 特征聚合 → 输出特征</a:t>
            </a:r>
            <a:endParaRPr lang="en-US" sz="900" dirty="false"/>
          </a:p>
        </p:txBody>
      </p:sp>
      <p:sp>
        <p:nvSpPr>
          <p:cNvPr id="213" name="Text 8"/>
          <p:cNvSpPr/>
          <p:nvPr/>
        </p:nvSpPr>
        <p:spPr>
          <a:xfrm>
            <a:off x="548640" y="3749040"/>
            <a:ext cx="8046720" cy="22860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复杂度：O(S²HW/S² + K·HW·C) = O(HW(S² + KC))，相比全局注意力O(H²W²)显著降低</a:t>
            </a:r>
            <a:endParaRPr lang="en-US" sz="800" dirty="false"/>
          </a:p>
        </p:txBody>
      </p:sp>
    </p:spTree>
  </p:cSld>
  <p:clrMapOvr>
    <a:masterClrMapping/>
  </p:clrMapOvr>
</p:sld>
</file>

<file path=ppt/slides/slide20.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0">
    <p:bg>
      <p:bgPr>
        <a:solidFill>
          <a:srgbClr val="F4F6F6"/>
        </a:solidFill>
      </p:bgPr>
    </p:bg>
    <p:spTree>
      <p:nvGrpSpPr>
        <p:cNvPr id="233" name=""/>
        <p:cNvGrpSpPr/>
        <p:nvPr/>
      </p:nvGrpSpPr>
      <p:grpSpPr>
        <a:xfrm>
          <a:off x="0" y="0"/>
          <a:ext cx="0" cy="0"/>
          <a:chOff x="0" y="0"/>
          <a:chExt cx="0" cy="0"/>
        </a:xfrm>
      </p:grpSpPr>
      <p:sp>
        <p:nvSpPr>
          <p:cNvPr id="234" name="Shape 0"/>
          <p:cNvSpPr/>
          <p:nvPr/>
        </p:nvSpPr>
        <p:spPr>
          <a:xfrm>
            <a:off x="0" y="0"/>
            <a:ext cx="91440" cy="5143500"/>
          </a:xfrm>
          <a:prstGeom prst="rect">
            <a:avLst/>
          </a:prstGeom>
          <a:solidFill>
            <a:srgbClr val="1C2833"/>
          </a:solidFill>
          <a:ln/>
        </p:spPr>
        <p:txBody>
          <a:bodyPr/>
          <a:p>
            <a:pPr/>
            <a:endParaRPr/>
          </a:p>
        </p:txBody>
      </p:sp>
      <p:sp>
        <p:nvSpPr>
          <p:cNvPr id="235"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36"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实验设置</a:t>
            </a:r>
            <a:endParaRPr lang="en-US" sz="2400" dirty="false"/>
          </a:p>
        </p:txBody>
      </p:sp>
      <p:sp>
        <p:nvSpPr>
          <p:cNvPr id="237" name="Text 3"/>
          <p:cNvSpPr/>
          <p:nvPr/>
        </p:nvSpPr>
        <p:spPr>
          <a:xfrm>
            <a:off x="365760" y="914400"/>
            <a:ext cx="402336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实验环境配置</a:t>
            </a:r>
            <a:endParaRPr lang="en-US" sz="1100" dirty="false"/>
          </a:p>
        </p:txBody>
      </p:sp>
      <p:graphicFrame>
        <p:nvGraphicFramePr>
          <p:cNvPr id="238" name="Table 0"/>
          <p:cNvGraphicFramePr/>
          <p:nvPr/>
        </p:nvGraphicFramePr>
        <p:xfrm>
          <a:off x="365760" y="1234440"/>
          <a:ext cx="4023360" cy="1920240"/>
        </p:xfrm>
        <a:graphic>
          <a:graphicData uri="http://schemas.openxmlformats.org/drawingml/2006/table">
            <a:tbl>
              <a:tblPr/>
              <a:tblGrid>
                <a:gridCol w="1463040">
                  <a:extLst>
                    <a:ext uri="{9D8B030D-6E8A-4147-A177-3AD203B41FA5}">
                      <a16:colId val="1"/>
                    </a:ext>
                  </a:extLst>
                </a:gridCol>
                <a:gridCol w="2560320">
                  <a:extLst>
                    <a:ext uri="{9D8B030D-6E8A-4147-A177-3AD203B41FA5}">
                      <a16:colId val="2"/>
                    </a:ext>
                  </a:extLst>
                </a:gridCol>
              </a:tblGrid>
              <a:tr h="320040">
                <a:tc>
                  <a:txBody>
                    <a:bodyPr/>
                    <a:lstStyle/>
                    <a:p>
                      <a:pPr marL="0" indent="0" algn="l">
                        <a:buNone/>
                      </a:pPr>
                      <a:r>
                        <a:rPr lang="en-US" sz="900" b="true" dirty="false">
                          <a:solidFill>
                            <a:srgbClr val="FFFFFF"/>
                          </a:solidFill>
                        </a:rPr>
                        <a:t>配置项</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l">
                        <a:buNone/>
                      </a:pPr>
                      <a:r>
                        <a:rPr lang="en-US" sz="900" b="true" dirty="false">
                          <a:solidFill>
                            <a:srgbClr val="FFFFFF"/>
                          </a:solidFill>
                        </a:rPr>
                        <a:t>配置信息</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320040">
                <a:tc>
                  <a:txBody>
                    <a:bodyPr/>
                    <a:lstStyle/>
                    <a:p>
                      <a:pPr marL="0" indent="0" algn="l">
                        <a:buNone/>
                      </a:pPr>
                      <a:r>
                        <a:rPr lang="en-US" sz="900" dirty="false">
                          <a:solidFill>
                            <a:srgbClr val="000000"/>
                          </a:solidFill>
                        </a:rPr>
                        <a:t>操作系统</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Ubuntu 20.04 LTS</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320040">
                <a:tc>
                  <a:txBody>
                    <a:bodyPr/>
                    <a:lstStyle/>
                    <a:p>
                      <a:pPr marL="0" indent="0" algn="l">
                        <a:buNone/>
                      </a:pPr>
                      <a:r>
                        <a:rPr lang="en-US" sz="900" dirty="false">
                          <a:solidFill>
                            <a:srgbClr val="000000"/>
                          </a:solidFill>
                        </a:rPr>
                        <a:t>GPU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NVIDIA RTX 4090 (24GB)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320040">
                <a:tc>
                  <a:txBody>
                    <a:bodyPr/>
                    <a:lstStyle/>
                    <a:p>
                      <a:pPr marL="0" indent="0" algn="l">
                        <a:buNone/>
                      </a:pPr>
                      <a:r>
                        <a:rPr lang="en-US" sz="900" dirty="false">
                          <a:solidFill>
                            <a:srgbClr val="000000"/>
                          </a:solidFill>
                        </a:rPr>
                        <a:t>CPU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Intel i7-13700KF</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320040">
                <a:tc>
                  <a:txBody>
                    <a:bodyPr/>
                    <a:lstStyle/>
                    <a:p>
                      <a:pPr marL="0" indent="0" algn="l">
                        <a:buNone/>
                      </a:pPr>
                      <a:r>
                        <a:rPr lang="en-US" sz="900" dirty="false">
                          <a:solidFill>
                            <a:srgbClr val="000000"/>
                          </a:solidFill>
                        </a:rPr>
                        <a:t>内存</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64GB DDR5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5"/>
                  </a:ext>
                </a:extLst>
              </a:tr>
              <a:tr h="320040">
                <a:tc>
                  <a:txBody>
                    <a:bodyPr/>
                    <a:lstStyle/>
                    <a:p>
                      <a:pPr marL="0" indent="0" algn="l">
                        <a:buNone/>
                      </a:pPr>
                      <a:r>
                        <a:rPr lang="en-US" sz="900" dirty="false">
                          <a:solidFill>
                            <a:srgbClr val="000000"/>
                          </a:solidFill>
                        </a:rPr>
                        <a:t>深度学习框架</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PyTorch 1.13 + CUDA 11.7</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6"/>
                  </a:ext>
                </a:extLst>
              </a:tr>
            </a:tbl>
          </a:graphicData>
        </a:graphic>
      </p:graphicFrame>
      <p:sp>
        <p:nvSpPr>
          <p:cNvPr id="239" name="Text 4"/>
          <p:cNvSpPr/>
          <p:nvPr/>
        </p:nvSpPr>
        <p:spPr>
          <a:xfrm>
            <a:off x="4754880" y="914400"/>
            <a:ext cx="402336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训练参数配置</a:t>
            </a:r>
            <a:endParaRPr lang="en-US" sz="1100" dirty="false"/>
          </a:p>
        </p:txBody>
      </p:sp>
      <p:graphicFrame>
        <p:nvGraphicFramePr>
          <p:cNvPr id="240" name="Table 1"/>
          <p:cNvGraphicFramePr/>
          <p:nvPr/>
        </p:nvGraphicFramePr>
        <p:xfrm>
          <a:off x="4754880" y="1234440"/>
          <a:ext cx="4023360" cy="2240280"/>
        </p:xfrm>
        <a:graphic>
          <a:graphicData uri="http://schemas.openxmlformats.org/drawingml/2006/table">
            <a:tbl>
              <a:tblPr/>
              <a:tblGrid>
                <a:gridCol w="1645920">
                  <a:extLst>
                    <a:ext uri="{9D8B030D-6E8A-4147-A177-3AD203B41FA5}">
                      <a16:colId val="1"/>
                    </a:ext>
                  </a:extLst>
                </a:gridCol>
                <a:gridCol w="2377440">
                  <a:extLst>
                    <a:ext uri="{9D8B030D-6E8A-4147-A177-3AD203B41FA5}">
                      <a16:colId val="2"/>
                    </a:ext>
                  </a:extLst>
                </a:gridCol>
              </a:tblGrid>
              <a:tr h="248920">
                <a:tc>
                  <a:txBody>
                    <a:bodyPr/>
                    <a:lstStyle/>
                    <a:p>
                      <a:pPr marL="0" indent="0" algn="l">
                        <a:buNone/>
                      </a:pPr>
                      <a:r>
                        <a:rPr lang="en-US" sz="900" b="true" dirty="false">
                          <a:solidFill>
                            <a:srgbClr val="FFFFFF"/>
                          </a:solidFill>
                        </a:rPr>
                        <a:t>参数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l">
                        <a:buNone/>
                      </a:pPr>
                      <a:r>
                        <a:rPr lang="en-US" sz="900" b="true" dirty="false">
                          <a:solidFill>
                            <a:srgbClr val="FFFFFF"/>
                          </a:solidFill>
                        </a:rPr>
                        <a:t>设置值</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248920">
                <a:tc>
                  <a:txBody>
                    <a:bodyPr/>
                    <a:lstStyle/>
                    <a:p>
                      <a:pPr marL="0" indent="0" algn="l">
                        <a:buNone/>
                      </a:pPr>
                      <a:r>
                        <a:rPr lang="en-US" sz="900" dirty="false">
                          <a:solidFill>
                            <a:srgbClr val="000000"/>
                          </a:solidFill>
                        </a:rPr>
                        <a:t>输入尺寸</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512 × 512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248920">
                <a:tc>
                  <a:txBody>
                    <a:bodyPr/>
                    <a:lstStyle/>
                    <a:p>
                      <a:pPr marL="0" indent="0" algn="l">
                        <a:buNone/>
                      </a:pPr>
                      <a:r>
                        <a:rPr lang="en-US" sz="900" dirty="false">
                          <a:solidFill>
                            <a:srgbClr val="000000"/>
                          </a:solidFill>
                        </a:rPr>
                        <a:t>批量大小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248920">
                <a:tc>
                  <a:txBody>
                    <a:bodyPr/>
                    <a:lstStyle/>
                    <a:p>
                      <a:pPr marL="0" indent="0" algn="l">
                        <a:buNone/>
                      </a:pPr>
                      <a:r>
                        <a:rPr lang="en-US" sz="900" dirty="false">
                          <a:solidFill>
                            <a:srgbClr val="000000"/>
                          </a:solidFill>
                        </a:rPr>
                        <a:t>总迭代次数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20,000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248920">
                <a:tc>
                  <a:txBody>
                    <a:bodyPr/>
                    <a:lstStyle/>
                    <a:p>
                      <a:pPr marL="0" indent="0" algn="l">
                        <a:buNone/>
                      </a:pPr>
                      <a:r>
                        <a:rPr lang="en-US" sz="900" dirty="false">
                          <a:solidFill>
                            <a:srgbClr val="000000"/>
                          </a:solidFill>
                        </a:rPr>
                        <a:t>优化器</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AdamW</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5"/>
                  </a:ext>
                </a:extLst>
              </a:tr>
              <a:tr h="248920">
                <a:tc>
                  <a:txBody>
                    <a:bodyPr/>
                    <a:lstStyle/>
                    <a:p>
                      <a:pPr marL="0" indent="0" algn="l">
                        <a:buNone/>
                      </a:pPr>
                      <a:r>
                        <a:rPr lang="en-US" sz="900" dirty="false">
                          <a:solidFill>
                            <a:srgbClr val="000000"/>
                          </a:solidFill>
                        </a:rPr>
                        <a:t>初始学习率</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6e-5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6"/>
                  </a:ext>
                </a:extLst>
              </a:tr>
              <a:tr h="248920">
                <a:tc>
                  <a:txBody>
                    <a:bodyPr/>
                    <a:lstStyle/>
                    <a:p>
                      <a:pPr marL="0" indent="0" algn="l">
                        <a:buNone/>
                      </a:pPr>
                      <a:r>
                        <a:rPr lang="en-US" sz="900" dirty="false">
                          <a:solidFill>
                            <a:srgbClr val="000000"/>
                          </a:solidFill>
                        </a:rPr>
                        <a:t>学习率策略</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PolyLR (power=0.9)</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7"/>
                  </a:ext>
                </a:extLst>
              </a:tr>
              <a:tr h="248920">
                <a:tc>
                  <a:txBody>
                    <a:bodyPr/>
                    <a:lstStyle/>
                    <a:p>
                      <a:pPr marL="0" indent="0" algn="l">
                        <a:buNone/>
                      </a:pPr>
                      <a:r>
                        <a:rPr lang="en-US" sz="900" dirty="false">
                          <a:solidFill>
                            <a:srgbClr val="000000"/>
                          </a:solidFill>
                        </a:rPr>
                        <a:t>权重衰减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0.01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8"/>
                  </a:ext>
                </a:extLst>
              </a:tr>
              <a:tr h="248920">
                <a:tc>
                  <a:txBody>
                    <a:bodyPr/>
                    <a:lstStyle/>
                    <a:p>
                      <a:pPr marL="0" indent="0" algn="l">
                        <a:buNone/>
                      </a:pPr>
                      <a:r>
                        <a:rPr lang="en-US" sz="900" dirty="false">
                          <a:solidFill>
                            <a:srgbClr val="000000"/>
                          </a:solidFill>
                        </a:rPr>
                        <a:t>损失函数</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l">
                        <a:buNone/>
                      </a:pPr>
                      <a:r>
                        <a:rPr lang="en-US" sz="900" dirty="false">
                          <a:solidFill>
                            <a:srgbClr val="000000"/>
                          </a:solidFill>
                        </a:rPr>
                        <a:t>BCE + Dice (1:1)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9"/>
                  </a:ext>
                </a:extLst>
              </a:tr>
            </a:tbl>
          </a:graphicData>
        </a:graphic>
      </p:graphicFrame>
      <p:sp>
        <p:nvSpPr>
          <p:cNvPr id="241" name="Shape 5"/>
          <p:cNvSpPr/>
          <p:nvPr/>
        </p:nvSpPr>
        <p:spPr>
          <a:xfrm>
            <a:off x="365760" y="3611880"/>
            <a:ext cx="8412480" cy="457200"/>
          </a:xfrm>
          <a:prstGeom prst="roundRect">
            <a:avLst/>
          </a:prstGeom>
          <a:solidFill>
            <a:srgbClr val="1C2833"/>
          </a:solidFill>
          <a:ln/>
        </p:spPr>
        <p:txBody>
          <a:bodyPr/>
          <a:p>
            <a:pPr/>
            <a:endParaRPr/>
          </a:p>
        </p:txBody>
      </p:sp>
      <p:sp>
        <p:nvSpPr>
          <p:cNvPr id="242" name="Text 6"/>
          <p:cNvSpPr/>
          <p:nvPr/>
        </p:nvSpPr>
        <p:spPr>
          <a:xfrm>
            <a:off x="548640" y="3959352"/>
            <a:ext cx="8046720" cy="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损失函数采用二元交叉熵损失（BCE）与Dice损失的加权组合：L = λ₁×L_BCE + λ₂×L_Dice，其中λ₁=λ₂=1，两者优势互补，BCE关注像素分类，Dice关注区域重叠。</a:t>
            </a:r>
            <a:endParaRPr lang="en-US" sz="900" dirty="false"/>
          </a:p>
        </p:txBody>
      </p:sp>
    </p:spTree>
  </p:cSld>
  <p:clrMapOvr>
    <a:masterClrMapping/>
  </p:clrMapOvr>
</p:sld>
</file>

<file path=ppt/slides/slide21.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1">
    <p:bg>
      <p:bgPr>
        <a:solidFill>
          <a:srgbClr val="F4F6F6"/>
        </a:solidFill>
      </p:bgPr>
    </p:bg>
    <p:spTree>
      <p:nvGrpSpPr>
        <p:cNvPr id="243" name=""/>
        <p:cNvGrpSpPr/>
        <p:nvPr/>
      </p:nvGrpSpPr>
      <p:grpSpPr>
        <a:xfrm>
          <a:off x="0" y="0"/>
          <a:ext cx="0" cy="0"/>
          <a:chOff x="0" y="0"/>
          <a:chExt cx="0" cy="0"/>
        </a:xfrm>
      </p:grpSpPr>
      <p:sp>
        <p:nvSpPr>
          <p:cNvPr id="244" name="Shape 0"/>
          <p:cNvSpPr/>
          <p:nvPr/>
        </p:nvSpPr>
        <p:spPr>
          <a:xfrm>
            <a:off x="0" y="0"/>
            <a:ext cx="91440" cy="5143500"/>
          </a:xfrm>
          <a:prstGeom prst="rect">
            <a:avLst/>
          </a:prstGeom>
          <a:solidFill>
            <a:srgbClr val="1C2833"/>
          </a:solidFill>
          <a:ln/>
        </p:spPr>
        <p:txBody>
          <a:bodyPr/>
          <a:p>
            <a:pPr/>
            <a:endParaRPr/>
          </a:p>
        </p:txBody>
      </p:sp>
      <p:sp>
        <p:nvSpPr>
          <p:cNvPr id="245"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46"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TR模块消融实验</a:t>
            </a:r>
            <a:endParaRPr lang="en-US" sz="2400" dirty="false"/>
          </a:p>
        </p:txBody>
      </p:sp>
      <p:graphicFrame>
        <p:nvGraphicFramePr>
          <p:cNvPr id="247" name="Table 0"/>
          <p:cNvGraphicFramePr/>
          <p:nvPr/>
        </p:nvGraphicFramePr>
        <p:xfrm>
          <a:off x="365760" y="914400"/>
          <a:ext cx="8412480" cy="1097280"/>
        </p:xfrm>
        <a:graphic>
          <a:graphicData uri="http://schemas.openxmlformats.org/drawingml/2006/table">
            <a:tbl>
              <a:tblPr/>
              <a:tblGrid>
                <a:gridCol w="2743200">
                  <a:extLst>
                    <a:ext uri="{9D8B030D-6E8A-4147-A177-3AD203B41FA5}">
                      <a16:colId val="1"/>
                    </a:ext>
                  </a:extLst>
                </a:gridCol>
                <a:gridCol w="1097280">
                  <a:extLst>
                    <a:ext uri="{9D8B030D-6E8A-4147-A177-3AD203B41FA5}">
                      <a16:colId val="2"/>
                    </a:ext>
                  </a:extLst>
                </a:gridCol>
                <a:gridCol w="1097280">
                  <a:extLst>
                    <a:ext uri="{9D8B030D-6E8A-4147-A177-3AD203B41FA5}">
                      <a16:colId val="3"/>
                    </a:ext>
                  </a:extLst>
                </a:gridCol>
                <a:gridCol w="1097280">
                  <a:extLst>
                    <a:ext uri="{9D8B030D-6E8A-4147-A177-3AD203B41FA5}">
                      <a16:colId val="4"/>
                    </a:ext>
                  </a:extLst>
                </a:gridCol>
                <a:gridCol w="1097280">
                  <a:extLst>
                    <a:ext uri="{9D8B030D-6E8A-4147-A177-3AD203B41FA5}">
                      <a16:colId val="5"/>
                    </a:ext>
                  </a:extLst>
                </a:gridCol>
                <a:gridCol w="1280160">
                  <a:extLst>
                    <a:ext uri="{9D8B030D-6E8A-4147-A177-3AD203B41FA5}">
                      <a16:colId val="6"/>
                    </a:ext>
                  </a:extLst>
                </a:gridCol>
              </a:tblGrid>
              <a:tr h="365760">
                <a:tc>
                  <a:txBody>
                    <a:bodyPr/>
                    <a:lstStyle/>
                    <a:p>
                      <a:pPr marL="0" indent="0" algn="ctr">
                        <a:buNone/>
                      </a:pPr>
                      <a:r>
                        <a:rPr lang="en-US" sz="1000" b="true" dirty="false">
                          <a:solidFill>
                            <a:srgbClr val="FFFFFF"/>
                          </a:solidFill>
                        </a:rPr>
                        <a:t>配置</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TR模块</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mIoU</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mAcc</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mDice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提升</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365760">
                <a:tc>
                  <a:txBody>
                    <a:bodyPr/>
                    <a:lstStyle/>
                    <a:p>
                      <a:pPr marL="0" indent="0" algn="ctr">
                        <a:buNone/>
                      </a:pPr>
                      <a:r>
                        <a:rPr lang="en-US" sz="1000" dirty="false">
                          <a:solidFill>
                            <a:srgbClr val="000000"/>
                          </a:solidFill>
                        </a:rPr>
                        <a:t>DeepLabV3+ (基线)</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0.851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0.923</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0.913</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365760">
                <a:tc>
                  <a:txBody>
                    <a:bodyPr/>
                    <a:lstStyle/>
                    <a:p>
                      <a:pPr marL="0" indent="0" algn="ctr">
                        <a:buNone/>
                      </a:pPr>
                      <a:r>
                        <a:rPr lang="en-US" sz="1000" b="true" dirty="false">
                          <a:solidFill>
                            <a:srgbClr val="000000"/>
                          </a:solidFill>
                        </a:rPr>
                        <a:t>DeepLabV3+ + TR</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0.884</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0.941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0.935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27AE60"/>
                          </a:solidFill>
                        </a:rPr>
                        <a:t>+3.9%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3"/>
                  </a:ext>
                </a:extLst>
              </a:tr>
            </a:tbl>
          </a:graphicData>
        </a:graphic>
      </p:graphicFrame>
      <p:sp>
        <p:nvSpPr>
          <p:cNvPr id="248" name="Shape 3"/>
          <p:cNvSpPr/>
          <p:nvPr/>
        </p:nvSpPr>
        <p:spPr>
          <a:xfrm>
            <a:off x="365760" y="2194560"/>
            <a:ext cx="2743200" cy="13716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49" name="Shape 4"/>
          <p:cNvSpPr/>
          <p:nvPr/>
        </p:nvSpPr>
        <p:spPr>
          <a:xfrm>
            <a:off x="365760" y="2194560"/>
            <a:ext cx="2743200" cy="36576"/>
          </a:xfrm>
          <a:prstGeom prst="rect">
            <a:avLst/>
          </a:prstGeom>
          <a:solidFill>
            <a:srgbClr val="E74C3C"/>
          </a:solidFill>
          <a:ln/>
        </p:spPr>
        <p:txBody>
          <a:bodyPr/>
          <a:p>
            <a:pPr/>
            <a:endParaRPr/>
          </a:p>
        </p:txBody>
      </p:sp>
      <p:sp>
        <p:nvSpPr>
          <p:cNvPr id="250" name="Text 5"/>
          <p:cNvSpPr/>
          <p:nvPr/>
        </p:nvSpPr>
        <p:spPr>
          <a:xfrm>
            <a:off x="457200" y="2286000"/>
            <a:ext cx="25603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mIoU提升</a:t>
            </a:r>
            <a:endParaRPr lang="en-US" sz="1100" dirty="false"/>
          </a:p>
        </p:txBody>
      </p:sp>
      <p:sp>
        <p:nvSpPr>
          <p:cNvPr id="251" name="Text 6"/>
          <p:cNvSpPr/>
          <p:nvPr/>
        </p:nvSpPr>
        <p:spPr>
          <a:xfrm>
            <a:off x="457200" y="2560320"/>
            <a:ext cx="256032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+3.9%</a:t>
            </a:r>
            <a:endParaRPr lang="en-US" sz="1600" dirty="false"/>
          </a:p>
        </p:txBody>
      </p:sp>
      <p:sp>
        <p:nvSpPr>
          <p:cNvPr id="252" name="Text 7"/>
          <p:cNvSpPr/>
          <p:nvPr/>
        </p:nvSpPr>
        <p:spPr>
          <a:xfrm>
            <a:off x="457200" y="2926080"/>
            <a:ext cx="2560320" cy="5943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从0.851提升到0.884，验证了全局注意力机制对分割性能的有效提升。</a:t>
            </a:r>
            <a:endParaRPr lang="en-US" sz="800" dirty="false"/>
          </a:p>
        </p:txBody>
      </p:sp>
      <p:sp>
        <p:nvSpPr>
          <p:cNvPr id="253" name="Shape 8"/>
          <p:cNvSpPr/>
          <p:nvPr/>
        </p:nvSpPr>
        <p:spPr>
          <a:xfrm>
            <a:off x="3246120" y="2194560"/>
            <a:ext cx="2743200" cy="13716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54" name="Shape 9"/>
          <p:cNvSpPr/>
          <p:nvPr/>
        </p:nvSpPr>
        <p:spPr>
          <a:xfrm>
            <a:off x="3246120" y="2194560"/>
            <a:ext cx="2743200" cy="36576"/>
          </a:xfrm>
          <a:prstGeom prst="rect">
            <a:avLst/>
          </a:prstGeom>
          <a:solidFill>
            <a:srgbClr val="E74C3C"/>
          </a:solidFill>
          <a:ln/>
        </p:spPr>
        <p:txBody>
          <a:bodyPr/>
          <a:p>
            <a:pPr/>
            <a:endParaRPr/>
          </a:p>
        </p:txBody>
      </p:sp>
      <p:sp>
        <p:nvSpPr>
          <p:cNvPr id="255" name="Text 10"/>
          <p:cNvSpPr/>
          <p:nvPr/>
        </p:nvSpPr>
        <p:spPr>
          <a:xfrm>
            <a:off x="3337560" y="2286000"/>
            <a:ext cx="25603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全局建模能力增强</a:t>
            </a:r>
            <a:endParaRPr lang="en-US" sz="1100" dirty="false"/>
          </a:p>
        </p:txBody>
      </p:sp>
      <p:sp>
        <p:nvSpPr>
          <p:cNvPr id="256" name="Text 11"/>
          <p:cNvSpPr/>
          <p:nvPr/>
        </p:nvSpPr>
        <p:spPr>
          <a:xfrm>
            <a:off x="3337560" y="2560320"/>
            <a:ext cx="256032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长距离依赖</a:t>
            </a:r>
            <a:endParaRPr lang="en-US" sz="1600" dirty="false"/>
          </a:p>
        </p:txBody>
      </p:sp>
      <p:sp>
        <p:nvSpPr>
          <p:cNvPr id="257" name="Text 12"/>
          <p:cNvSpPr/>
          <p:nvPr/>
        </p:nvSpPr>
        <p:spPr>
          <a:xfrm>
            <a:off x="3337560" y="2926080"/>
            <a:ext cx="2560320" cy="5943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TR模块建立了特征图不同区域之间的长距离依赖关系，有效捕获全局上下文。</a:t>
            </a:r>
            <a:endParaRPr lang="en-US" sz="800" dirty="false"/>
          </a:p>
        </p:txBody>
      </p:sp>
      <p:sp>
        <p:nvSpPr>
          <p:cNvPr id="258" name="Shape 13"/>
          <p:cNvSpPr/>
          <p:nvPr/>
        </p:nvSpPr>
        <p:spPr>
          <a:xfrm>
            <a:off x="6126480" y="2194560"/>
            <a:ext cx="2743200" cy="13716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59" name="Shape 14"/>
          <p:cNvSpPr/>
          <p:nvPr/>
        </p:nvSpPr>
        <p:spPr>
          <a:xfrm>
            <a:off x="6126480" y="2194560"/>
            <a:ext cx="2743200" cy="36576"/>
          </a:xfrm>
          <a:prstGeom prst="rect">
            <a:avLst/>
          </a:prstGeom>
          <a:solidFill>
            <a:srgbClr val="E74C3C"/>
          </a:solidFill>
          <a:ln/>
        </p:spPr>
        <p:txBody>
          <a:bodyPr/>
          <a:p>
            <a:pPr/>
            <a:endParaRPr/>
          </a:p>
        </p:txBody>
      </p:sp>
      <p:sp>
        <p:nvSpPr>
          <p:cNvPr id="260" name="Text 15"/>
          <p:cNvSpPr/>
          <p:nvPr/>
        </p:nvSpPr>
        <p:spPr>
          <a:xfrm>
            <a:off x="6217920" y="2286000"/>
            <a:ext cx="25603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计算效率优化</a:t>
            </a:r>
            <a:endParaRPr lang="en-US" sz="1100" dirty="false"/>
          </a:p>
        </p:txBody>
      </p:sp>
      <p:sp>
        <p:nvSpPr>
          <p:cNvPr id="261" name="Text 16"/>
          <p:cNvSpPr/>
          <p:nvPr/>
        </p:nvSpPr>
        <p:spPr>
          <a:xfrm>
            <a:off x="6217920" y="2560320"/>
            <a:ext cx="2560320" cy="320040"/>
          </a:xfrm>
          <a:prstGeom prst="rect">
            <a:avLst/>
          </a:prstGeom>
          <a:noFill/>
          <a:ln/>
        </p:spPr>
        <p:txBody>
          <a:bodyPr wrap="square" rtlCol="false" anchor="ctr"/>
          <a:lstStyle/>
          <a:p>
            <a:pPr marL="0" indent="0">
              <a:buNone/>
            </a:pPr>
            <a:r>
              <a:rPr lang="en-US" sz="1600" b="true" dirty="false">
                <a:solidFill>
                  <a:srgbClr val="27AE60"/>
                </a:solidFill>
                <a:latin typeface="Arial" pitchFamily="34" charset="0"/>
                <a:ea typeface="Arial" pitchFamily="34" charset="-122"/>
                <a:cs typeface="Arial" pitchFamily="34" charset="-120"/>
              </a:rPr>
              <a:t>-75%计算量</a:t>
            </a:r>
            <a:endParaRPr lang="en-US" sz="1600" dirty="false"/>
          </a:p>
        </p:txBody>
      </p:sp>
      <p:sp>
        <p:nvSpPr>
          <p:cNvPr id="262" name="Text 17"/>
          <p:cNvSpPr/>
          <p:nvPr/>
        </p:nvSpPr>
        <p:spPr>
          <a:xfrm>
            <a:off x="6217920" y="2926080"/>
            <a:ext cx="2560320" cy="5943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TopK路由机制将注意力计算复杂度降低约75%，在性能和效率间取得平衡。</a:t>
            </a:r>
            <a:endParaRPr lang="en-US" sz="800" dirty="false"/>
          </a:p>
        </p:txBody>
      </p:sp>
      <p:sp>
        <p:nvSpPr>
          <p:cNvPr id="263" name="Shape 18"/>
          <p:cNvSpPr/>
          <p:nvPr/>
        </p:nvSpPr>
        <p:spPr>
          <a:xfrm>
            <a:off x="365760" y="3703320"/>
            <a:ext cx="8412480" cy="365760"/>
          </a:xfrm>
          <a:prstGeom prst="roundRect">
            <a:avLst/>
          </a:prstGeom>
          <a:solidFill>
            <a:srgbClr val="1C2833"/>
          </a:solidFill>
          <a:ln/>
        </p:spPr>
        <p:txBody>
          <a:bodyPr/>
          <a:p>
            <a:pPr/>
            <a:endParaRPr/>
          </a:p>
        </p:txBody>
      </p:sp>
      <p:sp>
        <p:nvSpPr>
          <p:cNvPr id="264" name="Text 19"/>
          <p:cNvSpPr/>
          <p:nvPr/>
        </p:nvSpPr>
        <p:spPr>
          <a:xfrm>
            <a:off x="548640" y="4050792"/>
            <a:ext cx="8046720" cy="9144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结论：TR模块有效增强了全局上下文建模能力，为后续SAE模块的局部增强奠定基础。</a:t>
            </a:r>
            <a:endParaRPr lang="en-US" sz="900" dirty="false"/>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6F6"/>
        </a:solidFill>
      </p:bgPr>
    </p:bg>
    <p:spTree>
      <p:nvGrpSpPr>
        <p:cNvPr id="265" name=""/>
        <p:cNvGrpSpPr/>
        <p:nvPr/>
      </p:nvGrpSpPr>
      <p:grpSpPr>
        <a:xfrm>
          <a:off x="0" y="0"/>
          <a:ext cx="0" cy="0"/>
          <a:chOff x="0" y="0"/>
          <a:chExt cx="0" cy="0"/>
        </a:xfrm>
      </p:grpSpPr>
      <p:sp>
        <p:nvSpPr>
          <p:cNvPr id="266" name="Shape 0"/>
          <p:cNvSpPr/>
          <p:nvPr/>
        </p:nvSpPr>
        <p:spPr>
          <a:xfrm>
            <a:off x="0" y="0"/>
            <a:ext cx="91440" cy="5143500"/>
          </a:xfrm>
          <a:prstGeom prst="rect">
            <a:avLst/>
          </a:prstGeom>
          <a:solidFill>
            <a:srgbClr val="1C2833"/>
          </a:solidFill>
          <a:ln/>
        </p:spPr>
        <p:txBody>
          <a:bodyPr/>
          <a:p>
            <a:pPr/>
            <a:endParaRPr/>
          </a:p>
        </p:txBody>
      </p:sp>
      <p:sp>
        <p:nvSpPr>
          <p:cNvPr id="267"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68"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TR模块可视化对比（细长结构场景）</a:t>
            </a:r>
            <a:endParaRPr lang="en-US" sz="2400" dirty="false"/>
          </a:p>
        </p:txBody>
      </p:sp>
      <p:pic>
        <p:nvPicPr>
          <p:cNvPr id="269" name="Image 0" descr="../figure/cp3/3-6/slender and long/origin.png"/>
          <p:cNvPicPr>
            <a:picLocks noChangeAspect="true"/>
          </p:cNvPicPr>
          <p:nvPr/>
        </p:nvPicPr>
        <p:blipFill>
          <a:blip r:embed="rId2"/>
          <a:stretch>
            <a:fillRect/>
          </a:stretch>
        </p:blipFill>
        <p:spPr>
          <a:xfrm>
            <a:off x="457200" y="868680"/>
            <a:ext cx="1920240" cy="1188720"/>
          </a:xfrm>
          <a:prstGeom prst="rect">
            <a:avLst/>
          </a:prstGeom>
        </p:spPr>
      </p:pic>
      <p:sp>
        <p:nvSpPr>
          <p:cNvPr id="270" name="Text 3"/>
          <p:cNvSpPr/>
          <p:nvPr/>
        </p:nvSpPr>
        <p:spPr>
          <a:xfrm>
            <a:off x="4572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原始图像</a:t>
            </a:r>
            <a:endParaRPr lang="en-US" sz="900" dirty="false"/>
          </a:p>
        </p:txBody>
      </p:sp>
      <p:pic>
        <p:nvPicPr>
          <p:cNvPr id="271" name="Image 1" descr="../figure/cp3/3-6/slender and long/label.png"/>
          <p:cNvPicPr>
            <a:picLocks noChangeAspect="true"/>
          </p:cNvPicPr>
          <p:nvPr/>
        </p:nvPicPr>
        <p:blipFill>
          <a:blip r:embed="rId3"/>
          <a:stretch>
            <a:fillRect/>
          </a:stretch>
        </p:blipFill>
        <p:spPr>
          <a:xfrm>
            <a:off x="2514600" y="868680"/>
            <a:ext cx="1920240" cy="1188720"/>
          </a:xfrm>
          <a:prstGeom prst="rect">
            <a:avLst/>
          </a:prstGeom>
        </p:spPr>
      </p:pic>
      <p:sp>
        <p:nvSpPr>
          <p:cNvPr id="272" name="Text 4"/>
          <p:cNvSpPr/>
          <p:nvPr/>
        </p:nvSpPr>
        <p:spPr>
          <a:xfrm>
            <a:off x="25146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Ground Truth</a:t>
            </a:r>
            <a:endParaRPr lang="en-US" sz="900" dirty="false"/>
          </a:p>
        </p:txBody>
      </p:sp>
      <p:pic>
        <p:nvPicPr>
          <p:cNvPr id="273" name="Image 2" descr="../figure/cp3/3-6/slender and long/Unet.png"/>
          <p:cNvPicPr>
            <a:picLocks noChangeAspect="true"/>
          </p:cNvPicPr>
          <p:nvPr/>
        </p:nvPicPr>
        <p:blipFill>
          <a:blip r:embed="rId4"/>
          <a:stretch>
            <a:fillRect/>
          </a:stretch>
        </p:blipFill>
        <p:spPr>
          <a:xfrm>
            <a:off x="4572000" y="868680"/>
            <a:ext cx="1920240" cy="1188720"/>
          </a:xfrm>
          <a:prstGeom prst="rect">
            <a:avLst/>
          </a:prstGeom>
        </p:spPr>
      </p:pic>
      <p:sp>
        <p:nvSpPr>
          <p:cNvPr id="274" name="Text 5"/>
          <p:cNvSpPr/>
          <p:nvPr/>
        </p:nvSpPr>
        <p:spPr>
          <a:xfrm>
            <a:off x="45720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UNet</a:t>
            </a:r>
            <a:endParaRPr lang="en-US" sz="900" dirty="false"/>
          </a:p>
        </p:txBody>
      </p:sp>
      <p:pic>
        <p:nvPicPr>
          <p:cNvPr id="275" name="Image 3" descr="../figure/cp3/3-6/slender and long/Unetpp.png"/>
          <p:cNvPicPr>
            <a:picLocks noChangeAspect="true"/>
          </p:cNvPicPr>
          <p:nvPr/>
        </p:nvPicPr>
        <p:blipFill>
          <a:blip r:embed="rId5"/>
          <a:stretch>
            <a:fillRect/>
          </a:stretch>
        </p:blipFill>
        <p:spPr>
          <a:xfrm>
            <a:off x="6629400" y="868680"/>
            <a:ext cx="1920240" cy="1188720"/>
          </a:xfrm>
          <a:prstGeom prst="rect">
            <a:avLst/>
          </a:prstGeom>
        </p:spPr>
      </p:pic>
      <p:sp>
        <p:nvSpPr>
          <p:cNvPr id="276" name="Text 6"/>
          <p:cNvSpPr/>
          <p:nvPr/>
        </p:nvSpPr>
        <p:spPr>
          <a:xfrm>
            <a:off x="6629400" y="2075688"/>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UNet++</a:t>
            </a:r>
            <a:endParaRPr lang="en-US" sz="900" dirty="false"/>
          </a:p>
        </p:txBody>
      </p:sp>
      <p:pic>
        <p:nvPicPr>
          <p:cNvPr id="277" name="Image 4" descr="../figure/cp3/3-6/slender and long/resunet.png"/>
          <p:cNvPicPr>
            <a:picLocks noChangeAspect="true"/>
          </p:cNvPicPr>
          <p:nvPr/>
        </p:nvPicPr>
        <p:blipFill>
          <a:blip r:embed="rId6"/>
          <a:stretch>
            <a:fillRect/>
          </a:stretch>
        </p:blipFill>
        <p:spPr>
          <a:xfrm>
            <a:off x="457200" y="2313432"/>
            <a:ext cx="1920240" cy="1188720"/>
          </a:xfrm>
          <a:prstGeom prst="rect">
            <a:avLst/>
          </a:prstGeom>
        </p:spPr>
      </p:pic>
      <p:sp>
        <p:nvSpPr>
          <p:cNvPr id="278" name="Text 7"/>
          <p:cNvSpPr/>
          <p:nvPr/>
        </p:nvSpPr>
        <p:spPr>
          <a:xfrm>
            <a:off x="457200" y="3520440"/>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ResUNet</a:t>
            </a:r>
            <a:endParaRPr lang="en-US" sz="900" dirty="false"/>
          </a:p>
        </p:txBody>
      </p:sp>
      <p:pic>
        <p:nvPicPr>
          <p:cNvPr id="279" name="Image 5" descr="../figure/cp3/3-6/slender and long/transunet.png"/>
          <p:cNvPicPr>
            <a:picLocks noChangeAspect="true"/>
          </p:cNvPicPr>
          <p:nvPr/>
        </p:nvPicPr>
        <p:blipFill>
          <a:blip r:embed="rId7"/>
          <a:stretch>
            <a:fillRect/>
          </a:stretch>
        </p:blipFill>
        <p:spPr>
          <a:xfrm>
            <a:off x="2514600" y="2313432"/>
            <a:ext cx="1920240" cy="1188720"/>
          </a:xfrm>
          <a:prstGeom prst="rect">
            <a:avLst/>
          </a:prstGeom>
        </p:spPr>
      </p:pic>
      <p:sp>
        <p:nvSpPr>
          <p:cNvPr id="280" name="Text 8"/>
          <p:cNvSpPr/>
          <p:nvPr/>
        </p:nvSpPr>
        <p:spPr>
          <a:xfrm>
            <a:off x="2514600" y="3520440"/>
            <a:ext cx="1920240" cy="164592"/>
          </a:xfrm>
          <a:prstGeom prst="rect">
            <a:avLst/>
          </a:prstGeom>
          <a:noFill/>
          <a:ln/>
        </p:spPr>
        <p:txBody>
          <a:bodyPr wrap="square" rtlCol="false" anchor="ctr"/>
          <a:lstStyle/>
          <a:p>
            <a:pPr marL="0" indent="0" algn="ctr">
              <a:buNone/>
            </a:pPr>
            <a:r>
              <a:rPr lang="en-US" sz="900" dirty="false">
                <a:solidFill>
                  <a:srgbClr val="2E4053"/>
                </a:solidFill>
                <a:latin typeface="Arial" pitchFamily="34" charset="0"/>
                <a:ea typeface="Arial" pitchFamily="34" charset="-122"/>
                <a:cs typeface="Arial" pitchFamily="34" charset="-120"/>
              </a:rPr>
              <a:t>TransUNet</a:t>
            </a:r>
            <a:endParaRPr lang="en-US" sz="900" dirty="false"/>
          </a:p>
        </p:txBody>
      </p:sp>
      <p:pic>
        <p:nvPicPr>
          <p:cNvPr id="281" name="Image 6" descr="../figure/cp3/3-6/slender and long/deeplabv3.png"/>
          <p:cNvPicPr>
            <a:picLocks noChangeAspect="true"/>
          </p:cNvPicPr>
          <p:nvPr/>
        </p:nvPicPr>
        <p:blipFill>
          <a:blip r:embed="rId8"/>
          <a:stretch>
            <a:fillRect/>
          </a:stretch>
        </p:blipFill>
        <p:spPr>
          <a:xfrm>
            <a:off x="4572000" y="2313432"/>
            <a:ext cx="1920240" cy="1188720"/>
          </a:xfrm>
          <a:prstGeom prst="rect">
            <a:avLst/>
          </a:prstGeom>
        </p:spPr>
      </p:pic>
      <p:sp>
        <p:nvSpPr>
          <p:cNvPr id="282" name="Text 9"/>
          <p:cNvSpPr/>
          <p:nvPr/>
        </p:nvSpPr>
        <p:spPr>
          <a:xfrm>
            <a:off x="4572000" y="3520440"/>
            <a:ext cx="1920240" cy="164592"/>
          </a:xfrm>
          <a:prstGeom prst="rect">
            <a:avLst/>
          </a:prstGeom>
          <a:noFill/>
          <a:ln/>
        </p:spPr>
        <p:txBody>
          <a:bodyPr wrap="square" rtlCol="false" anchor="ctr"/>
          <a:lstStyle/>
          <a:p>
            <a:pPr marL="0" indent="0" algn="ctr">
              <a:buNone/>
            </a:pPr>
            <a:r>
              <a:rPr lang="en-US" sz="900" b="true" dirty="false">
                <a:solidFill>
                  <a:srgbClr val="E74C3C"/>
                </a:solidFill>
                <a:latin typeface="Arial" pitchFamily="34" charset="0"/>
                <a:ea typeface="Arial" pitchFamily="34" charset="-122"/>
                <a:cs typeface="Arial" pitchFamily="34" charset="-120"/>
              </a:rPr>
              <a:t>DeepLabV3+</a:t>
            </a:r>
            <a:endParaRPr lang="en-US" sz="900" dirty="false"/>
          </a:p>
        </p:txBody>
      </p:sp>
      <p:pic>
        <p:nvPicPr>
          <p:cNvPr id="283" name="Image 7" descr="../figure/cp3/3-6/slender and long/tr.png"/>
          <p:cNvPicPr>
            <a:picLocks noChangeAspect="true"/>
          </p:cNvPicPr>
          <p:nvPr/>
        </p:nvPicPr>
        <p:blipFill>
          <a:blip r:embed="rId9"/>
          <a:stretch>
            <a:fillRect/>
          </a:stretch>
        </p:blipFill>
        <p:spPr>
          <a:xfrm>
            <a:off x="6629400" y="2313432"/>
            <a:ext cx="1920240" cy="1188720"/>
          </a:xfrm>
          <a:prstGeom prst="rect">
            <a:avLst/>
          </a:prstGeom>
        </p:spPr>
      </p:pic>
      <p:sp>
        <p:nvSpPr>
          <p:cNvPr id="284" name="Shape 10"/>
          <p:cNvSpPr/>
          <p:nvPr/>
        </p:nvSpPr>
        <p:spPr>
          <a:xfrm>
            <a:off x="6611112" y="2295144"/>
            <a:ext cx="1956816" cy="1225296"/>
          </a:xfrm>
          <a:prstGeom prst="rect">
            <a:avLst/>
          </a:prstGeom>
          <a:ln w="31750">
            <a:solidFill>
              <a:srgbClr val="27AE60"/>
            </a:solidFill>
            <a:prstDash val="solid"/>
          </a:ln>
        </p:spPr>
        <p:txBody>
          <a:bodyPr/>
          <a:p>
            <a:pPr/>
            <a:endParaRPr/>
          </a:p>
        </p:txBody>
      </p:sp>
      <p:sp>
        <p:nvSpPr>
          <p:cNvPr id="285" name="Text 11"/>
          <p:cNvSpPr/>
          <p:nvPr/>
        </p:nvSpPr>
        <p:spPr>
          <a:xfrm>
            <a:off x="6629400" y="3520440"/>
            <a:ext cx="1920240" cy="164592"/>
          </a:xfrm>
          <a:prstGeom prst="rect">
            <a:avLst/>
          </a:prstGeom>
          <a:noFill/>
          <a:ln/>
        </p:spPr>
        <p:txBody>
          <a:bodyPr wrap="square" rtlCol="false" anchor="ctr"/>
          <a:lstStyle/>
          <a:p>
            <a:pPr marL="0" indent="0" algn="ctr">
              <a:buNone/>
            </a:pPr>
            <a:r>
              <a:rPr lang="en-US" sz="900" b="true" dirty="false">
                <a:solidFill>
                  <a:srgbClr val="27AE60"/>
                </a:solidFill>
                <a:latin typeface="Arial" pitchFamily="34" charset="0"/>
                <a:ea typeface="Arial" pitchFamily="34" charset="-122"/>
                <a:cs typeface="Arial" pitchFamily="34" charset="-120"/>
              </a:rPr>
              <a:t>+TR (本章方法)</a:t>
            </a:r>
            <a:endParaRPr lang="en-US" sz="900" dirty="false"/>
          </a:p>
        </p:txBody>
      </p:sp>
      <p:sp>
        <p:nvSpPr>
          <p:cNvPr id="286" name="Shape 12"/>
          <p:cNvSpPr/>
          <p:nvPr/>
        </p:nvSpPr>
        <p:spPr>
          <a:xfrm>
            <a:off x="365760" y="3429000"/>
            <a:ext cx="8412480" cy="640080"/>
          </a:xfrm>
          <a:prstGeom prst="roundRect">
            <a:avLst/>
          </a:prstGeom>
          <a:solidFill>
            <a:srgbClr val="1C2833"/>
          </a:solidFill>
          <a:ln/>
        </p:spPr>
        <p:txBody>
          <a:bodyPr/>
          <a:p>
            <a:pPr/>
            <a:endParaRPr/>
          </a:p>
        </p:txBody>
      </p:sp>
      <p:sp>
        <p:nvSpPr>
          <p:cNvPr id="287" name="Text 13"/>
          <p:cNvSpPr/>
          <p:nvPr/>
        </p:nvSpPr>
        <p:spPr>
          <a:xfrm>
            <a:off x="548640" y="3474720"/>
            <a:ext cx="8046720" cy="18288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可视化分析</a:t>
            </a:r>
            <a:endParaRPr lang="en-US" sz="1000" dirty="false"/>
          </a:p>
        </p:txBody>
      </p:sp>
      <p:sp>
        <p:nvSpPr>
          <p:cNvPr id="288" name="Text 14"/>
          <p:cNvSpPr/>
          <p:nvPr/>
        </p:nvSpPr>
        <p:spPr>
          <a:xfrm>
            <a:off x="548640" y="3675888"/>
            <a:ext cx="8046720" cy="36576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引入TR模块后（绿框），细长结构分割更完整：①全局注意力建立长距离依赖，有效抑制断裂问题；②相比基线DeepLabV3+，边界连续性明显改善；③长程上下文建模有效抑制散斑噪声干扰。</a:t>
            </a:r>
            <a:endParaRPr lang="en-US" sz="900" dirty="false"/>
          </a:p>
        </p:txBody>
      </p:sp>
    </p:spTree>
  </p:cSld>
  <p:clrMapOvr>
    <a:masterClrMapping/>
  </p:clrMapOvr>
</p:sld>
</file>

<file path=ppt/slides/slide23.xml><?xml version="1.0" encoding="utf-8"?>
<p:sld xmlns:a="http://schemas.openxmlformats.org/drawingml/2006/main" xmlns:p="http://schemas.openxmlformats.org/presentationml/2006/main">
  <p:cSld name="Slide 23">
    <p:bg>
      <p:bgPr>
        <a:solidFill>
          <a:srgbClr val="F4F6F6"/>
        </a:solidFill>
      </p:bgPr>
    </p:bg>
    <p:spTree>
      <p:nvGrpSpPr>
        <p:cNvPr id="289" name=""/>
        <p:cNvGrpSpPr/>
        <p:nvPr/>
      </p:nvGrpSpPr>
      <p:grpSpPr>
        <a:xfrm>
          <a:off x="0" y="0"/>
          <a:ext cx="0" cy="0"/>
          <a:chOff x="0" y="0"/>
          <a:chExt cx="0" cy="0"/>
        </a:xfrm>
      </p:grpSpPr>
      <p:sp>
        <p:nvSpPr>
          <p:cNvPr id="290" name="Shape 0"/>
          <p:cNvSpPr/>
          <p:nvPr/>
        </p:nvSpPr>
        <p:spPr>
          <a:xfrm>
            <a:off x="0" y="0"/>
            <a:ext cx="91440" cy="5143500"/>
          </a:xfrm>
          <a:prstGeom prst="rect">
            <a:avLst/>
          </a:prstGeom>
          <a:solidFill>
            <a:srgbClr val="1C2833"/>
          </a:solidFill>
          <a:ln/>
        </p:spPr>
        <p:txBody>
          <a:bodyPr/>
          <a:p>
            <a:pPr/>
            <a:endParaRPr/>
          </a:p>
        </p:txBody>
      </p:sp>
      <p:sp>
        <p:nvSpPr>
          <p:cNvPr id="291"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03 基于全局注意力的模型改进</a:t>
            </a:r>
            <a:endParaRPr lang="en-US" sz="1100" dirty="false"/>
          </a:p>
        </p:txBody>
      </p:sp>
      <p:sp>
        <p:nvSpPr>
          <p:cNvPr id="292"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本章小结</a:t>
            </a:r>
            <a:endParaRPr lang="en-US" sz="2400" dirty="false"/>
          </a:p>
        </p:txBody>
      </p:sp>
      <p:sp>
        <p:nvSpPr>
          <p:cNvPr id="293" name="Shape 3"/>
          <p:cNvSpPr/>
          <p:nvPr/>
        </p:nvSpPr>
        <p:spPr>
          <a:xfrm>
            <a:off x="365760" y="914400"/>
            <a:ext cx="841248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294" name="Text 4"/>
          <p:cNvSpPr/>
          <p:nvPr/>
        </p:nvSpPr>
        <p:spPr>
          <a:xfrm>
            <a:off x="548640" y="1005840"/>
            <a:ext cx="8046720" cy="365760"/>
          </a:xfrm>
          <a:prstGeom prst="rect">
            <a:avLst/>
          </a:prstGeom>
          <a:noFill/>
          <a:ln/>
        </p:spPr>
        <p:txBody>
          <a:bodyPr wrap="square" rtlCol="false" anchor="ctr"/>
          <a:lstStyle/>
          <a:p>
            <a:pPr marL="0" indent="0">
              <a:buNone/>
            </a:pPr>
            <a:r>
              <a:rPr lang="en-US" sz="1400" b="true" dirty="false">
                <a:solidFill>
                  <a:srgbClr val="1C2833"/>
                </a:solidFill>
                <a:latin typeface="Arial" pitchFamily="34" charset="0"/>
                <a:ea typeface="Arial" pitchFamily="34" charset="-122"/>
                <a:cs typeface="Arial" pitchFamily="34" charset="-120"/>
              </a:rPr>
              <a:t>本章主要贡献</a:t>
            </a:r>
            <a:endParaRPr lang="en-US" sz="1400" dirty="false"/>
          </a:p>
        </p:txBody>
      </p:sp>
      <p:sp>
        <p:nvSpPr>
          <p:cNvPr id="295" name="Shape 5"/>
          <p:cNvSpPr/>
          <p:nvPr/>
        </p:nvSpPr>
        <p:spPr>
          <a:xfrm>
            <a:off x="640080" y="1463040"/>
            <a:ext cx="365760" cy="365760"/>
          </a:xfrm>
          <a:prstGeom prst="ellipse">
            <a:avLst/>
          </a:prstGeom>
          <a:solidFill>
            <a:srgbClr val="E74C3C"/>
          </a:solidFill>
          <a:ln/>
        </p:spPr>
        <p:txBody>
          <a:bodyPr/>
          <a:p>
            <a:pPr/>
            <a:endParaRPr/>
          </a:p>
        </p:txBody>
      </p:sp>
      <p:sp>
        <p:nvSpPr>
          <p:cNvPr id="296" name="Text 6"/>
          <p:cNvSpPr/>
          <p:nvPr/>
        </p:nvSpPr>
        <p:spPr>
          <a:xfrm>
            <a:off x="640080" y="1463040"/>
            <a:ext cx="365760" cy="36576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1</a:t>
            </a:r>
            <a:endParaRPr lang="en-US" sz="1400" dirty="false"/>
          </a:p>
        </p:txBody>
      </p:sp>
      <p:sp>
        <p:nvSpPr>
          <p:cNvPr id="297" name="Text 7"/>
          <p:cNvSpPr/>
          <p:nvPr/>
        </p:nvSpPr>
        <p:spPr>
          <a:xfrm>
            <a:off x="1188720" y="1463040"/>
            <a:ext cx="731520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分析了DeepLabV3+在OCT图像分割中的局限性</a:t>
            </a:r>
            <a:endParaRPr lang="en-US" sz="1100" dirty="false"/>
          </a:p>
        </p:txBody>
      </p:sp>
      <p:sp>
        <p:nvSpPr>
          <p:cNvPr id="298" name="Text 8"/>
          <p:cNvSpPr/>
          <p:nvPr/>
        </p:nvSpPr>
        <p:spPr>
          <a:xfrm>
            <a:off x="1188720" y="1810512"/>
            <a:ext cx="7315200" cy="5029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ASPP模块感受野有限，难以建立长距离依赖，对细长结构的熔深区域分割效果不佳。</a:t>
            </a:r>
            <a:endParaRPr lang="en-US" sz="900" dirty="false"/>
          </a:p>
        </p:txBody>
      </p:sp>
      <p:sp>
        <p:nvSpPr>
          <p:cNvPr id="299" name="Shape 9"/>
          <p:cNvSpPr/>
          <p:nvPr/>
        </p:nvSpPr>
        <p:spPr>
          <a:xfrm>
            <a:off x="640080" y="2377440"/>
            <a:ext cx="365760" cy="365760"/>
          </a:xfrm>
          <a:prstGeom prst="ellipse">
            <a:avLst/>
          </a:prstGeom>
          <a:solidFill>
            <a:srgbClr val="E74C3C"/>
          </a:solidFill>
          <a:ln/>
        </p:spPr>
        <p:txBody>
          <a:bodyPr/>
          <a:p>
            <a:pPr/>
            <a:endParaRPr/>
          </a:p>
        </p:txBody>
      </p:sp>
      <p:sp>
        <p:nvSpPr>
          <p:cNvPr id="300" name="Text 10"/>
          <p:cNvSpPr/>
          <p:nvPr/>
        </p:nvSpPr>
        <p:spPr>
          <a:xfrm>
            <a:off x="640080" y="2377440"/>
            <a:ext cx="365760" cy="36576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2</a:t>
            </a:r>
            <a:endParaRPr lang="en-US" sz="1400" dirty="false"/>
          </a:p>
        </p:txBody>
      </p:sp>
      <p:sp>
        <p:nvSpPr>
          <p:cNvPr id="301" name="Text 11"/>
          <p:cNvSpPr/>
          <p:nvPr/>
        </p:nvSpPr>
        <p:spPr>
          <a:xfrm>
            <a:off x="1188720" y="2377440"/>
            <a:ext cx="731520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提出了TR（Transformer Routing）全局注意力模块</a:t>
            </a:r>
            <a:endParaRPr lang="en-US" sz="1100" dirty="false"/>
          </a:p>
        </p:txBody>
      </p:sp>
      <p:sp>
        <p:nvSpPr>
          <p:cNvPr id="302" name="Text 12"/>
          <p:cNvSpPr/>
          <p:nvPr/>
        </p:nvSpPr>
        <p:spPr>
          <a:xfrm>
            <a:off x="1188720" y="2724912"/>
            <a:ext cx="7315200" cy="5029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借鉴BiFormer的双层路由注意力思想，通过区域级路由和TopK选择实现高效全局建模。</a:t>
            </a:r>
            <a:endParaRPr lang="en-US" sz="900" dirty="false"/>
          </a:p>
        </p:txBody>
      </p:sp>
      <p:sp>
        <p:nvSpPr>
          <p:cNvPr id="303" name="Shape 13"/>
          <p:cNvSpPr/>
          <p:nvPr/>
        </p:nvSpPr>
        <p:spPr>
          <a:xfrm>
            <a:off x="640080" y="3291840"/>
            <a:ext cx="365760" cy="365760"/>
          </a:xfrm>
          <a:prstGeom prst="ellipse">
            <a:avLst/>
          </a:prstGeom>
          <a:solidFill>
            <a:srgbClr val="E74C3C"/>
          </a:solidFill>
          <a:ln/>
        </p:spPr>
        <p:txBody>
          <a:bodyPr/>
          <a:p>
            <a:pPr/>
            <a:endParaRPr/>
          </a:p>
        </p:txBody>
      </p:sp>
      <p:sp>
        <p:nvSpPr>
          <p:cNvPr id="304" name="Text 14"/>
          <p:cNvSpPr/>
          <p:nvPr/>
        </p:nvSpPr>
        <p:spPr>
          <a:xfrm>
            <a:off x="640080" y="3291840"/>
            <a:ext cx="365760" cy="365760"/>
          </a:xfrm>
          <a:prstGeom prst="rect">
            <a:avLst/>
          </a:prstGeom>
          <a:noFill/>
          <a:ln/>
        </p:spPr>
        <p:txBody>
          <a:bodyPr wrap="square" rtlCol="false" anchor="ctr"/>
          <a:lstStyle/>
          <a:p>
            <a:pPr marL="0" indent="0" algn="ctr">
              <a:buNone/>
            </a:pPr>
            <a:r>
              <a:rPr lang="en-US" sz="1400" b="true" dirty="false">
                <a:solidFill>
                  <a:srgbClr val="FFFFFF"/>
                </a:solidFill>
                <a:latin typeface="Arial" pitchFamily="34" charset="0"/>
                <a:ea typeface="Arial" pitchFamily="34" charset="-122"/>
                <a:cs typeface="Arial" pitchFamily="34" charset="-120"/>
              </a:rPr>
              <a:t>3</a:t>
            </a:r>
            <a:endParaRPr lang="en-US" sz="1400" dirty="false"/>
          </a:p>
        </p:txBody>
      </p:sp>
      <p:sp>
        <p:nvSpPr>
          <p:cNvPr id="305" name="Text 15"/>
          <p:cNvSpPr/>
          <p:nvPr/>
        </p:nvSpPr>
        <p:spPr>
          <a:xfrm>
            <a:off x="1188720" y="3291840"/>
            <a:ext cx="731520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通过实验验证了TR模块的有效性</a:t>
            </a:r>
            <a:endParaRPr lang="en-US" sz="1100" dirty="false"/>
          </a:p>
        </p:txBody>
      </p:sp>
      <p:sp>
        <p:nvSpPr>
          <p:cNvPr id="306" name="Text 16"/>
          <p:cNvSpPr/>
          <p:nvPr/>
        </p:nvSpPr>
        <p:spPr>
          <a:xfrm>
            <a:off x="1188720" y="3639312"/>
            <a:ext cx="7315200" cy="50292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消融实验表明，引入TR模块后mIoU从0.851提升至0.884（+3.9%），全局语义理解能力显著增强。</a:t>
            </a:r>
            <a:endParaRPr lang="en-US" sz="900" dirty="false"/>
          </a:p>
        </p:txBody>
      </p:sp>
    </p:spTree>
  </p:cSld>
  <p:clrMapOvr>
    <a:masterClrMapping/>
  </p:clrMapOvr>
</p:sld>
</file>

<file path=ppt/slides/slide24.xml><?xml version="1.0" encoding="utf-8"?>
<p:sld xmlns:a="http://schemas.openxmlformats.org/drawingml/2006/main" xmlns:p="http://schemas.openxmlformats.org/presentationml/2006/main">
  <p:cSld name="Slide 24">
    <p:bg>
      <p:bgPr>
        <a:solidFill>
          <a:srgbClr val="1C2833"/>
        </a:solidFill>
      </p:bgPr>
    </p:bg>
    <p:spTree>
      <p:nvGrpSpPr>
        <p:cNvPr id="307" name=""/>
        <p:cNvGrpSpPr/>
        <p:nvPr/>
      </p:nvGrpSpPr>
      <p:grpSpPr>
        <a:xfrm>
          <a:off x="0" y="0"/>
          <a:ext cx="0" cy="0"/>
          <a:chOff x="0" y="0"/>
          <a:chExt cx="0" cy="0"/>
        </a:xfrm>
      </p:grpSpPr>
      <p:sp>
        <p:nvSpPr>
          <p:cNvPr id="308" name="Shape 0"/>
          <p:cNvSpPr/>
          <p:nvPr/>
        </p:nvSpPr>
        <p:spPr>
          <a:xfrm>
            <a:off x="0" y="0"/>
            <a:ext cx="9144000" cy="73152"/>
          </a:xfrm>
          <a:prstGeom prst="rect">
            <a:avLst/>
          </a:prstGeom>
          <a:solidFill>
            <a:srgbClr val="AAB7B8"/>
          </a:solidFill>
          <a:ln/>
        </p:spPr>
        <p:txBody>
          <a:bodyPr/>
          <a:p>
            <a:pPr/>
            <a:endParaRPr/>
          </a:p>
        </p:txBody>
      </p:sp>
      <p:sp>
        <p:nvSpPr>
          <p:cNvPr id="309" name="Shape 1"/>
          <p:cNvSpPr/>
          <p:nvPr/>
        </p:nvSpPr>
        <p:spPr>
          <a:xfrm>
            <a:off x="0" y="5074920"/>
            <a:ext cx="9144000" cy="73152"/>
          </a:xfrm>
          <a:prstGeom prst="rect">
            <a:avLst/>
          </a:prstGeom>
          <a:solidFill>
            <a:srgbClr val="AAB7B8"/>
          </a:solidFill>
          <a:ln/>
        </p:spPr>
        <p:txBody>
          <a:bodyPr/>
          <a:p>
            <a:pPr/>
            <a:endParaRPr/>
          </a:p>
        </p:txBody>
      </p:sp>
      <p:sp>
        <p:nvSpPr>
          <p:cNvPr id="310"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04</a:t>
            </a:r>
            <a:endParaRPr lang="en-US" sz="8000" dirty="false"/>
          </a:p>
        </p:txBody>
      </p:sp>
      <p:sp>
        <p:nvSpPr>
          <p:cNvPr id="311"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基于空间感知增强的模型优化</a:t>
            </a:r>
            <a:endParaRPr lang="en-US" sz="3200" dirty="false"/>
          </a:p>
        </p:txBody>
      </p:sp>
      <p:sp>
        <p:nvSpPr>
          <p:cNvPr id="312" name="Shape 4"/>
          <p:cNvSpPr/>
          <p:nvPr/>
        </p:nvSpPr>
        <p:spPr>
          <a:xfrm>
            <a:off x="2286000" y="2286000"/>
            <a:ext cx="2743200" cy="36576"/>
          </a:xfrm>
          <a:prstGeom prst="rect">
            <a:avLst/>
          </a:prstGeom>
          <a:solidFill>
            <a:srgbClr val="E74C3C"/>
          </a:solidFill>
          <a:ln/>
        </p:spPr>
        <p:txBody>
          <a:bodyPr/>
          <a:p>
            <a:pPr/>
            <a:endParaRPr/>
          </a:p>
        </p:txBody>
      </p:sp>
      <p:sp>
        <p:nvSpPr>
          <p:cNvPr id="313"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SAE模块设计动机与原理</a:t>
            </a:r>
            <a:endParaRPr lang="en-US" sz="1400" dirty="false"/>
          </a:p>
        </p:txBody>
      </p:sp>
      <p:sp>
        <p:nvSpPr>
          <p:cNvPr id="314"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改进模型整体架构</a:t>
            </a:r>
            <a:endParaRPr lang="en-US" sz="1400" dirty="false"/>
          </a:p>
        </p:txBody>
      </p:sp>
      <p:sp>
        <p:nvSpPr>
          <p:cNvPr id="315"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综合消融实验</a:t>
            </a:r>
            <a:endParaRPr lang="en-US" sz="1400" dirty="false"/>
          </a:p>
        </p:txBody>
      </p:sp>
      <p:sp>
        <p:nvSpPr>
          <p:cNvPr id="316" name="Text 8"/>
          <p:cNvSpPr/>
          <p:nvPr/>
        </p:nvSpPr>
        <p:spPr>
          <a:xfrm>
            <a:off x="2286000" y="365760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与主流方法对比</a:t>
            </a:r>
            <a:endParaRPr lang="en-US" sz="1400" dirty="false"/>
          </a:p>
        </p:txBody>
      </p:sp>
      <p:sp>
        <p:nvSpPr>
          <p:cNvPr id="317" name="Text 9"/>
          <p:cNvSpPr/>
          <p:nvPr/>
        </p:nvSpPr>
        <p:spPr>
          <a:xfrm>
            <a:off x="2286000" y="402336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可视化分析</a:t>
            </a:r>
            <a:endParaRPr lang="en-US" sz="1400" dirty="false"/>
          </a:p>
        </p:txBody>
      </p:sp>
    </p:spTree>
  </p:cSld>
  <p:clrMapOvr>
    <a:masterClrMapping/>
  </p:clrMapOvr>
</p:sld>
</file>

<file path=ppt/slides/slide25.xml><?xml version="1.0" encoding="utf-8"?>
<p:sld xmlns:a="http://schemas.openxmlformats.org/drawingml/2006/main" xmlns:p="http://schemas.openxmlformats.org/presentationml/2006/main">
  <p:cSld name="Slide 25">
    <p:bg>
      <p:bgPr>
        <a:solidFill>
          <a:srgbClr val="F4F6F6"/>
        </a:solidFill>
      </p:bgPr>
    </p:bg>
    <p:spTree>
      <p:nvGrpSpPr>
        <p:cNvPr id="318" name=""/>
        <p:cNvGrpSpPr/>
        <p:nvPr/>
      </p:nvGrpSpPr>
      <p:grpSpPr>
        <a:xfrm>
          <a:off x="0" y="0"/>
          <a:ext cx="0" cy="0"/>
          <a:chOff x="0" y="0"/>
          <a:chExt cx="0" cy="0"/>
        </a:xfrm>
      </p:grpSpPr>
      <p:sp>
        <p:nvSpPr>
          <p:cNvPr id="319" name="Shape 0"/>
          <p:cNvSpPr/>
          <p:nvPr/>
        </p:nvSpPr>
        <p:spPr>
          <a:xfrm>
            <a:off x="0" y="0"/>
            <a:ext cx="91440" cy="5143500"/>
          </a:xfrm>
          <a:prstGeom prst="rect">
            <a:avLst/>
          </a:prstGeom>
          <a:solidFill>
            <a:srgbClr val="1C2833"/>
          </a:solidFill>
          <a:ln/>
        </p:spPr>
        <p:txBody>
          <a:bodyPr/>
          <a:p>
            <a:pPr/>
            <a:endParaRPr/>
          </a:p>
        </p:txBody>
      </p:sp>
      <p:sp>
        <p:nvSpPr>
          <p:cNvPr id="320"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21"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改进动机：空间位置信息不足</a:t>
            </a:r>
            <a:endParaRPr lang="en-US" sz="2400" dirty="false"/>
          </a:p>
        </p:txBody>
      </p:sp>
      <p:sp>
        <p:nvSpPr>
          <p:cNvPr id="322" name="Shape 3"/>
          <p:cNvSpPr/>
          <p:nvPr/>
        </p:nvSpPr>
        <p:spPr>
          <a:xfrm>
            <a:off x="365760" y="914400"/>
            <a:ext cx="8412480" cy="640080"/>
          </a:xfrm>
          <a:prstGeom prst="roundRect">
            <a:avLst/>
          </a:prstGeom>
          <a:solidFill>
            <a:srgbClr val="2E4053"/>
          </a:solidFill>
          <a:ln/>
        </p:spPr>
        <p:txBody>
          <a:bodyPr/>
          <a:p>
            <a:pPr/>
            <a:endParaRPr/>
          </a:p>
        </p:txBody>
      </p:sp>
      <p:sp>
        <p:nvSpPr>
          <p:cNvPr id="323" name="Text 4"/>
          <p:cNvSpPr/>
          <p:nvPr/>
        </p:nvSpPr>
        <p:spPr>
          <a:xfrm>
            <a:off x="548640" y="987552"/>
            <a:ext cx="1371600" cy="22860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承接第三章</a:t>
            </a:r>
            <a:endParaRPr lang="en-US" sz="1000" dirty="false"/>
          </a:p>
        </p:txBody>
      </p:sp>
      <p:sp>
        <p:nvSpPr>
          <p:cNvPr id="324" name="Text 5"/>
          <p:cNvSpPr/>
          <p:nvPr/>
        </p:nvSpPr>
        <p:spPr>
          <a:xfrm>
            <a:off x="548640" y="1261872"/>
            <a:ext cx="8046720" cy="256032"/>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TR模块增强了全局上下文建模，mIoU提升3.9%。但在边界分割精度方面仍有改进空间。</a:t>
            </a:r>
            <a:endParaRPr lang="en-US" sz="900" dirty="false"/>
          </a:p>
        </p:txBody>
      </p:sp>
      <p:sp>
        <p:nvSpPr>
          <p:cNvPr id="325" name="Shape 6"/>
          <p:cNvSpPr/>
          <p:nvPr/>
        </p:nvSpPr>
        <p:spPr>
          <a:xfrm>
            <a:off x="365760" y="1737360"/>
            <a:ext cx="4114800" cy="15544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26" name="Shape 7"/>
          <p:cNvSpPr/>
          <p:nvPr/>
        </p:nvSpPr>
        <p:spPr>
          <a:xfrm>
            <a:off x="365760" y="1737360"/>
            <a:ext cx="4114800" cy="36576"/>
          </a:xfrm>
          <a:prstGeom prst="rect">
            <a:avLst/>
          </a:prstGeom>
          <a:solidFill>
            <a:srgbClr val="E74C3C"/>
          </a:solidFill>
          <a:ln/>
        </p:spPr>
        <p:txBody>
          <a:bodyPr/>
          <a:p>
            <a:pPr/>
            <a:endParaRPr/>
          </a:p>
        </p:txBody>
      </p:sp>
      <p:sp>
        <p:nvSpPr>
          <p:cNvPr id="327" name="Text 8"/>
          <p:cNvSpPr/>
          <p:nvPr/>
        </p:nvSpPr>
        <p:spPr>
          <a:xfrm>
            <a:off x="457200" y="1828800"/>
            <a:ext cx="39319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解码器的局限性</a:t>
            </a:r>
            <a:endParaRPr lang="en-US" sz="1100" dirty="false"/>
          </a:p>
        </p:txBody>
      </p:sp>
      <p:sp>
        <p:nvSpPr>
          <p:cNvPr id="328" name="Text 9"/>
          <p:cNvSpPr/>
          <p:nvPr/>
        </p:nvSpPr>
        <p:spPr>
          <a:xfrm>
            <a:off x="457200" y="214884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空间位置信息在下采样中逐渐丢失</a:t>
            </a:r>
            <a:endParaRPr lang="en-US" sz="900" dirty="false"/>
          </a:p>
        </p:txBody>
      </p:sp>
      <p:sp>
        <p:nvSpPr>
          <p:cNvPr id="329" name="Text 10"/>
          <p:cNvSpPr/>
          <p:nvPr/>
        </p:nvSpPr>
        <p:spPr>
          <a:xfrm>
            <a:off x="457200" y="242316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通道权重均匀分配，未区分重要性</a:t>
            </a:r>
            <a:endParaRPr lang="en-US" sz="900" dirty="false"/>
          </a:p>
        </p:txBody>
      </p:sp>
      <p:sp>
        <p:nvSpPr>
          <p:cNvPr id="330" name="Text 11"/>
          <p:cNvSpPr/>
          <p:nvPr/>
        </p:nvSpPr>
        <p:spPr>
          <a:xfrm>
            <a:off x="457200" y="269748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缺乏对细长结构的方向性感知</a:t>
            </a:r>
            <a:endParaRPr lang="en-US" sz="900" dirty="false"/>
          </a:p>
        </p:txBody>
      </p:sp>
      <p:sp>
        <p:nvSpPr>
          <p:cNvPr id="331" name="Text 12"/>
          <p:cNvSpPr/>
          <p:nvPr/>
        </p:nvSpPr>
        <p:spPr>
          <a:xfrm>
            <a:off x="457200" y="297180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边界模糊区域分割精度不足</a:t>
            </a:r>
            <a:endParaRPr lang="en-US" sz="900" dirty="false"/>
          </a:p>
        </p:txBody>
      </p:sp>
      <p:sp>
        <p:nvSpPr>
          <p:cNvPr id="332" name="Shape 13"/>
          <p:cNvSpPr/>
          <p:nvPr/>
        </p:nvSpPr>
        <p:spPr>
          <a:xfrm>
            <a:off x="4663440" y="1737360"/>
            <a:ext cx="4114800" cy="15544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33" name="Shape 14"/>
          <p:cNvSpPr/>
          <p:nvPr/>
        </p:nvSpPr>
        <p:spPr>
          <a:xfrm>
            <a:off x="4663440" y="1737360"/>
            <a:ext cx="4114800" cy="36576"/>
          </a:xfrm>
          <a:prstGeom prst="rect">
            <a:avLst/>
          </a:prstGeom>
          <a:solidFill>
            <a:srgbClr val="27AE60"/>
          </a:solidFill>
          <a:ln/>
        </p:spPr>
        <p:txBody>
          <a:bodyPr/>
          <a:p>
            <a:pPr/>
            <a:endParaRPr/>
          </a:p>
        </p:txBody>
      </p:sp>
      <p:sp>
        <p:nvSpPr>
          <p:cNvPr id="334" name="Text 15"/>
          <p:cNvSpPr/>
          <p:nvPr/>
        </p:nvSpPr>
        <p:spPr>
          <a:xfrm>
            <a:off x="4754880" y="1828800"/>
            <a:ext cx="3931920" cy="256032"/>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解决方案：SAE模块</a:t>
            </a:r>
            <a:endParaRPr lang="en-US" sz="1100" dirty="false"/>
          </a:p>
        </p:txBody>
      </p:sp>
      <p:sp>
        <p:nvSpPr>
          <p:cNvPr id="335" name="Text 16"/>
          <p:cNvSpPr/>
          <p:nvPr/>
        </p:nvSpPr>
        <p:spPr>
          <a:xfrm>
            <a:off x="4754880" y="214884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坐标注意力：H/W方向位置编码</a:t>
            </a:r>
            <a:endParaRPr lang="en-US" sz="900" dirty="false"/>
          </a:p>
        </p:txBody>
      </p:sp>
      <p:sp>
        <p:nvSpPr>
          <p:cNvPr id="336" name="Text 17"/>
          <p:cNvSpPr/>
          <p:nvPr/>
        </p:nvSpPr>
        <p:spPr>
          <a:xfrm>
            <a:off x="4754880" y="242316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通道注意力：突出判别性通道</a:t>
            </a:r>
            <a:endParaRPr lang="en-US" sz="900" dirty="false"/>
          </a:p>
        </p:txBody>
      </p:sp>
      <p:sp>
        <p:nvSpPr>
          <p:cNvPr id="337" name="Text 18"/>
          <p:cNvSpPr/>
          <p:nvPr/>
        </p:nvSpPr>
        <p:spPr>
          <a:xfrm>
            <a:off x="4754880" y="269748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空间-通道双重增强机制</a:t>
            </a:r>
            <a:endParaRPr lang="en-US" sz="900" dirty="false"/>
          </a:p>
        </p:txBody>
      </p:sp>
      <p:sp>
        <p:nvSpPr>
          <p:cNvPr id="338" name="Text 19"/>
          <p:cNvSpPr/>
          <p:nvPr/>
        </p:nvSpPr>
        <p:spPr>
          <a:xfrm>
            <a:off x="4754880" y="2971800"/>
            <a:ext cx="3931920" cy="256032"/>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 显著改善边界分割质量</a:t>
            </a:r>
            <a:endParaRPr lang="en-US" sz="900" dirty="false"/>
          </a:p>
        </p:txBody>
      </p:sp>
      <p:sp>
        <p:nvSpPr>
          <p:cNvPr id="339" name="Shape 20"/>
          <p:cNvSpPr/>
          <p:nvPr/>
        </p:nvSpPr>
        <p:spPr>
          <a:xfrm>
            <a:off x="365760" y="3474720"/>
            <a:ext cx="8412480" cy="548640"/>
          </a:xfrm>
          <a:prstGeom prst="roundRect">
            <a:avLst/>
          </a:prstGeom>
          <a:solidFill>
            <a:srgbClr val="1C2833"/>
          </a:solidFill>
          <a:ln/>
        </p:spPr>
        <p:txBody>
          <a:bodyPr/>
          <a:p>
            <a:pPr/>
            <a:endParaRPr/>
          </a:p>
        </p:txBody>
      </p:sp>
      <p:sp>
        <p:nvSpPr>
          <p:cNvPr id="340" name="Text 21"/>
          <p:cNvSpPr/>
          <p:nvPr/>
        </p:nvSpPr>
        <p:spPr>
          <a:xfrm>
            <a:off x="548640" y="3822192"/>
            <a:ext cx="8046720" cy="9144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核心思想：在解码器端引入空间感知增强模块，通过坐标注意力和通道注意力的协同作用，增强模型对目标边界的感知能力。</a:t>
            </a:r>
            <a:endParaRPr lang="en-US" sz="900" dirty="false"/>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6F6"/>
        </a:solidFill>
      </p:bgPr>
    </p:bg>
    <p:spTree>
      <p:nvGrpSpPr>
        <p:cNvPr id="341" name=""/>
        <p:cNvGrpSpPr/>
        <p:nvPr/>
      </p:nvGrpSpPr>
      <p:grpSpPr>
        <a:xfrm>
          <a:off x="0" y="0"/>
          <a:ext cx="0" cy="0"/>
          <a:chOff x="0" y="0"/>
          <a:chExt cx="0" cy="0"/>
        </a:xfrm>
      </p:grpSpPr>
      <p:sp>
        <p:nvSpPr>
          <p:cNvPr id="342" name="Shape 0"/>
          <p:cNvSpPr/>
          <p:nvPr/>
        </p:nvSpPr>
        <p:spPr>
          <a:xfrm>
            <a:off x="0" y="0"/>
            <a:ext cx="91440" cy="5143500"/>
          </a:xfrm>
          <a:prstGeom prst="rect">
            <a:avLst/>
          </a:prstGeom>
          <a:solidFill>
            <a:srgbClr val="1C2833"/>
          </a:solidFill>
          <a:ln/>
        </p:spPr>
        <p:txBody>
          <a:bodyPr/>
          <a:p>
            <a:pPr/>
            <a:endParaRPr/>
          </a:p>
        </p:txBody>
      </p:sp>
      <p:sp>
        <p:nvSpPr>
          <p:cNvPr id="34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4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SAE模块：局部细节增强</a:t>
            </a:r>
            <a:endParaRPr lang="en-US" sz="2400" dirty="false"/>
          </a:p>
        </p:txBody>
      </p:sp>
      <p:sp>
        <p:nvSpPr>
          <p:cNvPr id="345" name="Shape 3"/>
          <p:cNvSpPr/>
          <p:nvPr/>
        </p:nvSpPr>
        <p:spPr>
          <a:xfrm>
            <a:off x="365760" y="914400"/>
            <a:ext cx="411480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46" name="Shape 4"/>
          <p:cNvSpPr/>
          <p:nvPr/>
        </p:nvSpPr>
        <p:spPr>
          <a:xfrm>
            <a:off x="365760" y="914400"/>
            <a:ext cx="36576" cy="868680"/>
          </a:xfrm>
          <a:prstGeom prst="rect">
            <a:avLst/>
          </a:prstGeom>
          <a:solidFill>
            <a:srgbClr val="E74C3C"/>
          </a:solidFill>
          <a:ln/>
        </p:spPr>
        <p:txBody>
          <a:bodyPr/>
          <a:p>
            <a:pPr/>
            <a:endParaRPr/>
          </a:p>
        </p:txBody>
      </p:sp>
      <p:sp>
        <p:nvSpPr>
          <p:cNvPr id="347" name="Text 5"/>
          <p:cNvSpPr/>
          <p:nvPr/>
        </p:nvSpPr>
        <p:spPr>
          <a:xfrm>
            <a:off x="457200" y="960120"/>
            <a:ext cx="3931920" cy="201168"/>
          </a:xfrm>
          <a:prstGeom prst="rect">
            <a:avLst/>
          </a:prstGeom>
          <a:noFill/>
          <a:ln/>
        </p:spPr>
        <p:txBody>
          <a:bodyPr wrap="square" rtlCol="false" anchor="ctr"/>
          <a:lstStyle/>
          <a:p>
            <a:pPr marL="0" indent="0">
              <a:buNone/>
            </a:pPr>
            <a:r>
              <a:rPr lang="en-US" sz="1000" b="true" dirty="false">
                <a:solidFill>
                  <a:srgbClr val="E74C3C"/>
                </a:solidFill>
                <a:latin typeface="Arial" pitchFamily="34" charset="0"/>
                <a:ea typeface="Arial" pitchFamily="34" charset="-122"/>
                <a:cs typeface="Arial" pitchFamily="34" charset="-120"/>
              </a:rPr>
              <a:t>坐标注意力 (Coordinate Attention)</a:t>
            </a:r>
            <a:endParaRPr lang="en-US" sz="1000" dirty="false"/>
          </a:p>
        </p:txBody>
      </p:sp>
      <p:sp>
        <p:nvSpPr>
          <p:cNvPr id="348" name="Text 6"/>
          <p:cNvSpPr/>
          <p:nvPr/>
        </p:nvSpPr>
        <p:spPr>
          <a:xfrm>
            <a:off x="457200" y="1170432"/>
            <a:ext cx="3931920" cy="32004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沿H和W方向池化，编码空间位置信息。1×1卷积学习位置相关注意力权重。</a:t>
            </a:r>
            <a:endParaRPr lang="en-US" sz="800" dirty="false"/>
          </a:p>
        </p:txBody>
      </p:sp>
      <p:sp>
        <p:nvSpPr>
          <p:cNvPr id="349" name="Shape 7"/>
          <p:cNvSpPr/>
          <p:nvPr/>
        </p:nvSpPr>
        <p:spPr>
          <a:xfrm>
            <a:off x="457200" y="1508760"/>
            <a:ext cx="3931920" cy="228600"/>
          </a:xfrm>
          <a:prstGeom prst="roundRect">
            <a:avLst/>
          </a:prstGeom>
          <a:solidFill>
            <a:srgbClr val="1C2833"/>
          </a:solidFill>
          <a:ln/>
        </p:spPr>
        <p:txBody>
          <a:bodyPr/>
          <a:p>
            <a:pPr/>
            <a:endParaRPr/>
          </a:p>
        </p:txBody>
      </p:sp>
      <p:sp>
        <p:nvSpPr>
          <p:cNvPr id="350" name="Text 8"/>
          <p:cNvSpPr/>
          <p:nvPr/>
        </p:nvSpPr>
        <p:spPr>
          <a:xfrm>
            <a:off x="457200" y="1508760"/>
            <a:ext cx="3931920" cy="228600"/>
          </a:xfrm>
          <a:prstGeom prst="rect">
            <a:avLst/>
          </a:prstGeom>
          <a:noFill/>
          <a:ln/>
        </p:spPr>
        <p:txBody>
          <a:bodyPr wrap="square" rtlCol="false" anchor="ctr"/>
          <a:lstStyle/>
          <a:p>
            <a:pPr marL="0" indent="0" algn="ctr">
              <a:buNone/>
            </a:pPr>
            <a:r>
              <a:rPr lang="en-US" sz="900" dirty="false">
                <a:solidFill>
                  <a:srgbClr val="FFFFFF"/>
                </a:solidFill>
                <a:latin typeface="Times New Roman" pitchFamily="34" charset="0"/>
                <a:ea typeface="Times New Roman" pitchFamily="34" charset="-122"/>
                <a:cs typeface="Times New Roman" pitchFamily="34" charset="-120"/>
              </a:rPr>
              <a:t>F_out = F × σ(a_h) × σ(a_w)</a:t>
            </a:r>
            <a:endParaRPr lang="en-US" sz="900" dirty="false"/>
          </a:p>
        </p:txBody>
      </p:sp>
      <p:sp>
        <p:nvSpPr>
          <p:cNvPr id="351" name="Shape 9"/>
          <p:cNvSpPr/>
          <p:nvPr/>
        </p:nvSpPr>
        <p:spPr>
          <a:xfrm>
            <a:off x="365760" y="1874520"/>
            <a:ext cx="411480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52" name="Shape 10"/>
          <p:cNvSpPr/>
          <p:nvPr/>
        </p:nvSpPr>
        <p:spPr>
          <a:xfrm>
            <a:off x="365760" y="1874520"/>
            <a:ext cx="36576" cy="868680"/>
          </a:xfrm>
          <a:prstGeom prst="rect">
            <a:avLst/>
          </a:prstGeom>
          <a:solidFill>
            <a:srgbClr val="E74C3C"/>
          </a:solidFill>
          <a:ln/>
        </p:spPr>
        <p:txBody>
          <a:bodyPr/>
          <a:p>
            <a:pPr/>
            <a:endParaRPr/>
          </a:p>
        </p:txBody>
      </p:sp>
      <p:sp>
        <p:nvSpPr>
          <p:cNvPr id="353" name="Text 11"/>
          <p:cNvSpPr/>
          <p:nvPr/>
        </p:nvSpPr>
        <p:spPr>
          <a:xfrm>
            <a:off x="457200" y="1920240"/>
            <a:ext cx="3931920" cy="201168"/>
          </a:xfrm>
          <a:prstGeom prst="rect">
            <a:avLst/>
          </a:prstGeom>
          <a:noFill/>
          <a:ln/>
        </p:spPr>
        <p:txBody>
          <a:bodyPr wrap="square" rtlCol="false" anchor="ctr"/>
          <a:lstStyle/>
          <a:p>
            <a:pPr marL="0" indent="0">
              <a:buNone/>
            </a:pPr>
            <a:r>
              <a:rPr lang="en-US" sz="1000" b="true" dirty="false">
                <a:solidFill>
                  <a:srgbClr val="E74C3C"/>
                </a:solidFill>
                <a:latin typeface="Arial" pitchFamily="34" charset="0"/>
                <a:ea typeface="Arial" pitchFamily="34" charset="-122"/>
                <a:cs typeface="Arial" pitchFamily="34" charset="-120"/>
              </a:rPr>
              <a:t>通道注意力 (Channel Attention)</a:t>
            </a:r>
            <a:endParaRPr lang="en-US" sz="1000" dirty="false"/>
          </a:p>
        </p:txBody>
      </p:sp>
      <p:sp>
        <p:nvSpPr>
          <p:cNvPr id="354" name="Text 12"/>
          <p:cNvSpPr/>
          <p:nvPr/>
        </p:nvSpPr>
        <p:spPr>
          <a:xfrm>
            <a:off x="457200" y="2130552"/>
            <a:ext cx="3931920" cy="32004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基于SE模块，全局平均池化提取通道统计信息，4分支并行处理后重标定。</a:t>
            </a:r>
            <a:endParaRPr lang="en-US" sz="800" dirty="false"/>
          </a:p>
        </p:txBody>
      </p:sp>
      <p:sp>
        <p:nvSpPr>
          <p:cNvPr id="355" name="Shape 13"/>
          <p:cNvSpPr/>
          <p:nvPr/>
        </p:nvSpPr>
        <p:spPr>
          <a:xfrm>
            <a:off x="457200" y="2468880"/>
            <a:ext cx="3931920" cy="228600"/>
          </a:xfrm>
          <a:prstGeom prst="roundRect">
            <a:avLst/>
          </a:prstGeom>
          <a:solidFill>
            <a:srgbClr val="1C2833"/>
          </a:solidFill>
          <a:ln/>
        </p:spPr>
        <p:txBody>
          <a:bodyPr/>
          <a:p>
            <a:pPr/>
            <a:endParaRPr/>
          </a:p>
        </p:txBody>
      </p:sp>
      <p:sp>
        <p:nvSpPr>
          <p:cNvPr id="356" name="Text 14"/>
          <p:cNvSpPr/>
          <p:nvPr/>
        </p:nvSpPr>
        <p:spPr>
          <a:xfrm>
            <a:off x="457200" y="2468880"/>
            <a:ext cx="3931920" cy="228600"/>
          </a:xfrm>
          <a:prstGeom prst="rect">
            <a:avLst/>
          </a:prstGeom>
          <a:noFill/>
          <a:ln/>
        </p:spPr>
        <p:txBody>
          <a:bodyPr wrap="square" rtlCol="false" anchor="ctr"/>
          <a:lstStyle/>
          <a:p>
            <a:pPr marL="0" indent="0" algn="ctr">
              <a:buNone/>
            </a:pPr>
            <a:r>
              <a:rPr lang="en-US" sz="900" dirty="false">
                <a:solidFill>
                  <a:srgbClr val="FFFFFF"/>
                </a:solidFill>
                <a:latin typeface="Times New Roman" pitchFamily="34" charset="0"/>
                <a:ea typeface="Times New Roman" pitchFamily="34" charset="-122"/>
                <a:cs typeface="Times New Roman" pitchFamily="34" charset="-120"/>
              </a:rPr>
              <a:t>F_out = F × σ(s)</a:t>
            </a:r>
            <a:endParaRPr lang="en-US" sz="900" dirty="false"/>
          </a:p>
        </p:txBody>
      </p:sp>
      <p:sp>
        <p:nvSpPr>
          <p:cNvPr id="357" name="Shape 15"/>
          <p:cNvSpPr/>
          <p:nvPr/>
        </p:nvSpPr>
        <p:spPr>
          <a:xfrm>
            <a:off x="365760" y="2834640"/>
            <a:ext cx="4114800" cy="1188720"/>
          </a:xfrm>
          <a:prstGeom prst="roundRect">
            <a:avLst/>
          </a:prstGeom>
          <a:solidFill>
            <a:srgbClr val="2E4053"/>
          </a:solidFill>
          <a:ln/>
        </p:spPr>
        <p:txBody>
          <a:bodyPr/>
          <a:p>
            <a:pPr/>
            <a:endParaRPr/>
          </a:p>
        </p:txBody>
      </p:sp>
      <p:sp>
        <p:nvSpPr>
          <p:cNvPr id="358" name="Text 16"/>
          <p:cNvSpPr/>
          <p:nvPr/>
        </p:nvSpPr>
        <p:spPr>
          <a:xfrm>
            <a:off x="457200" y="2880360"/>
            <a:ext cx="3931920" cy="201168"/>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主要作用</a:t>
            </a:r>
            <a:endParaRPr lang="en-US" sz="1000" dirty="false"/>
          </a:p>
        </p:txBody>
      </p:sp>
      <p:sp>
        <p:nvSpPr>
          <p:cNvPr id="359" name="Text 17"/>
          <p:cNvSpPr/>
          <p:nvPr/>
        </p:nvSpPr>
        <p:spPr>
          <a:xfrm>
            <a:off x="457200" y="3108960"/>
            <a:ext cx="3931920" cy="18288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 增强空间位置信息编码</a:t>
            </a:r>
            <a:endParaRPr lang="en-US" sz="800" dirty="false"/>
          </a:p>
        </p:txBody>
      </p:sp>
      <p:sp>
        <p:nvSpPr>
          <p:cNvPr id="360" name="Text 18"/>
          <p:cNvSpPr/>
          <p:nvPr/>
        </p:nvSpPr>
        <p:spPr>
          <a:xfrm>
            <a:off x="457200" y="3310128"/>
            <a:ext cx="3931920" cy="18288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 强化判别性特征通道响应</a:t>
            </a:r>
            <a:endParaRPr lang="en-US" sz="800" dirty="false"/>
          </a:p>
        </p:txBody>
      </p:sp>
      <p:sp>
        <p:nvSpPr>
          <p:cNvPr id="361" name="Text 19"/>
          <p:cNvSpPr/>
          <p:nvPr/>
        </p:nvSpPr>
        <p:spPr>
          <a:xfrm>
            <a:off x="457200" y="3511296"/>
            <a:ext cx="3931920" cy="182880"/>
          </a:xfrm>
          <a:prstGeom prst="rect">
            <a:avLst/>
          </a:prstGeom>
          <a:noFill/>
          <a:ln/>
        </p:spPr>
        <p:txBody>
          <a:bodyPr wrap="square" rtlCol="false" anchor="ctr"/>
          <a:lstStyle/>
          <a:p>
            <a:pPr marL="0" indent="0">
              <a:buNone/>
            </a:pPr>
            <a:r>
              <a:rPr lang="en-US" sz="800" dirty="false">
                <a:solidFill>
                  <a:srgbClr val="FFFFFF"/>
                </a:solidFill>
                <a:latin typeface="Arial" pitchFamily="34" charset="0"/>
                <a:ea typeface="Arial" pitchFamily="34" charset="-122"/>
                <a:cs typeface="Arial" pitchFamily="34" charset="-120"/>
              </a:rPr>
              <a:t>• 改善细长结构与模糊边界分割</a:t>
            </a:r>
            <a:endParaRPr lang="en-US" sz="800" dirty="false"/>
          </a:p>
        </p:txBody>
      </p:sp>
      <p:sp>
        <p:nvSpPr>
          <p:cNvPr id="362" name="Text 20"/>
          <p:cNvSpPr/>
          <p:nvPr/>
        </p:nvSpPr>
        <p:spPr>
          <a:xfrm>
            <a:off x="457200" y="3749040"/>
            <a:ext cx="3931920" cy="201168"/>
          </a:xfrm>
          <a:prstGeom prst="rect">
            <a:avLst/>
          </a:prstGeom>
          <a:noFill/>
          <a:ln/>
        </p:spPr>
        <p:txBody>
          <a:bodyPr wrap="square" rtlCol="false" anchor="ctr"/>
          <a:lstStyle/>
          <a:p>
            <a:pPr marL="0" indent="0">
              <a:buNone/>
            </a:pPr>
            <a:r>
              <a:rPr lang="en-US" sz="800" b="true" dirty="false">
                <a:solidFill>
                  <a:srgbClr val="27AE60"/>
                </a:solidFill>
                <a:latin typeface="Arial" pitchFamily="34" charset="0"/>
                <a:ea typeface="Arial" pitchFamily="34" charset="-122"/>
                <a:cs typeface="Arial" pitchFamily="34" charset="-120"/>
              </a:rPr>
              <a:t>参数: 输入560 | Reduction=4 | 4分支 | mIoU提升: +5.9%</a:t>
            </a:r>
            <a:endParaRPr lang="en-US" sz="800" dirty="false"/>
          </a:p>
        </p:txBody>
      </p:sp>
      <p:sp>
        <p:nvSpPr>
          <p:cNvPr id="363" name="Shape 21"/>
          <p:cNvSpPr/>
          <p:nvPr/>
        </p:nvSpPr>
        <p:spPr>
          <a:xfrm>
            <a:off x="4617720" y="914400"/>
            <a:ext cx="4160520" cy="31089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64" name="Text 22"/>
          <p:cNvSpPr/>
          <p:nvPr/>
        </p:nvSpPr>
        <p:spPr>
          <a:xfrm>
            <a:off x="4709160" y="960120"/>
            <a:ext cx="3977640" cy="228600"/>
          </a:xfrm>
          <a:prstGeom prst="rect">
            <a:avLst/>
          </a:prstGeom>
          <a:noFill/>
          <a:ln/>
        </p:spPr>
        <p:txBody>
          <a:bodyPr wrap="square" rtlCol="false" anchor="ctr"/>
          <a:lstStyle/>
          <a:p>
            <a:pPr marL="0" indent="0" algn="ctr">
              <a:buNone/>
            </a:pPr>
            <a:r>
              <a:rPr lang="en-US" sz="1000" b="true" dirty="false">
                <a:solidFill>
                  <a:srgbClr val="1C2833"/>
                </a:solidFill>
                <a:latin typeface="Arial" pitchFamily="34" charset="0"/>
                <a:ea typeface="Arial" pitchFamily="34" charset="-122"/>
                <a:cs typeface="Arial" pitchFamily="34" charset="-120"/>
              </a:rPr>
              <a:t>SAE模块结构图</a:t>
            </a:r>
            <a:endParaRPr lang="en-US" sz="1000" dirty="false"/>
          </a:p>
        </p:txBody>
      </p:sp>
      <p:pic>
        <p:nvPicPr>
          <p:cNvPr id="365" name="Image 0" descr="../figure/cp4/sae_diagram/fig4-1_sae_module.png"/>
          <p:cNvPicPr>
            <a:picLocks noChangeAspect="true"/>
          </p:cNvPicPr>
          <p:nvPr/>
        </p:nvPicPr>
        <p:blipFill>
          <a:blip r:embed="rId2"/>
          <a:stretch>
            <a:fillRect/>
          </a:stretch>
        </p:blipFill>
        <p:spPr>
          <a:xfrm>
            <a:off x="5394960" y="1234440"/>
            <a:ext cx="1691640" cy="26974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6F6"/>
        </a:solidFill>
      </p:bgPr>
    </p:bg>
    <p:spTree>
      <p:nvGrpSpPr>
        <p:cNvPr id="366" name=""/>
        <p:cNvGrpSpPr/>
        <p:nvPr/>
      </p:nvGrpSpPr>
      <p:grpSpPr>
        <a:xfrm>
          <a:off x="0" y="0"/>
          <a:ext cx="0" cy="0"/>
          <a:chOff x="0" y="0"/>
          <a:chExt cx="0" cy="0"/>
        </a:xfrm>
      </p:grpSpPr>
      <p:sp>
        <p:nvSpPr>
          <p:cNvPr id="367" name="Shape 0"/>
          <p:cNvSpPr/>
          <p:nvPr/>
        </p:nvSpPr>
        <p:spPr>
          <a:xfrm>
            <a:off x="0" y="0"/>
            <a:ext cx="91440" cy="5143500"/>
          </a:xfrm>
          <a:prstGeom prst="rect">
            <a:avLst/>
          </a:prstGeom>
          <a:solidFill>
            <a:srgbClr val="1C2833"/>
          </a:solidFill>
          <a:ln/>
        </p:spPr>
        <p:txBody>
          <a:bodyPr/>
          <a:p>
            <a:pPr/>
            <a:endParaRPr/>
          </a:p>
        </p:txBody>
      </p:sp>
      <p:sp>
        <p:nvSpPr>
          <p:cNvPr id="368"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69"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改进模型整体结构</a:t>
            </a:r>
            <a:endParaRPr lang="en-US" sz="2400" dirty="false"/>
          </a:p>
        </p:txBody>
      </p:sp>
      <p:sp>
        <p:nvSpPr>
          <p:cNvPr id="370" name="Shape 3"/>
          <p:cNvSpPr/>
          <p:nvPr/>
        </p:nvSpPr>
        <p:spPr>
          <a:xfrm>
            <a:off x="365760" y="868680"/>
            <a:ext cx="8412480" cy="233172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pic>
        <p:nvPicPr>
          <p:cNvPr id="371" name="Image 0" descr="../figure/cp3/fig3-5_improved_model_structure.png"/>
          <p:cNvPicPr>
            <a:picLocks noChangeAspect="true"/>
          </p:cNvPicPr>
          <p:nvPr/>
        </p:nvPicPr>
        <p:blipFill>
          <a:blip r:embed="rId2"/>
          <a:stretch>
            <a:fillRect/>
          </a:stretch>
        </p:blipFill>
        <p:spPr>
          <a:xfrm>
            <a:off x="1920240" y="932688"/>
            <a:ext cx="5303520" cy="2194560"/>
          </a:xfrm>
          <a:prstGeom prst="rect">
            <a:avLst/>
          </a:prstGeom>
        </p:spPr>
      </p:pic>
      <p:sp>
        <p:nvSpPr>
          <p:cNvPr id="372" name="Shape 4"/>
          <p:cNvSpPr/>
          <p:nvPr/>
        </p:nvSpPr>
        <p:spPr>
          <a:xfrm>
            <a:off x="365760" y="329184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73" name="Shape 5"/>
          <p:cNvSpPr/>
          <p:nvPr/>
        </p:nvSpPr>
        <p:spPr>
          <a:xfrm>
            <a:off x="365760" y="3291840"/>
            <a:ext cx="36576" cy="777240"/>
          </a:xfrm>
          <a:prstGeom prst="rect">
            <a:avLst/>
          </a:prstGeom>
          <a:solidFill>
            <a:srgbClr val="E74C3C"/>
          </a:solidFill>
          <a:ln/>
        </p:spPr>
        <p:txBody>
          <a:bodyPr/>
          <a:p>
            <a:pPr/>
            <a:endParaRPr/>
          </a:p>
        </p:txBody>
      </p:sp>
      <p:sp>
        <p:nvSpPr>
          <p:cNvPr id="374" name="Text 6"/>
          <p:cNvSpPr/>
          <p:nvPr/>
        </p:nvSpPr>
        <p:spPr>
          <a:xfrm>
            <a:off x="502920" y="3337560"/>
            <a:ext cx="246888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TR模块位置</a:t>
            </a:r>
            <a:endParaRPr lang="en-US" sz="1000" dirty="false"/>
          </a:p>
        </p:txBody>
      </p:sp>
      <p:sp>
        <p:nvSpPr>
          <p:cNvPr id="375" name="Text 7"/>
          <p:cNvSpPr/>
          <p:nvPr/>
        </p:nvSpPr>
        <p:spPr>
          <a:xfrm>
            <a:off x="502920" y="3584448"/>
            <a:ext cx="246888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ASPP输出后，16×16×2560特征图，增强全局上下文建模。</a:t>
            </a:r>
            <a:endParaRPr lang="en-US" sz="800" dirty="false"/>
          </a:p>
        </p:txBody>
      </p:sp>
      <p:sp>
        <p:nvSpPr>
          <p:cNvPr id="376" name="Shape 8"/>
          <p:cNvSpPr/>
          <p:nvPr/>
        </p:nvSpPr>
        <p:spPr>
          <a:xfrm>
            <a:off x="3246120" y="329184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77" name="Shape 9"/>
          <p:cNvSpPr/>
          <p:nvPr/>
        </p:nvSpPr>
        <p:spPr>
          <a:xfrm>
            <a:off x="3246120" y="3291840"/>
            <a:ext cx="36576" cy="777240"/>
          </a:xfrm>
          <a:prstGeom prst="rect">
            <a:avLst/>
          </a:prstGeom>
          <a:solidFill>
            <a:srgbClr val="27AE60"/>
          </a:solidFill>
          <a:ln/>
        </p:spPr>
        <p:txBody>
          <a:bodyPr/>
          <a:p>
            <a:pPr/>
            <a:endParaRPr/>
          </a:p>
        </p:txBody>
      </p:sp>
      <p:sp>
        <p:nvSpPr>
          <p:cNvPr id="378" name="Text 10"/>
          <p:cNvSpPr/>
          <p:nvPr/>
        </p:nvSpPr>
        <p:spPr>
          <a:xfrm>
            <a:off x="3383280" y="3337560"/>
            <a:ext cx="246888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SAE模块位置</a:t>
            </a:r>
            <a:endParaRPr lang="en-US" sz="1000" dirty="false"/>
          </a:p>
        </p:txBody>
      </p:sp>
      <p:sp>
        <p:nvSpPr>
          <p:cNvPr id="379" name="Text 11"/>
          <p:cNvSpPr/>
          <p:nvPr/>
        </p:nvSpPr>
        <p:spPr>
          <a:xfrm>
            <a:off x="3383280" y="3584448"/>
            <a:ext cx="246888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解码器融合后，128×128×560特征图，增强局部细节与边界。</a:t>
            </a:r>
            <a:endParaRPr lang="en-US" sz="800" dirty="false"/>
          </a:p>
        </p:txBody>
      </p:sp>
      <p:sp>
        <p:nvSpPr>
          <p:cNvPr id="380" name="Shape 12"/>
          <p:cNvSpPr/>
          <p:nvPr/>
        </p:nvSpPr>
        <p:spPr>
          <a:xfrm>
            <a:off x="6126480" y="3291840"/>
            <a:ext cx="2743200" cy="77724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81" name="Shape 13"/>
          <p:cNvSpPr/>
          <p:nvPr/>
        </p:nvSpPr>
        <p:spPr>
          <a:xfrm>
            <a:off x="6126480" y="3291840"/>
            <a:ext cx="36576" cy="777240"/>
          </a:xfrm>
          <a:prstGeom prst="rect">
            <a:avLst/>
          </a:prstGeom>
          <a:solidFill>
            <a:srgbClr val="1C2833"/>
          </a:solidFill>
          <a:ln/>
        </p:spPr>
        <p:txBody>
          <a:bodyPr/>
          <a:p>
            <a:pPr/>
            <a:endParaRPr/>
          </a:p>
        </p:txBody>
      </p:sp>
      <p:sp>
        <p:nvSpPr>
          <p:cNvPr id="382" name="Text 14"/>
          <p:cNvSpPr/>
          <p:nvPr/>
        </p:nvSpPr>
        <p:spPr>
          <a:xfrm>
            <a:off x="6263640" y="3337560"/>
            <a:ext cx="2468880" cy="22860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协同效应</a:t>
            </a:r>
            <a:endParaRPr lang="en-US" sz="1000" dirty="false"/>
          </a:p>
        </p:txBody>
      </p:sp>
      <p:sp>
        <p:nvSpPr>
          <p:cNvPr id="383" name="Text 15"/>
          <p:cNvSpPr/>
          <p:nvPr/>
        </p:nvSpPr>
        <p:spPr>
          <a:xfrm>
            <a:off x="6263640" y="3584448"/>
            <a:ext cx="2468880" cy="438912"/>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TR全局语义 + SAE局部细节，互补提升整体分割性能。</a:t>
            </a:r>
            <a:endParaRPr lang="en-US" sz="800" dirty="false"/>
          </a:p>
        </p:txBody>
      </p:sp>
    </p:spTree>
  </p:cSld>
  <p:clrMapOvr>
    <a:masterClrMapping/>
  </p:clrMapOvr>
</p:sld>
</file>

<file path=ppt/slides/slide28.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8">
    <p:bg>
      <p:bgPr>
        <a:solidFill>
          <a:srgbClr val="F4F6F6"/>
        </a:solidFill>
      </p:bgPr>
    </p:bg>
    <p:spTree>
      <p:nvGrpSpPr>
        <p:cNvPr id="384" name=""/>
        <p:cNvGrpSpPr/>
        <p:nvPr/>
      </p:nvGrpSpPr>
      <p:grpSpPr>
        <a:xfrm>
          <a:off x="0" y="0"/>
          <a:ext cx="0" cy="0"/>
          <a:chOff x="0" y="0"/>
          <a:chExt cx="0" cy="0"/>
        </a:xfrm>
      </p:grpSpPr>
      <p:sp>
        <p:nvSpPr>
          <p:cNvPr id="385" name="Shape 0"/>
          <p:cNvSpPr/>
          <p:nvPr/>
        </p:nvSpPr>
        <p:spPr>
          <a:xfrm>
            <a:off x="0" y="0"/>
            <a:ext cx="91440" cy="5143500"/>
          </a:xfrm>
          <a:prstGeom prst="rect">
            <a:avLst/>
          </a:prstGeom>
          <a:solidFill>
            <a:srgbClr val="1C2833"/>
          </a:solidFill>
          <a:ln/>
        </p:spPr>
        <p:txBody>
          <a:bodyPr/>
          <a:p>
            <a:pPr/>
            <a:endParaRPr/>
          </a:p>
        </p:txBody>
      </p:sp>
      <p:sp>
        <p:nvSpPr>
          <p:cNvPr id="38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38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综合消融实验</a:t>
            </a:r>
            <a:endParaRPr lang="en-US" sz="2400" dirty="false"/>
          </a:p>
        </p:txBody>
      </p:sp>
      <p:graphicFrame>
        <p:nvGraphicFramePr>
          <p:cNvPr id="388" name="Table 0"/>
          <p:cNvGraphicFramePr/>
          <p:nvPr/>
        </p:nvGraphicFramePr>
        <p:xfrm>
          <a:off x="365760" y="914400"/>
          <a:ext cx="8412480" cy="1645920"/>
        </p:xfrm>
        <a:graphic>
          <a:graphicData uri="http://schemas.openxmlformats.org/drawingml/2006/table">
            <a:tbl>
              <a:tblPr/>
              <a:tblGrid>
                <a:gridCol w="2011680">
                  <a:extLst>
                    <a:ext uri="{9D8B030D-6E8A-4147-A177-3AD203B41FA5}">
                      <a16:colId val="1"/>
                    </a:ext>
                  </a:extLst>
                </a:gridCol>
                <a:gridCol w="640080">
                  <a:extLst>
                    <a:ext uri="{9D8B030D-6E8A-4147-A177-3AD203B41FA5}">
                      <a16:colId val="2"/>
                    </a:ext>
                  </a:extLst>
                </a:gridCol>
                <a:gridCol w="640080">
                  <a:extLst>
                    <a:ext uri="{9D8B030D-6E8A-4147-A177-3AD203B41FA5}">
                      <a16:colId val="3"/>
                    </a:ext>
                  </a:extLst>
                </a:gridCol>
                <a:gridCol w="1005840">
                  <a:extLst>
                    <a:ext uri="{9D8B030D-6E8A-4147-A177-3AD203B41FA5}">
                      <a16:colId val="4"/>
                    </a:ext>
                  </a:extLst>
                </a:gridCol>
                <a:gridCol w="1005840">
                  <a:extLst>
                    <a:ext uri="{9D8B030D-6E8A-4147-A177-3AD203B41FA5}">
                      <a16:colId val="5"/>
                    </a:ext>
                  </a:extLst>
                </a:gridCol>
                <a:gridCol w="1005840">
                  <a:extLst>
                    <a:ext uri="{9D8B030D-6E8A-4147-A177-3AD203B41FA5}">
                      <a16:colId val="6"/>
                    </a:ext>
                  </a:extLst>
                </a:gridCol>
                <a:gridCol w="1188720">
                  <a:extLst>
                    <a:ext uri="{9D8B030D-6E8A-4147-A177-3AD203B41FA5}">
                      <a16:colId val="7"/>
                    </a:ext>
                  </a:extLst>
                </a:gridCol>
              </a:tblGrid>
              <a:tr h="329184">
                <a:tc>
                  <a:txBody>
                    <a:bodyPr/>
                    <a:lstStyle/>
                    <a:p>
                      <a:pPr marL="0" indent="0" algn="ctr">
                        <a:buNone/>
                      </a:pPr>
                      <a:r>
                        <a:rPr lang="en-US" sz="1000" b="true" dirty="false">
                          <a:solidFill>
                            <a:srgbClr val="FFFFFF"/>
                          </a:solidFill>
                        </a:rPr>
                        <a:t>配置</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TR</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SAE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mIoU</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mDice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HD95↓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1000" b="true" dirty="false">
                          <a:solidFill>
                            <a:srgbClr val="FFFFFF"/>
                          </a:solidFill>
                        </a:rPr>
                        <a:t>提升</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329184">
                <a:tc>
                  <a:txBody>
                    <a:bodyPr/>
                    <a:lstStyle/>
                    <a:p>
                      <a:pPr marL="0" indent="0" algn="ctr">
                        <a:buNone/>
                      </a:pPr>
                      <a:r>
                        <a:rPr lang="en-US" sz="1000" dirty="false">
                          <a:solidFill>
                            <a:srgbClr val="000000"/>
                          </a:solidFill>
                        </a:rPr>
                        <a:t>DeepLabV3+ (基线)</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0.851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0.913</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12.22</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329184">
                <a:tc>
                  <a:txBody>
                    <a:bodyPr/>
                    <a:lstStyle/>
                    <a:p>
                      <a:pPr marL="0" indent="0" algn="ctr">
                        <a:buNone/>
                      </a:pPr>
                      <a:r>
                        <a:rPr lang="en-US" sz="1000" dirty="false">
                          <a:solidFill>
                            <a:srgbClr val="000000"/>
                          </a:solidFill>
                        </a:rPr>
                        <a:t>+ TR (第三章)</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0.884</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0.935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11.89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b="true" dirty="false">
                          <a:solidFill>
                            <a:srgbClr val="27AE60"/>
                          </a:solidFill>
                        </a:rPr>
                        <a:t>+3.9%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329184">
                <a:tc>
                  <a:txBody>
                    <a:bodyPr/>
                    <a:lstStyle/>
                    <a:p>
                      <a:pPr marL="0" indent="0" algn="ctr">
                        <a:buNone/>
                      </a:pPr>
                      <a:r>
                        <a:rPr lang="en-US" sz="1000" dirty="false">
                          <a:solidFill>
                            <a:srgbClr val="000000"/>
                          </a:solidFill>
                        </a:rPr>
                        <a:t>+ SAE</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0.901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000000"/>
                          </a:solidFill>
                        </a:rPr>
                        <a:t>0.945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dirty="false">
                          <a:solidFill>
                            <a:srgbClr val="27AE60"/>
                          </a:solidFill>
                        </a:rPr>
                        <a:t>11.45</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1000" b="true" dirty="false">
                          <a:solidFill>
                            <a:srgbClr val="27AE60"/>
                          </a:solidFill>
                        </a:rPr>
                        <a:t>+5.9%</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329184">
                <a:tc>
                  <a:txBody>
                    <a:bodyPr/>
                    <a:lstStyle/>
                    <a:p>
                      <a:pPr marL="0" indent="0" algn="ctr">
                        <a:buNone/>
                      </a:pPr>
                      <a:r>
                        <a:rPr lang="en-US" sz="1000" b="true" dirty="false">
                          <a:solidFill>
                            <a:srgbClr val="000000"/>
                          </a:solidFill>
                        </a:rPr>
                        <a:t>+ TR + SAE (本文)</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0.911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000000"/>
                          </a:solidFill>
                        </a:rPr>
                        <a:t>0.951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E74C3C"/>
                          </a:solidFill>
                        </a:rPr>
                        <a:t>10.68</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1000" b="true" dirty="false">
                          <a:solidFill>
                            <a:srgbClr val="27AE60"/>
                          </a:solidFill>
                        </a:rPr>
                        <a:t>+7.1%</a:t>
                      </a:r>
                      <a:endParaRPr lang="en-US" sz="10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5"/>
                  </a:ext>
                </a:extLst>
              </a:tr>
            </a:tbl>
          </a:graphicData>
        </a:graphic>
      </p:graphicFrame>
      <p:sp>
        <p:nvSpPr>
          <p:cNvPr id="389" name="Shape 3"/>
          <p:cNvSpPr/>
          <p:nvPr/>
        </p:nvSpPr>
        <p:spPr>
          <a:xfrm>
            <a:off x="365760" y="2743200"/>
            <a:ext cx="27432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90" name="Shape 4"/>
          <p:cNvSpPr/>
          <p:nvPr/>
        </p:nvSpPr>
        <p:spPr>
          <a:xfrm>
            <a:off x="365760" y="2743200"/>
            <a:ext cx="2743200" cy="36576"/>
          </a:xfrm>
          <a:prstGeom prst="rect">
            <a:avLst/>
          </a:prstGeom>
          <a:solidFill>
            <a:srgbClr val="E74C3C"/>
          </a:solidFill>
          <a:ln/>
        </p:spPr>
        <p:txBody>
          <a:bodyPr/>
          <a:p>
            <a:pPr/>
            <a:endParaRPr/>
          </a:p>
        </p:txBody>
      </p:sp>
      <p:sp>
        <p:nvSpPr>
          <p:cNvPr id="391" name="Text 5"/>
          <p:cNvSpPr/>
          <p:nvPr/>
        </p:nvSpPr>
        <p:spPr>
          <a:xfrm>
            <a:off x="457200" y="2834640"/>
            <a:ext cx="256032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SAE模块贡献</a:t>
            </a:r>
            <a:endParaRPr lang="en-US" sz="1100" dirty="false"/>
          </a:p>
        </p:txBody>
      </p:sp>
      <p:sp>
        <p:nvSpPr>
          <p:cNvPr id="392" name="Text 6"/>
          <p:cNvSpPr/>
          <p:nvPr/>
        </p:nvSpPr>
        <p:spPr>
          <a:xfrm>
            <a:off x="457200" y="3154680"/>
            <a:ext cx="2560320" cy="8229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mIoU+5.9%, HD95从12.22降至11.45</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主要作用于边界分割精度提升</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坐标注意力增强空间位置感知</a:t>
            </a:r>
            <a:endParaRPr lang="en-US" sz="800" dirty="false"/>
          </a:p>
        </p:txBody>
      </p:sp>
      <p:sp>
        <p:nvSpPr>
          <p:cNvPr id="393" name="Shape 7"/>
          <p:cNvSpPr/>
          <p:nvPr/>
        </p:nvSpPr>
        <p:spPr>
          <a:xfrm>
            <a:off x="3246120" y="2743200"/>
            <a:ext cx="27432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94" name="Shape 8"/>
          <p:cNvSpPr/>
          <p:nvPr/>
        </p:nvSpPr>
        <p:spPr>
          <a:xfrm>
            <a:off x="3246120" y="2743200"/>
            <a:ext cx="2743200" cy="36576"/>
          </a:xfrm>
          <a:prstGeom prst="rect">
            <a:avLst/>
          </a:prstGeom>
          <a:solidFill>
            <a:srgbClr val="E74C3C"/>
          </a:solidFill>
          <a:ln/>
        </p:spPr>
        <p:txBody>
          <a:bodyPr/>
          <a:p>
            <a:pPr/>
            <a:endParaRPr/>
          </a:p>
        </p:txBody>
      </p:sp>
      <p:sp>
        <p:nvSpPr>
          <p:cNvPr id="395" name="Text 9"/>
          <p:cNvSpPr/>
          <p:nvPr/>
        </p:nvSpPr>
        <p:spPr>
          <a:xfrm>
            <a:off x="3337560" y="2834640"/>
            <a:ext cx="256032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TR模块贡献</a:t>
            </a:r>
            <a:endParaRPr lang="en-US" sz="1100" dirty="false"/>
          </a:p>
        </p:txBody>
      </p:sp>
      <p:sp>
        <p:nvSpPr>
          <p:cNvPr id="396" name="Text 10"/>
          <p:cNvSpPr/>
          <p:nvPr/>
        </p:nvSpPr>
        <p:spPr>
          <a:xfrm>
            <a:off x="3337560" y="3154680"/>
            <a:ext cx="2560320" cy="8229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mIoU+3.9%, HD95从12.22降至11.89</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增强全局上下文理解</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长距离依赖有效抑制噪声</a:t>
            </a:r>
            <a:endParaRPr lang="en-US" sz="800" dirty="false"/>
          </a:p>
        </p:txBody>
      </p:sp>
      <p:sp>
        <p:nvSpPr>
          <p:cNvPr id="397" name="Shape 11"/>
          <p:cNvSpPr/>
          <p:nvPr/>
        </p:nvSpPr>
        <p:spPr>
          <a:xfrm>
            <a:off x="6126480" y="2743200"/>
            <a:ext cx="2743200" cy="12801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398" name="Shape 12"/>
          <p:cNvSpPr/>
          <p:nvPr/>
        </p:nvSpPr>
        <p:spPr>
          <a:xfrm>
            <a:off x="6126480" y="2743200"/>
            <a:ext cx="2743200" cy="36576"/>
          </a:xfrm>
          <a:prstGeom prst="rect">
            <a:avLst/>
          </a:prstGeom>
          <a:solidFill>
            <a:srgbClr val="E74C3C"/>
          </a:solidFill>
          <a:ln/>
        </p:spPr>
        <p:txBody>
          <a:bodyPr/>
          <a:p>
            <a:pPr/>
            <a:endParaRPr/>
          </a:p>
        </p:txBody>
      </p:sp>
      <p:sp>
        <p:nvSpPr>
          <p:cNvPr id="399" name="Text 13"/>
          <p:cNvSpPr/>
          <p:nvPr/>
        </p:nvSpPr>
        <p:spPr>
          <a:xfrm>
            <a:off x="6217920" y="2834640"/>
            <a:ext cx="2560320" cy="32004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协同效应</a:t>
            </a:r>
            <a:endParaRPr lang="en-US" sz="1100" dirty="false"/>
          </a:p>
        </p:txBody>
      </p:sp>
      <p:sp>
        <p:nvSpPr>
          <p:cNvPr id="400" name="Text 14"/>
          <p:cNvSpPr/>
          <p:nvPr/>
        </p:nvSpPr>
        <p:spPr>
          <a:xfrm>
            <a:off x="6217920" y="3154680"/>
            <a:ext cx="2560320" cy="82296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mIoU+7.1%, HD95降至10.68 (-12.6%)</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全局(TR)+局部(SAE)互补</a:t>
            </a:r>
            <a:endParaRPr lang="en-US" sz="800" dirty="false"/>
          </a:p>
          <a:p>
            <a:pPr marL="0" indent="0">
              <a:buNone/>
            </a:pPr>
            <a:r>
              <a:rPr lang="en-US" sz="800" dirty="false">
                <a:solidFill>
                  <a:srgbClr val="2E4053"/>
                </a:solidFill>
                <a:latin typeface="Arial" pitchFamily="34" charset="0"/>
                <a:ea typeface="Arial" pitchFamily="34" charset="-122"/>
                <a:cs typeface="Arial" pitchFamily="34" charset="-120"/>
              </a:rPr>
              <a:t>边界精度与区域完整性双提升</a:t>
            </a:r>
            <a:endParaRPr lang="en-US" sz="800" dirty="false"/>
          </a:p>
        </p:txBody>
      </p:sp>
    </p:spTree>
  </p:cSld>
  <p:clrMapOvr>
    <a:masterClrMapping/>
  </p:clrMapOvr>
</p:sld>
</file>

<file path=ppt/slides/slide29.xml><?xml version="1.0" encoding="utf-8"?>
<p:sld xmlns:a16="http://schemas.microsoft.com/office/drawing/2014/main" xmlns:a="http://schemas.openxmlformats.org/drawingml/2006/main" xmlns:p="http://schemas.openxmlformats.org/presentationml/2006/main" xmlns:mc="http://schemas.openxmlformats.org/markup-compatibility/2006" mc:Ignorable="a16">
  <p:cSld name="Slide 29">
    <p:bg>
      <p:bgPr>
        <a:solidFill>
          <a:srgbClr val="F4F6F6"/>
        </a:solidFill>
      </p:bgPr>
    </p:bg>
    <p:spTree>
      <p:nvGrpSpPr>
        <p:cNvPr id="401" name=""/>
        <p:cNvGrpSpPr/>
        <p:nvPr/>
      </p:nvGrpSpPr>
      <p:grpSpPr>
        <a:xfrm>
          <a:off x="0" y="0"/>
          <a:ext cx="0" cy="0"/>
          <a:chOff x="0" y="0"/>
          <a:chExt cx="0" cy="0"/>
        </a:xfrm>
      </p:grpSpPr>
      <p:sp>
        <p:nvSpPr>
          <p:cNvPr id="402" name="Shape 0"/>
          <p:cNvSpPr/>
          <p:nvPr/>
        </p:nvSpPr>
        <p:spPr>
          <a:xfrm>
            <a:off x="0" y="0"/>
            <a:ext cx="91440" cy="5143500"/>
          </a:xfrm>
          <a:prstGeom prst="rect">
            <a:avLst/>
          </a:prstGeom>
          <a:solidFill>
            <a:srgbClr val="1C2833"/>
          </a:solidFill>
          <a:ln/>
        </p:spPr>
        <p:txBody>
          <a:bodyPr/>
          <a:p>
            <a:pPr/>
            <a:endParaRPr/>
          </a:p>
        </p:txBody>
      </p:sp>
      <p:sp>
        <p:nvSpPr>
          <p:cNvPr id="40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40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与主流方法对比</a:t>
            </a:r>
            <a:endParaRPr lang="en-US" sz="2400" dirty="false"/>
          </a:p>
        </p:txBody>
      </p:sp>
      <p:graphicFrame>
        <p:nvGraphicFramePr>
          <p:cNvPr id="405" name="Table 0"/>
          <p:cNvGraphicFramePr/>
          <p:nvPr/>
        </p:nvGraphicFramePr>
        <p:xfrm>
          <a:off x="365760" y="868680"/>
          <a:ext cx="8412480" cy="2011680"/>
        </p:xfrm>
        <a:graphic>
          <a:graphicData uri="http://schemas.openxmlformats.org/drawingml/2006/table">
            <a:tbl>
              <a:tblPr/>
              <a:tblGrid>
                <a:gridCol w="1828800">
                  <a:extLst>
                    <a:ext uri="{9D8B030D-6E8A-4147-A177-3AD203B41FA5}">
                      <a16:colId val="1"/>
                    </a:ext>
                  </a:extLst>
                </a:gridCol>
                <a:gridCol w="1005840">
                  <a:extLst>
                    <a:ext uri="{9D8B030D-6E8A-4147-A177-3AD203B41FA5}">
                      <a16:colId val="2"/>
                    </a:ext>
                  </a:extLst>
                </a:gridCol>
                <a:gridCol w="1005840">
                  <a:extLst>
                    <a:ext uri="{9D8B030D-6E8A-4147-A177-3AD203B41FA5}">
                      <a16:colId val="3"/>
                    </a:ext>
                  </a:extLst>
                </a:gridCol>
                <a:gridCol w="1005840">
                  <a:extLst>
                    <a:ext uri="{9D8B030D-6E8A-4147-A177-3AD203B41FA5}">
                      <a16:colId val="4"/>
                    </a:ext>
                  </a:extLst>
                </a:gridCol>
                <a:gridCol w="1097280">
                  <a:extLst>
                    <a:ext uri="{9D8B030D-6E8A-4147-A177-3AD203B41FA5}">
                      <a16:colId val="5"/>
                    </a:ext>
                  </a:extLst>
                </a:gridCol>
                <a:gridCol w="914400">
                  <a:extLst>
                    <a:ext uri="{9D8B030D-6E8A-4147-A177-3AD203B41FA5}">
                      <a16:colId val="6"/>
                    </a:ext>
                  </a:extLst>
                </a:gridCol>
                <a:gridCol w="1097280">
                  <a:extLst>
                    <a:ext uri="{9D8B030D-6E8A-4147-A177-3AD203B41FA5}">
                      <a16:colId val="7"/>
                    </a:ext>
                  </a:extLst>
                </a:gridCol>
              </a:tblGrid>
              <a:tr h="287383">
                <a:tc>
                  <a:txBody>
                    <a:bodyPr/>
                    <a:lstStyle/>
                    <a:p>
                      <a:pPr marL="0" indent="0" algn="ctr">
                        <a:buNone/>
                      </a:pPr>
                      <a:r>
                        <a:rPr lang="en-US" sz="900" b="true" dirty="false">
                          <a:solidFill>
                            <a:srgbClr val="FFFFFF"/>
                          </a:solidFill>
                        </a:rPr>
                        <a:t>模型</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mIoU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mAcc</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mDice</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目标IoU</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HD95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tc>
                  <a:txBody>
                    <a:bodyPr/>
                    <a:lstStyle/>
                    <a:p>
                      <a:pPr marL="0" indent="0" algn="ctr">
                        <a:buNone/>
                      </a:pPr>
                      <a:r>
                        <a:rPr lang="en-US" sz="900" b="true" dirty="false">
                          <a:solidFill>
                            <a:srgbClr val="FFFFFF"/>
                          </a:solidFill>
                        </a:rPr>
                        <a:t>参数量</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C2833"/>
                    </a:solidFill>
                  </a:tcPr>
                </a:tc>
                <a:extLst>
                  <a:ext uri="{0D108BD9-81ED-4DB2-BD59-A6C34878D82A}">
                    <a16:rowId val="1"/>
                  </a:ext>
                </a:extLst>
              </a:tr>
              <a:tr h="287383">
                <a:tc>
                  <a:txBody>
                    <a:bodyPr/>
                    <a:lstStyle/>
                    <a:p>
                      <a:pPr marL="0" indent="0" algn="ctr">
                        <a:buNone/>
                      </a:pPr>
                      <a:r>
                        <a:rPr lang="en-US" sz="900" dirty="false">
                          <a:solidFill>
                            <a:srgbClr val="000000"/>
                          </a:solidFill>
                        </a:rPr>
                        <a:t>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0.805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0.878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0.880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0.620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15.23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30MB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2"/>
                  </a:ext>
                </a:extLst>
              </a:tr>
              <a:tr h="287383">
                <a:tc>
                  <a:txBody>
                    <a:bodyPr/>
                    <a:lstStyle/>
                    <a:p>
                      <a:pPr marL="0" indent="0" algn="ctr">
                        <a:buNone/>
                      </a:pPr>
                      <a:r>
                        <a:rPr lang="en-US" sz="900" dirty="false">
                          <a:solidFill>
                            <a:srgbClr val="000000"/>
                          </a:solidFill>
                        </a:rPr>
                        <a:t>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0.751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0.905</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0.837</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8.8MB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3"/>
                  </a:ext>
                </a:extLst>
              </a:tr>
              <a:tr h="287383">
                <a:tc>
                  <a:txBody>
                    <a:bodyPr/>
                    <a:lstStyle/>
                    <a:p>
                      <a:pPr marL="0" indent="0" algn="ctr">
                        <a:buNone/>
                      </a:pPr>
                      <a:r>
                        <a:rPr lang="en-US" sz="900" dirty="false">
                          <a:solidFill>
                            <a:srgbClr val="000000"/>
                          </a:solidFill>
                        </a:rPr>
                        <a:t>ResUNet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0.721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0.788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0.810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13MB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4"/>
                  </a:ext>
                </a:extLst>
              </a:tr>
              <a:tr h="287383">
                <a:tc>
                  <a:txBody>
                    <a:bodyPr/>
                    <a:lstStyle/>
                    <a:p>
                      <a:pPr marL="0" indent="0" algn="ctr">
                        <a:buNone/>
                      </a:pPr>
                      <a:r>
                        <a:rPr lang="en-US" sz="900" dirty="false">
                          <a:solidFill>
                            <a:srgbClr val="000000"/>
                          </a:solidFill>
                        </a:rPr>
                        <a:t>TransUNet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0.810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0.963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0.884</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0.632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219MB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5"/>
                  </a:ext>
                </a:extLst>
              </a:tr>
              <a:tr h="287383">
                <a:tc>
                  <a:txBody>
                    <a:bodyPr/>
                    <a:lstStyle/>
                    <a:p>
                      <a:pPr marL="0" indent="0" algn="ctr">
                        <a:buNone/>
                      </a:pPr>
                      <a:r>
                        <a:rPr lang="en-US" sz="900" dirty="false">
                          <a:solidFill>
                            <a:srgbClr val="000000"/>
                          </a:solidFill>
                        </a:rPr>
                        <a:t>DeepLabV3+ (基线)</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0.851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0.923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0.913</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0.710</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12.22</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lgn="ctr">
                        <a:buNone/>
                      </a:pPr>
                      <a:r>
                        <a:rPr lang="en-US" sz="900" dirty="false">
                          <a:solidFill>
                            <a:srgbClr val="000000"/>
                          </a:solidFill>
                        </a:rPr>
                        <a:t>95MB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val="6"/>
                  </a:ext>
                </a:extLst>
              </a:tr>
              <a:tr h="287383">
                <a:tc>
                  <a:txBody>
                    <a:bodyPr/>
                    <a:lstStyle/>
                    <a:p>
                      <a:pPr marL="0" indent="0" algn="ctr">
                        <a:buNone/>
                      </a:pPr>
                      <a:r>
                        <a:rPr lang="en-US" sz="900" b="true" dirty="false">
                          <a:solidFill>
                            <a:srgbClr val="000000"/>
                          </a:solidFill>
                        </a:rPr>
                        <a:t>本文方法</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0.911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0.956</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0.951</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0.826</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E74C3C"/>
                          </a:solidFill>
                        </a:rPr>
                        <a:t>10.68</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tc>
                  <a:txBody>
                    <a:bodyPr/>
                    <a:lstStyle/>
                    <a:p>
                      <a:pPr marL="0" indent="0" algn="ctr">
                        <a:buNone/>
                      </a:pPr>
                      <a:r>
                        <a:rPr lang="en-US" sz="900" b="true" dirty="false">
                          <a:solidFill>
                            <a:srgbClr val="000000"/>
                          </a:solidFill>
                        </a:rPr>
                        <a:t>420MB</a:t>
                      </a:r>
                      <a:endParaRPr lang="en-US" sz="900" dirty="false"/>
                    </a:p>
                  </a:txBody>
                  <a:tcPr marL="91440" marR="91440" marT="45720" marB="45720"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E8F5E9"/>
                    </a:solidFill>
                  </a:tcPr>
                </a:tc>
                <a:extLst>
                  <a:ext uri="{0D108BD9-81ED-4DB2-BD59-A6C34878D82A}">
                    <a16:rowId val="7"/>
                  </a:ext>
                </a:extLst>
              </a:tr>
            </a:tbl>
          </a:graphicData>
        </a:graphic>
      </p:graphicFrame>
      <p:sp>
        <p:nvSpPr>
          <p:cNvPr id="406" name="Shape 3"/>
          <p:cNvSpPr/>
          <p:nvPr/>
        </p:nvSpPr>
        <p:spPr>
          <a:xfrm>
            <a:off x="365760" y="3108960"/>
            <a:ext cx="2011680" cy="960120"/>
          </a:xfrm>
          <a:prstGeom prst="roundRect">
            <a:avLst/>
          </a:prstGeom>
          <a:solidFill>
            <a:srgbClr val="1C2833"/>
          </a:solidFill>
          <a:ln/>
        </p:spPr>
        <p:txBody>
          <a:bodyPr/>
          <a:p>
            <a:pPr/>
            <a:endParaRPr/>
          </a:p>
        </p:txBody>
      </p:sp>
      <p:sp>
        <p:nvSpPr>
          <p:cNvPr id="407" name="Text 4"/>
          <p:cNvSpPr/>
          <p:nvPr/>
        </p:nvSpPr>
        <p:spPr>
          <a:xfrm>
            <a:off x="36576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+7.1%</a:t>
            </a:r>
            <a:endParaRPr lang="en-US" sz="2000" dirty="false"/>
          </a:p>
        </p:txBody>
      </p:sp>
      <p:sp>
        <p:nvSpPr>
          <p:cNvPr id="408" name="Text 5"/>
          <p:cNvSpPr/>
          <p:nvPr/>
        </p:nvSpPr>
        <p:spPr>
          <a:xfrm>
            <a:off x="36576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mIoU 提升</a:t>
            </a:r>
            <a:endParaRPr lang="en-US" sz="900" dirty="false"/>
          </a:p>
        </p:txBody>
      </p:sp>
      <p:sp>
        <p:nvSpPr>
          <p:cNvPr id="409" name="Text 6"/>
          <p:cNvSpPr/>
          <p:nvPr/>
        </p:nvSpPr>
        <p:spPr>
          <a:xfrm>
            <a:off x="36576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vs DeepLabV3+</a:t>
            </a:r>
            <a:endParaRPr lang="en-US" sz="800" dirty="false"/>
          </a:p>
        </p:txBody>
      </p:sp>
      <p:sp>
        <p:nvSpPr>
          <p:cNvPr id="410" name="Shape 7"/>
          <p:cNvSpPr/>
          <p:nvPr/>
        </p:nvSpPr>
        <p:spPr>
          <a:xfrm>
            <a:off x="2514600" y="3108960"/>
            <a:ext cx="2011680" cy="960120"/>
          </a:xfrm>
          <a:prstGeom prst="roundRect">
            <a:avLst/>
          </a:prstGeom>
          <a:solidFill>
            <a:srgbClr val="1C2833"/>
          </a:solidFill>
          <a:ln/>
        </p:spPr>
        <p:txBody>
          <a:bodyPr/>
          <a:p>
            <a:pPr/>
            <a:endParaRPr/>
          </a:p>
        </p:txBody>
      </p:sp>
      <p:sp>
        <p:nvSpPr>
          <p:cNvPr id="411" name="Text 8"/>
          <p:cNvSpPr/>
          <p:nvPr/>
        </p:nvSpPr>
        <p:spPr>
          <a:xfrm>
            <a:off x="251460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+16.3%</a:t>
            </a:r>
            <a:endParaRPr lang="en-US" sz="2000" dirty="false"/>
          </a:p>
        </p:txBody>
      </p:sp>
      <p:sp>
        <p:nvSpPr>
          <p:cNvPr id="412" name="Text 9"/>
          <p:cNvSpPr/>
          <p:nvPr/>
        </p:nvSpPr>
        <p:spPr>
          <a:xfrm>
            <a:off x="251460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目标IoU 提升</a:t>
            </a:r>
            <a:endParaRPr lang="en-US" sz="900" dirty="false"/>
          </a:p>
        </p:txBody>
      </p:sp>
      <p:sp>
        <p:nvSpPr>
          <p:cNvPr id="413" name="Text 10"/>
          <p:cNvSpPr/>
          <p:nvPr/>
        </p:nvSpPr>
        <p:spPr>
          <a:xfrm>
            <a:off x="251460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vs DeepLabV3+</a:t>
            </a:r>
            <a:endParaRPr lang="en-US" sz="800" dirty="false"/>
          </a:p>
        </p:txBody>
      </p:sp>
      <p:sp>
        <p:nvSpPr>
          <p:cNvPr id="414" name="Shape 11"/>
          <p:cNvSpPr/>
          <p:nvPr/>
        </p:nvSpPr>
        <p:spPr>
          <a:xfrm>
            <a:off x="4663440" y="3108960"/>
            <a:ext cx="2011680" cy="960120"/>
          </a:xfrm>
          <a:prstGeom prst="roundRect">
            <a:avLst/>
          </a:prstGeom>
          <a:solidFill>
            <a:srgbClr val="1C2833"/>
          </a:solidFill>
          <a:ln/>
        </p:spPr>
        <p:txBody>
          <a:bodyPr/>
          <a:p>
            <a:pPr/>
            <a:endParaRPr/>
          </a:p>
        </p:txBody>
      </p:sp>
      <p:sp>
        <p:nvSpPr>
          <p:cNvPr id="415" name="Text 12"/>
          <p:cNvSpPr/>
          <p:nvPr/>
        </p:nvSpPr>
        <p:spPr>
          <a:xfrm>
            <a:off x="466344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+13.2%</a:t>
            </a:r>
            <a:endParaRPr lang="en-US" sz="2000" dirty="false"/>
          </a:p>
        </p:txBody>
      </p:sp>
      <p:sp>
        <p:nvSpPr>
          <p:cNvPr id="416" name="Text 13"/>
          <p:cNvSpPr/>
          <p:nvPr/>
        </p:nvSpPr>
        <p:spPr>
          <a:xfrm>
            <a:off x="466344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mIoU 提升</a:t>
            </a:r>
            <a:endParaRPr lang="en-US" sz="900" dirty="false"/>
          </a:p>
        </p:txBody>
      </p:sp>
      <p:sp>
        <p:nvSpPr>
          <p:cNvPr id="417" name="Text 14"/>
          <p:cNvSpPr/>
          <p:nvPr/>
        </p:nvSpPr>
        <p:spPr>
          <a:xfrm>
            <a:off x="466344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vs UNet</a:t>
            </a:r>
            <a:endParaRPr lang="en-US" sz="800" dirty="false"/>
          </a:p>
        </p:txBody>
      </p:sp>
      <p:sp>
        <p:nvSpPr>
          <p:cNvPr id="418" name="Shape 15"/>
          <p:cNvSpPr/>
          <p:nvPr/>
        </p:nvSpPr>
        <p:spPr>
          <a:xfrm>
            <a:off x="6812280" y="3108960"/>
            <a:ext cx="2011680" cy="960120"/>
          </a:xfrm>
          <a:prstGeom prst="roundRect">
            <a:avLst/>
          </a:prstGeom>
          <a:solidFill>
            <a:srgbClr val="1C2833"/>
          </a:solidFill>
          <a:ln/>
        </p:spPr>
        <p:txBody>
          <a:bodyPr/>
          <a:p>
            <a:pPr/>
            <a:endParaRPr/>
          </a:p>
        </p:txBody>
      </p:sp>
      <p:sp>
        <p:nvSpPr>
          <p:cNvPr id="419" name="Text 16"/>
          <p:cNvSpPr/>
          <p:nvPr/>
        </p:nvSpPr>
        <p:spPr>
          <a:xfrm>
            <a:off x="6812280" y="3200400"/>
            <a:ext cx="2011680" cy="365760"/>
          </a:xfrm>
          <a:prstGeom prst="rect">
            <a:avLst/>
          </a:prstGeom>
          <a:noFill/>
          <a:ln/>
        </p:spPr>
        <p:txBody>
          <a:bodyPr wrap="square" rtlCol="false" anchor="ctr"/>
          <a:lstStyle/>
          <a:p>
            <a:pPr marL="0" indent="0" algn="ctr">
              <a:buNone/>
            </a:pPr>
            <a:r>
              <a:rPr lang="en-US" sz="2000" b="true" dirty="false">
                <a:solidFill>
                  <a:srgbClr val="27AE60"/>
                </a:solidFill>
                <a:latin typeface="Arial" pitchFamily="34" charset="0"/>
                <a:ea typeface="Arial" pitchFamily="34" charset="-122"/>
                <a:cs typeface="Arial" pitchFamily="34" charset="-120"/>
              </a:rPr>
              <a:t>-12.6%</a:t>
            </a:r>
            <a:endParaRPr lang="en-US" sz="2000" dirty="false"/>
          </a:p>
        </p:txBody>
      </p:sp>
      <p:sp>
        <p:nvSpPr>
          <p:cNvPr id="420" name="Text 17"/>
          <p:cNvSpPr/>
          <p:nvPr/>
        </p:nvSpPr>
        <p:spPr>
          <a:xfrm>
            <a:off x="6812280" y="3566160"/>
            <a:ext cx="2011680" cy="228600"/>
          </a:xfrm>
          <a:prstGeom prst="rect">
            <a:avLst/>
          </a:prstGeom>
          <a:noFill/>
          <a:ln/>
        </p:spPr>
        <p:txBody>
          <a:bodyPr wrap="square" rtlCol="false" anchor="ctr"/>
          <a:lstStyle/>
          <a:p>
            <a:pPr marL="0" indent="0" algn="ctr">
              <a:buNone/>
            </a:pPr>
            <a:r>
              <a:rPr lang="en-US" sz="900" dirty="false">
                <a:solidFill>
                  <a:srgbClr val="AAB7B8"/>
                </a:solidFill>
                <a:latin typeface="Arial" pitchFamily="34" charset="0"/>
                <a:ea typeface="Arial" pitchFamily="34" charset="-122"/>
                <a:cs typeface="Arial" pitchFamily="34" charset="-120"/>
              </a:rPr>
              <a:t>HD95 降低</a:t>
            </a:r>
            <a:endParaRPr lang="en-US" sz="900" dirty="false"/>
          </a:p>
        </p:txBody>
      </p:sp>
      <p:sp>
        <p:nvSpPr>
          <p:cNvPr id="421" name="Text 18"/>
          <p:cNvSpPr/>
          <p:nvPr/>
        </p:nvSpPr>
        <p:spPr>
          <a:xfrm>
            <a:off x="6812280" y="3794760"/>
            <a:ext cx="2011680" cy="182880"/>
          </a:xfrm>
          <a:prstGeom prst="rect">
            <a:avLst/>
          </a:prstGeom>
          <a:noFill/>
          <a:ln/>
        </p:spPr>
        <p:txBody>
          <a:bodyPr wrap="square" rtlCol="false" anchor="ctr"/>
          <a:lstStyle/>
          <a:p>
            <a:pPr marL="0" indent="0" algn="ctr">
              <a:buNone/>
            </a:pPr>
            <a:r>
              <a:rPr lang="en-US" sz="800" dirty="false">
                <a:solidFill>
                  <a:srgbClr val="FFFFFF"/>
                </a:solidFill>
                <a:latin typeface="Arial" pitchFamily="34" charset="0"/>
                <a:ea typeface="Arial" pitchFamily="34" charset="-122"/>
                <a:cs typeface="Arial" pitchFamily="34" charset="-120"/>
              </a:rPr>
              <a:t>边界更精确</a:t>
            </a:r>
            <a:endParaRPr lang="en-US" sz="800" dirty="false"/>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6F6"/>
        </a:solidFill>
      </p:bgPr>
    </p:bg>
    <p:spTree>
      <p:nvGrpSpPr>
        <p:cNvPr id="431" name=""/>
        <p:cNvGrpSpPr/>
        <p:nvPr/>
      </p:nvGrpSpPr>
      <p:grpSpPr>
        <a:xfrm>
          <a:off x="0" y="0"/>
          <a:ext cx="0" cy="0"/>
          <a:chOff x="0" y="0"/>
          <a:chExt cx="0" cy="0"/>
        </a:xfrm>
      </p:grpSpPr>
      <p:sp>
        <p:nvSpPr>
          <p:cNvPr id="432" name="Shape 0"/>
          <p:cNvSpPr/>
          <p:nvPr/>
        </p:nvSpPr>
        <p:spPr>
          <a:xfrm>
            <a:off x="0" y="0"/>
            <a:ext cx="91440" cy="5143500"/>
          </a:xfrm>
          <a:prstGeom prst="rect">
            <a:avLst/>
          </a:prstGeom>
          <a:solidFill>
            <a:srgbClr val="1C2833"/>
          </a:solidFill>
          <a:ln/>
        </p:spPr>
        <p:txBody>
          <a:bodyPr/>
          <a:p>
            <a:pPr/>
            <a:endParaRPr/>
          </a:p>
        </p:txBody>
      </p:sp>
      <p:sp>
        <p:nvSpPr>
          <p:cNvPr id="433"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434"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可视化对比（细长结构场景）</a:t>
            </a:r>
            <a:endParaRPr lang="en-US" sz="2400" dirty="false"/>
          </a:p>
        </p:txBody>
      </p:sp>
      <p:pic>
        <p:nvPicPr>
          <p:cNvPr id="435" name="Image 0" descr="../figure/cp4/4-3/origin.png"/>
          <p:cNvPicPr>
            <a:picLocks noChangeAspect="true"/>
          </p:cNvPicPr>
          <p:nvPr/>
        </p:nvPicPr>
        <p:blipFill>
          <a:blip r:embed="rId2"/>
          <a:stretch>
            <a:fillRect/>
          </a:stretch>
        </p:blipFill>
        <p:spPr>
          <a:xfrm>
            <a:off x="457200" y="841248"/>
            <a:ext cx="1572768" cy="914400"/>
          </a:xfrm>
          <a:prstGeom prst="rect">
            <a:avLst/>
          </a:prstGeom>
        </p:spPr>
      </p:pic>
      <p:sp>
        <p:nvSpPr>
          <p:cNvPr id="436" name="Text 3"/>
          <p:cNvSpPr/>
          <p:nvPr/>
        </p:nvSpPr>
        <p:spPr>
          <a:xfrm>
            <a:off x="45720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原始图像</a:t>
            </a:r>
            <a:endParaRPr lang="en-US" sz="800" dirty="false"/>
          </a:p>
        </p:txBody>
      </p:sp>
      <p:pic>
        <p:nvPicPr>
          <p:cNvPr id="437" name="Image 1" descr="../figure/cp4/4-3/label.png"/>
          <p:cNvPicPr>
            <a:picLocks noChangeAspect="true"/>
          </p:cNvPicPr>
          <p:nvPr/>
        </p:nvPicPr>
        <p:blipFill>
          <a:blip r:embed="rId3"/>
          <a:stretch>
            <a:fillRect/>
          </a:stretch>
        </p:blipFill>
        <p:spPr>
          <a:xfrm>
            <a:off x="2103120" y="841248"/>
            <a:ext cx="1572768" cy="914400"/>
          </a:xfrm>
          <a:prstGeom prst="rect">
            <a:avLst/>
          </a:prstGeom>
        </p:spPr>
      </p:pic>
      <p:sp>
        <p:nvSpPr>
          <p:cNvPr id="438" name="Text 4"/>
          <p:cNvSpPr/>
          <p:nvPr/>
        </p:nvSpPr>
        <p:spPr>
          <a:xfrm>
            <a:off x="210312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Ground Truth</a:t>
            </a:r>
            <a:endParaRPr lang="en-US" sz="800" dirty="false"/>
          </a:p>
        </p:txBody>
      </p:sp>
      <p:pic>
        <p:nvPicPr>
          <p:cNvPr id="439" name="Image 2" descr="../figure/cp4/4-3/unet.png"/>
          <p:cNvPicPr>
            <a:picLocks noChangeAspect="true"/>
          </p:cNvPicPr>
          <p:nvPr/>
        </p:nvPicPr>
        <p:blipFill>
          <a:blip r:embed="rId4"/>
          <a:stretch>
            <a:fillRect/>
          </a:stretch>
        </p:blipFill>
        <p:spPr>
          <a:xfrm>
            <a:off x="3749040" y="841248"/>
            <a:ext cx="1572768" cy="914400"/>
          </a:xfrm>
          <a:prstGeom prst="rect">
            <a:avLst/>
          </a:prstGeom>
        </p:spPr>
      </p:pic>
      <p:sp>
        <p:nvSpPr>
          <p:cNvPr id="440" name="Text 5"/>
          <p:cNvSpPr/>
          <p:nvPr/>
        </p:nvSpPr>
        <p:spPr>
          <a:xfrm>
            <a:off x="374904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UNet</a:t>
            </a:r>
            <a:endParaRPr lang="en-US" sz="800" dirty="false"/>
          </a:p>
        </p:txBody>
      </p:sp>
      <p:pic>
        <p:nvPicPr>
          <p:cNvPr id="441" name="Image 3" descr="../figure/cp4/4-3/unetpp.png"/>
          <p:cNvPicPr>
            <a:picLocks noChangeAspect="true"/>
          </p:cNvPicPr>
          <p:nvPr/>
        </p:nvPicPr>
        <p:blipFill>
          <a:blip r:embed="rId5"/>
          <a:stretch>
            <a:fillRect/>
          </a:stretch>
        </p:blipFill>
        <p:spPr>
          <a:xfrm>
            <a:off x="5394960" y="841248"/>
            <a:ext cx="1572768" cy="914400"/>
          </a:xfrm>
          <a:prstGeom prst="rect">
            <a:avLst/>
          </a:prstGeom>
        </p:spPr>
      </p:pic>
      <p:sp>
        <p:nvSpPr>
          <p:cNvPr id="442" name="Text 6"/>
          <p:cNvSpPr/>
          <p:nvPr/>
        </p:nvSpPr>
        <p:spPr>
          <a:xfrm>
            <a:off x="539496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UNet++</a:t>
            </a:r>
            <a:endParaRPr lang="en-US" sz="800" dirty="false"/>
          </a:p>
        </p:txBody>
      </p:sp>
      <p:pic>
        <p:nvPicPr>
          <p:cNvPr id="443" name="Image 4" descr="../figure/cp4/4-3/resunet.png"/>
          <p:cNvPicPr>
            <a:picLocks noChangeAspect="true"/>
          </p:cNvPicPr>
          <p:nvPr/>
        </p:nvPicPr>
        <p:blipFill>
          <a:blip r:embed="rId6"/>
          <a:stretch>
            <a:fillRect/>
          </a:stretch>
        </p:blipFill>
        <p:spPr>
          <a:xfrm>
            <a:off x="7040880" y="841248"/>
            <a:ext cx="1572768" cy="914400"/>
          </a:xfrm>
          <a:prstGeom prst="rect">
            <a:avLst/>
          </a:prstGeom>
        </p:spPr>
      </p:pic>
      <p:sp>
        <p:nvSpPr>
          <p:cNvPr id="444" name="Text 7"/>
          <p:cNvSpPr/>
          <p:nvPr/>
        </p:nvSpPr>
        <p:spPr>
          <a:xfrm>
            <a:off x="7040880" y="177393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ResUNet</a:t>
            </a:r>
            <a:endParaRPr lang="en-US" sz="800" dirty="false"/>
          </a:p>
        </p:txBody>
      </p:sp>
      <p:pic>
        <p:nvPicPr>
          <p:cNvPr id="445" name="Image 5" descr="../figure/cp4/4-3/transunet.png"/>
          <p:cNvPicPr>
            <a:picLocks noChangeAspect="true"/>
          </p:cNvPicPr>
          <p:nvPr/>
        </p:nvPicPr>
        <p:blipFill>
          <a:blip r:embed="rId7"/>
          <a:stretch>
            <a:fillRect/>
          </a:stretch>
        </p:blipFill>
        <p:spPr>
          <a:xfrm>
            <a:off x="457200" y="2029968"/>
            <a:ext cx="1572768" cy="914400"/>
          </a:xfrm>
          <a:prstGeom prst="rect">
            <a:avLst/>
          </a:prstGeom>
        </p:spPr>
      </p:pic>
      <p:sp>
        <p:nvSpPr>
          <p:cNvPr id="446" name="Text 8"/>
          <p:cNvSpPr/>
          <p:nvPr/>
        </p:nvSpPr>
        <p:spPr>
          <a:xfrm>
            <a:off x="457200" y="296265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TransUNet</a:t>
            </a:r>
            <a:endParaRPr lang="en-US" sz="800" dirty="false"/>
          </a:p>
        </p:txBody>
      </p:sp>
      <p:pic>
        <p:nvPicPr>
          <p:cNvPr id="447" name="Image 6" descr="../figure/cp4/4-3/v3plus.png"/>
          <p:cNvPicPr>
            <a:picLocks noChangeAspect="true"/>
          </p:cNvPicPr>
          <p:nvPr/>
        </p:nvPicPr>
        <p:blipFill>
          <a:blip r:embed="rId8"/>
          <a:stretch>
            <a:fillRect/>
          </a:stretch>
        </p:blipFill>
        <p:spPr>
          <a:xfrm>
            <a:off x="2103120" y="2029968"/>
            <a:ext cx="1572768" cy="914400"/>
          </a:xfrm>
          <a:prstGeom prst="rect">
            <a:avLst/>
          </a:prstGeom>
        </p:spPr>
      </p:pic>
      <p:sp>
        <p:nvSpPr>
          <p:cNvPr id="448" name="Text 9"/>
          <p:cNvSpPr/>
          <p:nvPr/>
        </p:nvSpPr>
        <p:spPr>
          <a:xfrm>
            <a:off x="2103120" y="2962656"/>
            <a:ext cx="1572768" cy="146304"/>
          </a:xfrm>
          <a:prstGeom prst="rect">
            <a:avLst/>
          </a:prstGeom>
          <a:noFill/>
          <a:ln/>
        </p:spPr>
        <p:txBody>
          <a:bodyPr wrap="square" rtlCol="false" anchor="ctr"/>
          <a:lstStyle/>
          <a:p>
            <a:pPr marL="0" indent="0" algn="ctr">
              <a:buNone/>
            </a:pPr>
            <a:r>
              <a:rPr lang="en-US" sz="800" dirty="false">
                <a:solidFill>
                  <a:srgbClr val="2E4053"/>
                </a:solidFill>
                <a:latin typeface="Arial" pitchFamily="34" charset="0"/>
                <a:ea typeface="Arial" pitchFamily="34" charset="-122"/>
                <a:cs typeface="Arial" pitchFamily="34" charset="-120"/>
              </a:rPr>
              <a:t>DeepLabV3+</a:t>
            </a:r>
            <a:endParaRPr lang="en-US" sz="800" dirty="false"/>
          </a:p>
        </p:txBody>
      </p:sp>
      <p:pic>
        <p:nvPicPr>
          <p:cNvPr id="449" name="Image 7" descr="../figure/cp4/4-3/tr.png"/>
          <p:cNvPicPr>
            <a:picLocks noChangeAspect="true"/>
          </p:cNvPicPr>
          <p:nvPr/>
        </p:nvPicPr>
        <p:blipFill>
          <a:blip r:embed="rId9"/>
          <a:stretch>
            <a:fillRect/>
          </a:stretch>
        </p:blipFill>
        <p:spPr>
          <a:xfrm>
            <a:off x="3749040" y="2029968"/>
            <a:ext cx="1572768" cy="914400"/>
          </a:xfrm>
          <a:prstGeom prst="rect">
            <a:avLst/>
          </a:prstGeom>
        </p:spPr>
      </p:pic>
      <p:sp>
        <p:nvSpPr>
          <p:cNvPr id="450" name="Text 10"/>
          <p:cNvSpPr/>
          <p:nvPr/>
        </p:nvSpPr>
        <p:spPr>
          <a:xfrm>
            <a:off x="3749040" y="2962656"/>
            <a:ext cx="1572768" cy="146304"/>
          </a:xfrm>
          <a:prstGeom prst="rect">
            <a:avLst/>
          </a:prstGeom>
          <a:noFill/>
          <a:ln/>
        </p:spPr>
        <p:txBody>
          <a:bodyPr wrap="square" rtlCol="false" anchor="ctr"/>
          <a:lstStyle/>
          <a:p>
            <a:pPr marL="0" indent="0" algn="ctr">
              <a:buNone/>
            </a:pPr>
            <a:r>
              <a:rPr lang="en-US" sz="800" b="true" dirty="false">
                <a:solidFill>
                  <a:srgbClr val="E74C3C"/>
                </a:solidFill>
                <a:latin typeface="Arial" pitchFamily="34" charset="0"/>
                <a:ea typeface="Arial" pitchFamily="34" charset="-122"/>
                <a:cs typeface="Arial" pitchFamily="34" charset="-120"/>
              </a:rPr>
              <a:t>+TR (Ours)</a:t>
            </a:r>
            <a:endParaRPr lang="en-US" sz="800" dirty="false"/>
          </a:p>
        </p:txBody>
      </p:sp>
      <p:pic>
        <p:nvPicPr>
          <p:cNvPr id="451" name="Image 8" descr="../figure/cp4/4-3/sae.png"/>
          <p:cNvPicPr>
            <a:picLocks noChangeAspect="true"/>
          </p:cNvPicPr>
          <p:nvPr/>
        </p:nvPicPr>
        <p:blipFill>
          <a:blip r:embed="rId10"/>
          <a:stretch>
            <a:fillRect/>
          </a:stretch>
        </p:blipFill>
        <p:spPr>
          <a:xfrm>
            <a:off x="5394960" y="2029968"/>
            <a:ext cx="1572768" cy="914400"/>
          </a:xfrm>
          <a:prstGeom prst="rect">
            <a:avLst/>
          </a:prstGeom>
        </p:spPr>
      </p:pic>
      <p:sp>
        <p:nvSpPr>
          <p:cNvPr id="452" name="Text 11"/>
          <p:cNvSpPr/>
          <p:nvPr/>
        </p:nvSpPr>
        <p:spPr>
          <a:xfrm>
            <a:off x="5394960" y="2962656"/>
            <a:ext cx="1572768" cy="146304"/>
          </a:xfrm>
          <a:prstGeom prst="rect">
            <a:avLst/>
          </a:prstGeom>
          <a:noFill/>
          <a:ln/>
        </p:spPr>
        <p:txBody>
          <a:bodyPr wrap="square" rtlCol="false" anchor="ctr"/>
          <a:lstStyle/>
          <a:p>
            <a:pPr marL="0" indent="0" algn="ctr">
              <a:buNone/>
            </a:pPr>
            <a:r>
              <a:rPr lang="en-US" sz="800" b="true" dirty="false">
                <a:solidFill>
                  <a:srgbClr val="E74C3C"/>
                </a:solidFill>
                <a:latin typeface="Arial" pitchFamily="34" charset="0"/>
                <a:ea typeface="Arial" pitchFamily="34" charset="-122"/>
                <a:cs typeface="Arial" pitchFamily="34" charset="-120"/>
              </a:rPr>
              <a:t>+SAE (Ours)</a:t>
            </a:r>
            <a:endParaRPr lang="en-US" sz="800" dirty="false"/>
          </a:p>
        </p:txBody>
      </p:sp>
      <p:pic>
        <p:nvPicPr>
          <p:cNvPr id="453" name="Image 9" descr="../figure/cp4/4-3/all.png"/>
          <p:cNvPicPr>
            <a:picLocks noChangeAspect="true"/>
          </p:cNvPicPr>
          <p:nvPr/>
        </p:nvPicPr>
        <p:blipFill>
          <a:blip r:embed="rId11"/>
          <a:stretch>
            <a:fillRect/>
          </a:stretch>
        </p:blipFill>
        <p:spPr>
          <a:xfrm>
            <a:off x="7040880" y="2029968"/>
            <a:ext cx="1572768" cy="914400"/>
          </a:xfrm>
          <a:prstGeom prst="rect">
            <a:avLst/>
          </a:prstGeom>
        </p:spPr>
      </p:pic>
      <p:sp>
        <p:nvSpPr>
          <p:cNvPr id="454" name="Shape 12"/>
          <p:cNvSpPr/>
          <p:nvPr/>
        </p:nvSpPr>
        <p:spPr>
          <a:xfrm>
            <a:off x="7022592" y="2011680"/>
            <a:ext cx="1609344" cy="950976"/>
          </a:xfrm>
          <a:prstGeom prst="rect">
            <a:avLst/>
          </a:prstGeom>
          <a:ln w="31750">
            <a:solidFill>
              <a:srgbClr val="27AE60"/>
            </a:solidFill>
            <a:prstDash val="solid"/>
          </a:ln>
        </p:spPr>
        <p:txBody>
          <a:bodyPr/>
          <a:p>
            <a:pPr/>
            <a:endParaRPr/>
          </a:p>
        </p:txBody>
      </p:sp>
      <p:sp>
        <p:nvSpPr>
          <p:cNvPr id="455" name="Text 13"/>
          <p:cNvSpPr/>
          <p:nvPr/>
        </p:nvSpPr>
        <p:spPr>
          <a:xfrm>
            <a:off x="7040880" y="2962656"/>
            <a:ext cx="1572768" cy="146304"/>
          </a:xfrm>
          <a:prstGeom prst="rect">
            <a:avLst/>
          </a:prstGeom>
          <a:noFill/>
          <a:ln/>
        </p:spPr>
        <p:txBody>
          <a:bodyPr wrap="square" rtlCol="false" anchor="ctr"/>
          <a:lstStyle/>
          <a:p>
            <a:pPr marL="0" indent="0" algn="ctr">
              <a:buNone/>
            </a:pPr>
            <a:r>
              <a:rPr lang="en-US" sz="800" b="true" dirty="false">
                <a:solidFill>
                  <a:srgbClr val="27AE60"/>
                </a:solidFill>
                <a:latin typeface="Arial" pitchFamily="34" charset="0"/>
                <a:ea typeface="Arial" pitchFamily="34" charset="-122"/>
                <a:cs typeface="Arial" pitchFamily="34" charset="-120"/>
              </a:rPr>
              <a:t>+Both (Ours)</a:t>
            </a:r>
            <a:endParaRPr lang="en-US" sz="800" dirty="false"/>
          </a:p>
        </p:txBody>
      </p:sp>
      <p:sp>
        <p:nvSpPr>
          <p:cNvPr id="456" name="Shape 14"/>
          <p:cNvSpPr/>
          <p:nvPr/>
        </p:nvSpPr>
        <p:spPr>
          <a:xfrm>
            <a:off x="365760" y="3337560"/>
            <a:ext cx="8412480" cy="685800"/>
          </a:xfrm>
          <a:prstGeom prst="roundRect">
            <a:avLst/>
          </a:prstGeom>
          <a:solidFill>
            <a:srgbClr val="1C2833"/>
          </a:solidFill>
          <a:ln/>
        </p:spPr>
        <p:txBody>
          <a:bodyPr/>
          <a:p>
            <a:pPr/>
            <a:endParaRPr/>
          </a:p>
        </p:txBody>
      </p:sp>
      <p:sp>
        <p:nvSpPr>
          <p:cNvPr id="457" name="Text 15"/>
          <p:cNvSpPr/>
          <p:nvPr/>
        </p:nvSpPr>
        <p:spPr>
          <a:xfrm>
            <a:off x="548640" y="3383280"/>
            <a:ext cx="8046720" cy="182880"/>
          </a:xfrm>
          <a:prstGeom prst="rect">
            <a:avLst/>
          </a:prstGeom>
          <a:noFill/>
          <a:ln/>
        </p:spPr>
        <p:txBody>
          <a:bodyPr wrap="square" rtlCol="false" anchor="ctr"/>
          <a:lstStyle/>
          <a:p>
            <a:pPr marL="0" indent="0">
              <a:buNone/>
            </a:pPr>
            <a:r>
              <a:rPr lang="en-US" sz="1000" b="true" dirty="false">
                <a:solidFill>
                  <a:srgbClr val="FFFFFF"/>
                </a:solidFill>
                <a:latin typeface="Arial" pitchFamily="34" charset="0"/>
                <a:ea typeface="Arial" pitchFamily="34" charset="-122"/>
                <a:cs typeface="Arial" pitchFamily="34" charset="-120"/>
              </a:rPr>
              <a:t>可视化结论</a:t>
            </a:r>
            <a:endParaRPr lang="en-US" sz="1000" dirty="false"/>
          </a:p>
        </p:txBody>
      </p:sp>
      <p:sp>
        <p:nvSpPr>
          <p:cNvPr id="458" name="Text 16"/>
          <p:cNvSpPr/>
          <p:nvPr/>
        </p:nvSpPr>
        <p:spPr>
          <a:xfrm>
            <a:off x="548640" y="3584448"/>
            <a:ext cx="8046720" cy="411480"/>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本文方法（+Both）在细长结构分割任务中表现最优：边界更清晰（SAE增强空间感知，HD95↓12.6%）、细长结构更完整（TR建立长程依赖）、噪声抑制更好（双重注意力协同）</a:t>
            </a:r>
            <a:endParaRPr lang="en-US" sz="900" dirty="false"/>
          </a:p>
        </p:txBody>
      </p:sp>
    </p:spTree>
  </p:cSld>
  <p:clrMapOvr>
    <a:masterClrMapping/>
  </p:clrMapOvr>
</p:sld>
</file>

<file path=ppt/slides/slide31.xml><?xml version="1.0" encoding="utf-8"?>
<p:sld xmlns:a="http://schemas.openxmlformats.org/drawingml/2006/main" xmlns:p="http://schemas.openxmlformats.org/presentationml/2006/main">
  <p:cSld name="Slide 31">
    <p:bg>
      <p:bgPr>
        <a:solidFill>
          <a:srgbClr val="F4F6F6"/>
        </a:solidFill>
      </p:bgPr>
    </p:bg>
    <p:spTree>
      <p:nvGrpSpPr>
        <p:cNvPr id="459" name=""/>
        <p:cNvGrpSpPr/>
        <p:nvPr/>
      </p:nvGrpSpPr>
      <p:grpSpPr>
        <a:xfrm>
          <a:off x="0" y="0"/>
          <a:ext cx="0" cy="0"/>
          <a:chOff x="0" y="0"/>
          <a:chExt cx="0" cy="0"/>
        </a:xfrm>
      </p:grpSpPr>
      <p:sp>
        <p:nvSpPr>
          <p:cNvPr id="460" name="Shape 0"/>
          <p:cNvSpPr/>
          <p:nvPr/>
        </p:nvSpPr>
        <p:spPr>
          <a:xfrm>
            <a:off x="0" y="0"/>
            <a:ext cx="91440" cy="5143500"/>
          </a:xfrm>
          <a:prstGeom prst="rect">
            <a:avLst/>
          </a:prstGeom>
          <a:solidFill>
            <a:srgbClr val="1C2833"/>
          </a:solidFill>
          <a:ln/>
        </p:spPr>
        <p:txBody>
          <a:bodyPr/>
          <a:p>
            <a:pPr/>
            <a:endParaRPr/>
          </a:p>
        </p:txBody>
      </p:sp>
      <p:sp>
        <p:nvSpPr>
          <p:cNvPr id="461"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04 基于空间感知增强的模型优化</a:t>
            </a:r>
            <a:endParaRPr lang="en-US" sz="1100" dirty="false"/>
          </a:p>
        </p:txBody>
      </p:sp>
      <p:sp>
        <p:nvSpPr>
          <p:cNvPr id="462"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实验结论</a:t>
            </a:r>
            <a:endParaRPr lang="en-US" sz="2400" dirty="false"/>
          </a:p>
        </p:txBody>
      </p:sp>
      <p:sp>
        <p:nvSpPr>
          <p:cNvPr id="463" name="Shape 3"/>
          <p:cNvSpPr/>
          <p:nvPr/>
        </p:nvSpPr>
        <p:spPr>
          <a:xfrm>
            <a:off x="365760" y="914400"/>
            <a:ext cx="2011680" cy="1188720"/>
          </a:xfrm>
          <a:prstGeom prst="roundRect">
            <a:avLst/>
          </a:prstGeom>
          <a:solidFill>
            <a:srgbClr val="1C2833"/>
          </a:solidFill>
          <a:ln/>
        </p:spPr>
        <p:txBody>
          <a:bodyPr/>
          <a:p>
            <a:pPr/>
            <a:endParaRPr/>
          </a:p>
        </p:txBody>
      </p:sp>
      <p:sp>
        <p:nvSpPr>
          <p:cNvPr id="464" name="Text 4"/>
          <p:cNvSpPr/>
          <p:nvPr/>
        </p:nvSpPr>
        <p:spPr>
          <a:xfrm>
            <a:off x="36576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0.911</a:t>
            </a:r>
            <a:endParaRPr lang="en-US" sz="2600" dirty="false"/>
          </a:p>
        </p:txBody>
      </p:sp>
      <p:sp>
        <p:nvSpPr>
          <p:cNvPr id="465" name="Text 5"/>
          <p:cNvSpPr/>
          <p:nvPr/>
        </p:nvSpPr>
        <p:spPr>
          <a:xfrm>
            <a:off x="36576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mIoU</a:t>
            </a:r>
            <a:endParaRPr lang="en-US" sz="1000" dirty="false"/>
          </a:p>
        </p:txBody>
      </p:sp>
      <p:sp>
        <p:nvSpPr>
          <p:cNvPr id="466" name="Text 6"/>
          <p:cNvSpPr/>
          <p:nvPr/>
        </p:nvSpPr>
        <p:spPr>
          <a:xfrm>
            <a:off x="36576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+7.1% vs 基线</a:t>
            </a:r>
            <a:endParaRPr lang="en-US" sz="900" dirty="false"/>
          </a:p>
        </p:txBody>
      </p:sp>
      <p:sp>
        <p:nvSpPr>
          <p:cNvPr id="467" name="Shape 7"/>
          <p:cNvSpPr/>
          <p:nvPr/>
        </p:nvSpPr>
        <p:spPr>
          <a:xfrm>
            <a:off x="2560320" y="914400"/>
            <a:ext cx="2011680" cy="1188720"/>
          </a:xfrm>
          <a:prstGeom prst="roundRect">
            <a:avLst/>
          </a:prstGeom>
          <a:solidFill>
            <a:srgbClr val="1C2833"/>
          </a:solidFill>
          <a:ln/>
        </p:spPr>
        <p:txBody>
          <a:bodyPr/>
          <a:p>
            <a:pPr/>
            <a:endParaRPr/>
          </a:p>
        </p:txBody>
      </p:sp>
      <p:sp>
        <p:nvSpPr>
          <p:cNvPr id="468" name="Text 8"/>
          <p:cNvSpPr/>
          <p:nvPr/>
        </p:nvSpPr>
        <p:spPr>
          <a:xfrm>
            <a:off x="256032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0.826</a:t>
            </a:r>
            <a:endParaRPr lang="en-US" sz="2600" dirty="false"/>
          </a:p>
        </p:txBody>
      </p:sp>
      <p:sp>
        <p:nvSpPr>
          <p:cNvPr id="469" name="Text 9"/>
          <p:cNvSpPr/>
          <p:nvPr/>
        </p:nvSpPr>
        <p:spPr>
          <a:xfrm>
            <a:off x="256032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目标 IoU</a:t>
            </a:r>
            <a:endParaRPr lang="en-US" sz="1000" dirty="false"/>
          </a:p>
        </p:txBody>
      </p:sp>
      <p:sp>
        <p:nvSpPr>
          <p:cNvPr id="470" name="Text 10"/>
          <p:cNvSpPr/>
          <p:nvPr/>
        </p:nvSpPr>
        <p:spPr>
          <a:xfrm>
            <a:off x="256032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+16.3% vs 基线</a:t>
            </a:r>
            <a:endParaRPr lang="en-US" sz="900" dirty="false"/>
          </a:p>
        </p:txBody>
      </p:sp>
      <p:sp>
        <p:nvSpPr>
          <p:cNvPr id="471" name="Shape 11"/>
          <p:cNvSpPr/>
          <p:nvPr/>
        </p:nvSpPr>
        <p:spPr>
          <a:xfrm>
            <a:off x="4754880" y="914400"/>
            <a:ext cx="2011680" cy="1188720"/>
          </a:xfrm>
          <a:prstGeom prst="roundRect">
            <a:avLst/>
          </a:prstGeom>
          <a:solidFill>
            <a:srgbClr val="1C2833"/>
          </a:solidFill>
          <a:ln/>
        </p:spPr>
        <p:txBody>
          <a:bodyPr/>
          <a:p>
            <a:pPr/>
            <a:endParaRPr/>
          </a:p>
        </p:txBody>
      </p:sp>
      <p:sp>
        <p:nvSpPr>
          <p:cNvPr id="472" name="Text 12"/>
          <p:cNvSpPr/>
          <p:nvPr/>
        </p:nvSpPr>
        <p:spPr>
          <a:xfrm>
            <a:off x="475488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10.68</a:t>
            </a:r>
            <a:endParaRPr lang="en-US" sz="2600" dirty="false"/>
          </a:p>
        </p:txBody>
      </p:sp>
      <p:sp>
        <p:nvSpPr>
          <p:cNvPr id="473" name="Text 13"/>
          <p:cNvSpPr/>
          <p:nvPr/>
        </p:nvSpPr>
        <p:spPr>
          <a:xfrm>
            <a:off x="475488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HD95</a:t>
            </a:r>
            <a:endParaRPr lang="en-US" sz="1000" dirty="false"/>
          </a:p>
        </p:txBody>
      </p:sp>
      <p:sp>
        <p:nvSpPr>
          <p:cNvPr id="474" name="Text 14"/>
          <p:cNvSpPr/>
          <p:nvPr/>
        </p:nvSpPr>
        <p:spPr>
          <a:xfrm>
            <a:off x="475488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-12.6% 边界更精确</a:t>
            </a:r>
            <a:endParaRPr lang="en-US" sz="900" dirty="false"/>
          </a:p>
        </p:txBody>
      </p:sp>
      <p:sp>
        <p:nvSpPr>
          <p:cNvPr id="475" name="Shape 15"/>
          <p:cNvSpPr/>
          <p:nvPr/>
        </p:nvSpPr>
        <p:spPr>
          <a:xfrm>
            <a:off x="6949440" y="914400"/>
            <a:ext cx="2011680" cy="1188720"/>
          </a:xfrm>
          <a:prstGeom prst="roundRect">
            <a:avLst/>
          </a:prstGeom>
          <a:solidFill>
            <a:srgbClr val="1C2833"/>
          </a:solidFill>
          <a:ln/>
        </p:spPr>
        <p:txBody>
          <a:bodyPr/>
          <a:p>
            <a:pPr/>
            <a:endParaRPr/>
          </a:p>
        </p:txBody>
      </p:sp>
      <p:sp>
        <p:nvSpPr>
          <p:cNvPr id="476" name="Text 16"/>
          <p:cNvSpPr/>
          <p:nvPr/>
        </p:nvSpPr>
        <p:spPr>
          <a:xfrm>
            <a:off x="6949440" y="1051560"/>
            <a:ext cx="2011680" cy="457200"/>
          </a:xfrm>
          <a:prstGeom prst="rect">
            <a:avLst/>
          </a:prstGeom>
          <a:noFill/>
          <a:ln/>
        </p:spPr>
        <p:txBody>
          <a:bodyPr wrap="square" rtlCol="false" anchor="ctr"/>
          <a:lstStyle/>
          <a:p>
            <a:pPr marL="0" indent="0" algn="ctr">
              <a:buNone/>
            </a:pPr>
            <a:r>
              <a:rPr lang="en-US" sz="2600" b="true" dirty="false">
                <a:solidFill>
                  <a:srgbClr val="27AE60"/>
                </a:solidFill>
                <a:latin typeface="Arial" pitchFamily="34" charset="0"/>
                <a:ea typeface="Arial" pitchFamily="34" charset="-122"/>
                <a:cs typeface="Arial" pitchFamily="34" charset="-120"/>
              </a:rPr>
              <a:t>10.5</a:t>
            </a:r>
            <a:endParaRPr lang="en-US" sz="2600" dirty="false"/>
          </a:p>
        </p:txBody>
      </p:sp>
      <p:sp>
        <p:nvSpPr>
          <p:cNvPr id="477" name="Text 17"/>
          <p:cNvSpPr/>
          <p:nvPr/>
        </p:nvSpPr>
        <p:spPr>
          <a:xfrm>
            <a:off x="6949440" y="1508760"/>
            <a:ext cx="2011680" cy="228600"/>
          </a:xfrm>
          <a:prstGeom prst="rect">
            <a:avLst/>
          </a:prstGeom>
          <a:noFill/>
          <a:ln/>
        </p:spPr>
        <p:txBody>
          <a:bodyPr wrap="square" rtlCol="false" anchor="ctr"/>
          <a:lstStyle/>
          <a:p>
            <a:pPr marL="0" indent="0" algn="ctr">
              <a:buNone/>
            </a:pPr>
            <a:r>
              <a:rPr lang="en-US" sz="1000" dirty="false">
                <a:solidFill>
                  <a:srgbClr val="AAB7B8"/>
                </a:solidFill>
                <a:latin typeface="Arial" pitchFamily="34" charset="0"/>
                <a:ea typeface="Arial" pitchFamily="34" charset="-122"/>
                <a:cs typeface="Arial" pitchFamily="34" charset="-120"/>
              </a:rPr>
              <a:t>FPS</a:t>
            </a:r>
            <a:endParaRPr lang="en-US" sz="1000" dirty="false"/>
          </a:p>
        </p:txBody>
      </p:sp>
      <p:sp>
        <p:nvSpPr>
          <p:cNvPr id="478" name="Text 18"/>
          <p:cNvSpPr/>
          <p:nvPr/>
        </p:nvSpPr>
        <p:spPr>
          <a:xfrm>
            <a:off x="6949440" y="1737360"/>
            <a:ext cx="2011680" cy="228600"/>
          </a:xfrm>
          <a:prstGeom prst="rect">
            <a:avLst/>
          </a:prstGeom>
          <a:noFill/>
          <a:ln/>
        </p:spPr>
        <p:txBody>
          <a:bodyPr wrap="square" rtlCol="false" anchor="ctr"/>
          <a:lstStyle/>
          <a:p>
            <a:pPr marL="0" indent="0" algn="ctr">
              <a:buNone/>
            </a:pPr>
            <a:r>
              <a:rPr lang="en-US" sz="900" dirty="false">
                <a:solidFill>
                  <a:srgbClr val="FFFFFF"/>
                </a:solidFill>
                <a:latin typeface="Arial" pitchFamily="34" charset="0"/>
                <a:ea typeface="Arial" pitchFamily="34" charset="-122"/>
                <a:cs typeface="Arial" pitchFamily="34" charset="-120"/>
              </a:rPr>
              <a:t>满足实时需求</a:t>
            </a:r>
            <a:endParaRPr lang="en-US" sz="900" dirty="false"/>
          </a:p>
        </p:txBody>
      </p:sp>
      <p:sp>
        <p:nvSpPr>
          <p:cNvPr id="479" name="Shape 19"/>
          <p:cNvSpPr/>
          <p:nvPr/>
        </p:nvSpPr>
        <p:spPr>
          <a:xfrm>
            <a:off x="365760" y="2286000"/>
            <a:ext cx="8412480" cy="173736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480" name="Text 20"/>
          <p:cNvSpPr/>
          <p:nvPr/>
        </p:nvSpPr>
        <p:spPr>
          <a:xfrm>
            <a:off x="548640" y="2377440"/>
            <a:ext cx="804672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核心结论</a:t>
            </a:r>
            <a:endParaRPr lang="en-US" sz="1300" dirty="false"/>
          </a:p>
        </p:txBody>
      </p:sp>
      <p:sp>
        <p:nvSpPr>
          <p:cNvPr id="481" name="Shape 21"/>
          <p:cNvSpPr/>
          <p:nvPr/>
        </p:nvSpPr>
        <p:spPr>
          <a:xfrm>
            <a:off x="457200" y="2743200"/>
            <a:ext cx="2651760" cy="1143000"/>
          </a:xfrm>
          <a:prstGeom prst="roundRect">
            <a:avLst/>
          </a:prstGeom>
          <a:solidFill>
            <a:srgbClr val="F4F6F6"/>
          </a:solidFill>
          <a:ln/>
        </p:spPr>
        <p:txBody>
          <a:bodyPr/>
          <a:p>
            <a:pPr/>
            <a:endParaRPr/>
          </a:p>
        </p:txBody>
      </p:sp>
      <p:sp>
        <p:nvSpPr>
          <p:cNvPr id="482" name="Shape 22"/>
          <p:cNvSpPr/>
          <p:nvPr/>
        </p:nvSpPr>
        <p:spPr>
          <a:xfrm>
            <a:off x="457200" y="2743200"/>
            <a:ext cx="36576" cy="1143000"/>
          </a:xfrm>
          <a:prstGeom prst="rect">
            <a:avLst/>
          </a:prstGeom>
          <a:solidFill>
            <a:srgbClr val="E74C3C"/>
          </a:solidFill>
          <a:ln/>
        </p:spPr>
        <p:txBody>
          <a:bodyPr/>
          <a:p>
            <a:pPr/>
            <a:endParaRPr/>
          </a:p>
        </p:txBody>
      </p:sp>
      <p:sp>
        <p:nvSpPr>
          <p:cNvPr id="483" name="Text 23"/>
          <p:cNvSpPr/>
          <p:nvPr/>
        </p:nvSpPr>
        <p:spPr>
          <a:xfrm>
            <a:off x="548640" y="2816352"/>
            <a:ext cx="2468880" cy="27432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分割精度显著提升</a:t>
            </a:r>
            <a:endParaRPr lang="en-US" sz="1000" dirty="false"/>
          </a:p>
        </p:txBody>
      </p:sp>
      <p:sp>
        <p:nvSpPr>
          <p:cNvPr id="484" name="Text 24"/>
          <p:cNvSpPr/>
          <p:nvPr/>
        </p:nvSpPr>
        <p:spPr>
          <a:xfrm>
            <a:off x="548640" y="3108960"/>
            <a:ext cx="2468880" cy="7315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mIoU达到0.911，相比基线提升7.1%，相比UNet提升13.2%，验证了双重注意力机制的有效性。</a:t>
            </a:r>
            <a:endParaRPr lang="en-US" sz="800" dirty="false"/>
          </a:p>
        </p:txBody>
      </p:sp>
      <p:sp>
        <p:nvSpPr>
          <p:cNvPr id="485" name="Shape 25"/>
          <p:cNvSpPr/>
          <p:nvPr/>
        </p:nvSpPr>
        <p:spPr>
          <a:xfrm>
            <a:off x="3291840" y="2743200"/>
            <a:ext cx="2651760" cy="1143000"/>
          </a:xfrm>
          <a:prstGeom prst="roundRect">
            <a:avLst/>
          </a:prstGeom>
          <a:solidFill>
            <a:srgbClr val="F4F6F6"/>
          </a:solidFill>
          <a:ln/>
        </p:spPr>
        <p:txBody>
          <a:bodyPr/>
          <a:p>
            <a:pPr/>
            <a:endParaRPr/>
          </a:p>
        </p:txBody>
      </p:sp>
      <p:sp>
        <p:nvSpPr>
          <p:cNvPr id="486" name="Shape 26"/>
          <p:cNvSpPr/>
          <p:nvPr/>
        </p:nvSpPr>
        <p:spPr>
          <a:xfrm>
            <a:off x="3291840" y="2743200"/>
            <a:ext cx="36576" cy="1143000"/>
          </a:xfrm>
          <a:prstGeom prst="rect">
            <a:avLst/>
          </a:prstGeom>
          <a:solidFill>
            <a:srgbClr val="E74C3C"/>
          </a:solidFill>
          <a:ln/>
        </p:spPr>
        <p:txBody>
          <a:bodyPr/>
          <a:p>
            <a:pPr/>
            <a:endParaRPr/>
          </a:p>
        </p:txBody>
      </p:sp>
      <p:sp>
        <p:nvSpPr>
          <p:cNvPr id="487" name="Text 27"/>
          <p:cNvSpPr/>
          <p:nvPr/>
        </p:nvSpPr>
        <p:spPr>
          <a:xfrm>
            <a:off x="3383280" y="2816352"/>
            <a:ext cx="2468880" cy="27432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边界质量明显改善</a:t>
            </a:r>
            <a:endParaRPr lang="en-US" sz="1000" dirty="false"/>
          </a:p>
        </p:txBody>
      </p:sp>
      <p:sp>
        <p:nvSpPr>
          <p:cNvPr id="488" name="Text 28"/>
          <p:cNvSpPr/>
          <p:nvPr/>
        </p:nvSpPr>
        <p:spPr>
          <a:xfrm>
            <a:off x="3383280" y="3108960"/>
            <a:ext cx="2468880" cy="7315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HD95降至10.68，SAE模块有效增强了边界分割精度，对细长结构和模糊边界处理效果显著。</a:t>
            </a:r>
            <a:endParaRPr lang="en-US" sz="800" dirty="false"/>
          </a:p>
        </p:txBody>
      </p:sp>
      <p:sp>
        <p:nvSpPr>
          <p:cNvPr id="489" name="Shape 29"/>
          <p:cNvSpPr/>
          <p:nvPr/>
        </p:nvSpPr>
        <p:spPr>
          <a:xfrm>
            <a:off x="6126480" y="2743200"/>
            <a:ext cx="2651760" cy="1143000"/>
          </a:xfrm>
          <a:prstGeom prst="roundRect">
            <a:avLst/>
          </a:prstGeom>
          <a:solidFill>
            <a:srgbClr val="F4F6F6"/>
          </a:solidFill>
          <a:ln/>
        </p:spPr>
        <p:txBody>
          <a:bodyPr/>
          <a:p>
            <a:pPr/>
            <a:endParaRPr/>
          </a:p>
        </p:txBody>
      </p:sp>
      <p:sp>
        <p:nvSpPr>
          <p:cNvPr id="490" name="Shape 30"/>
          <p:cNvSpPr/>
          <p:nvPr/>
        </p:nvSpPr>
        <p:spPr>
          <a:xfrm>
            <a:off x="6126480" y="2743200"/>
            <a:ext cx="36576" cy="1143000"/>
          </a:xfrm>
          <a:prstGeom prst="rect">
            <a:avLst/>
          </a:prstGeom>
          <a:solidFill>
            <a:srgbClr val="E74C3C"/>
          </a:solidFill>
          <a:ln/>
        </p:spPr>
        <p:txBody>
          <a:bodyPr/>
          <a:p>
            <a:pPr/>
            <a:endParaRPr/>
          </a:p>
        </p:txBody>
      </p:sp>
      <p:sp>
        <p:nvSpPr>
          <p:cNvPr id="491" name="Text 31"/>
          <p:cNvSpPr/>
          <p:nvPr/>
        </p:nvSpPr>
        <p:spPr>
          <a:xfrm>
            <a:off x="6217920" y="2816352"/>
            <a:ext cx="2468880" cy="274320"/>
          </a:xfrm>
          <a:prstGeom prst="rect">
            <a:avLst/>
          </a:prstGeom>
          <a:noFill/>
          <a:ln/>
        </p:spPr>
        <p:txBody>
          <a:bodyPr wrap="square" rtlCol="false" anchor="ctr"/>
          <a:lstStyle/>
          <a:p>
            <a:pPr marL="0" indent="0">
              <a:buNone/>
            </a:pPr>
            <a:r>
              <a:rPr lang="en-US" sz="1000" b="true" dirty="false">
                <a:solidFill>
                  <a:srgbClr val="1C2833"/>
                </a:solidFill>
                <a:latin typeface="Arial" pitchFamily="34" charset="0"/>
                <a:ea typeface="Arial" pitchFamily="34" charset="-122"/>
                <a:cs typeface="Arial" pitchFamily="34" charset="-120"/>
              </a:rPr>
              <a:t>效率-性能平衡良好</a:t>
            </a:r>
            <a:endParaRPr lang="en-US" sz="1000" dirty="false"/>
          </a:p>
        </p:txBody>
      </p:sp>
      <p:sp>
        <p:nvSpPr>
          <p:cNvPr id="492" name="Text 32"/>
          <p:cNvSpPr/>
          <p:nvPr/>
        </p:nvSpPr>
        <p:spPr>
          <a:xfrm>
            <a:off x="6217920" y="3108960"/>
            <a:ext cx="2468880" cy="731520"/>
          </a:xfrm>
          <a:prstGeom prst="rect">
            <a:avLst/>
          </a:prstGeom>
          <a:noFill/>
          <a:ln/>
        </p:spPr>
        <p:txBody>
          <a:bodyPr wrap="square" rtlCol="false" anchor="ctr"/>
          <a:lstStyle/>
          <a:p>
            <a:pPr marL="0" indent="0">
              <a:buNone/>
            </a:pPr>
            <a:r>
              <a:rPr lang="en-US" sz="800" dirty="false">
                <a:solidFill>
                  <a:srgbClr val="2E4053"/>
                </a:solidFill>
                <a:latin typeface="Arial" pitchFamily="34" charset="0"/>
                <a:ea typeface="Arial" pitchFamily="34" charset="-122"/>
                <a:cs typeface="Arial" pitchFamily="34" charset="-120"/>
              </a:rPr>
              <a:t>相比TransUNet，内存减少53.3%，速度提升39.1%，在保持高性能的同时具有更好的实用性。</a:t>
            </a:r>
            <a:endParaRPr lang="en-US" sz="800" dirty="false"/>
          </a:p>
        </p:txBody>
      </p:sp>
    </p:spTree>
  </p:cSld>
  <p:clrMapOvr>
    <a:masterClrMapping/>
  </p:clrMapOvr>
</p:sld>
</file>

<file path=ppt/slides/slide32.xml><?xml version="1.0" encoding="utf-8"?>
<p:sld xmlns:a="http://schemas.openxmlformats.org/drawingml/2006/main" xmlns:p="http://schemas.openxmlformats.org/presentationml/2006/main">
  <p:cSld name="Slide 32">
    <p:bg>
      <p:bgPr>
        <a:solidFill>
          <a:srgbClr val="1C2833"/>
        </a:solidFill>
      </p:bgPr>
    </p:bg>
    <p:spTree>
      <p:nvGrpSpPr>
        <p:cNvPr id="493" name=""/>
        <p:cNvGrpSpPr/>
        <p:nvPr/>
      </p:nvGrpSpPr>
      <p:grpSpPr>
        <a:xfrm>
          <a:off x="0" y="0"/>
          <a:ext cx="0" cy="0"/>
          <a:chOff x="0" y="0"/>
          <a:chExt cx="0" cy="0"/>
        </a:xfrm>
      </p:grpSpPr>
      <p:sp>
        <p:nvSpPr>
          <p:cNvPr id="494" name="Shape 0"/>
          <p:cNvSpPr/>
          <p:nvPr/>
        </p:nvSpPr>
        <p:spPr>
          <a:xfrm>
            <a:off x="0" y="0"/>
            <a:ext cx="9144000" cy="73152"/>
          </a:xfrm>
          <a:prstGeom prst="rect">
            <a:avLst/>
          </a:prstGeom>
          <a:solidFill>
            <a:srgbClr val="AAB7B8"/>
          </a:solidFill>
          <a:ln/>
        </p:spPr>
        <p:txBody>
          <a:bodyPr/>
          <a:p>
            <a:pPr/>
            <a:endParaRPr/>
          </a:p>
        </p:txBody>
      </p:sp>
      <p:sp>
        <p:nvSpPr>
          <p:cNvPr id="495" name="Shape 1"/>
          <p:cNvSpPr/>
          <p:nvPr/>
        </p:nvSpPr>
        <p:spPr>
          <a:xfrm>
            <a:off x="0" y="5074920"/>
            <a:ext cx="9144000" cy="73152"/>
          </a:xfrm>
          <a:prstGeom prst="rect">
            <a:avLst/>
          </a:prstGeom>
          <a:solidFill>
            <a:srgbClr val="AAB7B8"/>
          </a:solidFill>
          <a:ln/>
        </p:spPr>
        <p:txBody>
          <a:bodyPr/>
          <a:p>
            <a:pPr/>
            <a:endParaRPr/>
          </a:p>
        </p:txBody>
      </p:sp>
      <p:sp>
        <p:nvSpPr>
          <p:cNvPr id="496" name="Text 2"/>
          <p:cNvSpPr/>
          <p:nvPr/>
        </p:nvSpPr>
        <p:spPr>
          <a:xfrm>
            <a:off x="457200" y="1097280"/>
            <a:ext cx="1828800" cy="1371600"/>
          </a:xfrm>
          <a:prstGeom prst="rect">
            <a:avLst/>
          </a:prstGeom>
          <a:noFill/>
          <a:ln/>
        </p:spPr>
        <p:txBody>
          <a:bodyPr wrap="square" rtlCol="false" anchor="ctr"/>
          <a:lstStyle/>
          <a:p>
            <a:pPr marL="0" indent="0">
              <a:buNone/>
            </a:pPr>
            <a:r>
              <a:rPr lang="en-US" sz="8000" b="true" dirty="false">
                <a:solidFill>
                  <a:srgbClr val="2E4053"/>
                </a:solidFill>
                <a:latin typeface="Arial" pitchFamily="34" charset="0"/>
                <a:ea typeface="Arial" pitchFamily="34" charset="-122"/>
                <a:cs typeface="Arial" pitchFamily="34" charset="-120"/>
              </a:rPr>
              <a:t>05</a:t>
            </a:r>
            <a:endParaRPr lang="en-US" sz="8000" dirty="false"/>
          </a:p>
        </p:txBody>
      </p:sp>
      <p:sp>
        <p:nvSpPr>
          <p:cNvPr id="497" name="Text 3"/>
          <p:cNvSpPr/>
          <p:nvPr/>
        </p:nvSpPr>
        <p:spPr>
          <a:xfrm>
            <a:off x="2286000" y="1463040"/>
            <a:ext cx="6400800" cy="731520"/>
          </a:xfrm>
          <a:prstGeom prst="rect">
            <a:avLst/>
          </a:prstGeom>
          <a:noFill/>
          <a:ln/>
        </p:spPr>
        <p:txBody>
          <a:bodyPr wrap="square" rtlCol="false" anchor="ctr"/>
          <a:lstStyle/>
          <a:p>
            <a:pPr marL="0" indent="0">
              <a:buNone/>
            </a:pPr>
            <a:r>
              <a:rPr lang="en-US" sz="3200" b="true" dirty="false">
                <a:solidFill>
                  <a:srgbClr val="FFFFFF"/>
                </a:solidFill>
                <a:latin typeface="Arial" pitchFamily="34" charset="0"/>
                <a:ea typeface="Arial" pitchFamily="34" charset="-122"/>
                <a:cs typeface="Arial" pitchFamily="34" charset="-120"/>
              </a:rPr>
              <a:t>总结与展望</a:t>
            </a:r>
            <a:endParaRPr lang="en-US" sz="3200" dirty="false"/>
          </a:p>
        </p:txBody>
      </p:sp>
      <p:sp>
        <p:nvSpPr>
          <p:cNvPr id="498" name="Shape 4"/>
          <p:cNvSpPr/>
          <p:nvPr/>
        </p:nvSpPr>
        <p:spPr>
          <a:xfrm>
            <a:off x="2286000" y="2286000"/>
            <a:ext cx="2743200" cy="36576"/>
          </a:xfrm>
          <a:prstGeom prst="rect">
            <a:avLst/>
          </a:prstGeom>
          <a:solidFill>
            <a:srgbClr val="E74C3C"/>
          </a:solidFill>
          <a:ln/>
        </p:spPr>
        <p:txBody>
          <a:bodyPr/>
          <a:p>
            <a:pPr/>
            <a:endParaRPr/>
          </a:p>
        </p:txBody>
      </p:sp>
      <p:sp>
        <p:nvSpPr>
          <p:cNvPr id="499" name="Text 5"/>
          <p:cNvSpPr/>
          <p:nvPr/>
        </p:nvSpPr>
        <p:spPr>
          <a:xfrm>
            <a:off x="2286000" y="256032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研究工作总结</a:t>
            </a:r>
            <a:endParaRPr lang="en-US" sz="1400" dirty="false"/>
          </a:p>
        </p:txBody>
      </p:sp>
      <p:sp>
        <p:nvSpPr>
          <p:cNvPr id="500" name="Text 6"/>
          <p:cNvSpPr/>
          <p:nvPr/>
        </p:nvSpPr>
        <p:spPr>
          <a:xfrm>
            <a:off x="2286000" y="292608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创新点归纳</a:t>
            </a:r>
            <a:endParaRPr lang="en-US" sz="1400" dirty="false"/>
          </a:p>
        </p:txBody>
      </p:sp>
      <p:sp>
        <p:nvSpPr>
          <p:cNvPr id="501" name="Text 7"/>
          <p:cNvSpPr/>
          <p:nvPr/>
        </p:nvSpPr>
        <p:spPr>
          <a:xfrm>
            <a:off x="2286000" y="3291840"/>
            <a:ext cx="5943600" cy="320040"/>
          </a:xfrm>
          <a:prstGeom prst="rect">
            <a:avLst/>
          </a:prstGeom>
          <a:noFill/>
          <a:ln/>
        </p:spPr>
        <p:txBody>
          <a:bodyPr wrap="square" rtlCol="false" anchor="ctr"/>
          <a:lstStyle/>
          <a:p>
            <a:pPr marL="0" indent="0">
              <a:buNone/>
            </a:pPr>
            <a:r>
              <a:rPr lang="en-US" sz="1400" dirty="false">
                <a:solidFill>
                  <a:srgbClr val="AAB7B8"/>
                </a:solidFill>
                <a:latin typeface="Arial" pitchFamily="34" charset="0"/>
                <a:ea typeface="Arial" pitchFamily="34" charset="-122"/>
                <a:cs typeface="Arial" pitchFamily="34" charset="-120"/>
              </a:rPr>
              <a:t>• 未来工作展望</a:t>
            </a:r>
            <a:endParaRPr lang="en-US" sz="1400" dirty="false"/>
          </a:p>
        </p:txBody>
      </p:sp>
    </p:spTree>
  </p:cSld>
  <p:clrMapOvr>
    <a:masterClrMapping/>
  </p:clrMapOvr>
</p:sld>
</file>

<file path=ppt/slides/slide33.xml><?xml version="1.0" encoding="utf-8"?>
<p:sld xmlns:a="http://schemas.openxmlformats.org/drawingml/2006/main" xmlns:p="http://schemas.openxmlformats.org/presentationml/2006/main">
  <p:cSld name="Slide 33">
    <p:bg>
      <p:bgPr>
        <a:solidFill>
          <a:srgbClr val="F4F6F6"/>
        </a:solidFill>
      </p:bgPr>
    </p:bg>
    <p:spTree>
      <p:nvGrpSpPr>
        <p:cNvPr id="502" name=""/>
        <p:cNvGrpSpPr/>
        <p:nvPr/>
      </p:nvGrpSpPr>
      <p:grpSpPr>
        <a:xfrm>
          <a:off x="0" y="0"/>
          <a:ext cx="0" cy="0"/>
          <a:chOff x="0" y="0"/>
          <a:chExt cx="0" cy="0"/>
        </a:xfrm>
      </p:grpSpPr>
      <p:sp>
        <p:nvSpPr>
          <p:cNvPr id="503" name="Shape 0"/>
          <p:cNvSpPr/>
          <p:nvPr/>
        </p:nvSpPr>
        <p:spPr>
          <a:xfrm>
            <a:off x="0" y="0"/>
            <a:ext cx="91440" cy="5143500"/>
          </a:xfrm>
          <a:prstGeom prst="rect">
            <a:avLst/>
          </a:prstGeom>
          <a:solidFill>
            <a:srgbClr val="1C2833"/>
          </a:solidFill>
          <a:ln/>
        </p:spPr>
        <p:txBody>
          <a:bodyPr/>
          <a:p>
            <a:pPr/>
            <a:endParaRPr/>
          </a:p>
        </p:txBody>
      </p:sp>
      <p:sp>
        <p:nvSpPr>
          <p:cNvPr id="504"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05 总结与展望</a:t>
            </a:r>
            <a:endParaRPr lang="en-US" sz="1100" dirty="false"/>
          </a:p>
        </p:txBody>
      </p:sp>
      <p:sp>
        <p:nvSpPr>
          <p:cNvPr id="505"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创新点总结</a:t>
            </a:r>
            <a:endParaRPr lang="en-US" sz="2400" dirty="false"/>
          </a:p>
        </p:txBody>
      </p:sp>
      <p:sp>
        <p:nvSpPr>
          <p:cNvPr id="506" name="Shape 3"/>
          <p:cNvSpPr/>
          <p:nvPr/>
        </p:nvSpPr>
        <p:spPr>
          <a:xfrm>
            <a:off x="365760" y="914400"/>
            <a:ext cx="8412480" cy="11430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07" name="Shape 4"/>
          <p:cNvSpPr/>
          <p:nvPr/>
        </p:nvSpPr>
        <p:spPr>
          <a:xfrm>
            <a:off x="502920" y="1234440"/>
            <a:ext cx="457200" cy="457200"/>
          </a:xfrm>
          <a:prstGeom prst="ellipse">
            <a:avLst/>
          </a:prstGeom>
          <a:solidFill>
            <a:srgbClr val="E74C3C"/>
          </a:solidFill>
          <a:ln/>
        </p:spPr>
        <p:txBody>
          <a:bodyPr/>
          <a:p>
            <a:pPr/>
            <a:endParaRPr/>
          </a:p>
        </p:txBody>
      </p:sp>
      <p:sp>
        <p:nvSpPr>
          <p:cNvPr id="508" name="Text 5"/>
          <p:cNvSpPr/>
          <p:nvPr/>
        </p:nvSpPr>
        <p:spPr>
          <a:xfrm>
            <a:off x="502920" y="1234440"/>
            <a:ext cx="457200" cy="45720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1</a:t>
            </a:r>
            <a:endParaRPr lang="en-US" sz="1800" dirty="false"/>
          </a:p>
        </p:txBody>
      </p:sp>
      <p:sp>
        <p:nvSpPr>
          <p:cNvPr id="509" name="Text 6"/>
          <p:cNvSpPr/>
          <p:nvPr/>
        </p:nvSpPr>
        <p:spPr>
          <a:xfrm>
            <a:off x="1097280" y="1005840"/>
            <a:ext cx="749808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TR模块：全局上下文增强</a:t>
            </a:r>
            <a:endParaRPr lang="en-US" sz="1300" dirty="false"/>
          </a:p>
        </p:txBody>
      </p:sp>
      <p:sp>
        <p:nvSpPr>
          <p:cNvPr id="510" name="Text 7"/>
          <p:cNvSpPr/>
          <p:nvPr/>
        </p:nvSpPr>
        <p:spPr>
          <a:xfrm>
            <a:off x="1097280" y="1325880"/>
            <a:ext cx="7498080" cy="4114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提出基于双层路由注意力的TR模块，通过Top-K稀疏选择策略在可控计算开销下增强长程依赖建模能力，有效提升对目标整体结构与上下文关系的表征。</a:t>
            </a:r>
            <a:endParaRPr lang="en-US" sz="900" dirty="false"/>
          </a:p>
        </p:txBody>
      </p:sp>
      <p:sp>
        <p:nvSpPr>
          <p:cNvPr id="511" name="Text 8"/>
          <p:cNvSpPr/>
          <p:nvPr/>
        </p:nvSpPr>
        <p:spPr>
          <a:xfrm>
            <a:off x="1097280" y="1737360"/>
            <a:ext cx="7498080" cy="22860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贡献：mIoU提升3.9%，计算量减少75%</a:t>
            </a:r>
            <a:endParaRPr lang="en-US" sz="900" dirty="false"/>
          </a:p>
        </p:txBody>
      </p:sp>
      <p:sp>
        <p:nvSpPr>
          <p:cNvPr id="512" name="Shape 9"/>
          <p:cNvSpPr/>
          <p:nvPr/>
        </p:nvSpPr>
        <p:spPr>
          <a:xfrm>
            <a:off x="365760" y="2148840"/>
            <a:ext cx="8412480" cy="11430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13" name="Shape 10"/>
          <p:cNvSpPr/>
          <p:nvPr/>
        </p:nvSpPr>
        <p:spPr>
          <a:xfrm>
            <a:off x="502920" y="2468880"/>
            <a:ext cx="457200" cy="457200"/>
          </a:xfrm>
          <a:prstGeom prst="ellipse">
            <a:avLst/>
          </a:prstGeom>
          <a:solidFill>
            <a:srgbClr val="E74C3C"/>
          </a:solidFill>
          <a:ln/>
        </p:spPr>
        <p:txBody>
          <a:bodyPr/>
          <a:p>
            <a:pPr/>
            <a:endParaRPr/>
          </a:p>
        </p:txBody>
      </p:sp>
      <p:sp>
        <p:nvSpPr>
          <p:cNvPr id="514" name="Text 11"/>
          <p:cNvSpPr/>
          <p:nvPr/>
        </p:nvSpPr>
        <p:spPr>
          <a:xfrm>
            <a:off x="502920" y="2468880"/>
            <a:ext cx="457200" cy="45720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2</a:t>
            </a:r>
            <a:endParaRPr lang="en-US" sz="1800" dirty="false"/>
          </a:p>
        </p:txBody>
      </p:sp>
      <p:sp>
        <p:nvSpPr>
          <p:cNvPr id="515" name="Text 12"/>
          <p:cNvSpPr/>
          <p:nvPr/>
        </p:nvSpPr>
        <p:spPr>
          <a:xfrm>
            <a:off x="1097280" y="2240280"/>
            <a:ext cx="749808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SAE模块：局部细节增强</a:t>
            </a:r>
            <a:endParaRPr lang="en-US" sz="1300" dirty="false"/>
          </a:p>
        </p:txBody>
      </p:sp>
      <p:sp>
        <p:nvSpPr>
          <p:cNvPr id="516" name="Text 13"/>
          <p:cNvSpPr/>
          <p:nvPr/>
        </p:nvSpPr>
        <p:spPr>
          <a:xfrm>
            <a:off x="1097280" y="2560320"/>
            <a:ext cx="7498080" cy="4114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设计结合坐标注意力与通道注意力的SAE模块，通过编码空间位置信息和强化判别性通道响应，显著改善细长结构与模糊边界处的分割质量。</a:t>
            </a:r>
            <a:endParaRPr lang="en-US" sz="900" dirty="false"/>
          </a:p>
        </p:txBody>
      </p:sp>
      <p:sp>
        <p:nvSpPr>
          <p:cNvPr id="517" name="Text 14"/>
          <p:cNvSpPr/>
          <p:nvPr/>
        </p:nvSpPr>
        <p:spPr>
          <a:xfrm>
            <a:off x="1097280" y="2971800"/>
            <a:ext cx="7498080" cy="22860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贡献：mIoU提升5.9%，HD95降低12.6%</a:t>
            </a:r>
            <a:endParaRPr lang="en-US" sz="900" dirty="false"/>
          </a:p>
        </p:txBody>
      </p:sp>
      <p:sp>
        <p:nvSpPr>
          <p:cNvPr id="518" name="Shape 15"/>
          <p:cNvSpPr/>
          <p:nvPr/>
        </p:nvSpPr>
        <p:spPr>
          <a:xfrm>
            <a:off x="365760" y="3383280"/>
            <a:ext cx="8412480" cy="114300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19" name="Shape 16"/>
          <p:cNvSpPr/>
          <p:nvPr/>
        </p:nvSpPr>
        <p:spPr>
          <a:xfrm>
            <a:off x="502920" y="3703320"/>
            <a:ext cx="457200" cy="457200"/>
          </a:xfrm>
          <a:prstGeom prst="ellipse">
            <a:avLst/>
          </a:prstGeom>
          <a:solidFill>
            <a:srgbClr val="E74C3C"/>
          </a:solidFill>
          <a:ln/>
        </p:spPr>
        <p:txBody>
          <a:bodyPr/>
          <a:p>
            <a:pPr/>
            <a:endParaRPr/>
          </a:p>
        </p:txBody>
      </p:sp>
      <p:sp>
        <p:nvSpPr>
          <p:cNvPr id="520" name="Text 17"/>
          <p:cNvSpPr/>
          <p:nvPr/>
        </p:nvSpPr>
        <p:spPr>
          <a:xfrm>
            <a:off x="502920" y="3703320"/>
            <a:ext cx="457200" cy="457200"/>
          </a:xfrm>
          <a:prstGeom prst="rect">
            <a:avLst/>
          </a:prstGeom>
          <a:noFill/>
          <a:ln/>
        </p:spPr>
        <p:txBody>
          <a:bodyPr wrap="square" rtlCol="false" anchor="ctr"/>
          <a:lstStyle/>
          <a:p>
            <a:pPr marL="0" indent="0" algn="ctr">
              <a:buNone/>
            </a:pPr>
            <a:r>
              <a:rPr lang="en-US" sz="1800" b="true" dirty="false">
                <a:solidFill>
                  <a:srgbClr val="FFFFFF"/>
                </a:solidFill>
                <a:latin typeface="Arial" pitchFamily="34" charset="0"/>
                <a:ea typeface="Arial" pitchFamily="34" charset="-122"/>
                <a:cs typeface="Arial" pitchFamily="34" charset="-120"/>
              </a:rPr>
              <a:t>3</a:t>
            </a:r>
            <a:endParaRPr lang="en-US" sz="1800" dirty="false"/>
          </a:p>
        </p:txBody>
      </p:sp>
      <p:sp>
        <p:nvSpPr>
          <p:cNvPr id="521" name="Text 18"/>
          <p:cNvSpPr/>
          <p:nvPr/>
        </p:nvSpPr>
        <p:spPr>
          <a:xfrm>
            <a:off x="1097280" y="3474720"/>
            <a:ext cx="7498080" cy="320040"/>
          </a:xfrm>
          <a:prstGeom prst="rect">
            <a:avLst/>
          </a:prstGeom>
          <a:noFill/>
          <a:ln/>
        </p:spPr>
        <p:txBody>
          <a:bodyPr wrap="square" rtlCol="false" anchor="ctr"/>
          <a:lstStyle/>
          <a:p>
            <a:pPr marL="0" indent="0">
              <a:buNone/>
            </a:pPr>
            <a:r>
              <a:rPr lang="en-US" sz="1300" b="true" dirty="false">
                <a:solidFill>
                  <a:srgbClr val="1C2833"/>
                </a:solidFill>
                <a:latin typeface="Arial" pitchFamily="34" charset="0"/>
                <a:ea typeface="Arial" pitchFamily="34" charset="-122"/>
                <a:cs typeface="Arial" pitchFamily="34" charset="-120"/>
              </a:rPr>
              <a:t>双重注意力协同机制</a:t>
            </a:r>
            <a:endParaRPr lang="en-US" sz="1300" dirty="false"/>
          </a:p>
        </p:txBody>
      </p:sp>
      <p:sp>
        <p:nvSpPr>
          <p:cNvPr id="522" name="Text 19"/>
          <p:cNvSpPr/>
          <p:nvPr/>
        </p:nvSpPr>
        <p:spPr>
          <a:xfrm>
            <a:off x="1097280" y="3794760"/>
            <a:ext cx="7498080" cy="41148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TR模块负责全局语义建模，SAE模块负责局部细节增强，两者在编码器-解码器框架内协同工作，产生超越单模块使用的协同效应。</a:t>
            </a:r>
            <a:endParaRPr lang="en-US" sz="900" dirty="false"/>
          </a:p>
        </p:txBody>
      </p:sp>
      <p:sp>
        <p:nvSpPr>
          <p:cNvPr id="523" name="Text 20"/>
          <p:cNvSpPr/>
          <p:nvPr/>
        </p:nvSpPr>
        <p:spPr>
          <a:xfrm>
            <a:off x="1097280" y="4206240"/>
            <a:ext cx="7498080" cy="228600"/>
          </a:xfrm>
          <a:prstGeom prst="rect">
            <a:avLst/>
          </a:prstGeom>
          <a:noFill/>
          <a:ln/>
        </p:spPr>
        <p:txBody>
          <a:bodyPr wrap="square" rtlCol="false" anchor="ctr"/>
          <a:lstStyle/>
          <a:p>
            <a:pPr marL="0" indent="0">
              <a:buNone/>
            </a:pPr>
            <a:r>
              <a:rPr lang="en-US" sz="900" b="true" dirty="false">
                <a:solidFill>
                  <a:srgbClr val="27AE60"/>
                </a:solidFill>
                <a:latin typeface="Arial" pitchFamily="34" charset="0"/>
                <a:ea typeface="Arial" pitchFamily="34" charset="-122"/>
                <a:cs typeface="Arial" pitchFamily="34" charset="-120"/>
              </a:rPr>
              <a:t>贡献：组合提升7.1%，目标IoU提升16.3%</a:t>
            </a:r>
            <a:endParaRPr lang="en-US" sz="900" dirty="false"/>
          </a:p>
        </p:txBody>
      </p:sp>
    </p:spTree>
  </p:cSld>
  <p:clrMapOvr>
    <a:masterClrMapping/>
  </p:clrMapOvr>
</p:sld>
</file>

<file path=ppt/slides/slide34.xml><?xml version="1.0" encoding="utf-8"?>
<p:sld xmlns:a="http://schemas.openxmlformats.org/drawingml/2006/main" xmlns:p="http://schemas.openxmlformats.org/presentationml/2006/main">
  <p:cSld name="Slide 34">
    <p:bg>
      <p:bgPr>
        <a:solidFill>
          <a:srgbClr val="F4F6F6"/>
        </a:solidFill>
      </p:bgPr>
    </p:bg>
    <p:spTree>
      <p:nvGrpSpPr>
        <p:cNvPr id="524" name=""/>
        <p:cNvGrpSpPr/>
        <p:nvPr/>
      </p:nvGrpSpPr>
      <p:grpSpPr>
        <a:xfrm>
          <a:off x="0" y="0"/>
          <a:ext cx="0" cy="0"/>
          <a:chOff x="0" y="0"/>
          <a:chExt cx="0" cy="0"/>
        </a:xfrm>
      </p:grpSpPr>
      <p:sp>
        <p:nvSpPr>
          <p:cNvPr id="525" name="Shape 0"/>
          <p:cNvSpPr/>
          <p:nvPr/>
        </p:nvSpPr>
        <p:spPr>
          <a:xfrm>
            <a:off x="0" y="0"/>
            <a:ext cx="91440" cy="5143500"/>
          </a:xfrm>
          <a:prstGeom prst="rect">
            <a:avLst/>
          </a:prstGeom>
          <a:solidFill>
            <a:srgbClr val="1C2833"/>
          </a:solidFill>
          <a:ln/>
        </p:spPr>
        <p:txBody>
          <a:bodyPr/>
          <a:p>
            <a:pPr/>
            <a:endParaRPr/>
          </a:p>
        </p:txBody>
      </p:sp>
      <p:sp>
        <p:nvSpPr>
          <p:cNvPr id="526" name="Text 1"/>
          <p:cNvSpPr/>
          <p:nvPr/>
        </p:nvSpPr>
        <p:spPr>
          <a:xfrm>
            <a:off x="365760" y="182880"/>
            <a:ext cx="4572000" cy="274320"/>
          </a:xfrm>
          <a:prstGeom prst="rect">
            <a:avLst/>
          </a:prstGeom>
          <a:noFill/>
          <a:ln/>
        </p:spPr>
        <p:txBody>
          <a:bodyPr wrap="square" rtlCol="false" anchor="ctr"/>
          <a:lstStyle/>
          <a:p>
            <a:pPr marL="0" indent="0">
              <a:buNone/>
            </a:pPr>
            <a:r>
              <a:rPr lang="en-US" sz="1100" dirty="false">
                <a:solidFill>
                  <a:srgbClr val="AAB7B8"/>
                </a:solidFill>
                <a:latin typeface="Arial" pitchFamily="34" charset="0"/>
                <a:ea typeface="Arial" pitchFamily="34" charset="-122"/>
                <a:cs typeface="Arial" pitchFamily="34" charset="-120"/>
              </a:rPr>
              <a:t>05 总结与展望</a:t>
            </a:r>
            <a:endParaRPr lang="en-US" sz="1100" dirty="false"/>
          </a:p>
        </p:txBody>
      </p:sp>
      <p:sp>
        <p:nvSpPr>
          <p:cNvPr id="527" name="Text 2"/>
          <p:cNvSpPr/>
          <p:nvPr/>
        </p:nvSpPr>
        <p:spPr>
          <a:xfrm>
            <a:off x="365760" y="457200"/>
            <a:ext cx="8229600" cy="457200"/>
          </a:xfrm>
          <a:prstGeom prst="rect">
            <a:avLst/>
          </a:prstGeom>
          <a:noFill/>
          <a:ln/>
        </p:spPr>
        <p:txBody>
          <a:bodyPr wrap="square" rtlCol="false" anchor="ctr"/>
          <a:lstStyle/>
          <a:p>
            <a:pPr marL="0" indent="0">
              <a:buNone/>
            </a:pPr>
            <a:r>
              <a:rPr lang="en-US" sz="2400" b="true" dirty="false">
                <a:solidFill>
                  <a:srgbClr val="1C2833"/>
                </a:solidFill>
                <a:latin typeface="Arial" pitchFamily="34" charset="0"/>
                <a:ea typeface="Arial" pitchFamily="34" charset="-122"/>
                <a:cs typeface="Arial" pitchFamily="34" charset="-120"/>
              </a:rPr>
              <a:t>工作展望</a:t>
            </a:r>
            <a:endParaRPr lang="en-US" sz="2400" dirty="false"/>
          </a:p>
        </p:txBody>
      </p:sp>
      <p:sp>
        <p:nvSpPr>
          <p:cNvPr id="528" name="Shape 3"/>
          <p:cNvSpPr/>
          <p:nvPr/>
        </p:nvSpPr>
        <p:spPr>
          <a:xfrm>
            <a:off x="365760" y="914400"/>
            <a:ext cx="4206240" cy="1280160"/>
          </a:xfrm>
          <a:prstGeom prst="roundRect">
            <a:avLst/>
          </a:prstGeom>
          <a:solidFill>
            <a:srgbClr val="2E4053"/>
          </a:solidFill>
          <a:ln/>
        </p:spPr>
        <p:txBody>
          <a:bodyPr/>
          <a:p>
            <a:pPr/>
            <a:endParaRPr/>
          </a:p>
        </p:txBody>
      </p:sp>
      <p:sp>
        <p:nvSpPr>
          <p:cNvPr id="529" name="Text 4"/>
          <p:cNvSpPr/>
          <p:nvPr/>
        </p:nvSpPr>
        <p:spPr>
          <a:xfrm>
            <a:off x="548640" y="1005840"/>
            <a:ext cx="3840480" cy="320040"/>
          </a:xfrm>
          <a:prstGeom prst="rect">
            <a:avLst/>
          </a:prstGeom>
          <a:noFill/>
          <a:ln/>
        </p:spPr>
        <p:txBody>
          <a:bodyPr wrap="square" rtlCol="false" anchor="ctr"/>
          <a:lstStyle/>
          <a:p>
            <a:pPr marL="0" indent="0">
              <a:buNone/>
            </a:pPr>
            <a:r>
              <a:rPr lang="en-US" sz="1200" b="true" dirty="false">
                <a:solidFill>
                  <a:srgbClr val="FFFFFF"/>
                </a:solidFill>
                <a:latin typeface="Arial" pitchFamily="34" charset="0"/>
                <a:ea typeface="Arial" pitchFamily="34" charset="-122"/>
                <a:cs typeface="Arial" pitchFamily="34" charset="-120"/>
              </a:rPr>
              <a:t>现有不足</a:t>
            </a:r>
            <a:endParaRPr lang="en-US" sz="1200" dirty="false"/>
          </a:p>
        </p:txBody>
      </p:sp>
      <p:sp>
        <p:nvSpPr>
          <p:cNvPr id="530" name="Text 5"/>
          <p:cNvSpPr/>
          <p:nvPr/>
        </p:nvSpPr>
        <p:spPr>
          <a:xfrm>
            <a:off x="548640" y="1371600"/>
            <a:ext cx="3840480" cy="237744"/>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1. 参数量较大（420MB），部署成本较高</a:t>
            </a:r>
            <a:endParaRPr lang="en-US" sz="900" dirty="false"/>
          </a:p>
        </p:txBody>
      </p:sp>
      <p:sp>
        <p:nvSpPr>
          <p:cNvPr id="531" name="Text 6"/>
          <p:cNvSpPr/>
          <p:nvPr/>
        </p:nvSpPr>
        <p:spPr>
          <a:xfrm>
            <a:off x="548640" y="1627632"/>
            <a:ext cx="3840480" cy="237744"/>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2. 数据集规模有限，泛化能力待验证</a:t>
            </a:r>
            <a:endParaRPr lang="en-US" sz="900" dirty="false"/>
          </a:p>
        </p:txBody>
      </p:sp>
      <p:sp>
        <p:nvSpPr>
          <p:cNvPr id="532" name="Text 7"/>
          <p:cNvSpPr/>
          <p:nvPr/>
        </p:nvSpPr>
        <p:spPr>
          <a:xfrm>
            <a:off x="548640" y="1883664"/>
            <a:ext cx="3840480" cy="237744"/>
          </a:xfrm>
          <a:prstGeom prst="rect">
            <a:avLst/>
          </a:prstGeom>
          <a:noFill/>
          <a:ln/>
        </p:spPr>
        <p:txBody>
          <a:bodyPr wrap="square" rtlCol="false" anchor="ctr"/>
          <a:lstStyle/>
          <a:p>
            <a:pPr marL="0" indent="0">
              <a:buNone/>
            </a:pPr>
            <a:r>
              <a:rPr lang="en-US" sz="900" dirty="false">
                <a:solidFill>
                  <a:srgbClr val="FFFFFF"/>
                </a:solidFill>
                <a:latin typeface="Arial" pitchFamily="34" charset="0"/>
                <a:ea typeface="Arial" pitchFamily="34" charset="-122"/>
                <a:cs typeface="Arial" pitchFamily="34" charset="-120"/>
              </a:rPr>
              <a:t>3. 仅针对二分类任务，多类别扩展待研究</a:t>
            </a:r>
            <a:endParaRPr lang="en-US" sz="900" dirty="false"/>
          </a:p>
        </p:txBody>
      </p:sp>
      <p:sp>
        <p:nvSpPr>
          <p:cNvPr id="533" name="Shape 8"/>
          <p:cNvSpPr/>
          <p:nvPr/>
        </p:nvSpPr>
        <p:spPr>
          <a:xfrm>
            <a:off x="365760" y="237744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34" name="Shape 9"/>
          <p:cNvSpPr/>
          <p:nvPr/>
        </p:nvSpPr>
        <p:spPr>
          <a:xfrm>
            <a:off x="365760" y="2377440"/>
            <a:ext cx="36576" cy="868680"/>
          </a:xfrm>
          <a:prstGeom prst="rect">
            <a:avLst/>
          </a:prstGeom>
          <a:solidFill>
            <a:srgbClr val="1C2833"/>
          </a:solidFill>
          <a:ln/>
        </p:spPr>
        <p:txBody>
          <a:bodyPr/>
          <a:p>
            <a:pPr/>
            <a:endParaRPr/>
          </a:p>
        </p:txBody>
      </p:sp>
      <p:sp>
        <p:nvSpPr>
          <p:cNvPr id="535" name="Text 10"/>
          <p:cNvSpPr/>
          <p:nvPr/>
        </p:nvSpPr>
        <p:spPr>
          <a:xfrm>
            <a:off x="502920" y="246888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模型轻量化</a:t>
            </a:r>
            <a:endParaRPr lang="en-US" sz="1100" dirty="false"/>
          </a:p>
        </p:txBody>
      </p:sp>
      <p:sp>
        <p:nvSpPr>
          <p:cNvPr id="536" name="Text 11"/>
          <p:cNvSpPr/>
          <p:nvPr/>
        </p:nvSpPr>
        <p:spPr>
          <a:xfrm>
            <a:off x="502920" y="274320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探索知识蒸馏、模型剪枝、量化等技术，在保持性能的同时降低模型复杂度。</a:t>
            </a:r>
            <a:endParaRPr lang="en-US" sz="900" dirty="false"/>
          </a:p>
        </p:txBody>
      </p:sp>
      <p:sp>
        <p:nvSpPr>
          <p:cNvPr id="537" name="Shape 12"/>
          <p:cNvSpPr/>
          <p:nvPr/>
        </p:nvSpPr>
        <p:spPr>
          <a:xfrm>
            <a:off x="365760" y="333756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38" name="Shape 13"/>
          <p:cNvSpPr/>
          <p:nvPr/>
        </p:nvSpPr>
        <p:spPr>
          <a:xfrm>
            <a:off x="365760" y="3337560"/>
            <a:ext cx="36576" cy="868680"/>
          </a:xfrm>
          <a:prstGeom prst="rect">
            <a:avLst/>
          </a:prstGeom>
          <a:solidFill>
            <a:srgbClr val="1C2833"/>
          </a:solidFill>
          <a:ln/>
        </p:spPr>
        <p:txBody>
          <a:bodyPr/>
          <a:p>
            <a:pPr/>
            <a:endParaRPr/>
          </a:p>
        </p:txBody>
      </p:sp>
      <p:sp>
        <p:nvSpPr>
          <p:cNvPr id="539" name="Text 14"/>
          <p:cNvSpPr/>
          <p:nvPr/>
        </p:nvSpPr>
        <p:spPr>
          <a:xfrm>
            <a:off x="502920" y="342900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数据集扩展</a:t>
            </a:r>
            <a:endParaRPr lang="en-US" sz="1100" dirty="false"/>
          </a:p>
        </p:txBody>
      </p:sp>
      <p:sp>
        <p:nvSpPr>
          <p:cNvPr id="540" name="Text 15"/>
          <p:cNvSpPr/>
          <p:nvPr/>
        </p:nvSpPr>
        <p:spPr>
          <a:xfrm>
            <a:off x="502920" y="370332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收集更多不同焊接条件下的OCT图像，构建更大规模、更多样化的数据集。</a:t>
            </a:r>
            <a:endParaRPr lang="en-US" sz="900" dirty="false"/>
          </a:p>
        </p:txBody>
      </p:sp>
      <p:sp>
        <p:nvSpPr>
          <p:cNvPr id="541" name="Shape 16"/>
          <p:cNvSpPr/>
          <p:nvPr/>
        </p:nvSpPr>
        <p:spPr>
          <a:xfrm>
            <a:off x="4754880" y="91440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42" name="Shape 17"/>
          <p:cNvSpPr/>
          <p:nvPr/>
        </p:nvSpPr>
        <p:spPr>
          <a:xfrm>
            <a:off x="4754880" y="914400"/>
            <a:ext cx="36576" cy="868680"/>
          </a:xfrm>
          <a:prstGeom prst="rect">
            <a:avLst/>
          </a:prstGeom>
          <a:solidFill>
            <a:srgbClr val="1C2833"/>
          </a:solidFill>
          <a:ln/>
        </p:spPr>
        <p:txBody>
          <a:bodyPr/>
          <a:p>
            <a:pPr/>
            <a:endParaRPr/>
          </a:p>
        </p:txBody>
      </p:sp>
      <p:sp>
        <p:nvSpPr>
          <p:cNvPr id="543" name="Text 18"/>
          <p:cNvSpPr/>
          <p:nvPr/>
        </p:nvSpPr>
        <p:spPr>
          <a:xfrm>
            <a:off x="4892040" y="100584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多任务学习</a:t>
            </a:r>
            <a:endParaRPr lang="en-US" sz="1100" dirty="false"/>
          </a:p>
        </p:txBody>
      </p:sp>
      <p:sp>
        <p:nvSpPr>
          <p:cNvPr id="544" name="Text 19"/>
          <p:cNvSpPr/>
          <p:nvPr/>
        </p:nvSpPr>
        <p:spPr>
          <a:xfrm>
            <a:off x="4892040" y="128016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将语义分割与焊接缺陷检测、熔深预测等任务联合建模。</a:t>
            </a:r>
            <a:endParaRPr lang="en-US" sz="900" dirty="false"/>
          </a:p>
        </p:txBody>
      </p:sp>
      <p:sp>
        <p:nvSpPr>
          <p:cNvPr id="545" name="Shape 20"/>
          <p:cNvSpPr/>
          <p:nvPr/>
        </p:nvSpPr>
        <p:spPr>
          <a:xfrm>
            <a:off x="4754880" y="1874520"/>
            <a:ext cx="4206240" cy="868680"/>
          </a:xfrm>
          <a:prstGeom prst="roundRect">
            <a:avLst/>
          </a:prstGeom>
          <a:solidFill>
            <a:srgbClr val="FFFFFF"/>
          </a:solidFill>
          <a:ln/>
          <a:effectLst>
            <a:outerShdw blurRad="25400" dist="12700" dir="2700000" sx="100000" sy="100000" kx="0" ky="0" algn="bl" rotWithShape="false">
              <a:srgbClr val="000000">
                <a:alpha val="15000"/>
              </a:srgbClr>
            </a:outerShdw>
          </a:effectLst>
        </p:spPr>
        <p:txBody>
          <a:bodyPr/>
          <a:p>
            <a:pPr/>
            <a:endParaRPr/>
          </a:p>
        </p:txBody>
      </p:sp>
      <p:sp>
        <p:nvSpPr>
          <p:cNvPr id="546" name="Shape 21"/>
          <p:cNvSpPr/>
          <p:nvPr/>
        </p:nvSpPr>
        <p:spPr>
          <a:xfrm>
            <a:off x="4754880" y="1874520"/>
            <a:ext cx="36576" cy="868680"/>
          </a:xfrm>
          <a:prstGeom prst="rect">
            <a:avLst/>
          </a:prstGeom>
          <a:solidFill>
            <a:srgbClr val="1C2833"/>
          </a:solidFill>
          <a:ln/>
        </p:spPr>
        <p:txBody>
          <a:bodyPr/>
          <a:p>
            <a:pPr/>
            <a:endParaRPr/>
          </a:p>
        </p:txBody>
      </p:sp>
      <p:sp>
        <p:nvSpPr>
          <p:cNvPr id="547" name="Text 22"/>
          <p:cNvSpPr/>
          <p:nvPr/>
        </p:nvSpPr>
        <p:spPr>
          <a:xfrm>
            <a:off x="4892040" y="1965960"/>
            <a:ext cx="3931920" cy="274320"/>
          </a:xfrm>
          <a:prstGeom prst="rect">
            <a:avLst/>
          </a:prstGeom>
          <a:noFill/>
          <a:ln/>
        </p:spPr>
        <p:txBody>
          <a:bodyPr wrap="square" rtlCol="false" anchor="ctr"/>
          <a:lstStyle/>
          <a:p>
            <a:pPr marL="0" indent="0">
              <a:buNone/>
            </a:pPr>
            <a:r>
              <a:rPr lang="en-US" sz="1100" b="true" dirty="false">
                <a:solidFill>
                  <a:srgbClr val="1C2833"/>
                </a:solidFill>
                <a:latin typeface="Arial" pitchFamily="34" charset="0"/>
                <a:ea typeface="Arial" pitchFamily="34" charset="-122"/>
                <a:cs typeface="Arial" pitchFamily="34" charset="-120"/>
              </a:rPr>
              <a:t>应用拓展</a:t>
            </a:r>
            <a:endParaRPr lang="en-US" sz="1100" dirty="false"/>
          </a:p>
        </p:txBody>
      </p:sp>
      <p:sp>
        <p:nvSpPr>
          <p:cNvPr id="548" name="Text 23"/>
          <p:cNvSpPr/>
          <p:nvPr/>
        </p:nvSpPr>
        <p:spPr>
          <a:xfrm>
            <a:off x="4892040" y="2240280"/>
            <a:ext cx="3931920" cy="457200"/>
          </a:xfrm>
          <a:prstGeom prst="rect">
            <a:avLst/>
          </a:prstGeom>
          <a:noFill/>
          <a:ln/>
        </p:spPr>
        <p:txBody>
          <a:bodyPr wrap="square" rtlCol="false" anchor="ctr"/>
          <a:lstStyle/>
          <a:p>
            <a:pPr marL="0" indent="0">
              <a:buNone/>
            </a:pPr>
            <a:r>
              <a:rPr lang="en-US" sz="900" dirty="false">
                <a:solidFill>
                  <a:srgbClr val="2E4053"/>
                </a:solidFill>
                <a:latin typeface="Arial" pitchFamily="34" charset="0"/>
                <a:ea typeface="Arial" pitchFamily="34" charset="-122"/>
                <a:cs typeface="Arial" pitchFamily="34" charset="-120"/>
              </a:rPr>
              <a:t>将方法推广至医学OCT图像分析、裂缝检测等领域。</a:t>
            </a:r>
            <a:endParaRPr lang="en-US" sz="900" dirty="false"/>
          </a:p>
        </p:txBody>
      </p:sp>
    </p:spTree>
  </p:cSld>
  <p:clrMapOvr>
    <a:masterClrMapping/>
  </p:clrMapOvr>
</p:sld>
</file>

<file path=ppt/slides/slide35.xml><?xml version="1.0" encoding="utf-8"?>
<p:sld xmlns:a="http://schemas.openxmlformats.org/drawingml/2006/main" xmlns:p="http://schemas.openxmlformats.org/presentationml/2006/main">
  <p:cSld name="Slide 35">
    <p:bg>
      <p:bgPr>
        <a:solidFill>
          <a:srgbClr val="1C2833"/>
        </a:solidFill>
      </p:bgPr>
    </p:bg>
    <p:spTree>
      <p:nvGrpSpPr>
        <p:cNvPr id="549" name=""/>
        <p:cNvGrpSpPr/>
        <p:nvPr/>
      </p:nvGrpSpPr>
      <p:grpSpPr>
        <a:xfrm>
          <a:off x="0" y="0"/>
          <a:ext cx="0" cy="0"/>
          <a:chOff x="0" y="0"/>
          <a:chExt cx="0" cy="0"/>
        </a:xfrm>
      </p:grpSpPr>
      <p:sp>
        <p:nvSpPr>
          <p:cNvPr id="550" name="Shape 0"/>
          <p:cNvSpPr/>
          <p:nvPr/>
        </p:nvSpPr>
        <p:spPr>
          <a:xfrm>
            <a:off x="0" y="0"/>
            <a:ext cx="9144000" cy="91440"/>
          </a:xfrm>
          <a:prstGeom prst="rect">
            <a:avLst/>
          </a:prstGeom>
          <a:solidFill>
            <a:srgbClr val="AAB7B8"/>
          </a:solidFill>
          <a:ln/>
        </p:spPr>
        <p:txBody>
          <a:bodyPr/>
          <a:p>
            <a:pPr/>
            <a:endParaRPr/>
          </a:p>
        </p:txBody>
      </p:sp>
      <p:sp>
        <p:nvSpPr>
          <p:cNvPr id="551" name="Shape 1"/>
          <p:cNvSpPr/>
          <p:nvPr/>
        </p:nvSpPr>
        <p:spPr>
          <a:xfrm>
            <a:off x="0" y="5056632"/>
            <a:ext cx="9144000" cy="91440"/>
          </a:xfrm>
          <a:prstGeom prst="rect">
            <a:avLst/>
          </a:prstGeom>
          <a:solidFill>
            <a:srgbClr val="AAB7B8"/>
          </a:solidFill>
          <a:ln/>
        </p:spPr>
        <p:txBody>
          <a:bodyPr/>
          <a:p>
            <a:pPr/>
            <a:endParaRPr/>
          </a:p>
        </p:txBody>
      </p:sp>
      <p:sp>
        <p:nvSpPr>
          <p:cNvPr id="552" name="Text 2"/>
          <p:cNvSpPr/>
          <p:nvPr/>
        </p:nvSpPr>
        <p:spPr>
          <a:xfrm>
            <a:off x="0" y="1828800"/>
            <a:ext cx="9144000" cy="731520"/>
          </a:xfrm>
          <a:prstGeom prst="rect">
            <a:avLst/>
          </a:prstGeom>
          <a:noFill/>
          <a:ln/>
        </p:spPr>
        <p:txBody>
          <a:bodyPr wrap="square" rtlCol="false" anchor="ctr"/>
          <a:lstStyle/>
          <a:p>
            <a:pPr marL="0" indent="0" algn="ctr">
              <a:buNone/>
            </a:pPr>
            <a:r>
              <a:rPr lang="en-US" sz="4800" b="true" dirty="false">
                <a:solidFill>
                  <a:srgbClr val="FFFFFF"/>
                </a:solidFill>
                <a:latin typeface="Arial" pitchFamily="34" charset="0"/>
                <a:ea typeface="Arial" pitchFamily="34" charset="-122"/>
                <a:cs typeface="Arial" pitchFamily="34" charset="-120"/>
              </a:rPr>
              <a:t>Q &amp; A</a:t>
            </a:r>
            <a:endParaRPr lang="en-US" sz="4800" dirty="false"/>
          </a:p>
        </p:txBody>
      </p:sp>
      <p:sp>
        <p:nvSpPr>
          <p:cNvPr id="553" name="Text 3"/>
          <p:cNvSpPr/>
          <p:nvPr/>
        </p:nvSpPr>
        <p:spPr>
          <a:xfrm>
            <a:off x="0" y="2651760"/>
            <a:ext cx="9144000" cy="365760"/>
          </a:xfrm>
          <a:prstGeom prst="rect">
            <a:avLst/>
          </a:prstGeom>
          <a:noFill/>
          <a:ln/>
        </p:spPr>
        <p:txBody>
          <a:bodyPr wrap="square" rtlCol="false" anchor="ctr"/>
          <a:lstStyle/>
          <a:p>
            <a:pPr marL="0" indent="0" algn="ctr">
              <a:buNone/>
            </a:pPr>
            <a:r>
              <a:rPr lang="en-US" sz="1800" dirty="false">
                <a:solidFill>
                  <a:srgbClr val="AAB7B8"/>
                </a:solidFill>
                <a:latin typeface="Arial" pitchFamily="34" charset="0"/>
                <a:ea typeface="Arial" pitchFamily="34" charset="-122"/>
                <a:cs typeface="Arial" pitchFamily="34" charset="-120"/>
              </a:rPr>
              <a:t>请各位老师批评指正</a:t>
            </a:r>
            <a:endParaRPr lang="en-US" sz="1800" dirty="false"/>
          </a:p>
        </p:txBody>
      </p:sp>
      <p:sp>
        <p:nvSpPr>
          <p:cNvPr id="554" name="Shape 4"/>
          <p:cNvSpPr/>
          <p:nvPr/>
        </p:nvSpPr>
        <p:spPr>
          <a:xfrm>
            <a:off x="2560320" y="3291840"/>
            <a:ext cx="4023360" cy="548640"/>
          </a:xfrm>
          <a:prstGeom prst="roundRect">
            <a:avLst/>
          </a:prstGeom>
          <a:solidFill>
            <a:srgbClr val="2E4053">
              <a:alpha val="50000"/>
            </a:srgbClr>
          </a:solidFill>
          <a:ln/>
        </p:spPr>
        <p:txBody>
          <a:bodyPr/>
          <a:p>
            <a:pPr/>
            <a:endParaRPr/>
          </a:p>
        </p:txBody>
      </p:sp>
      <p:sp>
        <p:nvSpPr>
          <p:cNvPr id="555" name="Text 5"/>
          <p:cNvSpPr/>
          <p:nvPr/>
        </p:nvSpPr>
        <p:spPr>
          <a:xfrm>
            <a:off x="2560320" y="3291840"/>
            <a:ext cx="4023360" cy="548640"/>
          </a:xfrm>
          <a:prstGeom prst="rect">
            <a:avLst/>
          </a:prstGeom>
          <a:noFill/>
          <a:ln/>
        </p:spPr>
        <p:txBody>
          <a:bodyPr wrap="square" rtlCol="false" anchor="ctr"/>
          <a:lstStyle/>
          <a:p>
            <a:pPr marL="0" indent="0" algn="ctr">
              <a:buNone/>
            </a:pPr>
            <a:r>
              <a:rPr lang="en-US" sz="1200" dirty="false">
                <a:solidFill>
                  <a:srgbClr val="FFFFFF"/>
                </a:solidFill>
                <a:latin typeface="Arial" pitchFamily="34" charset="0"/>
                <a:ea typeface="Arial" pitchFamily="34" charset="-122"/>
                <a:cs typeface="Arial" pitchFamily="34" charset="-120"/>
              </a:rPr>
              <a:t>答辩人：谢智捷  |  导师：万明明</a:t>
            </a:r>
            <a:endParaRPr lang="en-US" sz="1200" dirty="false"/>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false">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theme>
</file>

<file path=ppt/theme/theme2.xml><?xml version="1.0" encoding="utf-8"?>
<a:theme xmlns:thm15="http://schemas.microsoft.com/office/thememl/2012/main" xmlns:a="http://schemas.openxmlformats.org/drawingml/2006/main" xmlns:mc="http://schemas.openxmlformats.org/markup-compatibility/2006" name="Office 主题​​" mc:Ignorable="thm1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明朝"/>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true">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false"/>
        </a:gradFill>
        <a:gradFill rotWithShape="true">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false"/>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false">
              <a:srgbClr val="000000">
                <a:alpha val="63000"/>
              </a:srgbClr>
            </a:outerShdw>
          </a:effectLst>
        </a:effectStyle>
      </a:effectStyleLst>
      <a:bgFillStyleLst>
        <a:solidFill>
          <a:schemeClr val="phClr"/>
        </a:solidFill>
        <a:solidFill>
          <a:schemeClr val="phClr">
            <a:tint val="95000"/>
            <a:satMod val="170000"/>
          </a:schemeClr>
        </a:solidFill>
        <a:gradFill rotWithShape="true">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false"/>
        </a:gradFill>
      </a:bgFillStyleLst>
    </a:fmtScheme>
  </a:themeElements>
  <a:objectDefaults/>
  <a:extraClrSchemeLst/>
  <a:extLst>
    <a:ext uri="{05A4C25C-085E-4340-85A3-A5531E510DB2}">
      <thm15:themeFamily name="Office Theme" id="{62F939B6-93AF-4DB8-9C6B-D6C7DFDC589F}" vid="{4A3C46E8-61CC-4603-A589-7422A47A8E4A}"/>
    </a:ext>
  </a:extLst>
</a:theme>
</file>

<file path=docProps/app.xml><?xml version="1.0" encoding="utf-8"?>
<Properties xmlns:vt="http://schemas.openxmlformats.org/officeDocument/2006/docPropsVTypes" xmlns="http://schemas.openxmlformats.org/officeDocument/2006/extended-properties">
  <Application>Tencent office</Application>
</Properties>
</file>

<file path=docProps/core.xml><?xml version="1.0" encoding="utf-8"?>
<cp:coreProperties xmlns:xsi="http://www.w3.org/2001/XMLSchema-instance" xmlns:dcmitype="http://purl.org/dc/dcmitype/" xmlns:dcterms="http://purl.org/dc/terms/" xmlns:dc="http://purl.org/dc/elements/1.1/" xmlns:cp="http://schemas.openxmlformats.org/package/2006/metadata/core-properties">
  <dcterms:created xsi:type="dcterms:W3CDTF">2026-02-03T03:22:43Z</dcterms:created>
  <dcterms:modified xsi:type="dcterms:W3CDTF">2026-02-03T03:22:43Z</dcterms:modified>
</cp:coreProperties>
</file>