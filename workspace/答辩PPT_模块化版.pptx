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371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 圳 大 学 硕 士 学 位 论 文 答 辩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基于改进DeepLabV3+的OCT图像语义分割方法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0" y="30175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硕士学位论文答辩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3566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答辩人：谢智捷        导师：万明明 老师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0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2026年2月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 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828800" cy="36576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97280"/>
            <a:ext cx="457200" cy="457200"/>
          </a:xfrm>
          <a:prstGeom prst="ellipse">
            <a:avLst/>
          </a:prstGeom>
          <a:solidFill>
            <a:srgbClr val="1C2833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188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研究背景与意义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1C283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19202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相关技术基础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1C2833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2651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基于全局注意力的模型改进（TR模块）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1C283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3383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基于空间感知增强的模型优化（SAE模块）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1C2833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41148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总结与展望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286000" y="146304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研究背景与意义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286000" y="22860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25603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激光焊接与OCT检测技术背景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29260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现有方法的问题与挑战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32918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本文研究意义与目标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研究背景与意义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研究背景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3931920" cy="5486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005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激光焊接技术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高精度、高效率，广泛应用于航空航天、汽车制造等精密领域。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600200"/>
            <a:ext cx="3931920" cy="5486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645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OCT检测技术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874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非接触、微米级分辨率、实时成像，是熔池检测重要手段。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65760" y="2240280"/>
            <a:ext cx="3931920" cy="5486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2286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语义分割需求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5146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精确提取熔池区域是实现焊接质量在线检测的关键。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480560" y="960120"/>
            <a:ext cx="4297680" cy="19202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0" y="10058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OCT图像示例</a:t>
            </a:r>
            <a:endParaRPr lang="en-US" sz="1000" dirty="0"/>
          </a:p>
        </p:txBody>
      </p:sp>
      <p:pic>
        <p:nvPicPr>
          <p:cNvPr id="16" name="Image 0" descr="../figure/cp2/fig2-8a_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80160"/>
            <a:ext cx="1965960" cy="1325880"/>
          </a:xfrm>
          <a:prstGeom prst="rect">
            <a:avLst/>
          </a:prstGeom>
        </p:spPr>
      </p:pic>
      <p:pic>
        <p:nvPicPr>
          <p:cNvPr id="17" name="Image 1" descr="../figure/cp2/fig2-8b_m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280160"/>
            <a:ext cx="1965960" cy="132588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617720" y="2633472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原始OCT图像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6675120" y="2633472"/>
            <a:ext cx="1965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标注掩码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365760" y="2971800"/>
            <a:ext cx="8412480" cy="105156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21" name="Text 17"/>
          <p:cNvSpPr/>
          <p:nvPr/>
        </p:nvSpPr>
        <p:spPr>
          <a:xfrm>
            <a:off x="548640" y="306324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核心需求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548640" y="3319272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开发一种能够精确分割OCT图像中熔池区域的深度学习方法，支持激光焊接过程的实时质量监测与反馈控制。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研究背景与意义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问题与挑战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743200" cy="17373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Shape 5"/>
          <p:cNvSpPr/>
          <p:nvPr/>
        </p:nvSpPr>
        <p:spPr>
          <a:xfrm>
            <a:off x="1417320" y="1051560"/>
            <a:ext cx="640080" cy="640080"/>
          </a:xfrm>
          <a:prstGeom prst="ellipse">
            <a:avLst/>
          </a:prstGeom>
          <a:solidFill>
            <a:srgbClr val="1C2833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1051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散斑噪声干扰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OCT成像原理导致大量散斑噪声，干扰目标识别与边界定位。传统滤波方法难以有效去噪。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914400"/>
            <a:ext cx="2743200" cy="17373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9144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1051560"/>
            <a:ext cx="640080" cy="640080"/>
          </a:xfrm>
          <a:prstGeom prst="ellipse">
            <a:avLst/>
          </a:prstGeom>
          <a:solidFill>
            <a:srgbClr val="1C2833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1051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337560" y="17830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边界模糊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21031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熔池与基材过渡区域边界模糊，难以精确刻画细长结构。需要增强边界感知能力。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26480" y="914400"/>
            <a:ext cx="2743200" cy="17373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9144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Shape 17"/>
          <p:cNvSpPr/>
          <p:nvPr/>
        </p:nvSpPr>
        <p:spPr>
          <a:xfrm>
            <a:off x="7178040" y="1051560"/>
            <a:ext cx="640080" cy="640080"/>
          </a:xfrm>
          <a:prstGeom prst="ellipse">
            <a:avLst/>
          </a:prstGeom>
          <a:solidFill>
            <a:srgbClr val="1C2833"/>
          </a:solidFill>
          <a:ln/>
        </p:spPr>
      </p:sp>
      <p:sp>
        <p:nvSpPr>
          <p:cNvPr id="20" name="Text 18"/>
          <p:cNvSpPr/>
          <p:nvPr/>
        </p:nvSpPr>
        <p:spPr>
          <a:xfrm>
            <a:off x="7178040" y="1051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217920" y="17830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对比度不足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21031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目标与背景灰度对比度较低，易导致欠分割或过分割。需要更强的特征判别能力。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2834640"/>
            <a:ext cx="8412480" cy="1188720"/>
          </a:xfrm>
          <a:prstGeom prst="roundRect">
            <a:avLst/>
          </a:prstGeom>
          <a:solidFill>
            <a:srgbClr val="2E4053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92608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现有方法局限性与解决思路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321868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传统基于卷积的分割模型受限于局部感受野，难以同时满足全局语义理解与边界精确刻画的需求。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35661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解决思路：引入注意力机制，增强全局上下文建模（TR模块）与局部细节表征能力（SAE模块）。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研究背景与意义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研究意义与目标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11480" cy="41148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005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理论意义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32588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探索全局与局部注意力机制在语义分割中的协同作用，为编码器-解码器架构的改进提供新思路。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411480" cy="41148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011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011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技术价值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提出TR模块与SAE模块的双重注意力增强策略，在可控计算开销下提升分割精度与边界质量。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411480" cy="41148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30175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175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应用前景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333756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为激光焊接、医学影像等领域的OCT图像分析提供高精度分割解决方案，推动智能制造发展。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03520" y="1005840"/>
            <a:ext cx="3474720" cy="301752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研究目标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0" y="1554480"/>
            <a:ext cx="3108960" cy="18288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0" y="1737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设计TR模块增强全局上下文建模能力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0" y="22402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设计SAE模块改善边界分割质量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2743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实现mIoU指标显著提升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0" y="3246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保持推理效率满足实时需求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286000" y="146304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相关技术基础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286000" y="22860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25603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CNN基础组件与原理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29260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经典语义分割网络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32918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DeepLabV3+基线模型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36576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数据集构建与评估指标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相关技术基础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CNN基础组件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19202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卷积层 (Convolution)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261872"/>
            <a:ext cx="374904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261872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待补充：卷积操作示意图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通过卷积核在输入特征图上滑动，提取局部特征。参数共享降低计算量，局部连接保留空间结构。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19202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9601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池化层 (Pooling)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1261872"/>
            <a:ext cx="374904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846320" y="1261872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待补充：池化操作示意图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224028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下采样操作，降低特征图分辨率。最大池化保留显著特征，平均池化保留全局信息，增强平移不变性。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" y="2971800"/>
            <a:ext cx="8412480" cy="105156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0632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CNN核心特性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36499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局部连接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35844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每个神经元只连接输入的局部区域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337560" y="336499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权值共享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337560" y="35844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同一卷积核在整个特征图上共享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336499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层级特征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26480" y="35844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浅层提取边缘，深层提取语义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相关技术基础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经典语义分割网络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2926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36576" cy="292608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FCN (2015)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首个端到端语义分割网络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384048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48640" y="146304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待补充：FCN网络结构图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将全连接层替换为卷积层  • 支持任意尺寸输入  • 跳跃连接融合多尺度特征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4114800" cy="2926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914400"/>
            <a:ext cx="36576" cy="292608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9601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U-Net (2015)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12344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编码器-解码器对称结构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46320" y="1463040"/>
            <a:ext cx="37490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846320" y="1463040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待补充：U-Net网络结构图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3383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对称编码器-解码器结构  • 跳跃连接保留细节信息  • 适合小样本医学图像分割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" y="3931920"/>
            <a:ext cx="8412480" cy="502920"/>
          </a:xfrm>
          <a:prstGeom prst="roundRect">
            <a:avLst/>
          </a:prstGeom>
          <a:solidFill>
            <a:srgbClr val="2E4053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97764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发展脉络: FCN → U-Net → DeepLab系列 → Transformer融合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418795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关键技术演进：全卷积化 → 编码器-解码器 → 空洞卷积/ASPP → 注意力机制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相关技术基础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DeepLabV3+ 基线模型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3566160" cy="475488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编码器-解码器架构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52144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ResNet18-V1c骨干网络，解码器融合高低层特征。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444752"/>
            <a:ext cx="3566160" cy="475488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490472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ASPP模块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8249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空洞率(1,12,24,36)并行卷积，多尺度上下文。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65760" y="1975104"/>
            <a:ext cx="3566160" cy="475488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020824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深度可分离卷积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21284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降低计算复杂度，提高推理效率。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2505456"/>
            <a:ext cx="3566160" cy="475488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2551176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基线性能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74320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mIoU: 0.851 | 目标IoU: 0.710 | HD95: 12.22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0" y="914400"/>
            <a:ext cx="4663440" cy="31089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96012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DeepLabV3+ 网络结构</a:t>
            </a:r>
            <a:endParaRPr lang="en-US" sz="1100" dirty="0"/>
          </a:p>
        </p:txBody>
      </p:sp>
      <p:pic>
        <p:nvPicPr>
          <p:cNvPr id="19" name="Image 0" descr="../figure/cp2/fig2-5_deeplabv3plus_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280160"/>
            <a:ext cx="448056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相关技术基础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数据集构建流程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412480" cy="10058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构建流程：采集 → 预处理 → 标注 → 增强 → 划分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2344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OCT采集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46304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377440" y="12344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40280" y="150876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预处理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29184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06240" y="12344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🏷️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69080" y="150876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LabelMe标注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12064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035040" y="12344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897880" y="150876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数据增强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94944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863840" y="12344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726680" y="150876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集合划分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365760" y="2011680"/>
            <a:ext cx="2011680" cy="12801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01168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21031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图像采集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37744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真实激光焊接实验平台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采集焊接过程OCT图像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原始分辨率1000×200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514600" y="2011680"/>
            <a:ext cx="2011680" cy="12801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514600" y="2011680"/>
            <a:ext cx="2011680" cy="36576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27" name="Text 25"/>
          <p:cNvSpPr/>
          <p:nvPr/>
        </p:nvSpPr>
        <p:spPr>
          <a:xfrm>
            <a:off x="2606040" y="21031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预处理流程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06040" y="237744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裁剪感兴趣区域(200×200)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中值滤波去噪(3×3)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直方图均衡化增强对比度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尺寸调整至512×512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63440" y="2011680"/>
            <a:ext cx="4114800" cy="12801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01168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21031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数据标注（LabelMe）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54880" y="23774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逐像素标注熔深线段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二分类：目标/背景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双人交叉验证</a:t>
            </a:r>
            <a:endParaRPr lang="en-US" sz="700" dirty="0"/>
          </a:p>
        </p:txBody>
      </p:sp>
      <p:pic>
        <p:nvPicPr>
          <p:cNvPr id="33" name="Image 0" descr="../figure/cp2/fig2-7_labelme_interf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331720"/>
            <a:ext cx="2194560" cy="91440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29000"/>
          <a:ext cx="8412480" cy="54864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  <a:gridCol w="2103120"/>
              </a:tblGrid>
              <a:tr h="137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数据集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原始图像数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增强后数量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占比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训练集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测试集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总计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1140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相关技术基础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评估指标说明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1417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36576" cy="141732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60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mIoU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0058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平均交并比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325880"/>
            <a:ext cx="3840480" cy="365760"/>
          </a:xfrm>
          <a:prstGeom prst="roundRect">
            <a:avLst/>
          </a:prstGeom>
          <a:solidFill>
            <a:srgbClr val="F4F6F6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3258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8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mIoU = (1/k) Σ (TP/(TP+FP+FN))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17830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核心指标，衡量预测与真实区域的重叠程度。值越高表示分割越准确。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4114800" cy="1417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914400"/>
            <a:ext cx="36576" cy="141732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9601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0" y="10058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平均准确率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00600" y="1325880"/>
            <a:ext cx="3840480" cy="365760"/>
          </a:xfrm>
          <a:prstGeom prst="roundRect">
            <a:avLst/>
          </a:prstGeom>
          <a:solidFill>
            <a:srgbClr val="F4F6F6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13258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8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mAcc = (1/k) Σ (TP/(TP+FN))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00600" y="17830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各类别准确率的平均值，反映分类正确性。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" y="2423160"/>
            <a:ext cx="4114800" cy="1417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423160"/>
            <a:ext cx="36576" cy="14173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2468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mDice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45920" y="251460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Dice系数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2834640"/>
            <a:ext cx="3840480" cy="365760"/>
          </a:xfrm>
          <a:prstGeom prst="roundRect">
            <a:avLst/>
          </a:prstGeom>
          <a:solidFill>
            <a:srgbClr val="F4F6F6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2834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8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Dice = 2|A∩B| / (|A|+|B|)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2918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与IoU类似，更关注区域重叠，对不平衡数据敏感。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63440" y="2423160"/>
            <a:ext cx="4114800" cy="14173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2423160"/>
            <a:ext cx="36576" cy="141732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2468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HD95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943600" y="251460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Hausdorff距离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2834640"/>
            <a:ext cx="3840480" cy="365760"/>
          </a:xfrm>
          <a:prstGeom prst="roundRect">
            <a:avLst/>
          </a:prstGeom>
          <a:solidFill>
            <a:srgbClr val="F4F6F6"/>
          </a:solidFill>
          <a:ln/>
        </p:spPr>
      </p:sp>
      <p:sp>
        <p:nvSpPr>
          <p:cNvPr id="31" name="Text 29"/>
          <p:cNvSpPr/>
          <p:nvPr/>
        </p:nvSpPr>
        <p:spPr>
          <a:xfrm>
            <a:off x="4800600" y="2834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8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HD95 = 95th percentile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00600" y="32918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边界精度指标，衡量预测边界与真实边界的最大偏差，值越小越好。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65760" y="3977640"/>
            <a:ext cx="8412480" cy="50292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40233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效率指标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42245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Params（参数量）：模型复杂度   |   FPS（帧率）：推理速度，满足实时性要求（≥10 FPS）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相关技术基础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数据增强策略</a:t>
            </a:r>
            <a:endParaRPr lang="en-US" sz="2400" dirty="0"/>
          </a:p>
        </p:txBody>
      </p:sp>
      <p:pic>
        <p:nvPicPr>
          <p:cNvPr id="5" name="Image 0" descr="../figure/cp2/fig2-9a_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265176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47088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原始图像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3291840" y="914400"/>
            <a:ext cx="265176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3291840" y="914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待补充：水平翻转图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291840" y="1847088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水平翻转</a:t>
            </a:r>
            <a:endParaRPr lang="en-US" sz="800" dirty="0"/>
          </a:p>
        </p:txBody>
      </p:sp>
      <p:pic>
        <p:nvPicPr>
          <p:cNvPr id="10" name="Image 1" descr="../figure/cp2/fig2-9c_rot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914400"/>
            <a:ext cx="2651760" cy="9144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126480" y="1847088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随机旋转</a:t>
            </a:r>
            <a:endParaRPr lang="en-US" sz="800" dirty="0"/>
          </a:p>
        </p:txBody>
      </p:sp>
      <p:pic>
        <p:nvPicPr>
          <p:cNvPr id="12" name="Image 2" descr="../figure/cp2/fig2-9d_brightne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48840"/>
            <a:ext cx="2651760" cy="914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7200" y="3081528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 亮度调整</a:t>
            </a:r>
            <a:endParaRPr lang="en-US" sz="800" dirty="0"/>
          </a:p>
        </p:txBody>
      </p:sp>
      <p:pic>
        <p:nvPicPr>
          <p:cNvPr id="14" name="Image 3" descr="../figure/cp2/fig2-9e_contra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2148840"/>
            <a:ext cx="2651760" cy="9144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291840" y="3081528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(e) 对比度调整</a:t>
            </a:r>
            <a:endParaRPr lang="en-US" sz="800" dirty="0"/>
          </a:p>
        </p:txBody>
      </p:sp>
      <p:pic>
        <p:nvPicPr>
          <p:cNvPr id="16" name="Image 4" descr="../figure/cp2/fig2-9f_noi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2148840"/>
            <a:ext cx="2651760" cy="91440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126480" y="3081528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(f) 添加噪声</a:t>
            </a:r>
            <a:endParaRPr lang="en-US" sz="800" dirty="0"/>
          </a:p>
        </p:txBody>
      </p:sp>
      <p:sp>
        <p:nvSpPr>
          <p:cNvPr id="18" name="Shape 11"/>
          <p:cNvSpPr/>
          <p:nvPr/>
        </p:nvSpPr>
        <p:spPr>
          <a:xfrm>
            <a:off x="365760" y="3246120"/>
            <a:ext cx="8412480" cy="77724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9" name="Text 12"/>
          <p:cNvSpPr/>
          <p:nvPr/>
        </p:nvSpPr>
        <p:spPr>
          <a:xfrm>
            <a:off x="548640" y="333756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数据增强目的</a:t>
            </a:r>
            <a:endParaRPr lang="en-US" sz="1000" dirty="0"/>
          </a:p>
        </p:txBody>
      </p:sp>
      <p:sp>
        <p:nvSpPr>
          <p:cNvPr id="20" name="Text 13"/>
          <p:cNvSpPr/>
          <p:nvPr/>
        </p:nvSpPr>
        <p:spPr>
          <a:xfrm>
            <a:off x="548640" y="3593592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扩充训练样本多样性，提高模型泛化能力。通过几何变换（翻转、旋转）和光度变换（亮度、对比度、噪声）模拟不同采集条件，增强模型对OCT图像变化的鲁棒性。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286000" y="146304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基于全局注意力的模型改进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286000" y="22860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25603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空洞卷积与ASPP模块原理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29260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改进动机：全局上下文建模不足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32918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TR模块：双层路由注意力设计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36576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实验设置与消融验证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0" y="40233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TR模块可视化对比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基于全局注意力的模型改进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空洞卷积原理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412480" cy="14630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不同空洞率的卷积对比</a:t>
            </a:r>
            <a:endParaRPr lang="en-US" sz="1000" dirty="0"/>
          </a:p>
        </p:txBody>
      </p:sp>
      <p:pic>
        <p:nvPicPr>
          <p:cNvPr id="7" name="Image 0" descr="../figure/cp3/fig3-1_dilated_co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234440"/>
            <a:ext cx="6400800" cy="1051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2514600"/>
            <a:ext cx="2743200" cy="8686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2514600"/>
            <a:ext cx="36576" cy="86868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256032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普通卷积 (rate=1)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标准3×3卷积，感受野3×3，仅捕获局部特征。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246120" y="2514600"/>
            <a:ext cx="2743200" cy="8686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46120" y="2514600"/>
            <a:ext cx="36576" cy="86868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4" name="Text 11"/>
          <p:cNvSpPr/>
          <p:nvPr/>
        </p:nvSpPr>
        <p:spPr>
          <a:xfrm>
            <a:off x="3337560" y="256032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空洞卷积 (rate=2)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337560" y="28346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在卷积核元素间插入空洞，感受野扩大到5×5。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26480" y="2514600"/>
            <a:ext cx="2743200" cy="8686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126480" y="2514600"/>
            <a:ext cx="36576" cy="86868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0" y="256032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空洞卷积 (rate=3)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17920" y="28346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感受野进一步扩大到7×7，无需增加参数量。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3520440"/>
            <a:ext cx="8412480" cy="50292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867912"/>
            <a:ext cx="8046720" cy="45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核心优势：在不增加参数量和计算量的情况下扩大感受野，捕获更大范围的上下文信息，适合密集预测任务。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基于全局注意力的模型改进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ASPP模块详解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31089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空洞空间金字塔池化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Atrous Spatial Pyramid Pooling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并行分支结构：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1×1卷积（rate=1）：提取点级特征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203911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3×3卷积（rate=12）：捕获中等范围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2295144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3×3卷积（rate=24）：捕获较大范围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2551176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3×3卷积（rate=36）：捕获全局范围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280720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全局平均池化：编码图像级特征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3931920" cy="77724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200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作用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34290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通过不同空洞率的并行卷积，在多个尺度上捕获上下文信息，增强对不同大小目标的分割能力。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17720" y="914400"/>
            <a:ext cx="4160520" cy="31089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96012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ASPP模块结构</a:t>
            </a:r>
            <a:endParaRPr lang="en-US" sz="1000" dirty="0"/>
          </a:p>
        </p:txBody>
      </p:sp>
      <p:pic>
        <p:nvPicPr>
          <p:cNvPr id="19" name="Image 0" descr="../figure/cp3/fig3-2_aspp_mod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234440"/>
            <a:ext cx="365760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基于全局注意力的模型改进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改进动机：全局上下文建模不足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20116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ASPP模块的局限性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感受野受限于空洞卷积的局部性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仅覆盖特征图的局部区域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9568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难以建立长距离依赖关系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24942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OCT图像中熔深区域呈细长结构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5420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纵横比可达1:10以上，跨越多区域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4114800" cy="20116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91440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005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解决方案：TR模块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13716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引入Transformer注意力机制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54880" y="166420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建立全局长距离依赖关系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9568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双层路由降低计算复杂度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0" y="224942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TopK稀疏选择提高效率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25420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增强对细长结构的理解能力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108960"/>
            <a:ext cx="8412480" cy="91440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20040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核心思想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45643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在ASPP模块之后引入TR（Transformer Routing）全局注意力模块，借鉴BiFormer的双层路由注意力思想，通过区域级路由和TopK选择机制，在保持全局建模能力的同时将计算复杂度从O(n²)降低到O(n²×k/p²)。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基于全局注意力的模型改进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TR模块：全局上下文增强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7772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双层路由注意力 (BiFormer)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07008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区域级路由 + 令牌级注意力两阶段计算，保持全局建模能力同时降低计算复杂度。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783080"/>
            <a:ext cx="411480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82880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Top-K稀疏选择策略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02996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每个窗口仅与Top-K最相关窗口计算注意力，复杂度降低约75%。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65760" y="2514600"/>
            <a:ext cx="4114800" cy="6400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5603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作用效果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76148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增强长程依赖建模，提升目标结构与上下文表征，有效抑制散斑噪声。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3246120"/>
            <a:ext cx="4114800" cy="77724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9184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关键参数配置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5204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输入维度: 2560 | 窗口大小: 4×4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TopK: 4 | 窗口数: 16 | mIoU提升: +3.9%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17720" y="914400"/>
            <a:ext cx="4160520" cy="31089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96012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TR模块结构图</a:t>
            </a:r>
            <a:endParaRPr lang="en-US" sz="1000" dirty="0"/>
          </a:p>
        </p:txBody>
      </p:sp>
      <p:pic>
        <p:nvPicPr>
          <p:cNvPr id="19" name="Image 0" descr="../figure/cp3/fig3-3_tr_mod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1234440"/>
            <a:ext cx="15544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基于全局注意力的模型改进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TR模块详细原理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69748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区域级路由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234440"/>
            <a:ext cx="2423160" cy="1371600"/>
          </a:xfrm>
          <a:prstGeom prst="rect">
            <a:avLst/>
          </a:prstGeom>
          <a:solidFill>
            <a:srgbClr val="E0E0E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02920" y="123444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待补充：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区域级路由示意图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将特征图划分为S×S区域，计算区域间相关性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3218688" y="914400"/>
            <a:ext cx="269748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10128" y="96012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令牌级注意力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55848" y="1234440"/>
            <a:ext cx="2423160" cy="1371600"/>
          </a:xfrm>
          <a:prstGeom prst="rect">
            <a:avLst/>
          </a:prstGeom>
          <a:solidFill>
            <a:srgbClr val="E0E0E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355848" y="123444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待补充：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令牌级注意力计算图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10128" y="265176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在选定区域内进行细粒度注意力计算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6080760" y="914400"/>
            <a:ext cx="269748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72200" y="96012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Top-K稀疏选择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2423160" cy="1371600"/>
          </a:xfrm>
          <a:prstGeom prst="rect">
            <a:avLst/>
          </a:prstGeom>
          <a:solidFill>
            <a:srgbClr val="E0E0E0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217920" y="123444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待补充：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Top-K选择策略图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72200" y="265176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每个查询仅关注K个最相关区域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760" y="3154680"/>
            <a:ext cx="8412480" cy="86868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20040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双层路由注意力计算流程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42900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输入特征 → 区域划分(S×S) → 区域级路由矩阵 → Top-K选择 → 令牌级注意力 → 特征聚合 → 输出特征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370332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复杂度：O(S²HW/S² + K·HW·C) = O(HW(S² + KC))，相比全局注意力O(H²W²)显著降低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基于全局注意力的模型改进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实验设置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实验环境配置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4023360" cy="192024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配置项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配置信息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操作系统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Ubuntu 20.04 LTS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GPU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NVIDIA RTX 4090 (24GB)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CPU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Intel i7-13700KF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内存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64GB DDR5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深度学习框架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PyTorch 1.13 + CUDA 11.7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分割框架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MMSegmentation 0.x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754880" y="9144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训练参数配置</a:t>
            </a:r>
            <a:endParaRPr lang="en-US" sz="11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234440"/>
          <a:ext cx="4023360" cy="224028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</a:tblGrid>
              <a:tr h="248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参数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设置值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输入尺寸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 × 512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批量大小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总迭代次数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20,000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优化器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AdamW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初始学习率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6e-5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学习率策略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PolyLR (power=0.9)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权重衰减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0.01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损失函数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BCE + Dice (1:1)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365760" y="3611880"/>
            <a:ext cx="8412480" cy="45720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3959352"/>
            <a:ext cx="8046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损失函数采用二元交叉熵损失（BCE）与Dice损失的加权组合：L = λ₁×L_BCE + λ₂×L_Dice，其中λ₁=λ₂=1，两者优势互补，BCE关注像素分类，Dice关注区域重叠。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基于全局注意力的模型改进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TR模块消融实验</a:t>
            </a:r>
            <a:endParaRPr lang="en-US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109728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配置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TR模块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mIoU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mAcc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mDice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提升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DeepLabV3+ (基线)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0.851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DeepLabV3+ + TR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0.884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0.941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0.935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</a:rPr>
                        <a:t>+3.9%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2194560"/>
            <a:ext cx="2743200" cy="13716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219456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22860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mIoU提升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2560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+3.9%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29260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从0.851提升到0.884，验证了全局注意力机制对分割性能的有效提升。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246120" y="2194560"/>
            <a:ext cx="2743200" cy="13716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46120" y="219456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0"/>
          <p:cNvSpPr/>
          <p:nvPr/>
        </p:nvSpPr>
        <p:spPr>
          <a:xfrm>
            <a:off x="3337560" y="22860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全局建模能力增强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337560" y="2560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长距离依赖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337560" y="29260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TR模块建立了特征图不同区域之间的长距离依赖关系，有效捕获全局上下文。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26480" y="2194560"/>
            <a:ext cx="2743200" cy="13716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126480" y="219456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0" y="22860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计算效率优化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217920" y="2560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-75%计算量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217920" y="29260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TopK路由机制将注意力计算复杂度降低约75%，在性能和效率间取得平衡。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365760" y="3703320"/>
            <a:ext cx="8412480" cy="36576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4050792"/>
            <a:ext cx="8046720" cy="-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结论：TR模块有效增强了全局上下文建模能力，为后续SAE模块的局部增强奠定基础。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基于全局注意力的模型改进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TR模块可视化对比（细长结构场景）</a:t>
            </a:r>
            <a:endParaRPr lang="en-US" sz="2400" dirty="0"/>
          </a:p>
        </p:txBody>
      </p:sp>
      <p:pic>
        <p:nvPicPr>
          <p:cNvPr id="5" name="Image 0" descr="../figure/cp3/3-6/slender and long/ori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68680"/>
            <a:ext cx="1920240" cy="1188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075688"/>
            <a:ext cx="1920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原始图像</a:t>
            </a:r>
            <a:endParaRPr lang="en-US" sz="900" dirty="0"/>
          </a:p>
        </p:txBody>
      </p:sp>
      <p:pic>
        <p:nvPicPr>
          <p:cNvPr id="7" name="Image 1" descr="../figure/cp3/3-6/slender and long/lab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868680"/>
            <a:ext cx="1920240" cy="1188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514600" y="2075688"/>
            <a:ext cx="1920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Truth</a:t>
            </a:r>
            <a:endParaRPr lang="en-US" sz="900" dirty="0"/>
          </a:p>
        </p:txBody>
      </p:sp>
      <p:pic>
        <p:nvPicPr>
          <p:cNvPr id="9" name="Image 2" descr="../figure/cp3/3-6/slender and long/Un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68680"/>
            <a:ext cx="1920240" cy="11887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0" y="2075688"/>
            <a:ext cx="1920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UNet</a:t>
            </a:r>
            <a:endParaRPr lang="en-US" sz="900" dirty="0"/>
          </a:p>
        </p:txBody>
      </p:sp>
      <p:pic>
        <p:nvPicPr>
          <p:cNvPr id="11" name="Image 3" descr="../figure/cp3/3-6/slender and long/Unet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868680"/>
            <a:ext cx="1920240" cy="11887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629400" y="2075688"/>
            <a:ext cx="1920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UNet++</a:t>
            </a:r>
            <a:endParaRPr lang="en-US" sz="900" dirty="0"/>
          </a:p>
        </p:txBody>
      </p:sp>
      <p:pic>
        <p:nvPicPr>
          <p:cNvPr id="13" name="Image 4" descr="../figure/cp3/3-6/slender and long/resun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13432"/>
            <a:ext cx="1920240" cy="11887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57200" y="3520440"/>
            <a:ext cx="1920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ResUNet</a:t>
            </a:r>
            <a:endParaRPr lang="en-US" sz="900" dirty="0"/>
          </a:p>
        </p:txBody>
      </p:sp>
      <p:pic>
        <p:nvPicPr>
          <p:cNvPr id="15" name="Image 5" descr="../figure/cp3/3-6/slender and long/transun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600" y="2313432"/>
            <a:ext cx="1920240" cy="118872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2514600" y="3520440"/>
            <a:ext cx="1920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TransUNet</a:t>
            </a:r>
            <a:endParaRPr lang="en-US" sz="900" dirty="0"/>
          </a:p>
        </p:txBody>
      </p:sp>
      <p:pic>
        <p:nvPicPr>
          <p:cNvPr id="17" name="Image 6" descr="../figure/cp3/3-6/slender and long/deeplabv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2313432"/>
            <a:ext cx="1920240" cy="118872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4572000" y="3520440"/>
            <a:ext cx="1920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DeepLabV3+</a:t>
            </a:r>
            <a:endParaRPr lang="en-US" sz="900" dirty="0"/>
          </a:p>
        </p:txBody>
      </p:sp>
      <p:pic>
        <p:nvPicPr>
          <p:cNvPr id="19" name="Image 7" descr="../figure/cp3/3-6/slender and long/t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2313432"/>
            <a:ext cx="1920240" cy="1188720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6611112" y="2295144"/>
            <a:ext cx="1956816" cy="1225296"/>
          </a:xfrm>
          <a:prstGeom prst="rect">
            <a:avLst/>
          </a:prstGeom>
          <a:ln w="31750">
            <a:solidFill>
              <a:srgbClr val="27AE60"/>
            </a:solidFill>
            <a:prstDash val="solid"/>
          </a:ln>
        </p:spPr>
      </p:sp>
      <p:sp>
        <p:nvSpPr>
          <p:cNvPr id="21" name="Text 11"/>
          <p:cNvSpPr/>
          <p:nvPr/>
        </p:nvSpPr>
        <p:spPr>
          <a:xfrm>
            <a:off x="6629400" y="3520440"/>
            <a:ext cx="1920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+TR (本章方法)</a:t>
            </a:r>
            <a:endParaRPr lang="en-US" sz="900" dirty="0"/>
          </a:p>
        </p:txBody>
      </p:sp>
      <p:sp>
        <p:nvSpPr>
          <p:cNvPr id="22" name="Shape 12"/>
          <p:cNvSpPr/>
          <p:nvPr/>
        </p:nvSpPr>
        <p:spPr>
          <a:xfrm>
            <a:off x="365760" y="3429000"/>
            <a:ext cx="8412480" cy="64008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23" name="Text 13"/>
          <p:cNvSpPr/>
          <p:nvPr/>
        </p:nvSpPr>
        <p:spPr>
          <a:xfrm>
            <a:off x="548640" y="34747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可视化分析</a:t>
            </a:r>
            <a:endParaRPr lang="en-US" sz="1000" dirty="0"/>
          </a:p>
        </p:txBody>
      </p:sp>
      <p:sp>
        <p:nvSpPr>
          <p:cNvPr id="24" name="Text 14"/>
          <p:cNvSpPr/>
          <p:nvPr/>
        </p:nvSpPr>
        <p:spPr>
          <a:xfrm>
            <a:off x="548640" y="36758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引入TR模块后（绿框），细长结构分割更完整：①全局注意力建立长距离依赖，有效抑制断裂问题；②相比基线DeepLabV3+，边界连续性明显改善；③长程上下文建模有效抑制散斑噪声干扰。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基于全局注意力的模型改进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本章小结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412480" cy="31089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本章主要贡献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463040"/>
            <a:ext cx="365760" cy="36576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63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1463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分析了DeepLabV3+在OCT图像分割中的局限性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181051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ASPP模块感受野有限，难以建立长距离依赖，对细长结构的熔深区域分割效果不佳。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2377440"/>
            <a:ext cx="365760" cy="36576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377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提出了TR（Transformer Routing）全局注意力模块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88720" y="272491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借鉴BiFormer的双层路由注意力思想，通过区域级路由和TopK选择实现高效全局建模。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3291840"/>
            <a:ext cx="365760" cy="36576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2918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通过实验验证了TR模块的有效性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88720" y="363931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消融实验表明，引入TR模块后mIoU从0.851提升至0.884（+3.9%），全局语义理解能力显著增强。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286000" y="146304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基于空间感知增强的模型优化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286000" y="22860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25603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SAE模块设计动机与原理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29260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改进模型整体架构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32918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综合消融实验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36576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与主流方法对比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0" y="40233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可视化分析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基于空间感知增强的模型优化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改进动机：空间位置信息不足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412480" cy="640080"/>
          </a:xfrm>
          <a:prstGeom prst="roundRect">
            <a:avLst/>
          </a:prstGeom>
          <a:solidFill>
            <a:srgbClr val="2E4053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875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承接第三章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261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TR模块增强了全局上下文建模，mIoU提升3.9%。但在边界分割精度方面仍有改进空间。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4114800" cy="15544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73736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8288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解码器的局限性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1488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空间位置信息在下采样中逐渐丢失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4231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通道权重均匀分配，未区分重要性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6974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缺乏对细长结构的方向性感知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9718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边界模糊区域分割精度不足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737360"/>
            <a:ext cx="4114800" cy="15544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73736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8288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解决方案：SAE模块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1488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坐标注意力：H/W方向位置编码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0" y="24231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通道注意力：突出判别性通道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26974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空间-通道双重增强机制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29718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显著改善边界分割质量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3474720"/>
            <a:ext cx="8412480" cy="54864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822192"/>
            <a:ext cx="804672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核心思想：在解码器端引入空间感知增强模块，通过坐标注意力和通道注意力的协同作用，增强模型对目标边界的感知能力。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基于空间感知增强的模型优化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SAE模块：局部细节增强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8686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36576" cy="86868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坐标注意力 (Coordinate Attention)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沿H和W方向池化，编码空间位置信息。1×1卷积学习位置相关注意力权重。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3931920" cy="22860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50876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F_out = F × σ(a_h) × σ(a_w)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874520"/>
            <a:ext cx="4114800" cy="8686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874520"/>
            <a:ext cx="36576" cy="86868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92024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通道注意力 (Channel Attention)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13055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基于SE模块，全局平均池化提取通道统计信息，4分支并行处理后重标定。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3931920" cy="22860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4688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F_out = F × σ(s)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834640"/>
            <a:ext cx="4114800" cy="1188720"/>
          </a:xfrm>
          <a:prstGeom prst="roundRect">
            <a:avLst/>
          </a:prstGeom>
          <a:solidFill>
            <a:srgbClr val="2E405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8036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主要作用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增强空间位置信息编码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331012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强化判别性特征通道响应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351129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改善细长结构与模糊边界分割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374904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参数: 输入560 | Reduction=4 | 4分支 | mIoU提升: +5.9%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17720" y="914400"/>
            <a:ext cx="4160520" cy="31089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09160" y="96012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SAE模块结构图</a:t>
            </a:r>
            <a:endParaRPr lang="en-US" sz="1000" dirty="0"/>
          </a:p>
        </p:txBody>
      </p:sp>
      <p:pic>
        <p:nvPicPr>
          <p:cNvPr id="25" name="Image 0" descr="../figure/cp4/sae_diagram/fig4-1_sae_mod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234440"/>
            <a:ext cx="169164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基于空间感知增强的模型优化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改进模型整体结构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412480" cy="23317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pic>
        <p:nvPicPr>
          <p:cNvPr id="6" name="Image 0" descr="../figure/cp3/fig3-5_improved_model_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932688"/>
            <a:ext cx="5303520" cy="2194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291840"/>
            <a:ext cx="2743200" cy="7772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291840"/>
            <a:ext cx="36576" cy="77724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33375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TR模块位置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02920" y="3584448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ASPP输出后，16×16×2560特征图，增强全局上下文建模。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246120" y="3291840"/>
            <a:ext cx="2743200" cy="7772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46120" y="3291840"/>
            <a:ext cx="36576" cy="7772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3" name="Text 10"/>
          <p:cNvSpPr/>
          <p:nvPr/>
        </p:nvSpPr>
        <p:spPr>
          <a:xfrm>
            <a:off x="3383280" y="33375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SAE模块位置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83280" y="3584448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解码器融合后，128×128×560特征图，增强局部细节与边界。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126480" y="3291840"/>
            <a:ext cx="2743200" cy="7772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26480" y="3291840"/>
            <a:ext cx="36576" cy="77724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17" name="Text 14"/>
          <p:cNvSpPr/>
          <p:nvPr/>
        </p:nvSpPr>
        <p:spPr>
          <a:xfrm>
            <a:off x="6263640" y="33375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协同效应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263640" y="3584448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TR全局语义 + SAE局部细节，互补提升整体分割性能。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基于空间感知增强的模型优化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综合消融实验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640080"/>
                <a:gridCol w="1005840"/>
                <a:gridCol w="1005840"/>
                <a:gridCol w="100584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配置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SAE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mIoU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mDice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HD95↓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提升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DeepLabV3+ (基线)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0.851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+ TR (第三章)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0.884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</a:rPr>
                        <a:t>+3.9%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+ SAE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7AE60"/>
                          </a:solidFill>
                        </a:rPr>
                        <a:t>11.45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</a:rPr>
                        <a:t>+5.9%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+ TR + SAE (本文)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0.911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0.951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</a:rPr>
                        <a:t>10.68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</a:rPr>
                        <a:t>+7.1%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2743200"/>
            <a:ext cx="2743200" cy="12801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27432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2834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SAE模块贡献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31546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mIoU+5.9%, HD95从12.22降至11.45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主要作用于边界分割精度提升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坐标注意力增强空间位置感知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246120" y="2743200"/>
            <a:ext cx="2743200" cy="12801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46120" y="27432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834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TR模块贡献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337560" y="31546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mIoU+3.9%, HD95从12.22降至11.89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增强全局上下文理解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长距离依赖有效抑制噪声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26480" y="2743200"/>
            <a:ext cx="2743200" cy="12801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126480" y="27432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0" y="2834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协同效应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17920" y="31546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mIoU+7.1%, HD95降至10.68 (-12.6%)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全局(TR)+局部(SAE)互补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边界精度与区域完整性双提升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基于空间感知增强的模型优化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与主流方法对比</a:t>
            </a:r>
            <a:endParaRPr lang="en-US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201168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05840"/>
                <a:gridCol w="1005840"/>
                <a:gridCol w="1097280"/>
                <a:gridCol w="914400"/>
                <a:gridCol w="1097280"/>
              </a:tblGrid>
              <a:tr h="2873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mIoU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mAcc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mDice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目标IoU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HD95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参数量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UNet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0.880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0.620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15.23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30MB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UNet++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0.905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8.8MB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ResUNet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13MB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TransUNet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0.963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0.632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219MB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DeepLabV3+ (基线)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0.923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0.913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95MB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本文方法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74C3C"/>
                          </a:solidFill>
                        </a:rPr>
                        <a:t>0.911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74C3C"/>
                          </a:solidFill>
                        </a:rPr>
                        <a:t>0.956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74C3C"/>
                          </a:solidFill>
                        </a:rPr>
                        <a:t>0.951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74C3C"/>
                          </a:solidFill>
                        </a:rPr>
                        <a:t>0.826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74C3C"/>
                          </a:solidFill>
                        </a:rPr>
                        <a:t>10.68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420MB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108960"/>
            <a:ext cx="2011680" cy="96012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+7.1%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36576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mIoU 提升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65760" y="3794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DeepLabV3+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514600" y="3108960"/>
            <a:ext cx="2011680" cy="96012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1" name="Text 8"/>
          <p:cNvSpPr/>
          <p:nvPr/>
        </p:nvSpPr>
        <p:spPr>
          <a:xfrm>
            <a:off x="251460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+16.3%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51460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目标IoU 提升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514600" y="3794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DeepLabV3+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108960"/>
            <a:ext cx="2011680" cy="96012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5" name="Text 12"/>
          <p:cNvSpPr/>
          <p:nvPr/>
        </p:nvSpPr>
        <p:spPr>
          <a:xfrm>
            <a:off x="466344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+13.2%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66344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mIoU 提升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663440" y="3794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UNet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812280" y="3108960"/>
            <a:ext cx="2011680" cy="96012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9" name="Text 16"/>
          <p:cNvSpPr/>
          <p:nvPr/>
        </p:nvSpPr>
        <p:spPr>
          <a:xfrm>
            <a:off x="681228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-12.6%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81228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HD95 降低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812280" y="3794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边界更精确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基于空间感知增强的模型优化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可视化对比（细长结构场景）</a:t>
            </a:r>
            <a:endParaRPr lang="en-US" sz="2400" dirty="0"/>
          </a:p>
        </p:txBody>
      </p:sp>
      <p:pic>
        <p:nvPicPr>
          <p:cNvPr id="5" name="Image 0" descr="../figure/cp4/4-3/ori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41248"/>
            <a:ext cx="1572768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77393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原始图像</a:t>
            </a:r>
            <a:endParaRPr lang="en-US" sz="800" dirty="0"/>
          </a:p>
        </p:txBody>
      </p:sp>
      <p:pic>
        <p:nvPicPr>
          <p:cNvPr id="7" name="Image 1" descr="../figure/cp4/4-3/lab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841248"/>
            <a:ext cx="1572768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103120" y="177393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Truth</a:t>
            </a:r>
            <a:endParaRPr lang="en-US" sz="800" dirty="0"/>
          </a:p>
        </p:txBody>
      </p:sp>
      <p:pic>
        <p:nvPicPr>
          <p:cNvPr id="9" name="Image 2" descr="../figure/cp4/4-3/un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841248"/>
            <a:ext cx="1572768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749040" y="177393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UNet</a:t>
            </a:r>
            <a:endParaRPr lang="en-US" sz="800" dirty="0"/>
          </a:p>
        </p:txBody>
      </p:sp>
      <p:pic>
        <p:nvPicPr>
          <p:cNvPr id="11" name="Image 3" descr="../figure/cp4/4-3/unet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841248"/>
            <a:ext cx="1572768" cy="9144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394960" y="177393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UNet++</a:t>
            </a:r>
            <a:endParaRPr lang="en-US" sz="800" dirty="0"/>
          </a:p>
        </p:txBody>
      </p:sp>
      <p:pic>
        <p:nvPicPr>
          <p:cNvPr id="13" name="Image 4" descr="../figure/cp4/4-3/resun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841248"/>
            <a:ext cx="1572768" cy="91440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040880" y="177393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ResUNet</a:t>
            </a:r>
            <a:endParaRPr lang="en-US" sz="800" dirty="0"/>
          </a:p>
        </p:txBody>
      </p:sp>
      <p:pic>
        <p:nvPicPr>
          <p:cNvPr id="15" name="Image 5" descr="../figure/cp4/4-3/transun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029968"/>
            <a:ext cx="1572768" cy="91440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57200" y="296265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TransUNet</a:t>
            </a:r>
            <a:endParaRPr lang="en-US" sz="800" dirty="0"/>
          </a:p>
        </p:txBody>
      </p:sp>
      <p:pic>
        <p:nvPicPr>
          <p:cNvPr id="17" name="Image 6" descr="../figure/cp4/4-3/v3plu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03120" y="2029968"/>
            <a:ext cx="1572768" cy="91440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2103120" y="296265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DeepLabV3+</a:t>
            </a:r>
            <a:endParaRPr lang="en-US" sz="800" dirty="0"/>
          </a:p>
        </p:txBody>
      </p:sp>
      <p:pic>
        <p:nvPicPr>
          <p:cNvPr id="19" name="Image 7" descr="../figure/cp4/4-3/t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9040" y="2029968"/>
            <a:ext cx="1572768" cy="914400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3749040" y="296265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+TR (Ours)</a:t>
            </a:r>
            <a:endParaRPr lang="en-US" sz="800" dirty="0"/>
          </a:p>
        </p:txBody>
      </p:sp>
      <p:pic>
        <p:nvPicPr>
          <p:cNvPr id="21" name="Image 8" descr="../figure/cp4/4-3/sa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0" y="2029968"/>
            <a:ext cx="1572768" cy="91440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5394960" y="296265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+SAE (Ours)</a:t>
            </a:r>
            <a:endParaRPr lang="en-US" sz="800" dirty="0"/>
          </a:p>
        </p:txBody>
      </p:sp>
      <p:pic>
        <p:nvPicPr>
          <p:cNvPr id="23" name="Image 9" descr="../figure/cp4/4-3/al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40880" y="2029968"/>
            <a:ext cx="1572768" cy="914400"/>
          </a:xfrm>
          <a:prstGeom prst="rect">
            <a:avLst/>
          </a:prstGeom>
        </p:spPr>
      </p:pic>
      <p:sp>
        <p:nvSpPr>
          <p:cNvPr id="24" name="Shape 12"/>
          <p:cNvSpPr/>
          <p:nvPr/>
        </p:nvSpPr>
        <p:spPr>
          <a:xfrm>
            <a:off x="7022592" y="2011680"/>
            <a:ext cx="1609344" cy="950976"/>
          </a:xfrm>
          <a:prstGeom prst="rect">
            <a:avLst/>
          </a:prstGeom>
          <a:ln w="31750">
            <a:solidFill>
              <a:srgbClr val="27AE60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7040880" y="296265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+Both (Ours)</a:t>
            </a:r>
            <a:endParaRPr lang="en-US" sz="800" dirty="0"/>
          </a:p>
        </p:txBody>
      </p:sp>
      <p:sp>
        <p:nvSpPr>
          <p:cNvPr id="26" name="Shape 14"/>
          <p:cNvSpPr/>
          <p:nvPr/>
        </p:nvSpPr>
        <p:spPr>
          <a:xfrm>
            <a:off x="365760" y="3337560"/>
            <a:ext cx="8412480" cy="68580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27" name="Text 15"/>
          <p:cNvSpPr/>
          <p:nvPr/>
        </p:nvSpPr>
        <p:spPr>
          <a:xfrm>
            <a:off x="548640" y="338328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可视化结论</a:t>
            </a:r>
            <a:endParaRPr lang="en-US" sz="1000" dirty="0"/>
          </a:p>
        </p:txBody>
      </p:sp>
      <p:sp>
        <p:nvSpPr>
          <p:cNvPr id="28" name="Text 16"/>
          <p:cNvSpPr/>
          <p:nvPr/>
        </p:nvSpPr>
        <p:spPr>
          <a:xfrm>
            <a:off x="548640" y="358444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本文方法（+Both）在细长结构分割任务中表现最优：边界更清晰（SAE增强空间感知，HD95↓12.6%）、细长结构更完整（TR建立长程依赖）、噪声抑制更好（双重注意力协同）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基于空间感知增强的模型优化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实验结论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011680" cy="118872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51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mIoU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+7.1% vs 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914400"/>
            <a:ext cx="2011680" cy="118872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1051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0.826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560320" y="15087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 IoU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60320" y="17373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+16.3% vs 基线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914400"/>
            <a:ext cx="2011680" cy="118872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1051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10.68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54880" y="15087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HD95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17373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-12.6% 边界更精确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49440" y="914400"/>
            <a:ext cx="2011680" cy="1188720"/>
          </a:xfrm>
          <a:prstGeom prst="roundRect">
            <a:avLst/>
          </a:prstGeom>
          <a:solidFill>
            <a:srgbClr val="1C2833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1051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949440" y="15087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49440" y="17373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满足实时需求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2286000"/>
            <a:ext cx="8412480" cy="17373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8640" y="23774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2743200"/>
            <a:ext cx="2651760" cy="1143000"/>
          </a:xfrm>
          <a:prstGeom prst="roundRect">
            <a:avLst/>
          </a:prstGeom>
          <a:solidFill>
            <a:srgbClr val="F4F6F6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743200"/>
            <a:ext cx="36576" cy="114300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8163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分割精度显著提升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31089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mIoU达到0.911，相比基线提升7.1%，相比UNet提升13.2%，验证了双重注意力机制的有效性。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291840" y="2743200"/>
            <a:ext cx="2651760" cy="1143000"/>
          </a:xfrm>
          <a:prstGeom prst="roundRect">
            <a:avLst/>
          </a:prstGeom>
          <a:solidFill>
            <a:srgbClr val="F4F6F6"/>
          </a:solidFill>
          <a:ln/>
        </p:spPr>
      </p:sp>
      <p:sp>
        <p:nvSpPr>
          <p:cNvPr id="28" name="Shape 26"/>
          <p:cNvSpPr/>
          <p:nvPr/>
        </p:nvSpPr>
        <p:spPr>
          <a:xfrm>
            <a:off x="3291840" y="2743200"/>
            <a:ext cx="36576" cy="114300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9" name="Text 27"/>
          <p:cNvSpPr/>
          <p:nvPr/>
        </p:nvSpPr>
        <p:spPr>
          <a:xfrm>
            <a:off x="3383280" y="28163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边界质量明显改善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83280" y="31089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HD95降至10.68，SAE模块有效增强了边界分割精度，对细长结构和模糊边界处理效果显著。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126480" y="2743200"/>
            <a:ext cx="2651760" cy="1143000"/>
          </a:xfrm>
          <a:prstGeom prst="roundRect">
            <a:avLst/>
          </a:prstGeom>
          <a:solidFill>
            <a:srgbClr val="F4F6F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26480" y="2743200"/>
            <a:ext cx="36576" cy="114300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3" name="Text 31"/>
          <p:cNvSpPr/>
          <p:nvPr/>
        </p:nvSpPr>
        <p:spPr>
          <a:xfrm>
            <a:off x="6217920" y="28163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效率-性能平衡良好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31089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相比TransUNet，内存减少53.3%，速度提升39.1%，在保持高性能的同时具有更好的实用性。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286000" y="146304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总结与展望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286000" y="22860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25603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研究工作总结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29260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创新点归纳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32918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未来工作展望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总结与展望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创新点总结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412480" cy="1143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100584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TR模块：全局上下文增强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提出基于双层路由注意力的TR模块，通过Top-K稀疏选择策略在可控计算开销下增强长程依赖建模能力，有效提升对目标整体结构与上下文关系的表征。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7280" y="173736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贡献：mIoU提升3.9%，计算量减少75%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2148840"/>
            <a:ext cx="8412480" cy="1143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2468880"/>
            <a:ext cx="457200" cy="45720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224028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SAE模块：局部细节增强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56032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设计结合坐标注意力与通道注意力的SAE模块，通过编码空间位置信息和强化判别性通道响应，显著改善细长结构与模糊边界处的分割质量。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97280" y="29718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贡献：mIoU提升5.9%，HD95降低12.6%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3383280"/>
            <a:ext cx="8412480" cy="1143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703320"/>
            <a:ext cx="457200" cy="45720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97280" y="347472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双重注意力协同机制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379476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TR模块负责全局语义建模，SAE模块负责局部细节增强，两者在编码器-解码器框架内协同工作，产生超越单模块使用的协同效应。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420624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贡献：组合提升7.1%，目标IoU提升16.3%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总结与展望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工作展望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206240" cy="1280160"/>
          </a:xfrm>
          <a:prstGeom prst="roundRect">
            <a:avLst/>
          </a:prstGeom>
          <a:solidFill>
            <a:srgbClr val="2E4053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现有不足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参数量较大（420MB），部署成本较高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276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数据集规模有限，泛化能力待验证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883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仅针对二分类任务，多类别扩展待研究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4206240" cy="8686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377440"/>
            <a:ext cx="36576" cy="86868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4688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模型轻量化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7432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探索知识蒸馏、模型剪枝、量化等技术，在保持性能的同时降低模型复杂度。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3337560"/>
            <a:ext cx="4206240" cy="8686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337560"/>
            <a:ext cx="36576" cy="86868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34290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数据集扩展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7033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收集更多不同焊接条件下的OCT图像，构建更大规模、更多样化的数据集。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914400"/>
            <a:ext cx="4206240" cy="8686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914400"/>
            <a:ext cx="36576" cy="86868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1005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多任务学习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92040" y="12801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将语义分割与焊接缺陷检测、熔深预测等任务联合建模。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1874520"/>
            <a:ext cx="4206240" cy="86868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1874520"/>
            <a:ext cx="36576" cy="86868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19659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应用拓展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92040" y="2240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将方法推广至医学OCT图像分析、裂缝检测等领域。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371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致 谢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2286000" y="2103120"/>
            <a:ext cx="4572000" cy="2011680"/>
          </a:xfrm>
          <a:prstGeom prst="roundRect">
            <a:avLst/>
          </a:prstGeom>
          <a:solidFill>
            <a:srgbClr val="2E4053">
              <a:alpha val="5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2468880" y="22860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感谢导师万明明教授的悉心指导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68880" y="26974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感谢实验室同学们的帮助与支持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468880" y="31089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感谢答辩委员会各位老师的宝贵意见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86200" y="3611880"/>
            <a:ext cx="1371600" cy="27432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10" name="Text 8"/>
          <p:cNvSpPr/>
          <p:nvPr/>
        </p:nvSpPr>
        <p:spPr>
          <a:xfrm>
            <a:off x="2468880" y="374904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深圳大学 · 电子与信息工程学院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68880" y="40233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2026年2月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56632"/>
            <a:ext cx="9144000" cy="91440"/>
          </a:xfrm>
          <a:prstGeom prst="rect">
            <a:avLst/>
          </a:prstGeom>
          <a:solidFill>
            <a:srgbClr val="AAB7B8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26517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请各位老师批评指正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560320" y="3291840"/>
            <a:ext cx="4023360" cy="548640"/>
          </a:xfrm>
          <a:prstGeom prst="roundRect">
            <a:avLst/>
          </a:prstGeom>
          <a:solidFill>
            <a:srgbClr val="2E4053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32918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答辩人：谢智捷  |  导师：万明明 老师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深圳大学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基于改进DeepLabV3+的OCT图像语义分割方法</dc:title>
  <dc:subject>硕士学位论文答辩</dc:subject>
  <dc:creator>谢智捷</dc:creator>
  <cp:lastModifiedBy>谢智捷</cp:lastModifiedBy>
  <cp:revision>1</cp:revision>
  <dcterms:created xsi:type="dcterms:W3CDTF">2026-02-01T18:35:21Z</dcterms:created>
  <dcterms:modified xsi:type="dcterms:W3CDTF">2026-02-01T18:35:21Z</dcterms:modified>
</cp:coreProperties>
</file>