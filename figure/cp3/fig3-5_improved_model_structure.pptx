
<file path=[Content_Types].xml><?xml version="1.0" encoding="utf-8"?>
<Types xmlns="http://schemas.openxmlformats.org/package/2006/content-types">
  <Default Extension="png" ContentType="image/png"/>
  <Default Extension="xml" ContentType="application/xml"/>
  <Default Extension="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>
  <p:sldMasterIdLst>
    <p:sldMasterId id="2147483648" r:id="rId0"/>
  </p:sldMasterIdLst>
  <p:sldIdLst>
    <p:sldId id="256" r:id="rId1"/>
    <p:sldId id="257" r:id="rId2"/>
    <p:sldId id="258" r:id="rId3"/>
  </p:sldIdLst>
  <p:sldSz cx="11520000" cy="64800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tableStyles.xml><?xml version="1.0" encoding="utf-8"?>
<a:tblStyleLst xmlns:a="http://schemas.openxmlformats.org/drawingml/2006/main" def="{5C22544A-7EE6-4342-B048-85BDC9FD1C3A}">
  <a:tblStyle styleId="{58542034-FE4F-4ADA-92B8-4CA66D0F0DF3}" styleName="腾讯文档-基本">
    <a:wholeTbl>
      <a:tcTxStyle>
        <a:fontRef idx="minor"/>
        <a:srgbClr val="000000"/>
      </a:tcTxStyle>
      <a:tcStyle>
        <a:tcBdr>
          <a:left>
            <a:ln w="12700" cmpd="sng">
              <a:solidFill>
                <a:srgbClr val="999999"/>
              </a:solidFill>
            </a:ln>
          </a:left>
          <a:right>
            <a:ln w="12700" cmpd="sng">
              <a:solidFill>
                <a:srgbClr val="999999"/>
              </a:solidFill>
            </a:ln>
          </a:right>
          <a:top>
            <a:ln w="12700" cmpd="sng">
              <a:solidFill>
                <a:srgbClr val="999999"/>
              </a:solidFill>
            </a:ln>
          </a:top>
          <a:bottom>
            <a:ln w="12700" cmpd="sng">
              <a:solidFill>
                <a:srgbClr val="999999"/>
              </a:solidFill>
            </a:ln>
          </a:bottom>
          <a:insideH>
            <a:ln w="12700" cmpd="sng">
              <a:solidFill>
                <a:srgbClr val="999999"/>
              </a:solidFill>
            </a:ln>
          </a:insideH>
          <a:insideV>
            <a:ln w="12700" cmpd="sng">
              <a:solidFill>
                <a:srgbClr val="999999"/>
              </a:solidFill>
            </a:ln>
          </a:insideV>
        </a:tcBdr>
        <a:fill>
          <a:solidFill>
            <a:srgbClr val="FFFFFF"/>
          </a:solidFill>
        </a:fill>
      </a:tcStyle>
    </a:wholeTbl>
  </a:tblStyle>
</a:tblStyleLst>
</file>

<file path=ppt/_rels/presentation.xml.rels><?xml version="1.0" encoding="UTF-8" standalone="yes"?><Relationships xmlns="http://schemas.openxmlformats.org/package/2006/relationships"><Relationship Id="rId4" Type="http://schemas.openxmlformats.org/officeDocument/2006/relationships/tableStyles" Target="tableStyles.xml" /><Relationship Id="rId2" Type="http://schemas.openxmlformats.org/officeDocument/2006/relationships/slide" Target="slides/slide2.xml" /><Relationship Id="rId1" Type="http://schemas.openxmlformats.org/officeDocument/2006/relationships/slide" Target="slides/slide1.xml" /><Relationship Id="rId3" Type="http://schemas.openxmlformats.org/officeDocument/2006/relationships/slide" Target="slides/slide3.xml" /><Relationship Id="rId0" Type="http://schemas.openxmlformats.org/officeDocument/2006/relationships/slideMaster" Target="slideMasters/slideMaster1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8" Type="http://schemas.openxmlformats.org/officeDocument/2006/relationships/slideLayout" Target="../slideLayouts/slideLayout9.xml" /><Relationship Id="rId6" Type="http://schemas.openxmlformats.org/officeDocument/2006/relationships/slideLayout" Target="../slideLayouts/slideLayout7.xml" /><Relationship Id="rId3" Type="http://schemas.openxmlformats.org/officeDocument/2006/relationships/slideLayout" Target="../slideLayouts/slideLayout4.xml" /><Relationship Id="rId11" Type="http://schemas.openxmlformats.org/officeDocument/2006/relationships/theme" Target="../theme/theme1.xml" /><Relationship Id="rId2" Type="http://schemas.openxmlformats.org/officeDocument/2006/relationships/slideLayout" Target="../slideLayouts/slideLayout3.xml" /><Relationship Id="rId4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6.xml" /><Relationship Id="rId1" Type="http://schemas.openxmlformats.org/officeDocument/2006/relationships/slideLayout" Target="../slideLayouts/slideLayout2.xml" /><Relationship Id="rId7" Type="http://schemas.openxmlformats.org/officeDocument/2006/relationships/slideLayout" Target="../slideLayouts/slideLayout8.xml" /><Relationship Id="rId9" Type="http://schemas.openxmlformats.org/officeDocument/2006/relationships/slideLayout" Target="../slideLayouts/slideLayout10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2.xml.rels><?xml version="1.0" encoding="UTF-8" standalone="yes"?><Relationships xmlns="http://schemas.openxmlformats.org/package/2006/relationships"><Relationship Id="rId2" Type="http://schemas.openxmlformats.org/officeDocument/2006/relationships/image" Target="media/image2.png" /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7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true"/>
          <p:nvPr/>
        </p:nvSpPr>
        <p:spPr>
          <a:xfrm>
            <a:off x="360000" y="1260000"/>
            <a:ext cx="7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true">
                <a:solidFill>
                  <a:srgbClr val="000000"/>
                </a:solidFill>
                <a:latin typeface="Arial"/>
              </a:defRPr>
            </a:pPr>
            <a:r>
              <a:rPr/>
              <a:t>Image</a:t>
            </a: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0000" y="1440000"/>
            <a:ext cx="648000" cy="503999"/>
          </a:xfrm>
          <a:prstGeom prst="rect">
            <a:avLst/>
          </a:prstGeom>
          <a:solidFill>
            <a:srgbClr val="C8C8C8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4" name="TextBox 3"/>
          <p:cNvSpPr txBox="true"/>
          <p:nvPr/>
        </p:nvSpPr>
        <p:spPr>
          <a:xfrm>
            <a:off x="360000" y="1548000"/>
            <a:ext cx="6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false">
                <a:solidFill>
                  <a:srgbClr val="000000"/>
                </a:solidFill>
                <a:latin typeface="Arial"/>
              </a:defRPr>
            </a:pPr>
            <a:r>
              <a:rPr/>
              <a:t>OCT</a:t>
            </a:r>
            <a:br>
              <a:rPr/>
            </a:br>
            <a:r>
              <a:rPr/>
              <a:t>图像</a:t>
            </a:r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1080000" y="1692000"/>
            <a:ext cx="7200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260000" y="1368000"/>
            <a:ext cx="900000" cy="648000"/>
          </a:xfrm>
          <a:prstGeom prst="roundRect">
            <a:avLst/>
          </a:prstGeom>
          <a:solidFill>
            <a:srgbClr val="D6E6F2"/>
          </a:solidFill>
          <a:ln w="19050">
            <a:solidFill>
              <a:srgbClr val="4A7B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fals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true">
                <a:solidFill>
                  <a:srgbClr val="000000"/>
                </a:solidFill>
                <a:latin typeface="Arial"/>
              </a:rPr>
              <a:t>DCNN</a:t>
            </a: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false">
                <a:solidFill>
                  <a:srgbClr val="646464"/>
                </a:solidFill>
                <a:latin typeface="Arial"/>
              </a:rPr>
              <a:t>Atrous Conv</a:t>
            </a:r>
            <a:endParaRPr/>
          </a:p>
        </p:txBody>
      </p:sp>
      <p:sp>
        <p:nvSpPr>
          <p:cNvPr id="7" name="TextBox 6"/>
          <p:cNvSpPr txBox="true"/>
          <p:nvPr/>
        </p:nvSpPr>
        <p:spPr>
          <a:xfrm>
            <a:off x="1152000" y="2052000"/>
            <a:ext cx="108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false">
                <a:solidFill>
                  <a:srgbClr val="646464"/>
                </a:solidFill>
                <a:latin typeface="Arial"/>
              </a:defRPr>
            </a:pPr>
            <a:r>
              <a:rPr/>
              <a:t>ResNet18-V1c</a:t>
            </a:r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2160000" y="1692000"/>
            <a:ext cx="28800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448000" y="1368000"/>
            <a:ext cx="900000" cy="648000"/>
          </a:xfrm>
          <a:prstGeom prst="roundRect">
            <a:avLst/>
          </a:prstGeom>
          <a:solidFill>
            <a:srgbClr val="D6E6F2"/>
          </a:solidFill>
          <a:ln w="19050">
            <a:solidFill>
              <a:srgbClr val="4A7B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fals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true">
                <a:solidFill>
                  <a:srgbClr val="000000"/>
                </a:solidFill>
                <a:latin typeface="Arial"/>
              </a:rPr>
              <a:t>ASPP</a:t>
            </a: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false">
                <a:solidFill>
                  <a:srgbClr val="646464"/>
                </a:solidFill>
                <a:latin typeface="Arial"/>
              </a:rPr>
              <a:t>多尺度特征</a:t>
            </a:r>
            <a:endParaRPr/>
          </a:p>
        </p:txBody>
      </p:sp>
      <p:cxnSp>
        <p:nvCxnSpPr>
          <p:cNvPr id="10" name="Connector 9"/>
          <p:cNvCxnSpPr/>
          <p:nvPr/>
        </p:nvCxnSpPr>
        <p:spPr>
          <a:xfrm rot="0" flipH="false" flipV="false">
            <a:off x="3350350" y="1692000"/>
            <a:ext cx="28800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690000" y="1368000"/>
            <a:ext cx="125999" cy="576000"/>
          </a:xfrm>
          <a:prstGeom prst="rect">
            <a:avLst/>
          </a:prstGeom>
          <a:solidFill>
            <a:srgbClr val="E1A300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36000" y="1404000"/>
            <a:ext cx="125999" cy="576000"/>
          </a:xfrm>
          <a:prstGeom prst="rect">
            <a:avLst/>
          </a:prstGeom>
          <a:solidFill>
            <a:srgbClr val="FFC107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833999" y="1368000"/>
            <a:ext cx="125999" cy="576000"/>
          </a:xfrm>
          <a:prstGeom prst="rect">
            <a:avLst/>
          </a:prstGeom>
          <a:solidFill>
            <a:srgbClr val="4697D8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779999" y="1404000"/>
            <a:ext cx="125999" cy="576000"/>
          </a:xfrm>
          <a:prstGeom prst="rect">
            <a:avLst/>
          </a:prstGeom>
          <a:solidFill>
            <a:srgbClr val="64B5F6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977998" y="1368000"/>
            <a:ext cx="125999" cy="576000"/>
          </a:xfrm>
          <a:prstGeom prst="rect">
            <a:avLst/>
          </a:prstGeom>
          <a:solidFill>
            <a:srgbClr val="D13532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923998" y="1404000"/>
            <a:ext cx="125999" cy="576000"/>
          </a:xfrm>
          <a:prstGeom prst="rect">
            <a:avLst/>
          </a:prstGeom>
          <a:solidFill>
            <a:srgbClr val="EF535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121997" y="1368000"/>
            <a:ext cx="125999" cy="576000"/>
          </a:xfrm>
          <a:prstGeom prst="rect">
            <a:avLst/>
          </a:prstGeom>
          <a:solidFill>
            <a:srgbClr val="808080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067997" y="1404000"/>
            <a:ext cx="125999" cy="576000"/>
          </a:xfrm>
          <a:prstGeom prst="rect">
            <a:avLst/>
          </a:prstGeom>
          <a:solidFill>
            <a:srgbClr val="9E9E9E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265996" y="1368000"/>
            <a:ext cx="125999" cy="576000"/>
          </a:xfrm>
          <a:prstGeom prst="rect">
            <a:avLst/>
          </a:prstGeom>
          <a:solidFill>
            <a:srgbClr val="489D4C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211996" y="1404000"/>
            <a:ext cx="125999" cy="576000"/>
          </a:xfrm>
          <a:prstGeom prst="rect">
            <a:avLst/>
          </a:prstGeom>
          <a:solidFill>
            <a:srgbClr val="66BB6A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644000" y="1296000"/>
            <a:ext cx="1007999" cy="792000"/>
          </a:xfrm>
          <a:prstGeom prst="roundRect">
            <a:avLst/>
          </a:prstGeom>
          <a:solidFill>
            <a:srgbClr val="E8F5E9"/>
          </a:solidFill>
          <a:ln w="317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fals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true">
                <a:solidFill>
                  <a:srgbClr val="1B5E20"/>
                </a:solidFill>
                <a:latin typeface="Arial"/>
              </a:rPr>
              <a:t>TR Module</a:t>
            </a:r>
            <a:endParaRPr/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false">
                <a:solidFill>
                  <a:srgbClr val="646464"/>
                </a:solidFill>
                <a:latin typeface="Arial"/>
              </a:rPr>
              <a:t>Bi-Level Routing
Attention</a:t>
            </a:r>
            <a:endParaRPr/>
          </a:p>
        </p:txBody>
      </p:sp>
      <p:cxnSp>
        <p:nvCxnSpPr>
          <p:cNvPr id="22" name="Connector 21"/>
          <p:cNvCxnSpPr/>
          <p:nvPr/>
        </p:nvCxnSpPr>
        <p:spPr>
          <a:xfrm>
            <a:off x="4464000" y="1692000"/>
            <a:ext cx="18000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500000" y="1800000"/>
            <a:ext cx="0" cy="43200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500000" y="2232000"/>
            <a:ext cx="1385999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true">
            <a:off x="5885999" y="1800000"/>
            <a:ext cx="0" cy="43200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651999" y="1692000"/>
            <a:ext cx="12600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5741999" y="1602000"/>
            <a:ext cx="180000" cy="180000"/>
          </a:xfrm>
          <a:prstGeom prst="ellipse">
            <a:avLst/>
          </a:prstGeom>
          <a:solidFill>
            <a:srgbClr val="FFD7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>
              <a:defRPr sz="1400" b="true"/>
            </a:pPr>
            <a:r>
              <a:rPr/>
              <a:t>+</a:t>
            </a:r>
            <a:endParaRPr/>
          </a:p>
        </p:txBody>
      </p:sp>
      <p:cxnSp>
        <p:nvCxnSpPr>
          <p:cNvPr id="28" name="Connector 27"/>
          <p:cNvCxnSpPr/>
          <p:nvPr/>
        </p:nvCxnSpPr>
        <p:spPr>
          <a:xfrm>
            <a:off x="5921999" y="1692000"/>
            <a:ext cx="12600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047999" y="1440000"/>
            <a:ext cx="720000" cy="432000"/>
          </a:xfrm>
          <a:prstGeom prst="roundRect">
            <a:avLst/>
          </a:prstGeom>
          <a:solidFill>
            <a:srgbClr val="E8E0F0"/>
          </a:solidFill>
          <a:ln w="19050">
            <a:solidFill>
              <a:srgbClr val="7B6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fals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true">
                <a:solidFill>
                  <a:srgbClr val="000000"/>
                </a:solidFill>
                <a:latin typeface="Arial"/>
              </a:rPr>
              <a:t>1×1 Conv</a:t>
            </a:r>
            <a:endParaRPr/>
          </a:p>
        </p:txBody>
      </p:sp>
      <p:cxnSp>
        <p:nvCxnSpPr>
          <p:cNvPr id="30" name="Connector 29"/>
          <p:cNvCxnSpPr/>
          <p:nvPr/>
        </p:nvCxnSpPr>
        <p:spPr>
          <a:xfrm>
            <a:off x="6767999" y="1656000"/>
            <a:ext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6911999" y="1368000"/>
            <a:ext cx="288000" cy="576000"/>
          </a:xfrm>
          <a:prstGeom prst="rect">
            <a:avLst/>
          </a:prstGeom>
          <a:solidFill>
            <a:srgbClr val="F0B4C8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cxnSp>
        <p:nvCxnSpPr>
          <p:cNvPr id="32" name="Connector 31"/>
          <p:cNvCxnSpPr/>
          <p:nvPr/>
        </p:nvCxnSpPr>
        <p:spPr>
          <a:xfrm>
            <a:off x="7055999" y="1980000"/>
            <a:ext cy="36000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803999" y="2340000"/>
            <a:ext cx="720000" cy="432000"/>
          </a:xfrm>
          <a:prstGeom prst="roundRect">
            <a:avLst>
              <a:gd name="adj" fmla="val 16667"/>
            </a:avLst>
          </a:prstGeom>
          <a:solidFill>
            <a:srgbClr val="E8E0F0"/>
          </a:solidFill>
          <a:ln w="19050">
            <a:solidFill>
              <a:srgbClr val="7B6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fals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true">
                <a:solidFill>
                  <a:srgbClr val="000000"/>
                </a:solidFill>
                <a:latin typeface="Arial"/>
              </a:rPr>
              <a:t>Upsample
×4</a:t>
            </a:r>
            <a:endParaRPr/>
          </a:p>
        </p:txBody>
      </p:sp>
      <p:cxnSp>
        <p:nvCxnSpPr>
          <p:cNvPr id="34" name="Connector 33"/>
          <p:cNvCxnSpPr/>
          <p:nvPr/>
        </p:nvCxnSpPr>
        <p:spPr>
          <a:xfrm flipH="true">
            <a:off x="6551999" y="2556000"/>
            <a:ext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 rot="0" flipH="false" flipV="false">
            <a:off x="5831999" y="2340000"/>
            <a:ext cx="720000" cy="432000"/>
          </a:xfrm>
          <a:prstGeom prst="roundRect">
            <a:avLst/>
          </a:prstGeom>
          <a:solidFill>
            <a:srgbClr val="E8E0F0"/>
          </a:solidFill>
          <a:ln w="19050">
            <a:solidFill>
              <a:srgbClr val="7B6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fals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true">
                <a:solidFill>
                  <a:srgbClr val="000000"/>
                </a:solidFill>
                <a:latin typeface="Arial"/>
              </a:rPr>
              <a:t>Concat</a:t>
            </a:r>
            <a:endParaRPr/>
          </a:p>
        </p:txBody>
      </p:sp>
      <p:cxnSp>
        <p:nvCxnSpPr>
          <p:cNvPr id="36" name="Connector 35"/>
          <p:cNvCxnSpPr/>
          <p:nvPr/>
        </p:nvCxnSpPr>
        <p:spPr>
          <a:xfrm>
            <a:off x="1710000" y="2016000"/>
            <a:ext cy="86400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true"/>
          <p:nvPr/>
        </p:nvSpPr>
        <p:spPr>
          <a:xfrm>
            <a:off x="1170000" y="2088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false">
                <a:solidFill>
                  <a:srgbClr val="505050"/>
                </a:solidFill>
                <a:latin typeface="Arial"/>
              </a:defRPr>
            </a:pPr>
            <a:r>
              <a:rPr/>
              <a:t>Low-Level</a:t>
            </a:r>
            <a:br>
              <a:rPr/>
            </a:br>
            <a:r>
              <a:rPr/>
              <a:t>Features</a:t>
            </a:r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1350000" y="2880000"/>
            <a:ext cx="720000" cy="432000"/>
          </a:xfrm>
          <a:prstGeom prst="roundRect">
            <a:avLst/>
          </a:prstGeom>
          <a:solidFill>
            <a:srgbClr val="E8E0F0"/>
          </a:solidFill>
          <a:ln w="19050">
            <a:solidFill>
              <a:srgbClr val="7B6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fals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true">
                <a:solidFill>
                  <a:srgbClr val="000000"/>
                </a:solidFill>
                <a:latin typeface="Arial"/>
              </a:rPr>
              <a:t>1×1 Conv</a:t>
            </a:r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178000" y="2880000"/>
            <a:ext cx="216000" cy="432000"/>
          </a:xfrm>
          <a:prstGeom prst="rect">
            <a:avLst/>
          </a:prstGeom>
          <a:solidFill>
            <a:srgbClr val="C8E6C8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cxnSp>
        <p:nvCxnSpPr>
          <p:cNvPr id="40" name="Connector 39"/>
          <p:cNvCxnSpPr/>
          <p:nvPr/>
        </p:nvCxnSpPr>
        <p:spPr>
          <a:xfrm flipV="true">
            <a:off x="2394000" y="2772000"/>
            <a:ext cy="32400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5291999" y="2340000"/>
            <a:ext cx="360000" cy="432000"/>
          </a:xfrm>
          <a:prstGeom prst="rect">
            <a:avLst/>
          </a:prstGeom>
          <a:solidFill>
            <a:srgbClr val="DCC8D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cxnSp>
        <p:nvCxnSpPr>
          <p:cNvPr id="42" name="Connector 41"/>
          <p:cNvCxnSpPr/>
          <p:nvPr/>
        </p:nvCxnSpPr>
        <p:spPr>
          <a:xfrm flipH="true">
            <a:off x="5651999" y="2556000"/>
            <a:ext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4464000" y="2340000"/>
            <a:ext cx="720000" cy="432000"/>
          </a:xfrm>
          <a:prstGeom prst="roundRect">
            <a:avLst/>
          </a:prstGeom>
          <a:solidFill>
            <a:srgbClr val="E8E0F0"/>
          </a:solidFill>
          <a:ln w="19050">
            <a:solidFill>
              <a:srgbClr val="7B6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fals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true">
                <a:solidFill>
                  <a:srgbClr val="000000"/>
                </a:solidFill>
                <a:latin typeface="Arial"/>
              </a:rPr>
              <a:t>3×3 Conv</a:t>
            </a:r>
            <a:endParaRPr/>
          </a:p>
        </p:txBody>
      </p:sp>
      <p:cxnSp>
        <p:nvCxnSpPr>
          <p:cNvPr id="44" name="Connector 43"/>
          <p:cNvCxnSpPr/>
          <p:nvPr/>
        </p:nvCxnSpPr>
        <p:spPr>
          <a:xfrm flipH="true">
            <a:off x="5184000" y="2556000"/>
            <a:ext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3636001" y="2340000"/>
            <a:ext cx="720000" cy="432000"/>
          </a:xfrm>
          <a:prstGeom prst="roundRect">
            <a:avLst/>
          </a:prstGeom>
          <a:solidFill>
            <a:srgbClr val="E8E0F0"/>
          </a:solidFill>
          <a:ln w="19050">
            <a:solidFill>
              <a:srgbClr val="7B6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false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true">
                <a:solidFill>
                  <a:srgbClr val="000000"/>
                </a:solidFill>
                <a:latin typeface="Arial"/>
              </a:rPr>
              <a:t>Upsample
×4</a:t>
            </a:r>
            <a:endParaRPr/>
          </a:p>
        </p:txBody>
      </p:sp>
      <p:cxnSp>
        <p:nvCxnSpPr>
          <p:cNvPr id="46" name="Connector 45"/>
          <p:cNvCxnSpPr/>
          <p:nvPr/>
        </p:nvCxnSpPr>
        <p:spPr>
          <a:xfrm flipH="true">
            <a:off x="4356001" y="2556000"/>
            <a:ext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true"/>
          <p:nvPr/>
        </p:nvSpPr>
        <p:spPr>
          <a:xfrm>
            <a:off x="2736001" y="2232000"/>
            <a:ext cx="7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true">
                <a:solidFill>
                  <a:srgbClr val="000000"/>
                </a:solidFill>
                <a:latin typeface="Arial"/>
              </a:defRPr>
            </a:pPr>
            <a:r>
              <a:rPr/>
              <a:t>Prediction</a:t>
            </a:r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2736001" y="2412000"/>
            <a:ext cx="648000" cy="432000"/>
          </a:xfrm>
          <a:prstGeom prst="rect">
            <a:avLst/>
          </a:prstGeom>
          <a:solidFill>
            <a:srgbClr val="282828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2844001" y="2484000"/>
            <a:ext cx="432000" cy="216000"/>
          </a:xfrm>
          <a:prstGeom prst="ellipse">
            <a:avLst/>
          </a:prstGeom>
          <a:solidFill>
            <a:srgbClr val="EF5350"/>
          </a:solidFill>
          <a:ln>
            <a:solidFill>
              <a:srgbClr val="C8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cxnSp>
        <p:nvCxnSpPr>
          <p:cNvPr id="50" name="Connector 49"/>
          <p:cNvCxnSpPr/>
          <p:nvPr/>
        </p:nvCxnSpPr>
        <p:spPr>
          <a:xfrm flipH="true">
            <a:off x="3384001" y="2556000"/>
            <a:ext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1080000" y="1188000"/>
            <a:ext cx="5039999" cy="1188000"/>
          </a:xfrm>
          <a:prstGeom prst="rect">
            <a:avLst/>
          </a:prstGeom>
          <a:noFill/>
          <a:ln w="25400">
            <a:solidFill>
              <a:srgbClr val="2E75B6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52" name="TextBox 51"/>
          <p:cNvSpPr txBox="true"/>
          <p:nvPr/>
        </p:nvSpPr>
        <p:spPr>
          <a:xfrm rot="0" flipH="false" flipV="false">
            <a:off x="1206000" y="1260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true">
                <a:solidFill>
                  <a:srgbClr val="2E75B6"/>
                </a:solidFill>
                <a:latin typeface="Arial"/>
              </a:defRPr>
            </a:pPr>
            <a:r>
              <a:rPr/>
              <a:t>Encoder</a:t>
            </a:r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2628001" y="2160000"/>
            <a:ext cx="4823998" cy="900000"/>
          </a:xfrm>
          <a:prstGeom prst="rect">
            <a:avLst/>
          </a:prstGeom>
          <a:noFill/>
          <a:ln w="25400">
            <a:solidFill>
              <a:srgbClr val="C0392B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54" name="TextBox 53"/>
          <p:cNvSpPr txBox="true"/>
          <p:nvPr/>
        </p:nvSpPr>
        <p:spPr>
          <a:xfrm rot="0" flipH="false" flipV="false">
            <a:off x="2736001" y="2232000"/>
            <a:ext cx="10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true">
                <a:solidFill>
                  <a:srgbClr val="C0392B"/>
                </a:solidFill>
                <a:latin typeface="Arial"/>
              </a:defRPr>
            </a:pPr>
            <a:r>
              <a:rPr/>
              <a:t>Decoder</a:t>
            </a:r>
            <a:endParaRPr/>
          </a:p>
        </p:txBody>
      </p:sp>
      <p:sp>
        <p:nvSpPr>
          <p:cNvPr id="55" name="TextBox 54"/>
          <p:cNvSpPr txBox="true"/>
          <p:nvPr/>
        </p:nvSpPr>
        <p:spPr>
          <a:xfrm>
            <a:off x="0" y="5760000"/>
            <a:ext cx="115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true">
                <a:solidFill>
                  <a:srgbClr val="000000"/>
                </a:solidFill>
                <a:latin typeface="Arial"/>
              </a:defRPr>
            </a:pPr>
            <a:r>
              <a:rPr/>
              <a:t>图 3-5  改进模型（DeepLabV3+ + TR）整体结构图</a:t>
            </a:r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4572000" y="1224000"/>
            <a:ext cx="1151999" cy="936000"/>
          </a:xfrm>
          <a:prstGeom prst="rect">
            <a:avLst/>
          </a:prstGeom>
          <a:noFill/>
          <a:ln w="25400">
            <a:solidFill>
              <a:srgbClr val="FF5722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57" name="TextBox 56"/>
          <p:cNvSpPr txBox="true"/>
          <p:nvPr/>
        </p:nvSpPr>
        <p:spPr>
          <a:xfrm>
            <a:off x="4644000" y="1080000"/>
            <a:ext cx="1007999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true">
                <a:solidFill>
                  <a:srgbClr val="FF5722"/>
                </a:solidFill>
                <a:latin typeface="Arial"/>
              </a:defRPr>
            </a:pPr>
            <a:r>
              <a:rPr/>
              <a:t>★ 改进部分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"/>
          <p:cNvGrpSpPr/>
          <p:nvPr/>
        </p:nvGrpSpPr>
        <p:grpSpPr>
          <a:xfrm rot="0" flipH="false" flipV="false">
            <a:off x="506818" y="689115"/>
            <a:ext cx="10072071" cy="5101770"/>
            <a:chOff x="76972" y="312983"/>
            <a:chExt cx="10072071" cy="5101770"/>
          </a:xfrm>
        </p:grpSpPr>
        <p:grpSp>
          <p:nvGrpSpPr>
            <p:cNvPr id="60" name=""/>
            <p:cNvGrpSpPr/>
            <p:nvPr/>
          </p:nvGrpSpPr>
          <p:grpSpPr>
            <a:xfrm rot="0" flipH="false" flipV="false">
              <a:off x="1190326" y="312983"/>
              <a:ext cx="8009604" cy="5101770"/>
              <a:chOff x="1153730" y="254368"/>
              <a:chExt cx="8036434" cy="4974771"/>
            </a:xfrm>
          </p:grpSpPr>
          <p:grpSp>
            <p:nvGrpSpPr>
              <p:cNvPr id="61" name=""/>
              <p:cNvGrpSpPr/>
              <p:nvPr/>
            </p:nvGrpSpPr>
            <p:grpSpPr>
              <a:xfrm rot="0" flipH="false" flipV="false">
                <a:off x="1153730" y="254368"/>
                <a:ext cx="7850771" cy="3227587"/>
                <a:chOff x="696530" y="279768"/>
                <a:chExt cx="7850771" cy="3227587"/>
              </a:xfrm>
            </p:grpSpPr>
            <p:grpSp>
              <p:nvGrpSpPr>
                <p:cNvPr id="62" name=""/>
                <p:cNvGrpSpPr/>
                <p:nvPr/>
              </p:nvGrpSpPr>
              <p:grpSpPr>
                <a:xfrm rot="0" flipH="false" flipV="false">
                  <a:off x="1052001" y="404601"/>
                  <a:ext cx="2601265" cy="2112533"/>
                  <a:chOff x="730268" y="836400"/>
                  <a:chExt cx="2914532" cy="3060800"/>
                </a:xfrm>
              </p:grpSpPr>
              <p:sp>
                <p:nvSpPr>
                  <p:cNvPr id="63" name="Rounded Rectangle 37"/>
                  <p:cNvSpPr/>
                  <p:nvPr/>
                </p:nvSpPr>
                <p:spPr>
                  <a:xfrm rot="0" flipH="false" flipV="false">
                    <a:off x="2924800" y="836400"/>
                    <a:ext cx="720000" cy="432000"/>
                  </a:xfrm>
                  <a:prstGeom prst="roundRect">
                    <a:avLst/>
                  </a:prstGeom>
                  <a:solidFill>
                    <a:srgbClr val="E8E0F0"/>
                  </a:solidFill>
                  <a:ln w="19050">
                    <a:solidFill>
                      <a:srgbClr val="7B68EE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false" anchor="ctr"/>
                  <a:lstStyle/>
                  <a:p>
                    <a:pPr algn="ctr">
                      <a:spcBef>
                        <a:spcPts val="0"/>
                      </a:spcBef>
                      <a:spcAft>
                        <a:spcPts val="0"/>
                      </a:spcAft>
                    </a:pPr>
                    <a:r>
                      <a:rPr sz="900" b="true">
                        <a:solidFill>
                          <a:srgbClr val="000000"/>
                        </a:solidFill>
                        <a:latin typeface="Arial"/>
                      </a:rPr>
                      <a:t>1×1 Conv</a:t>
                    </a:r>
                    <a:endParaRPr/>
                  </a:p>
                </p:txBody>
              </p:sp>
              <p:sp>
                <p:nvSpPr>
                  <p:cNvPr id="64" name="Rounded Rectangle 37"/>
                  <p:cNvSpPr/>
                  <p:nvPr/>
                </p:nvSpPr>
                <p:spPr>
                  <a:xfrm rot="0" flipH="false" flipV="false">
                    <a:off x="2924800" y="2808000"/>
                    <a:ext cx="720000" cy="432000"/>
                  </a:xfrm>
                  <a:prstGeom prst="roundRect">
                    <a:avLst/>
                  </a:prstGeom>
                  <a:solidFill>
                    <a:srgbClr val="E8E0F0"/>
                  </a:solidFill>
                  <a:ln w="19050">
                    <a:solidFill>
                      <a:srgbClr val="7B68EE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false" anchor="ctr"/>
                  <a:lstStyle/>
                  <a:p>
                    <a:pPr lvl="0" algn="ctr"/>
                    <a:r>
                      <a:rPr lang="en-US" sz="900" b="tru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宋体"/>
                        <a:cs typeface="+mn-cs"/>
                      </a:rPr>
                      <a:t>3</a:t>
                    </a:r>
                    <a:r>
                      <a:rPr sz="900" b="tru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宋体"/>
                        <a:cs typeface="+mn-cs"/>
                      </a:rPr>
                      <a:t>×</a:t>
                    </a:r>
                    <a:r>
                      <a:rPr lang="en-US" sz="900" b="tru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宋体"/>
                        <a:cs typeface="+mn-cs"/>
                      </a:rPr>
                      <a:t>3</a:t>
                    </a:r>
                    <a:r>
                      <a:rPr sz="900" b="tru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宋体"/>
                        <a:cs typeface="+mn-cs"/>
                      </a:rPr>
                      <a:t> Conv</a:t>
                    </a:r>
                    <a:endParaRPr sz="1800">
                      <a:solidFill>
                        <a:schemeClr val="lt1">
                          <a:alpha val="100000"/>
                        </a:schemeClr>
                      </a:solidFill>
                      <a:latin typeface="Calibri"/>
                      <a:ea typeface="宋体"/>
                      <a:cs typeface="+mn-cs"/>
                    </a:endParaRPr>
                  </a:p>
                  <a:p>
                    <a:pPr lvl="0" algn="ctr"/>
                    <a:r>
                      <a:rPr lang="en-US" sz="900" b="tru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宋体"/>
                        <a:cs typeface="+mn-cs"/>
                      </a:rPr>
                      <a:t>rate 36</a:t>
                    </a:r>
                    <a:endParaRPr/>
                  </a:p>
                </p:txBody>
              </p:sp>
              <p:sp>
                <p:nvSpPr>
                  <p:cNvPr id="65" name="Rounded Rectangle 37"/>
                  <p:cNvSpPr/>
                  <p:nvPr/>
                </p:nvSpPr>
                <p:spPr>
                  <a:xfrm rot="0" flipH="false" flipV="false">
                    <a:off x="2924800" y="2150800"/>
                    <a:ext cx="720000" cy="432000"/>
                  </a:xfrm>
                  <a:prstGeom prst="roundRect">
                    <a:avLst/>
                  </a:prstGeom>
                  <a:solidFill>
                    <a:srgbClr val="E8E0F0"/>
                  </a:solidFill>
                  <a:ln w="19050">
                    <a:solidFill>
                      <a:srgbClr val="7B68EE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false" anchor="ctr"/>
                  <a:lstStyle/>
                  <a:p>
                    <a:pPr lvl="0" algn="ctr"/>
                    <a:r>
                      <a:rPr lang="en-US" sz="900" b="tru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宋体"/>
                        <a:cs typeface="+mn-cs"/>
                      </a:rPr>
                      <a:t>3</a:t>
                    </a:r>
                    <a:r>
                      <a:rPr sz="900" b="tru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宋体"/>
                        <a:cs typeface="+mn-cs"/>
                      </a:rPr>
                      <a:t>×</a:t>
                    </a:r>
                    <a:r>
                      <a:rPr lang="en-US" sz="900" b="tru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宋体"/>
                        <a:cs typeface="+mn-cs"/>
                      </a:rPr>
                      <a:t>3</a:t>
                    </a:r>
                    <a:r>
                      <a:rPr sz="900" b="tru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宋体"/>
                        <a:cs typeface="+mn-cs"/>
                      </a:rPr>
                      <a:t> Conv</a:t>
                    </a:r>
                    <a:endParaRPr sz="1800">
                      <a:solidFill>
                        <a:schemeClr val="lt1">
                          <a:alpha val="100000"/>
                        </a:schemeClr>
                      </a:solidFill>
                      <a:latin typeface="Calibri"/>
                      <a:ea typeface="宋体"/>
                      <a:cs typeface="+mn-cs"/>
                    </a:endParaRPr>
                  </a:p>
                  <a:p>
                    <a:pPr lvl="0" algn="ctr"/>
                    <a:r>
                      <a:rPr lang="en-US" sz="900" b="tru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宋体"/>
                        <a:cs typeface="+mn-cs"/>
                      </a:rPr>
                      <a:t>rate 24</a:t>
                    </a:r>
                    <a:endParaRPr/>
                  </a:p>
                </p:txBody>
              </p:sp>
              <p:sp>
                <p:nvSpPr>
                  <p:cNvPr id="66" name="Rounded Rectangle 37"/>
                  <p:cNvSpPr/>
                  <p:nvPr/>
                </p:nvSpPr>
                <p:spPr>
                  <a:xfrm rot="0" flipH="false" flipV="false">
                    <a:off x="2924800" y="1493600"/>
                    <a:ext cx="720000" cy="432000"/>
                  </a:xfrm>
                  <a:prstGeom prst="roundRect">
                    <a:avLst/>
                  </a:prstGeom>
                  <a:solidFill>
                    <a:srgbClr val="E8E0F0"/>
                  </a:solidFill>
                  <a:ln w="19050">
                    <a:solidFill>
                      <a:srgbClr val="7B68EE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false" anchor="ctr"/>
                  <a:lstStyle/>
                  <a:p>
                    <a:pPr algn="ctr">
                      <a:spcBef>
                        <a:spcPts val="0"/>
                      </a:spcBef>
                      <a:spcAft>
                        <a:spcPts val="0"/>
                      </a:spcAft>
                    </a:pPr>
                    <a:r>
                      <a:rPr lang="en-US" sz="900" b="tru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宋体"/>
                        <a:cs typeface="+mn-cs"/>
                      </a:rPr>
                      <a:t>3</a:t>
                    </a:r>
                    <a:r>
                      <a:rPr sz="900" b="tru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宋体"/>
                        <a:cs typeface="+mn-cs"/>
                      </a:rPr>
                      <a:t>×</a:t>
                    </a:r>
                    <a:r>
                      <a:rPr lang="en-US" sz="900" b="tru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宋体"/>
                        <a:cs typeface="+mn-cs"/>
                      </a:rPr>
                      <a:t>3</a:t>
                    </a:r>
                    <a:r>
                      <a:rPr sz="900" b="tru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宋体"/>
                        <a:cs typeface="+mn-cs"/>
                      </a:rPr>
                      <a:t> Conv</a:t>
                    </a:r>
                    <a:endParaRPr/>
                  </a:p>
                  <a:p>
                    <a:pPr algn="ctr">
                      <a:spcBef>
                        <a:spcPts val="0"/>
                      </a:spcBef>
                      <a:spcAft>
                        <a:spcPts val="0"/>
                      </a:spcAft>
                    </a:pPr>
                    <a:r>
                      <a:rPr lang="en-US" sz="900" b="tru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宋体"/>
                        <a:cs typeface="+mn-cs"/>
                      </a:rPr>
                      <a:t>rate 12</a:t>
                    </a:r>
                    <a:endParaRPr/>
                  </a:p>
                </p:txBody>
              </p:sp>
              <p:sp>
                <p:nvSpPr>
                  <p:cNvPr id="67" name="Rounded Rectangle 37"/>
                  <p:cNvSpPr/>
                  <p:nvPr/>
                </p:nvSpPr>
                <p:spPr>
                  <a:xfrm rot="0" flipH="false" flipV="false">
                    <a:off x="2924800" y="3465200"/>
                    <a:ext cx="720000" cy="432000"/>
                  </a:xfrm>
                  <a:prstGeom prst="roundRect">
                    <a:avLst/>
                  </a:prstGeom>
                  <a:solidFill>
                    <a:srgbClr val="E8E0F0"/>
                  </a:solidFill>
                  <a:ln w="19050">
                    <a:solidFill>
                      <a:srgbClr val="7B68EE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false" anchor="ctr"/>
                  <a:lstStyle/>
                  <a:p>
                    <a:pPr algn="ctr">
                      <a:spcBef>
                        <a:spcPts val="0"/>
                      </a:spcBef>
                      <a:spcAft>
                        <a:spcPts val="0"/>
                      </a:spcAft>
                    </a:pPr>
                    <a:r>
                      <a:rPr lang="en-US" sz="900" b="tru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宋体"/>
                        <a:cs typeface="+mn-cs"/>
                      </a:rPr>
                      <a:t>Image</a:t>
                    </a:r>
                    <a:endParaRPr/>
                  </a:p>
                  <a:p>
                    <a:pPr algn="ctr">
                      <a:spcBef>
                        <a:spcPts val="0"/>
                      </a:spcBef>
                      <a:spcAft>
                        <a:spcPts val="0"/>
                      </a:spcAft>
                    </a:pPr>
                    <a:r>
                      <a:rPr lang="en-US" sz="900" b="tru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宋体"/>
                        <a:cs typeface="+mn-cs"/>
                      </a:rPr>
                      <a:t>Pooling</a:t>
                    </a:r>
                    <a:endParaRPr/>
                  </a:p>
                </p:txBody>
              </p:sp>
              <p:sp>
                <p:nvSpPr>
                  <p:cNvPr id="68" name=""/>
                  <p:cNvSpPr/>
                  <p:nvPr/>
                </p:nvSpPr>
                <p:spPr>
                  <a:xfrm rot="0" flipH="false" flipV="false">
                    <a:off x="2048934" y="1052400"/>
                    <a:ext cx="685800" cy="2628799"/>
                  </a:xfrm>
                  <a:prstGeom prst="leftBrace">
                    <a:avLst>
                      <a:gd name="adj1" fmla="val 8333"/>
                      <a:gd name="adj2" fmla="val 49033"/>
                    </a:avLst>
                  </a:prstGeom>
                  <a:ln w="12700">
                    <a:solidFill>
                      <a:srgbClr val="5C5C5C">
                        <a:alpha val="100000"/>
                      </a:srgbClr>
                    </a:solidFill>
                    <a:prstDash val="solid"/>
                    <a:miter lim="800000"/>
                  </a:ln>
                </p:spPr>
                <p:txBody>
                  <a:bodyPr anchor="ctr"/>
                  <a:p>
                    <a:pPr algn="ctr"/>
                    <a:endParaRPr/>
                  </a:p>
                </p:txBody>
              </p:sp>
              <p:sp>
                <p:nvSpPr>
                  <p:cNvPr id="69" name="Rounded Rectangle 5"/>
                  <p:cNvSpPr/>
                  <p:nvPr/>
                </p:nvSpPr>
                <p:spPr>
                  <a:xfrm rot="0" flipH="false" flipV="false">
                    <a:off x="730268" y="2042800"/>
                    <a:ext cx="1230200" cy="648000"/>
                  </a:xfrm>
                  <a:prstGeom prst="roundRect">
                    <a:avLst/>
                  </a:prstGeom>
                  <a:solidFill>
                    <a:srgbClr val="D6E6F2"/>
                  </a:solidFill>
                  <a:ln w="19050">
                    <a:solidFill>
                      <a:srgbClr val="4A7BA7"/>
                    </a:solidFill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false" anchor="ctr"/>
                  <a:lstStyle/>
                  <a:p>
                    <a:pPr algn="ctr">
                      <a:spcBef>
                        <a:spcPts val="0"/>
                      </a:spcBef>
                      <a:spcAft>
                        <a:spcPts val="0"/>
                      </a:spcAft>
                    </a:pPr>
                    <a:r>
                      <a:rPr lang="en-US" sz="1100" b="true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宋体"/>
                        <a:cs typeface="+mn-cs"/>
                      </a:rPr>
                      <a:t>ResNet18-V1c</a:t>
                    </a:r>
                    <a:endParaRPr/>
                  </a:p>
                  <a:p>
                    <a:pPr algn="ctr">
                      <a:spcBef>
                        <a:spcPts val="0"/>
                      </a:spcBef>
                      <a:spcAft>
                        <a:spcPts val="0"/>
                      </a:spcAft>
                    </a:pPr>
                    <a:r>
                      <a:rPr lang="en-US" sz="800" b="false">
                        <a:solidFill>
                          <a:srgbClr val="646464">
                            <a:alpha val="100000"/>
                          </a:srgbClr>
                        </a:solidFill>
                        <a:latin typeface="Arial"/>
                        <a:ea typeface="宋体"/>
                        <a:cs typeface="+mn-cs"/>
                      </a:rPr>
                      <a:t>(Backbone) </a:t>
                    </a:r>
                    <a:endParaRPr/>
                  </a:p>
                </p:txBody>
              </p:sp>
            </p:grpSp>
            <p:sp>
              <p:nvSpPr>
                <p:cNvPr id="70" name=""/>
                <p:cNvSpPr/>
                <p:nvPr/>
              </p:nvSpPr>
              <p:spPr>
                <a:xfrm rot="0" flipH="false" flipV="false">
                  <a:off x="718189" y="279768"/>
                  <a:ext cx="7829112" cy="2362200"/>
                </a:xfrm>
                <a:prstGeom prst="roundRect">
                  <a:avLst/>
                </a:prstGeom>
                <a:noFill/>
                <a:ln w="12700">
                  <a:solidFill>
                    <a:srgbClr val="5C5C5C">
                      <a:alpha val="100000"/>
                    </a:srgbClr>
                  </a:solidFill>
                  <a:prstDash val="sysDash"/>
                  <a:miter lim="800000"/>
                </a:ln>
              </p:spPr>
              <p:txBody>
                <a:bodyPr anchor="ctr"/>
                <a:p>
                  <a:pPr algn="ctr"/>
                  <a:endParaRPr/>
                </a:p>
              </p:txBody>
            </p:sp>
            <p:sp>
              <p:nvSpPr>
                <p:cNvPr id="71" name="TextBox 51"/>
                <p:cNvSpPr txBox="true"/>
                <p:nvPr/>
              </p:nvSpPr>
              <p:spPr>
                <a:xfrm rot="0" flipH="false" flipV="false">
                  <a:off x="696530" y="314601"/>
                  <a:ext cx="1080000" cy="18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defRPr sz="1400" b="true">
                      <a:solidFill>
                        <a:srgbClr val="2E75B6"/>
                      </a:solidFill>
                      <a:latin typeface="Arial"/>
                    </a:defRPr>
                  </a:pPr>
                  <a:r>
                    <a:rPr/>
                    <a:t>Encoder</a:t>
                  </a:r>
                  <a:endParaRPr/>
                </a:p>
              </p:txBody>
            </p:sp>
            <p:sp>
              <p:nvSpPr>
                <p:cNvPr id="72" name=""/>
                <p:cNvSpPr/>
                <p:nvPr/>
              </p:nvSpPr>
              <p:spPr>
                <a:xfrm rot="0" flipH="false" flipV="false">
                  <a:off x="3822903" y="531251"/>
                  <a:ext cx="855133" cy="1859232"/>
                </a:xfrm>
                <a:prstGeom prst="rightBrace">
                  <a:avLst>
                    <a:gd name="adj1" fmla="val 8333"/>
                    <a:gd name="adj2" fmla="val 49089"/>
                  </a:avLst>
                </a:prstGeom>
                <a:ln w="12700">
                  <a:solidFill>
                    <a:srgbClr val="5C5C5C">
                      <a:alpha val="100000"/>
                    </a:srgbClr>
                  </a:solidFill>
                  <a:prstDash val="solid"/>
                  <a:miter lim="800000"/>
                </a:ln>
              </p:spPr>
              <p:txBody>
                <a:bodyPr anchor="ctr"/>
                <a:p>
                  <a:pPr algn="ctr"/>
                  <a:endParaRPr/>
                </a:p>
              </p:txBody>
            </p:sp>
            <p:sp>
              <p:nvSpPr>
                <p:cNvPr id="73" name="Rounded Rectangle 34"/>
                <p:cNvSpPr/>
                <p:nvPr/>
              </p:nvSpPr>
              <p:spPr>
                <a:xfrm rot="0" flipH="false" flipV="false">
                  <a:off x="4737509" y="1194999"/>
                  <a:ext cx="720000" cy="432000"/>
                </a:xfrm>
                <a:prstGeom prst="roundRect">
                  <a:avLst/>
                </a:prstGeom>
                <a:solidFill>
                  <a:srgbClr val="E8E0F0"/>
                </a:solidFill>
                <a:ln w="19050">
                  <a:solidFill>
                    <a:srgbClr val="7B68EE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false" anchor="ctr"/>
                <a:lstStyle/>
                <a:p>
                  <a:pPr algn="ctr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000" b="true">
                      <a:solidFill>
                        <a:srgbClr val="000000"/>
                      </a:solidFill>
                      <a:latin typeface="Arial"/>
                    </a:rPr>
                    <a:t>Concat</a:t>
                  </a:r>
                  <a:endParaRPr/>
                </a:p>
              </p:txBody>
            </p:sp>
            <p:cxnSp>
              <p:nvCxnSpPr>
                <p:cNvPr id="74" name="Connector 9"/>
                <p:cNvCxnSpPr/>
                <p:nvPr/>
              </p:nvCxnSpPr>
              <p:spPr>
                <a:xfrm rot="0" flipH="false" flipV="false">
                  <a:off x="5516982" y="1438438"/>
                  <a:ext cx="288000" cy="0"/>
                </a:xfrm>
                <a:prstGeom prst="line">
                  <a:avLst/>
                </a:prstGeom>
                <a:ln w="19050">
                  <a:solidFill>
                    <a:srgbClr val="000000"/>
                  </a:solidFill>
                  <a:tailEnd type="triangle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5" name="Rounded Rectangle 20"/>
                <p:cNvSpPr/>
                <p:nvPr/>
              </p:nvSpPr>
              <p:spPr>
                <a:xfrm rot="0" flipH="false" flipV="false">
                  <a:off x="5864455" y="1033602"/>
                  <a:ext cx="1007999" cy="792000"/>
                </a:xfrm>
                <a:prstGeom prst="roundRect">
                  <a:avLst/>
                </a:prstGeom>
                <a:solidFill>
                  <a:srgbClr val="E8F5E9"/>
                </a:solidFill>
                <a:ln w="31750">
                  <a:solidFill>
                    <a:srgbClr val="4CAF50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false" anchor="ctr"/>
                <a:lstStyle/>
                <a:p>
                  <a:pPr algn="ctr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1100" b="true">
                      <a:solidFill>
                        <a:srgbClr val="1B5E20"/>
                      </a:solidFill>
                      <a:latin typeface="Arial"/>
                    </a:rPr>
                    <a:t>TR Module</a:t>
                  </a:r>
                  <a:endParaRPr/>
                </a:p>
                <a:p>
                  <a:pPr algn="ctr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800" b="false">
                      <a:solidFill>
                        <a:srgbClr val="646464"/>
                      </a:solidFill>
                      <a:latin typeface="Arial"/>
                    </a:rPr>
                    <a:t>Bi-Level Routing
Attention</a:t>
                  </a:r>
                  <a:endParaRPr/>
                </a:p>
              </p:txBody>
            </p:sp>
            <p:sp>
              <p:nvSpPr>
                <p:cNvPr id="76" name="Rounded Rectangle 37"/>
                <p:cNvSpPr/>
                <p:nvPr/>
              </p:nvSpPr>
              <p:spPr>
                <a:xfrm rot="0" flipH="false" flipV="false">
                  <a:off x="7405149" y="1280522"/>
                  <a:ext cx="642611" cy="298162"/>
                </a:xfrm>
                <a:prstGeom prst="roundRect">
                  <a:avLst/>
                </a:prstGeom>
                <a:solidFill>
                  <a:srgbClr val="E8E0F0"/>
                </a:solidFill>
                <a:ln w="19050">
                  <a:solidFill>
                    <a:srgbClr val="7B68EE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false" anchor="ctr"/>
                <a:lstStyle/>
                <a:p>
                  <a:pPr algn="ctr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900" b="true">
                      <a:solidFill>
                        <a:srgbClr val="000000"/>
                      </a:solidFill>
                      <a:latin typeface="Arial"/>
                    </a:rPr>
                    <a:t>1×1 Conv</a:t>
                  </a:r>
                  <a:endParaRPr/>
                </a:p>
              </p:txBody>
            </p:sp>
            <p:cxnSp>
              <p:nvCxnSpPr>
                <p:cNvPr id="77" name="Connector 9"/>
                <p:cNvCxnSpPr/>
                <p:nvPr/>
              </p:nvCxnSpPr>
              <p:spPr>
                <a:xfrm rot="0" flipH="false" flipV="false">
                  <a:off x="6994802" y="1429602"/>
                  <a:ext cx="288000" cy="0"/>
                </a:xfrm>
                <a:prstGeom prst="line">
                  <a:avLst/>
                </a:prstGeom>
                <a:ln w="19050">
                  <a:solidFill>
                    <a:srgbClr val="000000"/>
                  </a:solidFill>
                  <a:tailEnd type="triangle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8" name="Rounded Rectangle 32"/>
                <p:cNvSpPr/>
                <p:nvPr/>
              </p:nvSpPr>
              <p:spPr>
                <a:xfrm rot="0" flipH="false" flipV="false">
                  <a:off x="3129036" y="3126157"/>
                  <a:ext cx="812248" cy="381198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E8E0F0"/>
                </a:solidFill>
                <a:ln w="19050">
                  <a:solidFill>
                    <a:srgbClr val="7B68EE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false" anchor="ctr"/>
                <a:lstStyle/>
                <a:p>
                  <a:pPr algn="ctr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900" b="true">
                      <a:solidFill>
                        <a:srgbClr val="000000"/>
                      </a:solidFill>
                      <a:latin typeface="Arial"/>
                    </a:rPr>
                    <a:t>Upsample
×4</a:t>
                  </a:r>
                  <a:endParaRPr/>
                </a:p>
              </p:txBody>
            </p:sp>
          </p:grpSp>
          <p:cxnSp>
            <p:nvCxnSpPr>
              <p:cNvPr id="79" name=""/>
              <p:cNvCxnSpPr/>
              <p:nvPr/>
            </p:nvCxnSpPr>
            <p:spPr>
              <a:xfrm rot="0" flipH="false" flipV="false">
                <a:off x="8153400" y="1659089"/>
                <a:ext cx="8433" cy="1668062"/>
              </a:xfrm>
              <a:prstGeom prst="straightConnector1"/>
              <a:ln w="25400">
                <a:solidFill>
                  <a:srgbClr val="000000">
                    <a:alpha val="100000"/>
                  </a:srgbClr>
                </a:solidFill>
                <a:prstDash val="solid"/>
                <a:headEnd/>
                <a:tailEnd/>
              </a:ln>
            </p:spPr>
          </p:cxnSp>
          <p:sp>
            <p:nvSpPr>
              <p:cNvPr id="80" name="Rounded Rectangle 37"/>
              <p:cNvSpPr/>
              <p:nvPr/>
            </p:nvSpPr>
            <p:spPr>
              <a:xfrm rot="0" flipH="false" flipV="false">
                <a:off x="1693760" y="4350068"/>
                <a:ext cx="642611" cy="298162"/>
              </a:xfrm>
              <a:prstGeom prst="roundRect">
                <a:avLst/>
              </a:prstGeom>
              <a:solidFill>
                <a:srgbClr val="E8E0F0"/>
              </a:solidFill>
              <a:ln w="19050">
                <a:solidFill>
                  <a:srgbClr val="7B68E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false" anchor="ctr"/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900" b="true">
                    <a:solidFill>
                      <a:srgbClr val="000000"/>
                    </a:solidFill>
                    <a:latin typeface="Arial"/>
                  </a:rPr>
                  <a:t>1×1 Conv</a:t>
                </a:r>
                <a:endParaRPr/>
              </a:p>
            </p:txBody>
          </p:sp>
          <p:cxnSp>
            <p:nvCxnSpPr>
              <p:cNvPr id="81" name="Connector 9"/>
              <p:cNvCxnSpPr/>
              <p:nvPr/>
            </p:nvCxnSpPr>
            <p:spPr>
              <a:xfrm rot="0" flipH="false" flipV="false">
                <a:off x="2463174" y="4499149"/>
                <a:ext cx="923038" cy="0"/>
              </a:xfrm>
              <a:prstGeom prst="line">
                <a:avLst/>
              </a:prstGeom>
              <a:ln w="19050">
                <a:solidFill>
                  <a:srgbClr val="000000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Connector 9"/>
              <p:cNvCxnSpPr/>
              <p:nvPr/>
            </p:nvCxnSpPr>
            <p:spPr>
              <a:xfrm rot="0" flipH="false" flipV="false">
                <a:off x="3992360" y="3576111"/>
                <a:ext cx="0" cy="644287"/>
              </a:xfrm>
              <a:prstGeom prst="line">
                <a:avLst/>
              </a:prstGeom>
              <a:ln w="19050">
                <a:solidFill>
                  <a:srgbClr val="000000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Connector 9"/>
              <p:cNvCxnSpPr/>
              <p:nvPr/>
            </p:nvCxnSpPr>
            <p:spPr>
              <a:xfrm rot="0" flipH="false" flipV="false">
                <a:off x="2015066" y="1789128"/>
                <a:ext cx="0" cy="2430902"/>
              </a:xfrm>
              <a:prstGeom prst="line">
                <a:avLst/>
              </a:prstGeom>
              <a:ln w="19050">
                <a:solidFill>
                  <a:srgbClr val="000000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Connector 9"/>
              <p:cNvCxnSpPr/>
              <p:nvPr/>
            </p:nvCxnSpPr>
            <p:spPr>
              <a:xfrm rot="0" flipH="true" flipV="false">
                <a:off x="4543315" y="3327102"/>
                <a:ext cx="3618518" cy="48"/>
              </a:xfrm>
              <a:prstGeom prst="line">
                <a:avLst/>
              </a:prstGeom>
              <a:ln w="19050">
                <a:solidFill>
                  <a:srgbClr val="000000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5" name="Rounded Rectangle 34"/>
              <p:cNvSpPr/>
              <p:nvPr/>
            </p:nvSpPr>
            <p:spPr>
              <a:xfrm rot="0" flipH="false" flipV="false">
                <a:off x="3632360" y="4314554"/>
                <a:ext cx="647742" cy="381190"/>
              </a:xfrm>
              <a:prstGeom prst="roundRect">
                <a:avLst/>
              </a:prstGeom>
              <a:solidFill>
                <a:srgbClr val="E8E0F0"/>
              </a:solidFill>
              <a:ln w="19050">
                <a:solidFill>
                  <a:srgbClr val="7B68E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false" anchor="ctr"/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000" b="true">
                    <a:solidFill>
                      <a:srgbClr val="000000"/>
                    </a:solidFill>
                    <a:latin typeface="Arial"/>
                  </a:rPr>
                  <a:t>Concat</a:t>
                </a:r>
                <a:endParaRPr/>
              </a:p>
            </p:txBody>
          </p:sp>
          <p:cxnSp>
            <p:nvCxnSpPr>
              <p:cNvPr id="86" name="Connector 9"/>
              <p:cNvCxnSpPr/>
              <p:nvPr/>
            </p:nvCxnSpPr>
            <p:spPr>
              <a:xfrm rot="0" flipH="false" flipV="false">
                <a:off x="4398484" y="4505149"/>
                <a:ext cx="923038" cy="0"/>
              </a:xfrm>
              <a:prstGeom prst="line">
                <a:avLst/>
              </a:prstGeom>
              <a:ln w="19050">
                <a:solidFill>
                  <a:srgbClr val="000000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7" name="Rounded Rectangle 37"/>
              <p:cNvSpPr/>
              <p:nvPr/>
            </p:nvSpPr>
            <p:spPr>
              <a:xfrm rot="0" flipH="false" flipV="false">
                <a:off x="5439904" y="4356068"/>
                <a:ext cx="642611" cy="298162"/>
              </a:xfrm>
              <a:prstGeom prst="roundRect">
                <a:avLst/>
              </a:prstGeom>
              <a:solidFill>
                <a:srgbClr val="E8E0F0"/>
              </a:solidFill>
              <a:ln w="19050">
                <a:solidFill>
                  <a:srgbClr val="7B68E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false" anchor="ctr"/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900" b="true"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宋体"/>
                    <a:cs typeface="+mn-cs"/>
                  </a:rPr>
                  <a:t>3</a:t>
                </a:r>
                <a:r>
                  <a:rPr sz="900" b="true"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宋体"/>
                    <a:cs typeface="+mn-cs"/>
                  </a:rPr>
                  <a:t>×</a:t>
                </a:r>
                <a:r>
                  <a:rPr lang="en-US" sz="900" b="true"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宋体"/>
                    <a:cs typeface="+mn-cs"/>
                  </a:rPr>
                  <a:t>3</a:t>
                </a:r>
                <a:r>
                  <a:rPr sz="900" b="true"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宋体"/>
                    <a:cs typeface="+mn-cs"/>
                  </a:rPr>
                  <a:t> Conv</a:t>
                </a:r>
                <a:endParaRPr/>
              </a:p>
            </p:txBody>
          </p:sp>
          <p:cxnSp>
            <p:nvCxnSpPr>
              <p:cNvPr id="88" name="Connector 9"/>
              <p:cNvCxnSpPr/>
              <p:nvPr/>
            </p:nvCxnSpPr>
            <p:spPr>
              <a:xfrm rot="0" flipH="false" flipV="false">
                <a:off x="6208868" y="4511149"/>
                <a:ext cx="923038" cy="0"/>
              </a:xfrm>
              <a:prstGeom prst="line">
                <a:avLst/>
              </a:prstGeom>
              <a:ln w="19050">
                <a:solidFill>
                  <a:srgbClr val="000000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9" name="Rounded Rectangle 32"/>
              <p:cNvSpPr/>
              <p:nvPr/>
            </p:nvSpPr>
            <p:spPr>
              <a:xfrm rot="0" flipH="false" flipV="false">
                <a:off x="7329654" y="4308550"/>
                <a:ext cx="812248" cy="381198"/>
              </a:xfrm>
              <a:prstGeom prst="roundRect">
                <a:avLst>
                  <a:gd name="adj" fmla="val 16667"/>
                </a:avLst>
              </a:prstGeom>
              <a:solidFill>
                <a:srgbClr val="E8E0F0"/>
              </a:solidFill>
              <a:ln w="19050">
                <a:solidFill>
                  <a:srgbClr val="7B68E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false" anchor="ctr"/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900" b="true">
                    <a:solidFill>
                      <a:srgbClr val="000000"/>
                    </a:solidFill>
                    <a:latin typeface="Arial"/>
                  </a:rPr>
                  <a:t>Upsample
×4</a:t>
                </a:r>
                <a:endParaRPr/>
              </a:p>
            </p:txBody>
          </p:sp>
          <p:cxnSp>
            <p:nvCxnSpPr>
              <p:cNvPr id="90" name="Connector 9"/>
              <p:cNvCxnSpPr/>
              <p:nvPr/>
            </p:nvCxnSpPr>
            <p:spPr>
              <a:xfrm rot="0" flipH="false" flipV="false">
                <a:off x="8267126" y="4499149"/>
                <a:ext cx="923038" cy="0"/>
              </a:xfrm>
              <a:prstGeom prst="line">
                <a:avLst/>
              </a:prstGeom>
              <a:ln w="19050">
                <a:solidFill>
                  <a:srgbClr val="000000"/>
                </a:solidFill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1" name=""/>
              <p:cNvSpPr/>
              <p:nvPr/>
            </p:nvSpPr>
            <p:spPr>
              <a:xfrm rot="0" flipH="false" flipV="false">
                <a:off x="1175389" y="2866939"/>
                <a:ext cx="7829112" cy="2362200"/>
              </a:xfrm>
              <a:prstGeom prst="roundRect">
                <a:avLst/>
              </a:prstGeom>
              <a:noFill/>
              <a:ln w="12700">
                <a:solidFill>
                  <a:srgbClr val="5C5C5C">
                    <a:alpha val="100000"/>
                  </a:srgbClr>
                </a:solidFill>
                <a:prstDash val="sysDash"/>
                <a:miter lim="800000"/>
              </a:ln>
            </p:spPr>
            <p:txBody>
              <a:bodyPr anchor="ctr"/>
              <a:p>
                <a:pPr algn="ctr"/>
                <a:endParaRPr/>
              </a:p>
            </p:txBody>
          </p:sp>
        </p:grpSp>
        <p:sp>
          <p:nvSpPr>
            <p:cNvPr id="92" name="TextBox 51"/>
            <p:cNvSpPr txBox="true"/>
            <p:nvPr/>
          </p:nvSpPr>
          <p:spPr>
            <a:xfrm rot="0" flipH="false" flipV="false">
              <a:off x="1211913" y="3041106"/>
              <a:ext cx="1079500" cy="3048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400" b="true">
                  <a:solidFill>
                    <a:srgbClr val="2E75B6">
                      <a:alpha val="100000"/>
                    </a:srgbClr>
                  </a:solidFill>
                  <a:latin typeface="Arial"/>
                  <a:ea typeface="宋体"/>
                  <a:cs typeface="+mn-cs"/>
                </a:defRPr>
              </a:pPr>
              <a:r>
                <a:rPr lang="en-US"/>
                <a:t>De</a:t>
              </a:r>
              <a:r>
                <a:rPr/>
                <a:t>coder</a:t>
              </a:r>
              <a:endParaRPr/>
            </a:p>
          </p:txBody>
        </p:sp>
        <p:pic>
          <p:nvPicPr>
            <p:cNvPr id="93" name=""/>
            <p:cNvPicPr>
              <a:picLocks noChangeAspect="true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0" flipH="false" flipV="false">
              <a:off x="76972" y="1046813"/>
              <a:ext cx="890715" cy="890715"/>
            </a:xfrm>
            <a:prstGeom prst="rect"/>
          </p:spPr>
        </p:pic>
        <p:cxnSp>
          <p:nvCxnSpPr>
            <p:cNvPr id="94" name="Connector 9"/>
            <p:cNvCxnSpPr/>
            <p:nvPr/>
          </p:nvCxnSpPr>
          <p:spPr>
            <a:xfrm rot="0" flipH="false" flipV="false">
              <a:off x="1021610" y="1524234"/>
              <a:ext cx="444307" cy="0"/>
            </a:xfrm>
            <a:prstGeom prst="line">
              <a:avLst/>
            </a:prstGeom>
            <a:ln w="19050">
              <a:solidFill>
                <a:srgbClr val="0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95" name=""/>
            <p:cNvPicPr>
              <a:picLocks noChangeAspect="true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0" flipH="false" flipV="false">
              <a:off x="9324736" y="4266280"/>
              <a:ext cx="824307" cy="824307"/>
            </a:xfrm>
            <a:prstGeom prst="rect"/>
          </p:spPr>
        </p:pic>
      </p:grp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dc="http://purl.org/dc/elements/1.1/" xmlns:cp="http://schemas.openxmlformats.org/package/2006/metadata/core-properties">
  <dcterms:created xsi:type="dcterms:W3CDTF">2026-01-15T03:43:51Z</dcterms:created>
  <dcterms:modified xsi:type="dcterms:W3CDTF">2026-01-15T03:43:51Z</dcterms:modified>
</cp:coreProperties>
</file>