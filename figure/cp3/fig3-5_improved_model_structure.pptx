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9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sldIdLst>
    <p:sldId id="256" r:id="rId1"/>
    <p:sldId id="257" r:id="rId2"/>
    <p:sldId id="258" r:id="rId3"/>
  </p:sldIdLst>
  <p:sldSz cx="11520000" cy="6480000" type="screen4x3"/>
  <p:notesSz cx="6858000" cy="9144000"/>
  <p:defaultTextStyle>
    <a:defPPr>
      <a:defRPr lang="en-US"/>
    </a:defPPr>
    <a:lvl1pPr marL="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_rels/presentation.xml.rels><?xml version="1.0" encoding="UTF-8" standalone="yes"?><Relationships xmlns="http://schemas.openxmlformats.org/package/2006/relationships"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4" Type="http://schemas.openxmlformats.org/officeDocument/2006/relationships/tableStyles" Target="tableStyles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/Relationship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true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true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/>
            <a:r>
              <a:rPr lang="en-US" smtClean="fals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9" name="Content Placeholder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10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11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2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true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true" cap="all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21" name="Text Placeholder 2"/>
          <p:cNvSpPr>
            <a:spLocks noGrp="true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22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23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24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woObj">
  <p:cSld name="Two Content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27" name="Content Placeholder 2"/>
          <p:cNvSpPr>
            <a:spLocks noGrp="true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28" name="Content Placeholder 3"/>
          <p:cNvSpPr>
            <a:spLocks noGrp="true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29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30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31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twoTxTwoObj">
  <p:cSld name="Comparison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true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4" name="Text Placeholder 2"/>
          <p:cNvSpPr>
            <a:spLocks noGrp="true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35" name="Content Placeholder 3"/>
          <p:cNvSpPr>
            <a:spLocks noGrp="true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36" name="Text Placeholder 4"/>
          <p:cNvSpPr>
            <a:spLocks noGrp="true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37" name="Content Placeholder 5"/>
          <p:cNvSpPr>
            <a:spLocks noGrp="true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38" name="Date Placeholder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39" name="Footer Placeholder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0" name="Slide Number Placeholder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43" name="Date Placeholder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44" name="Footer Placeholder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5" name="Slide Number Placeholder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48" name="Footer Placeholder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9" name="Slide Number Placeholder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objTx">
  <p:cSld name="Content with Caption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true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52" name="Content Placeholder 2"/>
          <p:cNvSpPr>
            <a:spLocks noGrp="true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53" name="Text Placeholder 3"/>
          <p:cNvSpPr>
            <a:spLocks noGrp="true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54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5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56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picTx">
  <p:cSld name="Picture with Caption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true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59" name="Picture Placeholder 2"/>
          <p:cNvSpPr>
            <a:spLocks noGrp="true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/>
            <a:endParaRPr lang="en-US"/>
          </a:p>
        </p:txBody>
      </p:sp>
      <p:sp>
        <p:nvSpPr>
          <p:cNvPr id="60" name="Text Placeholder 3"/>
          <p:cNvSpPr>
            <a:spLocks noGrp="true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61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62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3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vertTx">
  <p:cSld name="Title and Vertical 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66" name="Vertical Text Placeholder 2"/>
          <p:cNvSpPr>
            <a:spLocks noGrp="true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67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68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9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Vertical Title and 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true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15" name="Vertical Text Placeholder 2"/>
          <p:cNvSpPr>
            <a:spLocks noGrp="true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16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17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8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8" Type="http://schemas.openxmlformats.org/officeDocument/2006/relationships/slideLayout" Target="../slideLayouts/slideLayout9.xml" /><Relationship Id="rId7" Type="http://schemas.openxmlformats.org/officeDocument/2006/relationships/slideLayout" Target="../slideLayouts/slideLayout8.xml" /><Relationship Id="rId3" Type="http://schemas.openxmlformats.org/officeDocument/2006/relationships/slideLayout" Target="../slideLayouts/slideLayout4.xml" /><Relationship Id="rId5" Type="http://schemas.openxmlformats.org/officeDocument/2006/relationships/slideLayout" Target="../slideLayouts/slideLayout6.xml" /><Relationship Id="rId4" Type="http://schemas.openxmlformats.org/officeDocument/2006/relationships/slideLayout" Target="../slideLayouts/slideLayout5.xml" /><Relationship Id="rId11" Type="http://schemas.openxmlformats.org/officeDocument/2006/relationships/theme" Target="../theme/theme1.xml" /><Relationship Id="rId10" Type="http://schemas.openxmlformats.org/officeDocument/2006/relationships/slideLayout" Target="../slideLayouts/slideLayout11.xml" /><Relationship Id="rId6" Type="http://schemas.openxmlformats.org/officeDocument/2006/relationships/slideLayout" Target="../slideLayouts/slideLayout7.xml" /><Relationship Id="rId2" Type="http://schemas.openxmlformats.org/officeDocument/2006/relationships/slideLayout" Target="../slideLayouts/slideLayout3.xml" /><Relationship Id="rId1" Type="http://schemas.openxmlformats.org/officeDocument/2006/relationships/slideLayout" Target="../slideLayouts/slideLayout2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true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true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false">
            <a:normAutofit/>
          </a:bodyPr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true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true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endParaRPr lang="en-US"/>
          </a:p>
        </p:txBody>
      </p:sp>
      <p:sp>
        <p:nvSpPr>
          <p:cNvPr id="6" name="Slide Number Placeholder 5"/>
          <p:cNvSpPr>
            <a:spLocks noGrp="true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ctr" defTabSz="457200" rtl="false" eaLnBrk="true" latinLnBrk="false" hangingPunct="true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false" eaLnBrk="true" latinLnBrk="false" hangingPunct="true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false" eaLnBrk="true" latinLnBrk="false" hangingPunct="true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false" eaLnBrk="true" latinLnBrk="false" hangingPunct="true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false" eaLnBrk="true" latinLnBrk="false" hangingPunct="true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false" eaLnBrk="true" latinLnBrk="false" hangingPunct="true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true"/>
          <p:nvPr/>
        </p:nvSpPr>
        <p:spPr>
          <a:xfrm>
            <a:off x="360000" y="1260000"/>
            <a:ext cx="7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true">
                <a:solidFill>
                  <a:srgbClr val="000000"/>
                </a:solidFill>
                <a:latin typeface="Arial"/>
              </a:defRPr>
            </a:pPr>
            <a:r>
              <a:rPr/>
              <a:t>Image</a:t>
            </a:r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60000" y="1440000"/>
            <a:ext cx="648000" cy="503999"/>
          </a:xfrm>
          <a:prstGeom prst="rect">
            <a:avLst/>
          </a:prstGeom>
          <a:solidFill>
            <a:srgbClr val="C8C8C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4" name="TextBox 3"/>
          <p:cNvSpPr txBox="true"/>
          <p:nvPr/>
        </p:nvSpPr>
        <p:spPr>
          <a:xfrm>
            <a:off x="360000" y="1548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false">
                <a:solidFill>
                  <a:srgbClr val="000000"/>
                </a:solidFill>
                <a:latin typeface="Arial"/>
              </a:defRPr>
            </a:pPr>
            <a:r>
              <a:rPr/>
              <a:t>OCT</a:t>
            </a:r>
            <a:br>
              <a:rPr/>
            </a:br>
            <a:r>
              <a:rPr/>
              <a:t>图像</a:t>
            </a:r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1080000" y="1692000"/>
            <a:ext cx="72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260000" y="1368000"/>
            <a:ext cx="900000" cy="648000"/>
          </a:xfrm>
          <a:prstGeom prst="roundRect">
            <a:avLst/>
          </a:prstGeom>
          <a:solidFill>
            <a:srgbClr val="D6E6F2"/>
          </a:solidFill>
          <a:ln w="19050">
            <a:solidFill>
              <a:srgbClr val="4A7B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true">
                <a:solidFill>
                  <a:srgbClr val="000000"/>
                </a:solidFill>
                <a:latin typeface="Arial"/>
              </a:rPr>
              <a:t>DCNN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false">
                <a:solidFill>
                  <a:srgbClr val="646464"/>
                </a:solidFill>
                <a:latin typeface="Arial"/>
              </a:rPr>
              <a:t>Atrous Conv</a:t>
            </a:r>
            <a:endParaRPr/>
          </a:p>
        </p:txBody>
      </p:sp>
      <p:sp>
        <p:nvSpPr>
          <p:cNvPr id="7" name="TextBox 6"/>
          <p:cNvSpPr txBox="true"/>
          <p:nvPr/>
        </p:nvSpPr>
        <p:spPr>
          <a:xfrm>
            <a:off x="1152000" y="2052000"/>
            <a:ext cx="10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false">
                <a:solidFill>
                  <a:srgbClr val="646464"/>
                </a:solidFill>
                <a:latin typeface="Arial"/>
              </a:defRPr>
            </a:pPr>
            <a:r>
              <a:rPr/>
              <a:t>ResNet18-V1c</a:t>
            </a:r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2160000" y="1692000"/>
            <a:ext cx="288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48000" y="1368000"/>
            <a:ext cx="900000" cy="648000"/>
          </a:xfrm>
          <a:prstGeom prst="roundRect">
            <a:avLst/>
          </a:prstGeom>
          <a:solidFill>
            <a:srgbClr val="D6E6F2"/>
          </a:solidFill>
          <a:ln w="19050">
            <a:solidFill>
              <a:srgbClr val="4A7B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true">
                <a:solidFill>
                  <a:srgbClr val="000000"/>
                </a:solidFill>
                <a:latin typeface="Arial"/>
              </a:rPr>
              <a:t>ASPP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false">
                <a:solidFill>
                  <a:srgbClr val="646464"/>
                </a:solidFill>
                <a:latin typeface="Arial"/>
              </a:rPr>
              <a:t>多尺度特征</a:t>
            </a:r>
            <a:endParaRPr/>
          </a:p>
        </p:txBody>
      </p:sp>
      <p:cxnSp>
        <p:nvCxnSpPr>
          <p:cNvPr id="10" name="Connector 9"/>
          <p:cNvCxnSpPr/>
          <p:nvPr/>
        </p:nvCxnSpPr>
        <p:spPr>
          <a:xfrm rot="0" flipH="false" flipV="false">
            <a:off x="3350350" y="1692000"/>
            <a:ext cx="288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90000" y="1368000"/>
            <a:ext cx="125999" cy="576000"/>
          </a:xfrm>
          <a:prstGeom prst="rect">
            <a:avLst/>
          </a:prstGeom>
          <a:solidFill>
            <a:srgbClr val="E1A30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6000" y="1404000"/>
            <a:ext cx="125999" cy="576000"/>
          </a:xfrm>
          <a:prstGeom prst="rect">
            <a:avLst/>
          </a:prstGeom>
          <a:solidFill>
            <a:srgbClr val="FFC107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33999" y="1368000"/>
            <a:ext cx="125999" cy="576000"/>
          </a:xfrm>
          <a:prstGeom prst="rect">
            <a:avLst/>
          </a:prstGeom>
          <a:solidFill>
            <a:srgbClr val="4697D8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779999" y="1404000"/>
            <a:ext cx="125999" cy="576000"/>
          </a:xfrm>
          <a:prstGeom prst="rect">
            <a:avLst/>
          </a:prstGeom>
          <a:solidFill>
            <a:srgbClr val="64B5F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977998" y="1368000"/>
            <a:ext cx="125999" cy="576000"/>
          </a:xfrm>
          <a:prstGeom prst="rect">
            <a:avLst/>
          </a:prstGeom>
          <a:solidFill>
            <a:srgbClr val="D13532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23998" y="1404000"/>
            <a:ext cx="125999" cy="576000"/>
          </a:xfrm>
          <a:prstGeom prst="rect">
            <a:avLst/>
          </a:prstGeom>
          <a:solidFill>
            <a:srgbClr val="EF535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21997" y="1368000"/>
            <a:ext cx="125999" cy="576000"/>
          </a:xfrm>
          <a:prstGeom prst="rect">
            <a:avLst/>
          </a:prstGeom>
          <a:solidFill>
            <a:srgbClr val="808080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67997" y="1404000"/>
            <a:ext cx="125999" cy="576000"/>
          </a:xfrm>
          <a:prstGeom prst="rect">
            <a:avLst/>
          </a:prstGeom>
          <a:solidFill>
            <a:srgbClr val="9E9E9E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65996" y="1368000"/>
            <a:ext cx="125999" cy="576000"/>
          </a:xfrm>
          <a:prstGeom prst="rect">
            <a:avLst/>
          </a:prstGeom>
          <a:solidFill>
            <a:srgbClr val="489D4C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11996" y="1404000"/>
            <a:ext cx="125999" cy="576000"/>
          </a:xfrm>
          <a:prstGeom prst="rect">
            <a:avLst/>
          </a:prstGeom>
          <a:solidFill>
            <a:srgbClr val="66BB6A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644000" y="1296000"/>
            <a:ext cx="1007999" cy="792000"/>
          </a:xfrm>
          <a:prstGeom prst="roundRect">
            <a:avLst/>
          </a:prstGeom>
          <a:solidFill>
            <a:srgbClr val="E8F5E9"/>
          </a:solidFill>
          <a:ln w="317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true">
                <a:solidFill>
                  <a:srgbClr val="1B5E20"/>
                </a:solidFill>
                <a:latin typeface="Arial"/>
              </a:rPr>
              <a:t>TR Module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false">
                <a:solidFill>
                  <a:srgbClr val="646464"/>
                </a:solidFill>
                <a:latin typeface="Arial"/>
              </a:rPr>
              <a:t>Bi-Level Routing
Attention</a:t>
            </a:r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4464000" y="1692000"/>
            <a:ext cx="180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00000" y="1800000"/>
            <a:ext cx="0" cy="4320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00000" y="2232000"/>
            <a:ext cx="138599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true">
            <a:off x="5885999" y="1800000"/>
            <a:ext cx="0" cy="432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651999" y="1692000"/>
            <a:ext cx="126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741999" y="1602000"/>
            <a:ext cx="180000" cy="180000"/>
          </a:xfrm>
          <a:prstGeom prst="ellipse">
            <a:avLst/>
          </a:prstGeom>
          <a:solidFill>
            <a:srgbClr val="FFD7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>
              <a:defRPr sz="1400" b="true"/>
            </a:pPr>
            <a:r>
              <a:rPr/>
              <a:t>+</a:t>
            </a:r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5921999" y="1692000"/>
            <a:ext cx="1260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047999" y="1440000"/>
            <a:ext cx="720000" cy="432000"/>
          </a:xfrm>
          <a:prstGeom prst="roundRect">
            <a:avLst/>
          </a:prstGeom>
          <a:solidFill>
            <a:srgbClr val="E8E0F0"/>
          </a:solidFill>
          <a:ln w="1905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true">
                <a:solidFill>
                  <a:srgbClr val="000000"/>
                </a:solidFill>
                <a:latin typeface="Arial"/>
              </a:rPr>
              <a:t>1×1 Conv</a:t>
            </a:r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6767999" y="1656000"/>
            <a:ext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911999" y="1368000"/>
            <a:ext cx="288000" cy="576000"/>
          </a:xfrm>
          <a:prstGeom prst="rect">
            <a:avLst/>
          </a:prstGeom>
          <a:solidFill>
            <a:srgbClr val="F0B4C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7055999" y="1980000"/>
            <a:ext cy="360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03999" y="2340000"/>
            <a:ext cx="720000" cy="432000"/>
          </a:xfrm>
          <a:prstGeom prst="roundRect">
            <a:avLst>
              <a:gd name="adj" fmla="val 16667"/>
            </a:avLst>
          </a:prstGeom>
          <a:solidFill>
            <a:srgbClr val="E8E0F0"/>
          </a:solidFill>
          <a:ln w="1905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true">
                <a:solidFill>
                  <a:srgbClr val="000000"/>
                </a:solidFill>
                <a:latin typeface="Arial"/>
              </a:rPr>
              <a:t>Upsample
×4</a:t>
            </a:r>
            <a:endParaRPr/>
          </a:p>
        </p:txBody>
      </p:sp>
      <p:cxnSp>
        <p:nvCxnSpPr>
          <p:cNvPr id="34" name="Connector 33"/>
          <p:cNvCxnSpPr/>
          <p:nvPr/>
        </p:nvCxnSpPr>
        <p:spPr>
          <a:xfrm flipH="true">
            <a:off x="6551999" y="2556000"/>
            <a:ext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 rot="0" flipH="false" flipV="false">
            <a:off x="5831999" y="2340000"/>
            <a:ext cx="720000" cy="432000"/>
          </a:xfrm>
          <a:prstGeom prst="roundRect">
            <a:avLst/>
          </a:prstGeom>
          <a:solidFill>
            <a:srgbClr val="E8E0F0"/>
          </a:solidFill>
          <a:ln w="1905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true">
                <a:solidFill>
                  <a:srgbClr val="000000"/>
                </a:solidFill>
                <a:latin typeface="Arial"/>
              </a:rPr>
              <a:t>Concat</a:t>
            </a:r>
            <a:endParaRPr/>
          </a:p>
        </p:txBody>
      </p:sp>
      <p:cxnSp>
        <p:nvCxnSpPr>
          <p:cNvPr id="36" name="Connector 35"/>
          <p:cNvCxnSpPr/>
          <p:nvPr/>
        </p:nvCxnSpPr>
        <p:spPr>
          <a:xfrm>
            <a:off x="1710000" y="2016000"/>
            <a:ext cy="8640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true"/>
          <p:nvPr/>
        </p:nvSpPr>
        <p:spPr>
          <a:xfrm>
            <a:off x="1170000" y="2088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false">
                <a:solidFill>
                  <a:srgbClr val="505050"/>
                </a:solidFill>
                <a:latin typeface="Arial"/>
              </a:defRPr>
            </a:pPr>
            <a:r>
              <a:rPr/>
              <a:t>Low-Level</a:t>
            </a:r>
            <a:br>
              <a:rPr/>
            </a:br>
            <a:r>
              <a:rPr/>
              <a:t>Features</a:t>
            </a:r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350000" y="2880000"/>
            <a:ext cx="720000" cy="432000"/>
          </a:xfrm>
          <a:prstGeom prst="roundRect">
            <a:avLst/>
          </a:prstGeom>
          <a:solidFill>
            <a:srgbClr val="E8E0F0"/>
          </a:solidFill>
          <a:ln w="1905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true">
                <a:solidFill>
                  <a:srgbClr val="000000"/>
                </a:solidFill>
                <a:latin typeface="Arial"/>
              </a:rPr>
              <a:t>1×1 Conv</a:t>
            </a:r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178000" y="2880000"/>
            <a:ext cx="216000" cy="432000"/>
          </a:xfrm>
          <a:prstGeom prst="rect">
            <a:avLst/>
          </a:prstGeom>
          <a:solidFill>
            <a:srgbClr val="C8E6C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 flipV="true">
            <a:off x="2394000" y="2772000"/>
            <a:ext cy="324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291999" y="2340000"/>
            <a:ext cx="360000" cy="432000"/>
          </a:xfrm>
          <a:prstGeom prst="rect">
            <a:avLst/>
          </a:prstGeom>
          <a:solidFill>
            <a:srgbClr val="DCC8DC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H="true">
            <a:off x="5651999" y="2556000"/>
            <a:ext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464000" y="2340000"/>
            <a:ext cx="720000" cy="432000"/>
          </a:xfrm>
          <a:prstGeom prst="roundRect">
            <a:avLst/>
          </a:prstGeom>
          <a:solidFill>
            <a:srgbClr val="E8E0F0"/>
          </a:solidFill>
          <a:ln w="1905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true">
                <a:solidFill>
                  <a:srgbClr val="000000"/>
                </a:solidFill>
                <a:latin typeface="Arial"/>
              </a:rPr>
              <a:t>3×3 Conv</a:t>
            </a:r>
            <a:endParaRPr/>
          </a:p>
        </p:txBody>
      </p:sp>
      <p:cxnSp>
        <p:nvCxnSpPr>
          <p:cNvPr id="44" name="Connector 43"/>
          <p:cNvCxnSpPr/>
          <p:nvPr/>
        </p:nvCxnSpPr>
        <p:spPr>
          <a:xfrm flipH="true">
            <a:off x="5184000" y="2556000"/>
            <a:ext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636001" y="2340000"/>
            <a:ext cx="720000" cy="432000"/>
          </a:xfrm>
          <a:prstGeom prst="roundRect">
            <a:avLst/>
          </a:prstGeom>
          <a:solidFill>
            <a:srgbClr val="E8E0F0"/>
          </a:solidFill>
          <a:ln w="19050"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fals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true">
                <a:solidFill>
                  <a:srgbClr val="000000"/>
                </a:solidFill>
                <a:latin typeface="Arial"/>
              </a:rPr>
              <a:t>Upsample
×4</a:t>
            </a:r>
            <a:endParaRPr/>
          </a:p>
        </p:txBody>
      </p:sp>
      <p:cxnSp>
        <p:nvCxnSpPr>
          <p:cNvPr id="46" name="Connector 45"/>
          <p:cNvCxnSpPr/>
          <p:nvPr/>
        </p:nvCxnSpPr>
        <p:spPr>
          <a:xfrm flipH="true">
            <a:off x="4356001" y="2556000"/>
            <a:ext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true"/>
          <p:nvPr/>
        </p:nvSpPr>
        <p:spPr>
          <a:xfrm>
            <a:off x="2736001" y="2232000"/>
            <a:ext cx="7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true">
                <a:solidFill>
                  <a:srgbClr val="000000"/>
                </a:solidFill>
                <a:latin typeface="Arial"/>
              </a:defRPr>
            </a:pPr>
            <a:r>
              <a:rPr/>
              <a:t>Prediction</a:t>
            </a:r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736001" y="2412000"/>
            <a:ext cx="648000" cy="432000"/>
          </a:xfrm>
          <a:prstGeom prst="rect">
            <a:avLst/>
          </a:prstGeom>
          <a:solidFill>
            <a:srgbClr val="282828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2844001" y="2484000"/>
            <a:ext cx="432000" cy="216000"/>
          </a:xfrm>
          <a:prstGeom prst="ellipse">
            <a:avLst/>
          </a:prstGeom>
          <a:solidFill>
            <a:srgbClr val="EF5350"/>
          </a:solidFill>
          <a:ln>
            <a:solidFill>
              <a:srgbClr val="C8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 flipH="true">
            <a:off x="3384001" y="2556000"/>
            <a:ext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080000" y="1188000"/>
            <a:ext cx="5039999" cy="1188000"/>
          </a:xfrm>
          <a:prstGeom prst="rect">
            <a:avLst/>
          </a:prstGeom>
          <a:noFill/>
          <a:ln w="25400">
            <a:solidFill>
              <a:srgbClr val="2E75B6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52" name="TextBox 51"/>
          <p:cNvSpPr txBox="true"/>
          <p:nvPr/>
        </p:nvSpPr>
        <p:spPr>
          <a:xfrm rot="0" flipH="false" flipV="false">
            <a:off x="1206000" y="126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true">
                <a:solidFill>
                  <a:srgbClr val="2E75B6"/>
                </a:solidFill>
                <a:latin typeface="Arial"/>
              </a:defRPr>
            </a:pPr>
            <a:r>
              <a:rPr/>
              <a:t>Encoder</a:t>
            </a:r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628001" y="2160000"/>
            <a:ext cx="4823998" cy="900000"/>
          </a:xfrm>
          <a:prstGeom prst="rect">
            <a:avLst/>
          </a:prstGeom>
          <a:noFill/>
          <a:ln w="25400">
            <a:solidFill>
              <a:srgbClr val="C0392B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54" name="TextBox 53"/>
          <p:cNvSpPr txBox="true"/>
          <p:nvPr/>
        </p:nvSpPr>
        <p:spPr>
          <a:xfrm rot="0" flipH="false" flipV="false">
            <a:off x="2736001" y="2232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true">
                <a:solidFill>
                  <a:srgbClr val="C0392B"/>
                </a:solidFill>
                <a:latin typeface="Arial"/>
              </a:defRPr>
            </a:pPr>
            <a:r>
              <a:rPr/>
              <a:t>Decoder</a:t>
            </a:r>
            <a:endParaRPr/>
          </a:p>
        </p:txBody>
      </p:sp>
      <p:sp>
        <p:nvSpPr>
          <p:cNvPr id="55" name="TextBox 54"/>
          <p:cNvSpPr txBox="true"/>
          <p:nvPr/>
        </p:nvSpPr>
        <p:spPr>
          <a:xfrm>
            <a:off x="0" y="5760000"/>
            <a:ext cx="11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true">
                <a:solidFill>
                  <a:srgbClr val="000000"/>
                </a:solidFill>
                <a:latin typeface="Arial"/>
              </a:defRPr>
            </a:pPr>
            <a:r>
              <a:rPr/>
              <a:t>图 3-5  改进模型（DeepLabV3+ + TR）整体结构图</a:t>
            </a:r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572000" y="1224000"/>
            <a:ext cx="1151999" cy="936000"/>
          </a:xfrm>
          <a:prstGeom prst="rect">
            <a:avLst/>
          </a:prstGeom>
          <a:noFill/>
          <a:ln w="25400">
            <a:solidFill>
              <a:srgbClr val="FF5722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57" name="TextBox 56"/>
          <p:cNvSpPr txBox="true"/>
          <p:nvPr/>
        </p:nvSpPr>
        <p:spPr>
          <a:xfrm>
            <a:off x="4644000" y="1080000"/>
            <a:ext cx="1007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true">
                <a:solidFill>
                  <a:srgbClr val="FF5722"/>
                </a:solidFill>
                <a:latin typeface="Arial"/>
              </a:defRPr>
            </a:pPr>
            <a:r>
              <a:rPr/>
              <a:t>★ 改进部分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"/>
          <p:cNvGrpSpPr/>
          <p:nvPr/>
        </p:nvGrpSpPr>
        <p:grpSpPr>
          <a:xfrm rot="0" flipH="false" flipV="false">
            <a:off x="1620172" y="689115"/>
            <a:ext cx="8009604" cy="5101770"/>
            <a:chOff x="1153730" y="254368"/>
            <a:chExt cx="8036434" cy="4974771"/>
          </a:xfrm>
        </p:grpSpPr>
        <p:grpSp>
          <p:nvGrpSpPr>
            <p:cNvPr id="60" name=""/>
            <p:cNvGrpSpPr/>
            <p:nvPr/>
          </p:nvGrpSpPr>
          <p:grpSpPr>
            <a:xfrm rot="0" flipH="false" flipV="false">
              <a:off x="1153730" y="254368"/>
              <a:ext cx="7850771" cy="3227587"/>
              <a:chOff x="696530" y="279768"/>
              <a:chExt cx="7850771" cy="3227587"/>
            </a:xfrm>
          </p:grpSpPr>
          <p:grpSp>
            <p:nvGrpSpPr>
              <p:cNvPr id="61" name=""/>
              <p:cNvGrpSpPr/>
              <p:nvPr/>
            </p:nvGrpSpPr>
            <p:grpSpPr>
              <a:xfrm rot="0" flipH="false" flipV="false">
                <a:off x="1052001" y="404601"/>
                <a:ext cx="2601265" cy="2112533"/>
                <a:chOff x="730268" y="836400"/>
                <a:chExt cx="2914532" cy="3060800"/>
              </a:xfrm>
            </p:grpSpPr>
            <p:sp>
              <p:nvSpPr>
                <p:cNvPr id="62" name="Rounded Rectangle 37"/>
                <p:cNvSpPr/>
                <p:nvPr/>
              </p:nvSpPr>
              <p:spPr>
                <a:xfrm rot="0" flipH="false" flipV="false">
                  <a:off x="2924800" y="836400"/>
                  <a:ext cx="720000" cy="432000"/>
                </a:xfrm>
                <a:prstGeom prst="roundRect">
                  <a:avLst/>
                </a:prstGeom>
                <a:solidFill>
                  <a:srgbClr val="E8E0F0"/>
                </a:solidFill>
                <a:ln w="19050">
                  <a:solidFill>
                    <a:srgbClr val="7B68EE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false" anchor="ctr"/>
                <a:lstStyle/>
                <a:p>
                  <a:pPr algn="ctr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sz="900" b="true">
                      <a:solidFill>
                        <a:srgbClr val="000000"/>
                      </a:solidFill>
                      <a:latin typeface="Arial"/>
                    </a:rPr>
                    <a:t>1×1 Conv</a:t>
                  </a:r>
                  <a:endParaRPr/>
                </a:p>
              </p:txBody>
            </p:sp>
            <p:sp>
              <p:nvSpPr>
                <p:cNvPr id="63" name="Rounded Rectangle 37"/>
                <p:cNvSpPr/>
                <p:nvPr/>
              </p:nvSpPr>
              <p:spPr>
                <a:xfrm rot="0" flipH="false" flipV="false">
                  <a:off x="2924800" y="2808000"/>
                  <a:ext cx="720000" cy="432000"/>
                </a:xfrm>
                <a:prstGeom prst="roundRect">
                  <a:avLst/>
                </a:prstGeom>
                <a:solidFill>
                  <a:srgbClr val="E8E0F0"/>
                </a:solidFill>
                <a:ln w="19050">
                  <a:solidFill>
                    <a:srgbClr val="7B68EE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false" anchor="ctr"/>
                <a:lstStyle/>
                <a:p>
                  <a:pPr lvl="0" algn="ctr"/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3</a:t>
                  </a:r>
                  <a:r>
                    <a:rPr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×</a:t>
                  </a:r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3</a:t>
                  </a:r>
                  <a:r>
                    <a:rPr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 Conv</a:t>
                  </a:r>
                  <a:endParaRPr sz="1800">
                    <a:solidFill>
                      <a:schemeClr val="lt1">
                        <a:alpha val="100000"/>
                      </a:schemeClr>
                    </a:solidFill>
                    <a:latin typeface="Calibri"/>
                    <a:ea typeface="宋体"/>
                    <a:cs typeface="+mn-cs"/>
                  </a:endParaRPr>
                </a:p>
                <a:p>
                  <a:pPr lvl="0" algn="ctr"/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rate 36</a:t>
                  </a:r>
                  <a:endParaRPr/>
                </a:p>
              </p:txBody>
            </p:sp>
            <p:sp>
              <p:nvSpPr>
                <p:cNvPr id="64" name="Rounded Rectangle 37"/>
                <p:cNvSpPr/>
                <p:nvPr/>
              </p:nvSpPr>
              <p:spPr>
                <a:xfrm rot="0" flipH="false" flipV="false">
                  <a:off x="2924800" y="2150800"/>
                  <a:ext cx="720000" cy="432000"/>
                </a:xfrm>
                <a:prstGeom prst="roundRect">
                  <a:avLst/>
                </a:prstGeom>
                <a:solidFill>
                  <a:srgbClr val="E8E0F0"/>
                </a:solidFill>
                <a:ln w="19050">
                  <a:solidFill>
                    <a:srgbClr val="7B68EE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false" anchor="ctr"/>
                <a:lstStyle/>
                <a:p>
                  <a:pPr lvl="0" algn="ctr"/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3</a:t>
                  </a:r>
                  <a:r>
                    <a:rPr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×</a:t>
                  </a:r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3</a:t>
                  </a:r>
                  <a:r>
                    <a:rPr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 Conv</a:t>
                  </a:r>
                  <a:endParaRPr sz="1800">
                    <a:solidFill>
                      <a:schemeClr val="lt1">
                        <a:alpha val="100000"/>
                      </a:schemeClr>
                    </a:solidFill>
                    <a:latin typeface="Calibri"/>
                    <a:ea typeface="宋体"/>
                    <a:cs typeface="+mn-cs"/>
                  </a:endParaRPr>
                </a:p>
                <a:p>
                  <a:pPr lvl="0" algn="ctr"/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rate 24</a:t>
                  </a:r>
                  <a:endParaRPr/>
                </a:p>
              </p:txBody>
            </p:sp>
            <p:sp>
              <p:nvSpPr>
                <p:cNvPr id="65" name="Rounded Rectangle 37"/>
                <p:cNvSpPr/>
                <p:nvPr/>
              </p:nvSpPr>
              <p:spPr>
                <a:xfrm rot="0" flipH="false" flipV="false">
                  <a:off x="2924800" y="1493600"/>
                  <a:ext cx="720000" cy="432000"/>
                </a:xfrm>
                <a:prstGeom prst="roundRect">
                  <a:avLst/>
                </a:prstGeom>
                <a:solidFill>
                  <a:srgbClr val="E8E0F0"/>
                </a:solidFill>
                <a:ln w="19050">
                  <a:solidFill>
                    <a:srgbClr val="7B68EE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false" anchor="ctr"/>
                <a:lstStyle/>
                <a:p>
                  <a:pPr algn="ctr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3</a:t>
                  </a:r>
                  <a:r>
                    <a:rPr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×</a:t>
                  </a:r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3</a:t>
                  </a:r>
                  <a:r>
                    <a:rPr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 Conv</a:t>
                  </a:r>
                  <a:endParaRPr/>
                </a:p>
                <a:p>
                  <a:pPr algn="ctr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rate 12</a:t>
                  </a:r>
                  <a:endParaRPr/>
                </a:p>
              </p:txBody>
            </p:sp>
            <p:sp>
              <p:nvSpPr>
                <p:cNvPr id="66" name="Rounded Rectangle 37"/>
                <p:cNvSpPr/>
                <p:nvPr/>
              </p:nvSpPr>
              <p:spPr>
                <a:xfrm rot="0" flipH="false" flipV="false">
                  <a:off x="2924800" y="3465200"/>
                  <a:ext cx="720000" cy="432000"/>
                </a:xfrm>
                <a:prstGeom prst="roundRect">
                  <a:avLst/>
                </a:prstGeom>
                <a:solidFill>
                  <a:srgbClr val="E8E0F0"/>
                </a:solidFill>
                <a:ln w="19050">
                  <a:solidFill>
                    <a:srgbClr val="7B68EE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false" anchor="ctr"/>
                <a:lstStyle/>
                <a:p>
                  <a:pPr algn="ctr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Image</a:t>
                  </a:r>
                  <a:endParaRPr/>
                </a:p>
                <a:p>
                  <a:pPr algn="ctr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9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Pooling</a:t>
                  </a:r>
                  <a:endParaRPr/>
                </a:p>
              </p:txBody>
            </p:sp>
            <p:sp>
              <p:nvSpPr>
                <p:cNvPr id="67" name=""/>
                <p:cNvSpPr/>
                <p:nvPr/>
              </p:nvSpPr>
              <p:spPr>
                <a:xfrm rot="0" flipH="false" flipV="false">
                  <a:off x="2048934" y="1052400"/>
                  <a:ext cx="685800" cy="2628799"/>
                </a:xfrm>
                <a:prstGeom prst="leftBrace">
                  <a:avLst>
                    <a:gd name="adj1" fmla="val 8333"/>
                    <a:gd name="adj2" fmla="val 49033"/>
                  </a:avLst>
                </a:prstGeom>
                <a:ln w="12700">
                  <a:solidFill>
                    <a:srgbClr val="5C5C5C">
                      <a:alpha val="100000"/>
                    </a:srgbClr>
                  </a:solidFill>
                  <a:prstDash val="solid"/>
                  <a:miter lim="800000"/>
                </a:ln>
              </p:spPr>
              <p:txBody>
                <a:bodyPr anchor="ctr"/>
                <a:p>
                  <a:pPr algn="ctr"/>
                  <a:endParaRPr/>
                </a:p>
              </p:txBody>
            </p:sp>
            <p:sp>
              <p:nvSpPr>
                <p:cNvPr id="68" name="Rounded Rectangle 5"/>
                <p:cNvSpPr/>
                <p:nvPr/>
              </p:nvSpPr>
              <p:spPr>
                <a:xfrm rot="0" flipH="false" flipV="false">
                  <a:off x="730268" y="2042800"/>
                  <a:ext cx="1230200" cy="648000"/>
                </a:xfrm>
                <a:prstGeom prst="roundRect">
                  <a:avLst/>
                </a:prstGeom>
                <a:solidFill>
                  <a:srgbClr val="D6E6F2"/>
                </a:solidFill>
                <a:ln w="19050">
                  <a:solidFill>
                    <a:srgbClr val="4A7BA7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false" anchor="ctr"/>
                <a:lstStyle/>
                <a:p>
                  <a:pPr algn="ctr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1100" b="true"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ResNet18-V1c</a:t>
                  </a:r>
                  <a:endParaRPr/>
                </a:p>
                <a:p>
                  <a:pPr algn="ctr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800" b="false">
                      <a:solidFill>
                        <a:srgbClr val="646464">
                          <a:alpha val="100000"/>
                        </a:srgbClr>
                      </a:solidFill>
                      <a:latin typeface="Arial"/>
                      <a:ea typeface="宋体"/>
                      <a:cs typeface="+mn-cs"/>
                    </a:rPr>
                    <a:t>(Backbone) </a:t>
                  </a:r>
                  <a:endParaRPr/>
                </a:p>
              </p:txBody>
            </p:sp>
          </p:grpSp>
          <p:sp>
            <p:nvSpPr>
              <p:cNvPr id="69" name=""/>
              <p:cNvSpPr/>
              <p:nvPr/>
            </p:nvSpPr>
            <p:spPr>
              <a:xfrm rot="0" flipH="false" flipV="false">
                <a:off x="718189" y="279768"/>
                <a:ext cx="7829112" cy="2362200"/>
              </a:xfrm>
              <a:prstGeom prst="roundRect">
                <a:avLst/>
              </a:prstGeom>
              <a:noFill/>
              <a:ln w="12700">
                <a:solidFill>
                  <a:srgbClr val="5C5C5C">
                    <a:alpha val="100000"/>
                  </a:srgbClr>
                </a:solidFill>
                <a:prstDash val="sysDash"/>
                <a:miter lim="800000"/>
              </a:ln>
            </p:spPr>
            <p:txBody>
              <a:bodyPr anchor="ctr"/>
              <a:p>
                <a:pPr algn="ctr"/>
                <a:endParaRPr/>
              </a:p>
            </p:txBody>
          </p:sp>
          <p:sp>
            <p:nvSpPr>
              <p:cNvPr id="70" name="TextBox 51"/>
              <p:cNvSpPr txBox="true"/>
              <p:nvPr/>
            </p:nvSpPr>
            <p:spPr>
              <a:xfrm rot="0" flipH="false" flipV="false">
                <a:off x="696530" y="314601"/>
                <a:ext cx="1080000" cy="1800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defRPr sz="1400" b="true">
                    <a:solidFill>
                      <a:srgbClr val="2E75B6"/>
                    </a:solidFill>
                    <a:latin typeface="Arial"/>
                  </a:defRPr>
                </a:pPr>
                <a:r>
                  <a:rPr/>
                  <a:t>Encoder</a:t>
                </a:r>
                <a:endParaRPr/>
              </a:p>
            </p:txBody>
          </p:sp>
          <p:sp>
            <p:nvSpPr>
              <p:cNvPr id="71" name=""/>
              <p:cNvSpPr/>
              <p:nvPr/>
            </p:nvSpPr>
            <p:spPr>
              <a:xfrm rot="0" flipH="false" flipV="false">
                <a:off x="3822903" y="531251"/>
                <a:ext cx="855133" cy="1859232"/>
              </a:xfrm>
              <a:prstGeom prst="rightBrace">
                <a:avLst>
                  <a:gd name="adj1" fmla="val 8333"/>
                  <a:gd name="adj2" fmla="val 49089"/>
                </a:avLst>
              </a:prstGeom>
              <a:ln w="12700">
                <a:solidFill>
                  <a:srgbClr val="5C5C5C">
                    <a:alpha val="100000"/>
                  </a:srgbClr>
                </a:solidFill>
                <a:prstDash val="solid"/>
                <a:miter lim="800000"/>
              </a:ln>
            </p:spPr>
            <p:txBody>
              <a:bodyPr anchor="ctr"/>
              <a:p>
                <a:pPr algn="ctr"/>
                <a:endParaRPr/>
              </a:p>
            </p:txBody>
          </p:sp>
          <p:sp>
            <p:nvSpPr>
              <p:cNvPr id="72" name="Rounded Rectangle 34"/>
              <p:cNvSpPr/>
              <p:nvPr/>
            </p:nvSpPr>
            <p:spPr>
              <a:xfrm rot="0" flipH="false" flipV="false">
                <a:off x="4737509" y="1194999"/>
                <a:ext cx="720000" cy="432000"/>
              </a:xfrm>
              <a:prstGeom prst="roundRect">
                <a:avLst/>
              </a:prstGeom>
              <a:solidFill>
                <a:srgbClr val="E8E0F0"/>
              </a:solidFill>
              <a:ln w="19050">
                <a:solidFill>
                  <a:srgbClr val="7B68E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/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000" b="true">
                    <a:solidFill>
                      <a:srgbClr val="000000"/>
                    </a:solidFill>
                    <a:latin typeface="Arial"/>
                  </a:rPr>
                  <a:t>Concat</a:t>
                </a:r>
                <a:endParaRPr/>
              </a:p>
            </p:txBody>
          </p:sp>
          <p:cxnSp>
            <p:nvCxnSpPr>
              <p:cNvPr id="73" name="Connector 9"/>
              <p:cNvCxnSpPr/>
              <p:nvPr/>
            </p:nvCxnSpPr>
            <p:spPr>
              <a:xfrm rot="0" flipH="false" flipV="false">
                <a:off x="5516982" y="1438438"/>
                <a:ext cx="288000" cy="0"/>
              </a:xfrm>
              <a:prstGeom prst="line">
                <a:avLst/>
              </a:prstGeom>
              <a:ln w="19050">
                <a:solidFill>
                  <a:srgbClr val="000000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Rounded Rectangle 20"/>
              <p:cNvSpPr/>
              <p:nvPr/>
            </p:nvSpPr>
            <p:spPr>
              <a:xfrm rot="0" flipH="false" flipV="false">
                <a:off x="5864455" y="1033602"/>
                <a:ext cx="1007999" cy="792000"/>
              </a:xfrm>
              <a:prstGeom prst="roundRect">
                <a:avLst/>
              </a:prstGeom>
              <a:solidFill>
                <a:srgbClr val="E8F5E9"/>
              </a:solidFill>
              <a:ln w="31750">
                <a:solidFill>
                  <a:srgbClr val="4CAF5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/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1100" b="true">
                    <a:solidFill>
                      <a:srgbClr val="1B5E20"/>
                    </a:solidFill>
                    <a:latin typeface="Arial"/>
                  </a:rPr>
                  <a:t>TR Module</a:t>
                </a:r>
                <a:endParaRPr/>
              </a:p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800" b="false">
                    <a:solidFill>
                      <a:srgbClr val="646464"/>
                    </a:solidFill>
                    <a:latin typeface="Arial"/>
                  </a:rPr>
                  <a:t>Bi-Level Routing
Attention</a:t>
                </a:r>
                <a:endParaRPr/>
              </a:p>
            </p:txBody>
          </p:sp>
          <p:sp>
            <p:nvSpPr>
              <p:cNvPr id="75" name="Rounded Rectangle 37"/>
              <p:cNvSpPr/>
              <p:nvPr/>
            </p:nvSpPr>
            <p:spPr>
              <a:xfrm rot="0" flipH="false" flipV="false">
                <a:off x="7405149" y="1280522"/>
                <a:ext cx="642611" cy="298162"/>
              </a:xfrm>
              <a:prstGeom prst="roundRect">
                <a:avLst/>
              </a:prstGeom>
              <a:solidFill>
                <a:srgbClr val="E8E0F0"/>
              </a:solidFill>
              <a:ln w="19050">
                <a:solidFill>
                  <a:srgbClr val="7B68E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/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b="true">
                    <a:solidFill>
                      <a:srgbClr val="000000"/>
                    </a:solidFill>
                    <a:latin typeface="Arial"/>
                  </a:rPr>
                  <a:t>1×1 Conv</a:t>
                </a:r>
                <a:endParaRPr/>
              </a:p>
            </p:txBody>
          </p:sp>
          <p:cxnSp>
            <p:nvCxnSpPr>
              <p:cNvPr id="76" name="Connector 9"/>
              <p:cNvCxnSpPr/>
              <p:nvPr/>
            </p:nvCxnSpPr>
            <p:spPr>
              <a:xfrm rot="0" flipH="false" flipV="false">
                <a:off x="6994802" y="1429602"/>
                <a:ext cx="288000" cy="0"/>
              </a:xfrm>
              <a:prstGeom prst="line">
                <a:avLst/>
              </a:prstGeom>
              <a:ln w="19050">
                <a:solidFill>
                  <a:srgbClr val="000000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Rounded Rectangle 32"/>
              <p:cNvSpPr/>
              <p:nvPr/>
            </p:nvSpPr>
            <p:spPr>
              <a:xfrm rot="0" flipH="false" flipV="false">
                <a:off x="3129036" y="3126157"/>
                <a:ext cx="812248" cy="381198"/>
              </a:xfrm>
              <a:prstGeom prst="roundRect">
                <a:avLst>
                  <a:gd name="adj" fmla="val 16667"/>
                </a:avLst>
              </a:prstGeom>
              <a:solidFill>
                <a:srgbClr val="E8E0F0"/>
              </a:solidFill>
              <a:ln w="19050">
                <a:solidFill>
                  <a:srgbClr val="7B68EE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false" anchor="ctr"/>
              <a:lstStyle/>
              <a:p>
                <a:pPr algn="ctr">
                  <a:spcBef>
                    <a:spcPts val="0"/>
                  </a:spcBef>
                  <a:spcAft>
                    <a:spcPts val="0"/>
                  </a:spcAft>
                </a:pPr>
                <a:r>
                  <a:rPr sz="900" b="true">
                    <a:solidFill>
                      <a:srgbClr val="000000"/>
                    </a:solidFill>
                    <a:latin typeface="Arial"/>
                  </a:rPr>
                  <a:t>Upsample
×4</a:t>
                </a:r>
                <a:endParaRPr/>
              </a:p>
            </p:txBody>
          </p:sp>
        </p:grpSp>
        <p:cxnSp>
          <p:nvCxnSpPr>
            <p:cNvPr id="78" name=""/>
            <p:cNvCxnSpPr/>
            <p:nvPr/>
          </p:nvCxnSpPr>
          <p:spPr>
            <a:xfrm rot="0" flipH="false" flipV="false">
              <a:off x="8153400" y="1659089"/>
              <a:ext cx="8433" cy="1668062"/>
            </a:xfrm>
            <a:prstGeom prst="straightConnector1"/>
            <a:ln w="25400">
              <a:solidFill>
                <a:srgbClr val="000000">
                  <a:alpha val="100000"/>
                </a:srgbClr>
              </a:solidFill>
              <a:prstDash val="solid"/>
              <a:headEnd/>
              <a:tailEnd/>
            </a:ln>
          </p:spPr>
        </p:cxnSp>
        <p:sp>
          <p:nvSpPr>
            <p:cNvPr id="79" name="Rounded Rectangle 37"/>
            <p:cNvSpPr/>
            <p:nvPr/>
          </p:nvSpPr>
          <p:spPr>
            <a:xfrm rot="0" flipH="false" flipV="false">
              <a:off x="1693760" y="4350068"/>
              <a:ext cx="642611" cy="298162"/>
            </a:xfrm>
            <a:prstGeom prst="roundRect">
              <a:avLst/>
            </a:prstGeom>
            <a:solidFill>
              <a:srgbClr val="E8E0F0"/>
            </a:solidFill>
            <a:ln w="19050">
              <a:solidFill>
                <a:srgbClr val="7B68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false"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900" b="true">
                  <a:solidFill>
                    <a:srgbClr val="000000"/>
                  </a:solidFill>
                  <a:latin typeface="Arial"/>
                </a:rPr>
                <a:t>1×1 Conv</a:t>
              </a:r>
              <a:endParaRPr/>
            </a:p>
          </p:txBody>
        </p:sp>
        <p:cxnSp>
          <p:nvCxnSpPr>
            <p:cNvPr id="80" name="Connector 9"/>
            <p:cNvCxnSpPr/>
            <p:nvPr/>
          </p:nvCxnSpPr>
          <p:spPr>
            <a:xfrm rot="0" flipH="false" flipV="false">
              <a:off x="2463174" y="4499149"/>
              <a:ext cx="923038" cy="0"/>
            </a:xfrm>
            <a:prstGeom prst="line">
              <a:avLst/>
            </a:prstGeom>
            <a:ln w="19050">
              <a:solidFill>
                <a:srgbClr val="00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9"/>
            <p:cNvCxnSpPr/>
            <p:nvPr/>
          </p:nvCxnSpPr>
          <p:spPr>
            <a:xfrm rot="0" flipH="false" flipV="false">
              <a:off x="3992360" y="3576111"/>
              <a:ext cx="0" cy="644287"/>
            </a:xfrm>
            <a:prstGeom prst="line">
              <a:avLst/>
            </a:prstGeom>
            <a:ln w="19050">
              <a:solidFill>
                <a:srgbClr val="00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9"/>
            <p:cNvCxnSpPr/>
            <p:nvPr/>
          </p:nvCxnSpPr>
          <p:spPr>
            <a:xfrm rot="0" flipH="false" flipV="false">
              <a:off x="2015066" y="1789128"/>
              <a:ext cx="0" cy="2430902"/>
            </a:xfrm>
            <a:prstGeom prst="line">
              <a:avLst/>
            </a:prstGeom>
            <a:ln w="19050">
              <a:solidFill>
                <a:srgbClr val="00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9"/>
            <p:cNvCxnSpPr/>
            <p:nvPr/>
          </p:nvCxnSpPr>
          <p:spPr>
            <a:xfrm rot="0" flipH="true" flipV="false">
              <a:off x="4543315" y="3327102"/>
              <a:ext cx="3618518" cy="48"/>
            </a:xfrm>
            <a:prstGeom prst="line">
              <a:avLst/>
            </a:prstGeom>
            <a:ln w="19050">
              <a:solidFill>
                <a:srgbClr val="00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34"/>
            <p:cNvSpPr/>
            <p:nvPr/>
          </p:nvSpPr>
          <p:spPr>
            <a:xfrm rot="0" flipH="false" flipV="false">
              <a:off x="3632360" y="4314554"/>
              <a:ext cx="647742" cy="381190"/>
            </a:xfrm>
            <a:prstGeom prst="roundRect">
              <a:avLst/>
            </a:prstGeom>
            <a:solidFill>
              <a:srgbClr val="E8E0F0"/>
            </a:solidFill>
            <a:ln w="19050">
              <a:solidFill>
                <a:srgbClr val="7B68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false"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00" b="true">
                  <a:solidFill>
                    <a:srgbClr val="000000"/>
                  </a:solidFill>
                  <a:latin typeface="Arial"/>
                </a:rPr>
                <a:t>Concat</a:t>
              </a:r>
              <a:endParaRPr/>
            </a:p>
          </p:txBody>
        </p:sp>
        <p:cxnSp>
          <p:nvCxnSpPr>
            <p:cNvPr id="85" name="Connector 9"/>
            <p:cNvCxnSpPr/>
            <p:nvPr/>
          </p:nvCxnSpPr>
          <p:spPr>
            <a:xfrm rot="0" flipH="false" flipV="false">
              <a:off x="4398484" y="4505149"/>
              <a:ext cx="923038" cy="0"/>
            </a:xfrm>
            <a:prstGeom prst="line">
              <a:avLst/>
            </a:prstGeom>
            <a:ln w="19050">
              <a:solidFill>
                <a:srgbClr val="00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37"/>
            <p:cNvSpPr/>
            <p:nvPr/>
          </p:nvSpPr>
          <p:spPr>
            <a:xfrm rot="0" flipH="false" flipV="false">
              <a:off x="5439904" y="4356068"/>
              <a:ext cx="642611" cy="298162"/>
            </a:xfrm>
            <a:prstGeom prst="roundRect">
              <a:avLst/>
            </a:prstGeom>
            <a:solidFill>
              <a:srgbClr val="E8E0F0"/>
            </a:solidFill>
            <a:ln w="19050">
              <a:solidFill>
                <a:srgbClr val="7B68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false"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900" b="true">
                  <a:solidFill>
                    <a:srgbClr val="000000">
                      <a:alpha val="100000"/>
                    </a:srgbClr>
                  </a:solidFill>
                  <a:latin typeface="Arial"/>
                  <a:ea typeface="宋体"/>
                  <a:cs typeface="+mn-cs"/>
                </a:rPr>
                <a:t>3</a:t>
              </a:r>
              <a:r>
                <a:rPr sz="900" b="true">
                  <a:solidFill>
                    <a:srgbClr val="000000">
                      <a:alpha val="100000"/>
                    </a:srgbClr>
                  </a:solidFill>
                  <a:latin typeface="Arial"/>
                  <a:ea typeface="宋体"/>
                  <a:cs typeface="+mn-cs"/>
                </a:rPr>
                <a:t>×</a:t>
              </a:r>
              <a:r>
                <a:rPr lang="en-US" sz="900" b="true">
                  <a:solidFill>
                    <a:srgbClr val="000000">
                      <a:alpha val="100000"/>
                    </a:srgbClr>
                  </a:solidFill>
                  <a:latin typeface="Arial"/>
                  <a:ea typeface="宋体"/>
                  <a:cs typeface="+mn-cs"/>
                </a:rPr>
                <a:t>3</a:t>
              </a:r>
              <a:r>
                <a:rPr sz="900" b="true">
                  <a:solidFill>
                    <a:srgbClr val="000000">
                      <a:alpha val="100000"/>
                    </a:srgbClr>
                  </a:solidFill>
                  <a:latin typeface="Arial"/>
                  <a:ea typeface="宋体"/>
                  <a:cs typeface="+mn-cs"/>
                </a:rPr>
                <a:t> Conv</a:t>
              </a:r>
              <a:endParaRPr/>
            </a:p>
          </p:txBody>
        </p:sp>
        <p:cxnSp>
          <p:nvCxnSpPr>
            <p:cNvPr id="87" name="Connector 9"/>
            <p:cNvCxnSpPr/>
            <p:nvPr/>
          </p:nvCxnSpPr>
          <p:spPr>
            <a:xfrm rot="0" flipH="false" flipV="false">
              <a:off x="6208868" y="4511149"/>
              <a:ext cx="923038" cy="0"/>
            </a:xfrm>
            <a:prstGeom prst="line">
              <a:avLst/>
            </a:prstGeom>
            <a:ln w="19050">
              <a:solidFill>
                <a:srgbClr val="00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Rounded Rectangle 32"/>
            <p:cNvSpPr/>
            <p:nvPr/>
          </p:nvSpPr>
          <p:spPr>
            <a:xfrm rot="0" flipH="false" flipV="false">
              <a:off x="7329654" y="4308550"/>
              <a:ext cx="812248" cy="381198"/>
            </a:xfrm>
            <a:prstGeom prst="roundRect">
              <a:avLst>
                <a:gd name="adj" fmla="val 16667"/>
              </a:avLst>
            </a:prstGeom>
            <a:solidFill>
              <a:srgbClr val="E8E0F0"/>
            </a:solidFill>
            <a:ln w="19050">
              <a:solidFill>
                <a:srgbClr val="7B68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false"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900" b="true">
                  <a:solidFill>
                    <a:srgbClr val="000000"/>
                  </a:solidFill>
                  <a:latin typeface="Arial"/>
                </a:rPr>
                <a:t>Upsample
×4</a:t>
              </a:r>
              <a:endParaRPr/>
            </a:p>
          </p:txBody>
        </p:sp>
        <p:cxnSp>
          <p:nvCxnSpPr>
            <p:cNvPr id="89" name="Connector 9"/>
            <p:cNvCxnSpPr/>
            <p:nvPr/>
          </p:nvCxnSpPr>
          <p:spPr>
            <a:xfrm rot="0" flipH="false" flipV="false">
              <a:off x="8267126" y="4499149"/>
              <a:ext cx="923038" cy="0"/>
            </a:xfrm>
            <a:prstGeom prst="line">
              <a:avLst/>
            </a:prstGeom>
            <a:ln w="19050">
              <a:solidFill>
                <a:srgbClr val="00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"/>
            <p:cNvSpPr/>
            <p:nvPr/>
          </p:nvSpPr>
          <p:spPr>
            <a:xfrm rot="0" flipH="false" flipV="false">
              <a:off x="1175389" y="2866939"/>
              <a:ext cx="7829112" cy="2362200"/>
            </a:xfrm>
            <a:prstGeom prst="roundRect">
              <a:avLst/>
            </a:prstGeom>
            <a:noFill/>
            <a:ln w="12700">
              <a:solidFill>
                <a:srgbClr val="5C5C5C">
                  <a:alpha val="100000"/>
                </a:srgbClr>
              </a:solidFill>
              <a:prstDash val="sysDash"/>
              <a:miter lim="800000"/>
            </a:ln>
          </p:spPr>
          <p:txBody>
            <a:bodyPr anchor="ctr"/>
            <a:p>
              <a:pPr algn="ctr"/>
              <a:endParaRPr/>
            </a:p>
          </p:txBody>
        </p:sp>
      </p:grpSp>
      <p:sp>
        <p:nvSpPr>
          <p:cNvPr id="91" name="TextBox 51"/>
          <p:cNvSpPr txBox="true"/>
          <p:nvPr/>
        </p:nvSpPr>
        <p:spPr>
          <a:xfrm rot="0" flipH="false" flipV="false">
            <a:off x="1641759" y="3417238"/>
            <a:ext cx="107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true">
                <a:solidFill>
                  <a:srgbClr val="2E75B6">
                    <a:alpha val="100000"/>
                  </a:srgbClr>
                </a:solidFill>
                <a:latin typeface="Arial"/>
                <a:ea typeface="宋体"/>
                <a:cs typeface="+mn-cs"/>
              </a:defRPr>
            </a:pPr>
            <a:r>
              <a:rPr lang="en-US"/>
              <a:t>De</a:t>
            </a:r>
            <a:r>
              <a:rPr/>
              <a:t>coder</a:t>
            </a:r>
            <a:endParaRPr/>
          </a:p>
        </p:txBody>
      </p:sp>
      <p:pic>
        <p:nvPicPr>
          <p:cNvPr id="92" name=""/>
          <p:cNvPicPr>
            <a:picLocks noChangeAspect="true"/>
          </p:cNvPicPr>
          <p:nvPr/>
        </p:nvPicPr>
        <p:blipFill>
          <a:blip r:embed=""/>
          <a:stretch>
            <a:fillRect/>
          </a:stretch>
        </p:blipFill>
        <p:spPr>
          <a:xfrm rot="0" flipH="false" flipV="false">
            <a:off x="506818" y="1422945"/>
            <a:ext cx="890715" cy="890715"/>
          </a:xfrm>
          <a:prstGeom prst="rect"/>
        </p:spPr>
      </p:pic>
      <p:cxnSp>
        <p:nvCxnSpPr>
          <p:cNvPr id="93" name="Connector 9"/>
          <p:cNvCxnSpPr/>
          <p:nvPr/>
        </p:nvCxnSpPr>
        <p:spPr>
          <a:xfrm rot="0" flipH="false" flipV="false">
            <a:off x="1451456" y="1900366"/>
            <a:ext cx="444307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"/>
          <p:cNvPicPr>
            <a:picLocks noChangeAspect="true"/>
          </p:cNvPicPr>
          <p:nvPr/>
        </p:nvPicPr>
        <p:blipFill>
          <a:blip r:embed=""/>
          <a:stretch>
            <a:fillRect/>
          </a:stretch>
        </p:blipFill>
        <p:spPr>
          <a:xfrm rot="0" flipH="false" flipV="false">
            <a:off x="9754582" y="4642412"/>
            <a:ext cx="824307" cy="824307"/>
          </a:xfrm>
          <a:prstGeom prst="rect"/>
        </p:spPr>
      </p:pic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2026-01-23T12:32:53Z</dcterms:created>
  <dcterms:modified xsi:type="dcterms:W3CDTF">2026-01-23T12:32:53Z</dcterms:modified>
</cp:coreProperties>
</file>