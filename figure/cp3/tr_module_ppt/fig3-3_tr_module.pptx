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图 3-3 TR 模块结构图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1645920" y="68580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8F4F8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0" y="685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输入特征 (N,C,H,W)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645920" y="1097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↓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645920" y="1325880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CE4EC"/>
          </a:solidFill>
          <a:ln w="19050">
            <a:solidFill>
              <a:srgbClr val="C218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3258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80E4F"/>
                </a:solidFill>
              </a:rPr>
              <a:t>位置编码
</a:t>
            </a:r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DWConv 3×3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↓ +残差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45920" y="2057400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2057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LayerNorm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645920" y="237744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45920" y="2560320"/>
            <a:ext cx="2011680" cy="594360"/>
          </a:xfrm>
          <a:prstGeom prst="roundRect">
            <a:avLst>
              <a:gd name="adj" fmla="val 15385"/>
            </a:avLst>
          </a:prstGeom>
          <a:solidFill>
            <a:srgbClr val="E3F2FD"/>
          </a:solidFill>
          <a:ln w="25400">
            <a:solidFill>
              <a:srgbClr val="1976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45920" y="25603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</a:rPr>
              <a:t>双层路由注意力
</a:t>
            </a:r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</a:rPr>
              <a:t>Bi-Level Routing Attention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645920" y="31546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14600" y="3337560"/>
            <a:ext cx="274320" cy="274320"/>
          </a:xfrm>
          <a:prstGeom prst="ellipse">
            <a:avLst/>
          </a:prstGeom>
          <a:solidFill>
            <a:srgbClr val="FFEB3B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14600" y="3337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+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45920" y="36118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↓ 残差连接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645920" y="3813048"/>
            <a:ext cx="2011680" cy="320040"/>
          </a:xfrm>
          <a:prstGeom prst="roundRect">
            <a:avLst>
              <a:gd name="adj" fmla="val 22857"/>
            </a:avLst>
          </a:prstGeom>
          <a:solidFill>
            <a:srgbClr val="E8F5E9"/>
          </a:solidFill>
          <a:ln w="19050">
            <a:solidFill>
              <a:srgbClr val="388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8130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D32"/>
                </a:solidFill>
              </a:rPr>
              <a:t>LayerNorm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45920" y="41330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645920" y="431596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F3E5F5"/>
          </a:solidFill>
          <a:ln w="1905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43159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48C"/>
                </a:solidFill>
              </a:rPr>
              <a:t>MLP
</a:t>
            </a:r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</a:rPr>
              <a:t>Linear → GELU → Linear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481888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514600" y="5001768"/>
            <a:ext cx="274320" cy="274320"/>
          </a:xfrm>
          <a:prstGeom prst="ellipse">
            <a:avLst/>
          </a:prstGeom>
          <a:solidFill>
            <a:srgbClr val="FFEB3B"/>
          </a:solidFill>
          <a:ln w="19050">
            <a:solidFill>
              <a:srgbClr val="F57F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5001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+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45920" y="527608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↓ 残差连接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45920" y="5477256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E8F4F8"/>
          </a:solidFill>
          <a:ln w="19050">
            <a:solidFill>
              <a:srgbClr val="4A90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547725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</a:rPr>
              <a:t>输出特征 (N,C,H,W)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822960"/>
            <a:ext cx="3931920" cy="3840480"/>
          </a:xfrm>
          <a:prstGeom prst="roundRect">
            <a:avLst>
              <a:gd name="adj" fmla="val 3571"/>
            </a:avLst>
          </a:prstGeom>
          <a:solidFill>
            <a:srgbClr val="FAFAFA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9601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185B"/>
                </a:solidFill>
              </a:rPr>
              <a:t>① 位置编码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深度可分离卷积 (groups=dim)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kernel_size=3, padding=1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92040" y="18288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976D2"/>
                </a:solidFill>
              </a:rPr>
              <a:t>② 双层路由注意力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区域划分: n_win=4 (4×4窗口)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TopK路由: k=4 (选择4个相关窗口)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多头注意力: num_heads=8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复杂度: O(n²×k/p²)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92040" y="28803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B1FA2"/>
                </a:solidFill>
              </a:rPr>
              <a:t>③ MLP 前馈网络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Linear(dim → 4×dim)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GELU 激活函数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• Linear(4×dim → dim)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92040" y="37490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</a:rPr>
              <a:t>④ 残差连接
</a:t>
            </a:r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注意力和MLP分支均使用残差连接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防止梯度消失，增强特征传递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TR模块结构图</dc:title>
  <dc:subject>PptxGenJS Presentation</dc:subject>
  <dc:creator>Auto Generated</dc:creator>
  <cp:lastModifiedBy>Auto Generated</cp:lastModifiedBy>
  <cp:revision>1</cp:revision>
  <dcterms:created xsi:type="dcterms:W3CDTF">2026-01-11T20:06:38Z</dcterms:created>
  <dcterms:modified xsi:type="dcterms:W3CDTF">2026-01-11T20:06:38Z</dcterms:modified>
</cp:coreProperties>
</file>