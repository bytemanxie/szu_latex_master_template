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sldIdLst>
    <p:sldId id="256" r:id="rId1"/>
  </p:sldIdLst>
  <p:sldSz cx="10080000" cy="5760000" type="screen4x3"/>
  <p:notesSz cx="6858000" cy="9144000"/>
  <p:defaultTextStyle>
    <a:defPPr>
      <a:defRPr lang="en-US"/>
    </a:defPPr>
    <a:lvl1pPr marL="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tableStyles" Target="tableStyles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true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true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US" smtClean="fals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9" name="Content Placeholder 2"/>
          <p:cNvSpPr>
            <a:spLocks noGrp="true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10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11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2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true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true" cap="all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21" name="Text Placeholder 2"/>
          <p:cNvSpPr>
            <a:spLocks noGrp="true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22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23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24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woObj">
  <p:cSld name="Two Content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27" name="Content Placeholder 2"/>
          <p:cNvSpPr>
            <a:spLocks noGrp="true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28" name="Content Placeholder 3"/>
          <p:cNvSpPr>
            <a:spLocks noGrp="true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29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30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31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twoTxTwoObj">
  <p:cSld name="Comparison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 1"/>
          <p:cNvSpPr>
            <a:spLocks noGrp="true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4" name="Text Placeholder 2"/>
          <p:cNvSpPr>
            <a:spLocks noGrp="true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35" name="Content Placeholder 3"/>
          <p:cNvSpPr>
            <a:spLocks noGrp="true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36" name="Text Placeholder 4"/>
          <p:cNvSpPr>
            <a:spLocks noGrp="true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true"/>
            </a:lvl1pPr>
            <a:lvl2pPr marL="457200" indent="0">
              <a:buNone/>
              <a:defRPr sz="2000" b="true"/>
            </a:lvl2pPr>
            <a:lvl3pPr marL="914400" indent="0">
              <a:buNone/>
              <a:defRPr sz="1800" b="true"/>
            </a:lvl3pPr>
            <a:lvl4pPr marL="1371600" indent="0">
              <a:buNone/>
              <a:defRPr sz="1600" b="true"/>
            </a:lvl4pPr>
            <a:lvl5pPr marL="1828800" indent="0">
              <a:buNone/>
              <a:defRPr sz="1600" b="true"/>
            </a:lvl5pPr>
            <a:lvl6pPr marL="2286000" indent="0">
              <a:buNone/>
              <a:defRPr sz="1600" b="true"/>
            </a:lvl6pPr>
            <a:lvl7pPr marL="2743200" indent="0">
              <a:buNone/>
              <a:defRPr sz="1600" b="true"/>
            </a:lvl7pPr>
            <a:lvl8pPr marL="3200400" indent="0">
              <a:buNone/>
              <a:defRPr sz="1600" b="true"/>
            </a:lvl8pPr>
            <a:lvl9pPr marL="3657600" indent="0">
              <a:buNone/>
              <a:defRPr sz="1600" b="true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37" name="Content Placeholder 5"/>
          <p:cNvSpPr>
            <a:spLocks noGrp="true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38" name="Date Placeholder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39" name="Footer Placeholder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0" name="Slide Number Placeholder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43" name="Date Placeholder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44" name="Footer Placeholder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5" name="Slide Number Placeholder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48" name="Footer Placeholder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49" name="Slide Number Placeholder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objTx">
  <p:cSld name="Content with Caption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le 1"/>
          <p:cNvSpPr>
            <a:spLocks noGrp="true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52" name="Content Placeholder 2"/>
          <p:cNvSpPr>
            <a:spLocks noGrp="true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53" name="Text Placeholder 3"/>
          <p:cNvSpPr>
            <a:spLocks noGrp="true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54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5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56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picTx">
  <p:cSld name="Picture with Caption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1"/>
          <p:cNvSpPr>
            <a:spLocks noGrp="true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true"/>
            </a:lvl1pPr>
          </a:lstStyle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59" name="Picture Placeholder 2"/>
          <p:cNvSpPr>
            <a:spLocks noGrp="true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/>
            <a:endParaRPr lang="en-US"/>
          </a:p>
        </p:txBody>
      </p:sp>
      <p:sp>
        <p:nvSpPr>
          <p:cNvPr id="60" name="Text Placeholder 3"/>
          <p:cNvSpPr>
            <a:spLocks noGrp="true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false"/>
              <a:t>Click to edit Master text styles</a:t>
            </a:r>
            <a:endParaRPr/>
          </a:p>
        </p:txBody>
      </p:sp>
      <p:sp>
        <p:nvSpPr>
          <p:cNvPr id="61" name="Date Placeholder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62" name="Footer Placeholder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3" name="Slide Number Placeholder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vertTx">
  <p:cSld name="Title and Vertical 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1"/>
          <p:cNvSpPr>
            <a:spLocks noGrp="true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66" name="Vertical Text Placeholder 2"/>
          <p:cNvSpPr>
            <a:spLocks noGrp="true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67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68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69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Vertical Title and 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Vertical Title 1"/>
          <p:cNvSpPr>
            <a:spLocks noGrp="true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15" name="Vertical Text Placeholder 2"/>
          <p:cNvSpPr>
            <a:spLocks noGrp="true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16" name="Date Placeholder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17" name="Footer Placeholder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pPr/>
            <a:endParaRPr lang="en-US"/>
          </a:p>
        </p:txBody>
      </p:sp>
      <p:sp>
        <p:nvSpPr>
          <p:cNvPr id="18" name="Slide Number Placeholder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7" Type="http://schemas.openxmlformats.org/officeDocument/2006/relationships/slideLayout" Target="../slideLayouts/slideLayout8.xml" /><Relationship Id="rId0" Type="http://schemas.openxmlformats.org/officeDocument/2006/relationships/slideLayout" Target="../slideLayouts/slideLayout1.xml" /><Relationship Id="rId5" Type="http://schemas.openxmlformats.org/officeDocument/2006/relationships/slideLayout" Target="../slideLayouts/slideLayout6.xml" /><Relationship Id="rId4" Type="http://schemas.openxmlformats.org/officeDocument/2006/relationships/slideLayout" Target="../slideLayouts/slideLayout5.xml" /><Relationship Id="rId3" Type="http://schemas.openxmlformats.org/officeDocument/2006/relationships/slideLayout" Target="../slideLayouts/slideLayout4.xml" /><Relationship Id="rId6" Type="http://schemas.openxmlformats.org/officeDocument/2006/relationships/slideLayout" Target="../slideLayouts/slideLayout7.xml" /><Relationship Id="rId1" Type="http://schemas.openxmlformats.org/officeDocument/2006/relationships/slideLayout" Target="../slideLayouts/slideLayout2.xml" /><Relationship Id="rId2" Type="http://schemas.openxmlformats.org/officeDocument/2006/relationships/slideLayout" Target="../slideLayouts/slideLayout3.xml" /><Relationship Id="rId11" Type="http://schemas.openxmlformats.org/officeDocument/2006/relationships/theme" Target="../theme/theme1.xml" /><Relationship Id="rId8" Type="http://schemas.openxmlformats.org/officeDocument/2006/relationships/slideLayout" Target="../slideLayouts/slideLayout9.xml" /><Relationship Id="rId10" Type="http://schemas.openxmlformats.org/officeDocument/2006/relationships/slideLayout" Target="../slideLayouts/slideLayout1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true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/>
          <a:p>
            <a:pPr/>
            <a:r>
              <a:rPr lang="en-US" smtClean="fals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true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false">
            <a:normAutofit/>
          </a:bodyPr>
          <a:lstStyle/>
          <a:p>
            <a:pPr lvl="0"/>
            <a:r>
              <a:rPr lang="en-US" smtClean="false"/>
              <a:t>Click to edit Master text styles</a:t>
            </a:r>
            <a:endParaRPr/>
          </a:p>
          <a:p>
            <a:pPr lvl="1"/>
            <a:r>
              <a:rPr lang="en-US" smtClean="false"/>
              <a:t>Second level</a:t>
            </a:r>
            <a:endParaRPr/>
          </a:p>
          <a:p>
            <a:pPr lvl="2"/>
            <a:r>
              <a:rPr lang="en-US" smtClean="false"/>
              <a:t>Third level</a:t>
            </a:r>
            <a:endParaRPr/>
          </a:p>
          <a:p>
            <a:pPr lvl="3"/>
            <a:r>
              <a:rPr lang="en-US" smtClean="false"/>
              <a:t>Fourth level</a:t>
            </a:r>
            <a:endParaRPr/>
          </a:p>
          <a:p>
            <a:pPr lvl="4"/>
            <a:r>
              <a:rPr lang="en-US" smtClean="fals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true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5BCAD085-E8A6-8845-BD4E-CB4CCA059FC4}" type="datetimeFigureOut">
              <a:rPr lang="en-US" smtClean="false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true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/>
          </a:p>
        </p:txBody>
      </p:sp>
      <p:sp>
        <p:nvSpPr>
          <p:cNvPr id="6" name="Slide Number Placeholder 5"/>
          <p:cNvSpPr>
            <a:spLocks noGrp="true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false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C1FF6DA9-008F-8B48-92A6-B652298478BF}" type="slidenum">
              <a:rPr lang="en-US" smtClean="false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ctr" defTabSz="457200" rtl="false" eaLnBrk="true" latinLnBrk="false" hangingPunct="true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false" eaLnBrk="true" latinLnBrk="false" hangingPunct="true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false" eaLnBrk="true" latinLnBrk="false" hangingPunct="true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false" eaLnBrk="true" latinLnBrk="false" hangingPunct="true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false" eaLnBrk="true" latinLnBrk="false" hangingPunct="true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false" eaLnBrk="true" latinLnBrk="false" hangingPunct="true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false" eaLnBrk="true" latinLnBrk="false" hangingPunct="true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440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44000" y="1440000"/>
            <a:ext cx="324000" cy="324000"/>
          </a:xfrm>
          <a:prstGeom prst="rect">
            <a:avLst/>
          </a:prstGeom>
          <a:solidFill>
            <a:srgbClr val="FF6B6B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368000" y="1440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92000" y="1440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0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44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68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692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0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044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368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692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20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4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68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692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18" name="TextBox 17"/>
          <p:cNvSpPr txBox="true"/>
          <p:nvPr/>
        </p:nvSpPr>
        <p:spPr>
          <a:xfrm>
            <a:off x="540000" y="2844000"/>
            <a:ext cx="1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latin typeface="宋体"/>
              </a:defRPr>
            </a:pPr>
            <a:r>
              <a:rPr/>
              <a:t>窗口划分</a:t>
            </a:r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2196000" y="1926000"/>
            <a:ext cx="648000" cy="288000"/>
          </a:xfrm>
          <a:prstGeom prst="rightArrow">
            <a:avLst/>
          </a:prstGeom>
          <a:solidFill>
            <a:srgbClr val="595959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00000" y="1440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924000" y="1440000"/>
            <a:ext cx="324000" cy="324000"/>
          </a:xfrm>
          <a:prstGeom prst="rect">
            <a:avLst/>
          </a:prstGeom>
          <a:solidFill>
            <a:srgbClr val="FF6B6B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48000" y="1440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0" y="1440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00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924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48000" y="1764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0" y="1764000"/>
            <a:ext cx="324000" cy="324000"/>
          </a:xfrm>
          <a:prstGeom prst="rect">
            <a:avLst/>
          </a:prstGeom>
          <a:solidFill>
            <a:srgbClr val="A9D18E"/>
          </a:solidFill>
          <a:ln w="1905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00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924000" y="2088000"/>
            <a:ext cx="324000" cy="324000"/>
          </a:xfrm>
          <a:prstGeom prst="rect">
            <a:avLst/>
          </a:prstGeom>
          <a:solidFill>
            <a:srgbClr val="A9D18E"/>
          </a:solidFill>
          <a:ln w="1905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248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0" y="2088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600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924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48000" y="2412000"/>
            <a:ext cx="324000" cy="324000"/>
          </a:xfrm>
          <a:prstGeom prst="rect">
            <a:avLst/>
          </a:prstGeom>
          <a:solidFill>
            <a:srgbClr val="A9D18E"/>
          </a:solidFill>
          <a:ln w="1905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0" y="2412000"/>
            <a:ext cx="324000" cy="3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cxnSp>
        <p:nvCxnSpPr>
          <p:cNvPr id="36" name="Connector 35"/>
          <p:cNvCxnSpPr/>
          <p:nvPr/>
        </p:nvCxnSpPr>
        <p:spPr>
          <a:xfrm>
            <a:off x="4086000" y="1602000"/>
            <a:ext cx="648000" cy="324000"/>
          </a:xfrm>
          <a:prstGeom prst="line">
            <a:avLst/>
          </a:prstGeom>
          <a:ln w="190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086000" y="1602000"/>
            <a:ext cx="0" cy="648000"/>
          </a:xfrm>
          <a:prstGeom prst="line">
            <a:avLst/>
          </a:prstGeom>
          <a:ln w="190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6000" y="1602000"/>
            <a:ext cx="324000" cy="972000"/>
          </a:xfrm>
          <a:prstGeom prst="line">
            <a:avLst/>
          </a:prstGeom>
          <a:ln w="190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true"/>
          <p:nvPr/>
        </p:nvSpPr>
        <p:spPr>
          <a:xfrm>
            <a:off x="3420000" y="2844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latin typeface="宋体"/>
              </a:defRPr>
            </a:pPr>
            <a:r>
              <a:rPr/>
              <a:t>稀疏选择</a:t>
            </a:r>
            <a:endParaRPr/>
          </a:p>
        </p:txBody>
      </p:sp>
      <p:sp>
        <p:nvSpPr>
          <p:cNvPr id="40" name="TextBox 39"/>
          <p:cNvSpPr txBox="true"/>
          <p:nvPr/>
        </p:nvSpPr>
        <p:spPr>
          <a:xfrm>
            <a:off x="3420000" y="3060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false">
                <a:latin typeface="宋体"/>
              </a:defRPr>
            </a:pPr>
            <a:r>
              <a:rPr/>
              <a:t>(TopK 路由)</a:t>
            </a:r>
            <a:endParaRPr/>
          </a:p>
        </p:txBody>
      </p:sp>
      <p:sp>
        <p:nvSpPr>
          <p:cNvPr id="41" name="Right Arrow 40"/>
          <p:cNvSpPr/>
          <p:nvPr/>
        </p:nvSpPr>
        <p:spPr>
          <a:xfrm>
            <a:off x="5076000" y="1926000"/>
            <a:ext cx="648000" cy="288000"/>
          </a:xfrm>
          <a:prstGeom prst="rightArrow">
            <a:avLst/>
          </a:prstGeom>
          <a:solidFill>
            <a:srgbClr val="595959"/>
          </a:solidFill>
          <a:ln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480000" y="1332000"/>
            <a:ext cx="1620000" cy="1620000"/>
          </a:xfrm>
          <a:prstGeom prst="roundRect">
            <a:avLst/>
          </a:prstGeom>
          <a:solidFill>
            <a:srgbClr val="DEEBF7"/>
          </a:solidFill>
          <a:ln w="1905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43" name="TextBox 42"/>
          <p:cNvSpPr txBox="true"/>
          <p:nvPr/>
        </p:nvSpPr>
        <p:spPr>
          <a:xfrm rot="0" flipH="false" flipV="false">
            <a:off x="6768000" y="1350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Q × K</a:t>
            </a:r>
            <a:endParaRPr/>
          </a:p>
        </p:txBody>
      </p:sp>
      <p:sp>
        <p:nvSpPr>
          <p:cNvPr id="44" name="TextBox 43"/>
          <p:cNvSpPr txBox="true"/>
          <p:nvPr/>
        </p:nvSpPr>
        <p:spPr>
          <a:xfrm rot="0" flipH="false" flipV="false">
            <a:off x="6768000" y="1566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↓</a:t>
            </a:r>
            <a:endParaRPr/>
          </a:p>
        </p:txBody>
      </p:sp>
      <p:sp>
        <p:nvSpPr>
          <p:cNvPr id="45" name="TextBox 44"/>
          <p:cNvSpPr txBox="true"/>
          <p:nvPr/>
        </p:nvSpPr>
        <p:spPr>
          <a:xfrm rot="0" flipH="false" flipV="false">
            <a:off x="6768000" y="1782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Softmax</a:t>
            </a:r>
            <a:endParaRPr/>
          </a:p>
        </p:txBody>
      </p:sp>
      <p:sp>
        <p:nvSpPr>
          <p:cNvPr id="46" name="TextBox 45"/>
          <p:cNvSpPr txBox="true"/>
          <p:nvPr/>
        </p:nvSpPr>
        <p:spPr>
          <a:xfrm rot="0" flipH="false" flipV="false">
            <a:off x="6768000" y="1998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↓</a:t>
            </a:r>
            <a:endParaRPr/>
          </a:p>
        </p:txBody>
      </p:sp>
      <p:sp>
        <p:nvSpPr>
          <p:cNvPr id="47" name="TextBox 46"/>
          <p:cNvSpPr txBox="true"/>
          <p:nvPr/>
        </p:nvSpPr>
        <p:spPr>
          <a:xfrm rot="0" flipH="false" flipV="false">
            <a:off x="6768000" y="2214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A × V</a:t>
            </a:r>
            <a:endParaRPr/>
          </a:p>
        </p:txBody>
      </p:sp>
      <p:sp>
        <p:nvSpPr>
          <p:cNvPr id="48" name="TextBox 47"/>
          <p:cNvSpPr txBox="true"/>
          <p:nvPr/>
        </p:nvSpPr>
        <p:spPr>
          <a:xfrm rot="0" flipH="false" flipV="false">
            <a:off x="6768000" y="2430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↓</a:t>
            </a:r>
            <a:endParaRPr/>
          </a:p>
        </p:txBody>
      </p:sp>
      <p:sp>
        <p:nvSpPr>
          <p:cNvPr id="49" name="TextBox 48"/>
          <p:cNvSpPr txBox="true"/>
          <p:nvPr/>
        </p:nvSpPr>
        <p:spPr>
          <a:xfrm rot="0" flipH="false" flipV="false">
            <a:off x="6768000" y="2646000"/>
            <a:ext cx="10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false">
                <a:latin typeface="宋体"/>
              </a:defRPr>
            </a:pPr>
            <a:r>
              <a:rPr/>
              <a:t>Output</a:t>
            </a:r>
            <a:endParaRPr/>
          </a:p>
        </p:txBody>
      </p:sp>
      <p:sp>
        <p:nvSpPr>
          <p:cNvPr id="50" name="TextBox 49"/>
          <p:cNvSpPr txBox="true"/>
          <p:nvPr/>
        </p:nvSpPr>
        <p:spPr>
          <a:xfrm rot="0" flipH="false" flipV="false">
            <a:off x="6408000" y="2988000"/>
            <a:ext cx="1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true">
                <a:latin typeface="宋体"/>
              </a:defRPr>
            </a:pPr>
            <a:r>
              <a:rPr/>
              <a:t>局部注意力</a:t>
            </a:r>
            <a:endParaRPr/>
          </a:p>
        </p:txBody>
      </p:sp>
      <p:sp>
        <p:nvSpPr>
          <p:cNvPr id="51" name="TextBox 50"/>
          <p:cNvSpPr txBox="true"/>
          <p:nvPr/>
        </p:nvSpPr>
        <p:spPr>
          <a:xfrm rot="0" flipH="false" flipV="false">
            <a:off x="7920000" y="3276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true">
                <a:latin typeface="宋体"/>
              </a:defRPr>
            </a:pPr>
            <a:r>
              <a:rPr/>
              <a:t>图例</a:t>
            </a:r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920000" y="3600000"/>
            <a:ext cx="180000" cy="180000"/>
          </a:xfrm>
          <a:prstGeom prst="rect">
            <a:avLst/>
          </a:prstGeom>
          <a:solidFill>
            <a:srgbClr val="FF6B6B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3" name="TextBox 52"/>
          <p:cNvSpPr txBox="true"/>
          <p:nvPr/>
        </p:nvSpPr>
        <p:spPr>
          <a:xfrm>
            <a:off x="8171999" y="3582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false">
                <a:latin typeface="宋体"/>
              </a:defRPr>
            </a:pPr>
            <a:r>
              <a:rPr/>
              <a:t>查询窗口</a:t>
            </a:r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920000" y="3851999"/>
            <a:ext cx="180000" cy="180000"/>
          </a:xfrm>
          <a:prstGeom prst="rect">
            <a:avLst/>
          </a:prstGeom>
          <a:solidFill>
            <a:srgbClr val="A9D18E"/>
          </a:solidFill>
          <a:ln w="12700"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5" name="TextBox 54"/>
          <p:cNvSpPr txBox="true"/>
          <p:nvPr/>
        </p:nvSpPr>
        <p:spPr>
          <a:xfrm>
            <a:off x="8171999" y="3834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false">
                <a:latin typeface="宋体"/>
              </a:defRPr>
            </a:pPr>
            <a:r>
              <a:rPr/>
              <a:t>被选中窗口</a:t>
            </a:r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920000" y="4103999"/>
            <a:ext cx="180000" cy="1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/>
          </a:p>
        </p:txBody>
      </p:sp>
      <p:sp>
        <p:nvSpPr>
          <p:cNvPr id="57" name="TextBox 56"/>
          <p:cNvSpPr txBox="true"/>
          <p:nvPr/>
        </p:nvSpPr>
        <p:spPr>
          <a:xfrm>
            <a:off x="8171999" y="4086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false">
                <a:latin typeface="宋体"/>
              </a:defRPr>
            </a:pPr>
            <a:r>
              <a:rPr/>
              <a:t>忽略窗口</a:t>
            </a:r>
            <a:endParaRPr/>
          </a:p>
        </p:txBody>
      </p:sp>
      <p:sp>
        <p:nvSpPr>
          <p:cNvPr id="58" name="TextBox 57"/>
          <p:cNvSpPr txBox="true"/>
          <p:nvPr/>
        </p:nvSpPr>
        <p:spPr>
          <a:xfrm>
            <a:off x="720000" y="4320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false">
                <a:latin typeface="宋体"/>
              </a:defRPr>
            </a:pPr>
            <a:r>
              <a:rPr/>
              <a:t>← 第一层：区域级路由（粗粒度）→</a:t>
            </a:r>
            <a:endParaRPr/>
          </a:p>
        </p:txBody>
      </p:sp>
      <p:sp>
        <p:nvSpPr>
          <p:cNvPr id="59" name="TextBox 58"/>
          <p:cNvSpPr txBox="true"/>
          <p:nvPr/>
        </p:nvSpPr>
        <p:spPr>
          <a:xfrm rot="0" flipH="false" flipV="false">
            <a:off x="5987724" y="4320000"/>
            <a:ext cx="2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false">
                <a:latin typeface="宋体"/>
              </a:defRPr>
            </a:pPr>
            <a:r>
              <a:rPr/>
              <a:t>← 第二层：令牌级注意力（细粒度）→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2026-01-13T04:54:29Z</dcterms:created>
  <dcterms:modified xsi:type="dcterms:W3CDTF">2026-01-13T04:54:29Z</dcterms:modified>
</cp:coreProperties>
</file>