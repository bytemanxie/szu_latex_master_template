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sldIdLst>
    <p:sldId id="256" r:id="rId1"/>
  </p:sldIdLst>
  <p:sldSz cx="10080000" cy="57600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ableStyles" Target="tableStyles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3" Type="http://schemas.openxmlformats.org/officeDocument/2006/relationships/slideLayout" Target="../slideLayouts/slideLayout4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Relationship Id="rId7" Type="http://schemas.openxmlformats.org/officeDocument/2006/relationships/slideLayout" Target="../slideLayouts/slideLayout8.xml" /><Relationship Id="rId11" Type="http://schemas.openxmlformats.org/officeDocument/2006/relationships/theme" Target="../theme/theme1.xml" /><Relationship Id="rId6" Type="http://schemas.openxmlformats.org/officeDocument/2006/relationships/slideLayout" Target="../slideLayouts/slideLayout7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0000" y="1440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44000" y="1440000"/>
            <a:ext cx="324000" cy="324000"/>
          </a:xfrm>
          <a:prstGeom prst="rect">
            <a:avLst/>
          </a:prstGeom>
          <a:solidFill>
            <a:srgbClr val="FF6B6B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68000" y="1440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92000" y="1440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0000" y="1764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4000" y="1764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68000" y="1764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92000" y="1764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0000" y="2088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44000" y="2088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68000" y="2088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92000" y="2088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0000" y="2412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4000" y="2412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68000" y="2412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692000" y="2412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8" name="TextBox 17"/>
          <p:cNvSpPr txBox="true"/>
          <p:nvPr/>
        </p:nvSpPr>
        <p:spPr>
          <a:xfrm>
            <a:off x="540000" y="284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true">
                <a:latin typeface="宋体"/>
              </a:defRPr>
            </a:pPr>
            <a:r>
              <a:rPr/>
              <a:t>窗口划分</a:t>
            </a:r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2196000" y="1926000"/>
            <a:ext cx="648000" cy="288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00000" y="1440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24000" y="1440000"/>
            <a:ext cx="324000" cy="324000"/>
          </a:xfrm>
          <a:prstGeom prst="rect">
            <a:avLst/>
          </a:prstGeom>
          <a:solidFill>
            <a:srgbClr val="FF6B6B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48000" y="1440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0" y="1440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00000" y="1764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924000" y="1764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48000" y="1764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1764000"/>
            <a:ext cx="324000" cy="324000"/>
          </a:xfrm>
          <a:prstGeom prst="rect">
            <a:avLst/>
          </a:prstGeom>
          <a:solidFill>
            <a:srgbClr val="A9D18E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00000" y="2088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924000" y="2088000"/>
            <a:ext cx="324000" cy="324000"/>
          </a:xfrm>
          <a:prstGeom prst="rect">
            <a:avLst/>
          </a:prstGeom>
          <a:solidFill>
            <a:srgbClr val="A9D18E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48000" y="2088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0" y="2088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00000" y="2412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24000" y="2412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48000" y="2412000"/>
            <a:ext cx="324000" cy="324000"/>
          </a:xfrm>
          <a:prstGeom prst="rect">
            <a:avLst/>
          </a:prstGeom>
          <a:solidFill>
            <a:srgbClr val="A9D18E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0" y="2412000"/>
            <a:ext cx="324000" cy="3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4086000" y="1602000"/>
            <a:ext cx="648000" cy="324000"/>
          </a:xfrm>
          <a:prstGeom prst="line">
            <a:avLst/>
          </a:prstGeom>
          <a:ln w="190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086000" y="1602000"/>
            <a:ext cx="0" cy="648000"/>
          </a:xfrm>
          <a:prstGeom prst="line">
            <a:avLst/>
          </a:prstGeom>
          <a:ln w="190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086000" y="1602000"/>
            <a:ext cx="324000" cy="972000"/>
          </a:xfrm>
          <a:prstGeom prst="line">
            <a:avLst/>
          </a:prstGeom>
          <a:ln w="190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true"/>
          <p:nvPr/>
        </p:nvSpPr>
        <p:spPr>
          <a:xfrm>
            <a:off x="3420000" y="2844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true">
                <a:latin typeface="宋体"/>
              </a:defRPr>
            </a:pPr>
            <a:r>
              <a:rPr/>
              <a:t>稀疏选择</a:t>
            </a:r>
            <a:endParaRPr/>
          </a:p>
        </p:txBody>
      </p:sp>
      <p:sp>
        <p:nvSpPr>
          <p:cNvPr id="40" name="TextBox 39"/>
          <p:cNvSpPr txBox="true"/>
          <p:nvPr/>
        </p:nvSpPr>
        <p:spPr>
          <a:xfrm>
            <a:off x="3420000" y="306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false">
                <a:latin typeface="宋体"/>
              </a:defRPr>
            </a:pPr>
            <a:r>
              <a:rPr/>
              <a:t>(TopK 路由)</a:t>
            </a:r>
            <a:endParaRPr/>
          </a:p>
        </p:txBody>
      </p:sp>
      <p:sp>
        <p:nvSpPr>
          <p:cNvPr id="41" name="Right Arrow 40"/>
          <p:cNvSpPr/>
          <p:nvPr/>
        </p:nvSpPr>
        <p:spPr>
          <a:xfrm>
            <a:off x="5076000" y="1926000"/>
            <a:ext cx="648000" cy="288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 rot="0" flipH="false" flipV="false">
            <a:off x="6071862" y="1278000"/>
            <a:ext cx="1620000" cy="1620000"/>
          </a:xfrm>
          <a:prstGeom prst="roundRect">
            <a:avLst/>
          </a:prstGeom>
          <a:solidFill>
            <a:srgbClr val="DEEBF7">
              <a:alpha val="100000"/>
            </a:srgbClr>
          </a:solidFill>
          <a:ln w="19050">
            <a:solidFill>
              <a:srgbClr val="2E75B6">
                <a:alpha val="100000"/>
              </a:srgbClr>
            </a:solidFill>
            <a:prstDash val="solid"/>
          </a:ln>
          <a:effectLst>
            <a:outerShdw blurRad="40000" dist="23000" dir="5400000" sx="100000" sy="100000" rotWithShape="false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3" name="TextBox 42"/>
          <p:cNvSpPr txBox="true"/>
          <p:nvPr/>
        </p:nvSpPr>
        <p:spPr>
          <a:xfrm rot="0" flipH="false" flipV="false">
            <a:off x="6341862" y="1296000"/>
            <a:ext cx="1080000" cy="216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>
              <a:defRPr sz="1300" b="false">
                <a:latin typeface="宋体"/>
              </a:defRPr>
            </a:pPr>
            <a:r>
              <a:rPr/>
              <a:t>Q × K</a:t>
            </a:r>
            <a:endParaRPr/>
          </a:p>
        </p:txBody>
      </p:sp>
      <p:sp>
        <p:nvSpPr>
          <p:cNvPr id="44" name="TextBox 43"/>
          <p:cNvSpPr txBox="true"/>
          <p:nvPr/>
        </p:nvSpPr>
        <p:spPr>
          <a:xfrm rot="0" flipH="false" flipV="false">
            <a:off x="6341862" y="1512000"/>
            <a:ext cx="1080000" cy="216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>
              <a:defRPr sz="1300" b="false">
                <a:latin typeface="宋体"/>
              </a:defRPr>
            </a:pPr>
            <a:r>
              <a:rPr/>
              <a:t>↓</a:t>
            </a:r>
            <a:endParaRPr/>
          </a:p>
        </p:txBody>
      </p:sp>
      <p:sp>
        <p:nvSpPr>
          <p:cNvPr id="45" name="TextBox 44"/>
          <p:cNvSpPr txBox="true"/>
          <p:nvPr/>
        </p:nvSpPr>
        <p:spPr>
          <a:xfrm rot="0" flipH="false" flipV="false">
            <a:off x="6341862" y="1728000"/>
            <a:ext cx="1080000" cy="216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>
              <a:defRPr sz="1300" b="false">
                <a:latin typeface="宋体"/>
              </a:defRPr>
            </a:pPr>
            <a:r>
              <a:rPr/>
              <a:t>Softmax</a:t>
            </a:r>
            <a:endParaRPr/>
          </a:p>
        </p:txBody>
      </p:sp>
      <p:sp>
        <p:nvSpPr>
          <p:cNvPr id="46" name="TextBox 45"/>
          <p:cNvSpPr txBox="true"/>
          <p:nvPr/>
        </p:nvSpPr>
        <p:spPr>
          <a:xfrm rot="0" flipH="false" flipV="false">
            <a:off x="6341862" y="1944000"/>
            <a:ext cx="1080000" cy="216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>
              <a:defRPr sz="1300" b="false">
                <a:latin typeface="宋体"/>
              </a:defRPr>
            </a:pPr>
            <a:r>
              <a:rPr/>
              <a:t>↓</a:t>
            </a:r>
            <a:endParaRPr/>
          </a:p>
        </p:txBody>
      </p:sp>
      <p:sp>
        <p:nvSpPr>
          <p:cNvPr id="47" name="TextBox 46"/>
          <p:cNvSpPr txBox="true"/>
          <p:nvPr/>
        </p:nvSpPr>
        <p:spPr>
          <a:xfrm rot="0" flipH="false" flipV="false">
            <a:off x="6341862" y="2160000"/>
            <a:ext cx="1080000" cy="216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>
              <a:defRPr sz="1300" b="false">
                <a:latin typeface="宋体"/>
              </a:defRPr>
            </a:pPr>
            <a:r>
              <a:rPr/>
              <a:t>A × V</a:t>
            </a:r>
            <a:endParaRPr/>
          </a:p>
        </p:txBody>
      </p:sp>
      <p:sp>
        <p:nvSpPr>
          <p:cNvPr id="48" name="TextBox 47"/>
          <p:cNvSpPr txBox="true"/>
          <p:nvPr/>
        </p:nvSpPr>
        <p:spPr>
          <a:xfrm rot="0" flipH="false" flipV="false">
            <a:off x="6341862" y="2376000"/>
            <a:ext cx="1080000" cy="216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>
              <a:defRPr sz="1300" b="false">
                <a:latin typeface="宋体"/>
              </a:defRPr>
            </a:pPr>
            <a:r>
              <a:rPr/>
              <a:t>↓</a:t>
            </a:r>
            <a:endParaRPr/>
          </a:p>
        </p:txBody>
      </p:sp>
      <p:sp>
        <p:nvSpPr>
          <p:cNvPr id="49" name="TextBox 48"/>
          <p:cNvSpPr txBox="true"/>
          <p:nvPr/>
        </p:nvSpPr>
        <p:spPr>
          <a:xfrm rot="0" flipH="false" flipV="false">
            <a:off x="6341862" y="2592000"/>
            <a:ext cx="1080000" cy="2160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>
              <a:defRPr sz="1300" b="false">
                <a:latin typeface="宋体"/>
              </a:defRPr>
            </a:pPr>
            <a:r>
              <a:rPr/>
              <a:t>Output</a:t>
            </a:r>
            <a:endParaRPr/>
          </a:p>
        </p:txBody>
      </p:sp>
      <p:sp>
        <p:nvSpPr>
          <p:cNvPr id="50" name="TextBox 49"/>
          <p:cNvSpPr txBox="true"/>
          <p:nvPr/>
        </p:nvSpPr>
        <p:spPr>
          <a:xfrm rot="0" flipH="false" flipV="false">
            <a:off x="5981862" y="2916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true">
                <a:latin typeface="宋体"/>
              </a:defRPr>
            </a:pPr>
            <a:r>
              <a:rPr/>
              <a:t>局部注意力</a:t>
            </a:r>
            <a:endParaRPr/>
          </a:p>
        </p:txBody>
      </p:sp>
      <p:sp>
        <p:nvSpPr>
          <p:cNvPr id="51" name="TextBox 50"/>
          <p:cNvSpPr txBox="true"/>
          <p:nvPr/>
        </p:nvSpPr>
        <p:spPr>
          <a:xfrm rot="0" flipH="false" flipV="false">
            <a:off x="7920000" y="3276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true">
                <a:latin typeface="宋体"/>
              </a:defRPr>
            </a:pPr>
            <a:r>
              <a:rPr/>
              <a:t>图例</a:t>
            </a:r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920000" y="3600000"/>
            <a:ext cx="180000" cy="180000"/>
          </a:xfrm>
          <a:prstGeom prst="rect">
            <a:avLst/>
          </a:prstGeom>
          <a:solidFill>
            <a:srgbClr val="FF6B6B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3" name="TextBox 52"/>
          <p:cNvSpPr txBox="true"/>
          <p:nvPr/>
        </p:nvSpPr>
        <p:spPr>
          <a:xfrm>
            <a:off x="8171999" y="3582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false">
                <a:latin typeface="宋体"/>
              </a:defRPr>
            </a:pPr>
            <a:r>
              <a:rPr/>
              <a:t>查询窗口</a:t>
            </a:r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920000" y="3851999"/>
            <a:ext cx="180000" cy="180000"/>
          </a:xfrm>
          <a:prstGeom prst="rect">
            <a:avLst/>
          </a:prstGeom>
          <a:solidFill>
            <a:srgbClr val="A9D18E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5" name="TextBox 54"/>
          <p:cNvSpPr txBox="true"/>
          <p:nvPr/>
        </p:nvSpPr>
        <p:spPr>
          <a:xfrm>
            <a:off x="8171999" y="3834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false">
                <a:latin typeface="宋体"/>
              </a:defRPr>
            </a:pPr>
            <a:r>
              <a:rPr/>
              <a:t>被选中窗口</a:t>
            </a:r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920000" y="4103999"/>
            <a:ext cx="180000" cy="1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7" name="TextBox 56"/>
          <p:cNvSpPr txBox="true"/>
          <p:nvPr/>
        </p:nvSpPr>
        <p:spPr>
          <a:xfrm>
            <a:off x="8171999" y="4086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false">
                <a:latin typeface="宋体"/>
              </a:defRPr>
            </a:pPr>
            <a:r>
              <a:rPr/>
              <a:t>忽略窗口</a:t>
            </a:r>
            <a:endParaRPr/>
          </a:p>
        </p:txBody>
      </p:sp>
      <p:sp>
        <p:nvSpPr>
          <p:cNvPr id="58" name="TextBox 57"/>
          <p:cNvSpPr txBox="true"/>
          <p:nvPr/>
        </p:nvSpPr>
        <p:spPr>
          <a:xfrm>
            <a:off x="720000" y="4320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false">
                <a:latin typeface="宋体"/>
              </a:defRPr>
            </a:pPr>
            <a:r>
              <a:rPr/>
              <a:t>← 第一层：区域级路由（粗粒度）→</a:t>
            </a:r>
            <a:endParaRPr/>
          </a:p>
        </p:txBody>
      </p:sp>
      <p:sp>
        <p:nvSpPr>
          <p:cNvPr id="59" name="TextBox 58"/>
          <p:cNvSpPr txBox="true"/>
          <p:nvPr/>
        </p:nvSpPr>
        <p:spPr>
          <a:xfrm rot="0" flipH="false" flipV="false">
            <a:off x="5987724" y="43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false">
                <a:latin typeface="宋体"/>
              </a:defRPr>
            </a:pPr>
            <a:r>
              <a:rPr/>
              <a:t>← 第二层：令牌级注意力（细粒度）→</a:t>
            </a:r>
            <a:endParaRPr/>
          </a:p>
        </p:txBody>
      </p:sp>
      <p:sp>
        <p:nvSpPr>
          <p:cNvPr id="60" name=""/>
          <p:cNvSpPr txBox="true"/>
          <p:nvPr/>
        </p:nvSpPr>
        <p:spPr>
          <a:xfrm rot="0" flipH="false" flipV="false">
            <a:off x="7804250" y="1718675"/>
            <a:ext cx="3111500" cy="8826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indent="0" algn="l" defTabSz="4572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1300" b="false" i="false" u="none" strike="noStrike">
                <a:solidFill>
                  <a:schemeClr val="tx1">
                    <a:alpha val="100000"/>
                  </a:schemeClr>
                </a:solidFill>
                <a:latin typeface="宋体"/>
                <a:ea typeface="宋体"/>
                <a:cs typeface="+mn-cs"/>
              </a:rPr>
              <a:t>Q: </a:t>
            </a:r>
            <a:r>
              <a:rPr lang="zh-CN" sz="1300" b="false" i="false" u="none" strike="noStrike">
                <a:solidFill>
                  <a:schemeClr val="tx1">
                    <a:alpha val="100000"/>
                  </a:schemeClr>
                </a:solidFill>
                <a:latin typeface="宋体"/>
                <a:ea typeface="宋体"/>
                <a:cs typeface="+mn-cs"/>
              </a:rPr>
              <a:t>查询向量</a:t>
            </a:r>
            <a:r>
              <a:rPr lang="zh-CN" sz="1300" b="false" i="false" u="none" strike="noStrike">
                <a:solidFill>
                  <a:schemeClr val="tx1">
                    <a:alpha val="100000"/>
                  </a:schemeClr>
                </a:solidFill>
                <a:latin typeface="宋体"/>
                <a:ea typeface="宋体"/>
                <a:cs typeface="+mn-cs"/>
              </a:rPr>
              <a:t> (Query)   
</a:t>
            </a:r>
            <a:r>
              <a:rPr lang="zh-CN" sz="1300" b="false" i="false" u="none" strike="noStrike">
                <a:solidFill>
                  <a:schemeClr val="tx1">
                    <a:alpha val="100000"/>
                  </a:schemeClr>
                </a:solidFill>
                <a:latin typeface="宋体"/>
                <a:ea typeface="宋体"/>
                <a:cs typeface="+mn-cs"/>
              </a:rPr>
              <a:t>K: </a:t>
            </a:r>
            <a:r>
              <a:rPr lang="zh-CN" sz="1300" b="false" i="false" u="none" strike="noStrike">
                <a:solidFill>
                  <a:schemeClr val="tx1">
                    <a:alpha val="100000"/>
                  </a:schemeClr>
                </a:solidFill>
                <a:latin typeface="宋体"/>
                <a:ea typeface="宋体"/>
                <a:cs typeface="+mn-cs"/>
              </a:rPr>
              <a:t>键向量</a:t>
            </a:r>
            <a:r>
              <a:rPr lang="zh-CN" sz="1300" b="false" i="false" u="none" strike="noStrike">
                <a:solidFill>
                  <a:schemeClr val="tx1">
                    <a:alpha val="100000"/>
                  </a:schemeClr>
                </a:solidFill>
                <a:latin typeface="宋体"/>
                <a:ea typeface="宋体"/>
                <a:cs typeface="+mn-cs"/>
              </a:rPr>
              <a:t> (Key) 
</a:t>
            </a:r>
            <a:r>
              <a:rPr lang="zh-CN" sz="1300" b="false" i="false" u="none" strike="noStrike">
                <a:solidFill>
                  <a:schemeClr val="tx1">
                    <a:alpha val="100000"/>
                  </a:schemeClr>
                </a:solidFill>
                <a:latin typeface="宋体"/>
                <a:ea typeface="宋体"/>
                <a:cs typeface="+mn-cs"/>
              </a:rPr>
              <a:t>V: </a:t>
            </a:r>
            <a:r>
              <a:rPr lang="zh-CN" sz="1300" b="false" i="false" u="none" strike="noStrike">
                <a:solidFill>
                  <a:schemeClr val="tx1">
                    <a:alpha val="100000"/>
                  </a:schemeClr>
                </a:solidFill>
                <a:latin typeface="宋体"/>
                <a:ea typeface="宋体"/>
                <a:cs typeface="+mn-cs"/>
              </a:rPr>
              <a:t>值向量</a:t>
            </a:r>
            <a:r>
              <a:rPr lang="zh-CN" sz="1300" b="false" i="false" u="none" strike="noStrike">
                <a:solidFill>
                  <a:schemeClr val="tx1">
                    <a:alpha val="100000"/>
                  </a:schemeClr>
                </a:solidFill>
                <a:latin typeface="宋体"/>
                <a:ea typeface="宋体"/>
                <a:cs typeface="+mn-cs"/>
              </a:rPr>
              <a:t> (Value)  </a:t>
            </a:r>
            <a:br>
              <a:rPr/>
            </a:br>
            <a:r>
              <a:rPr lang="zh-CN" sz="1300" b="false" i="false" u="none" strike="noStrike">
                <a:solidFill>
                  <a:schemeClr val="tx1">
                    <a:alpha val="100000"/>
                  </a:schemeClr>
                </a:solidFill>
                <a:latin typeface="宋体"/>
                <a:ea typeface="宋体"/>
                <a:cs typeface="+mn-cs"/>
              </a:rPr>
              <a:t>A: </a:t>
            </a:r>
            <a:r>
              <a:rPr lang="zh-CN" sz="1300" b="false" i="false" u="none" strike="noStrike">
                <a:solidFill>
                  <a:schemeClr val="tx1">
                    <a:alpha val="100000"/>
                  </a:schemeClr>
                </a:solidFill>
                <a:latin typeface="宋体"/>
                <a:ea typeface="宋体"/>
                <a:cs typeface="+mn-cs"/>
              </a:rPr>
              <a:t>注意力权重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2026-01-15T03:43:49Z</dcterms:created>
  <dcterms:modified xsi:type="dcterms:W3CDTF">2026-01-15T03:43:49Z</dcterms:modified>
</cp:coreProperties>
</file>