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tableStyles.xml" ContentType="application/vnd.openxmlformats-officedocument.presentationml.tableStyles+xml"/>
  <Override PartName="/ppt/slideLayouts/slideLayout9.xml" ContentType="application/vnd.openxmlformats-officedocument.presentationml.slideLayout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sldIdLst>
    <p:sldId id="256" r:id="rId1"/>
    <p:sldId id="257" r:id="rId2"/>
  </p:sldIdLst>
  <p:sldSz cx="9144000" cy="6858000" type="screen4x3"/>
  <p:notesSz cx="6858000" cy="9144000"/>
  <p:defaultTextStyle>
    <a:defPPr>
      <a:defRPr lang="en-US"/>
    </a:defPPr>
    <a:lvl1pPr marL="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tableStyles.xml><?xml version="1.0" encoding="utf-8"?>
<a:tblStyleLst xmlns:a="http://schemas.openxmlformats.org/drawingml/2006/main" def="{5C22544A-7EE6-4342-B048-85BDC9FD1C3A}">
  <a:tblStyle styleId="{58542034-FE4F-4ADA-92B8-4CA66D0F0DF3}" styleName="腾讯文档-基本">
    <a:wholeTbl>
      <a:tcTxStyle>
        <a:fontRef idx="minor"/>
        <a:srgbClr val="000000"/>
      </a:tcTxStyle>
      <a:tcStyle>
        <a:tcBdr>
          <a:left>
            <a:ln w="12700" cmpd="sng">
              <a:solidFill>
                <a:srgbClr val="999999"/>
              </a:solidFill>
            </a:ln>
          </a:left>
          <a:right>
            <a:ln w="12700" cmpd="sng">
              <a:solidFill>
                <a:srgbClr val="999999"/>
              </a:solidFill>
            </a:ln>
          </a:right>
          <a:top>
            <a:ln w="12700" cmpd="sng">
              <a:solidFill>
                <a:srgbClr val="999999"/>
              </a:solidFill>
            </a:ln>
          </a:top>
          <a:bottom>
            <a:ln w="12700" cmpd="sng">
              <a:solidFill>
                <a:srgbClr val="999999"/>
              </a:solidFill>
            </a:ln>
          </a:bottom>
          <a:insideH>
            <a:ln w="12700" cmpd="sng">
              <a:solidFill>
                <a:srgbClr val="999999"/>
              </a:solidFill>
            </a:ln>
          </a:insideH>
          <a:insideV>
            <a:ln w="12700" cmpd="sng">
              <a:solidFill>
                <a:srgbClr val="999999"/>
              </a:solidFill>
            </a:ln>
          </a:insideV>
        </a:tcBdr>
        <a:fill>
          <a:solidFill>
            <a:srgbClr val="FFFFFF"/>
          </a:solidFill>
        </a:fill>
      </a:tcStyle>
    </a:wholeTbl>
  </a:tblStyle>
</a:tblStyleLst>
</file>

<file path=ppt/_rels/presentation.xml.rels><?xml version="1.0" encoding="UTF-8" standalone="yes"?><Relationships xmlns="http://schemas.openxmlformats.org/package/2006/relationships"><Relationship Id="rId2" Type="http://schemas.openxmlformats.org/officeDocument/2006/relationships/slide" Target="slides/slide2.xml" /><Relationship Id="rId3" Type="http://schemas.openxmlformats.org/officeDocument/2006/relationships/tableStyles" Target="tableStyles.xml" /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/Relationship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true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true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/>
            <a:r>
              <a:rPr lang="en-US" smtClean="fals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9" name="Content Placeholder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10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11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12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true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true" cap="all"/>
            </a:lvl1pPr>
          </a:lstStyle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21" name="Text Placeholder 2"/>
          <p:cNvSpPr>
            <a:spLocks noGrp="true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22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23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24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woObj">
  <p:cSld name="Two Content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27" name="Content Placeholder 2"/>
          <p:cNvSpPr>
            <a:spLocks noGrp="true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28" name="Content Placeholder 3"/>
          <p:cNvSpPr>
            <a:spLocks noGrp="true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29" name="Date Placeholder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30" name="Footer Placeholder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31" name="Slide Number Placeholder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twoTxTwoObj">
  <p:cSld name="Comparison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itle 1"/>
          <p:cNvSpPr>
            <a:spLocks noGrp="true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34" name="Text Placeholder 2"/>
          <p:cNvSpPr>
            <a:spLocks noGrp="true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true"/>
            </a:lvl1pPr>
            <a:lvl2pPr marL="457200" indent="0">
              <a:buNone/>
              <a:defRPr sz="2000" b="true"/>
            </a:lvl2pPr>
            <a:lvl3pPr marL="914400" indent="0">
              <a:buNone/>
              <a:defRPr sz="1800" b="true"/>
            </a:lvl3pPr>
            <a:lvl4pPr marL="1371600" indent="0">
              <a:buNone/>
              <a:defRPr sz="1600" b="true"/>
            </a:lvl4pPr>
            <a:lvl5pPr marL="1828800" indent="0">
              <a:buNone/>
              <a:defRPr sz="1600" b="true"/>
            </a:lvl5pPr>
            <a:lvl6pPr marL="2286000" indent="0">
              <a:buNone/>
              <a:defRPr sz="1600" b="true"/>
            </a:lvl6pPr>
            <a:lvl7pPr marL="2743200" indent="0">
              <a:buNone/>
              <a:defRPr sz="1600" b="true"/>
            </a:lvl7pPr>
            <a:lvl8pPr marL="3200400" indent="0">
              <a:buNone/>
              <a:defRPr sz="1600" b="true"/>
            </a:lvl8pPr>
            <a:lvl9pPr marL="3657600" indent="0">
              <a:buNone/>
              <a:defRPr sz="1600" b="true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35" name="Content Placeholder 3"/>
          <p:cNvSpPr>
            <a:spLocks noGrp="true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36" name="Text Placeholder 4"/>
          <p:cNvSpPr>
            <a:spLocks noGrp="true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true"/>
            </a:lvl1pPr>
            <a:lvl2pPr marL="457200" indent="0">
              <a:buNone/>
              <a:defRPr sz="2000" b="true"/>
            </a:lvl2pPr>
            <a:lvl3pPr marL="914400" indent="0">
              <a:buNone/>
              <a:defRPr sz="1800" b="true"/>
            </a:lvl3pPr>
            <a:lvl4pPr marL="1371600" indent="0">
              <a:buNone/>
              <a:defRPr sz="1600" b="true"/>
            </a:lvl4pPr>
            <a:lvl5pPr marL="1828800" indent="0">
              <a:buNone/>
              <a:defRPr sz="1600" b="true"/>
            </a:lvl5pPr>
            <a:lvl6pPr marL="2286000" indent="0">
              <a:buNone/>
              <a:defRPr sz="1600" b="true"/>
            </a:lvl6pPr>
            <a:lvl7pPr marL="2743200" indent="0">
              <a:buNone/>
              <a:defRPr sz="1600" b="true"/>
            </a:lvl7pPr>
            <a:lvl8pPr marL="3200400" indent="0">
              <a:buNone/>
              <a:defRPr sz="1600" b="true"/>
            </a:lvl8pPr>
            <a:lvl9pPr marL="3657600" indent="0">
              <a:buNone/>
              <a:defRPr sz="1600" b="true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37" name="Content Placeholder 5"/>
          <p:cNvSpPr>
            <a:spLocks noGrp="true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38" name="Date Placeholder 6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39" name="Footer Placeholder 7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0" name="Slide Number Placeholder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43" name="Date Placeholder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44" name="Footer Placeholder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5" name="Slide Number Placeholder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Date Placeholder 1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48" name="Footer Placeholder 2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9" name="Slide Number Placeholder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type="objTx">
  <p:cSld name="Content with Caption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1"/>
          <p:cNvSpPr>
            <a:spLocks noGrp="true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true"/>
            </a:lvl1pPr>
          </a:lstStyle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52" name="Content Placeholder 2"/>
          <p:cNvSpPr>
            <a:spLocks noGrp="true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53" name="Text Placeholder 3"/>
          <p:cNvSpPr>
            <a:spLocks noGrp="true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54" name="Date Placeholder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55" name="Footer Placeholder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56" name="Slide Number Placeholder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type="picTx">
  <p:cSld name="Picture with Caption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1"/>
          <p:cNvSpPr>
            <a:spLocks noGrp="true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true"/>
            </a:lvl1pPr>
          </a:lstStyle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59" name="Picture Placeholder 2"/>
          <p:cNvSpPr>
            <a:spLocks noGrp="true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/>
            <a:endParaRPr lang="en-US"/>
          </a:p>
        </p:txBody>
      </p:sp>
      <p:sp>
        <p:nvSpPr>
          <p:cNvPr id="60" name="Text Placeholder 3"/>
          <p:cNvSpPr>
            <a:spLocks noGrp="true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61" name="Date Placeholder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62" name="Footer Placeholder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3" name="Slide Number Placeholder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type="vertTx">
  <p:cSld name="Title and Vertical Text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66" name="Vertical Text Placeholder 2"/>
          <p:cNvSpPr>
            <a:spLocks noGrp="true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67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68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9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type="vertTitleAndTx">
  <p:cSld name="Vertical Title and Text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Vertical Title 1"/>
          <p:cNvSpPr>
            <a:spLocks noGrp="true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15" name="Vertical Text Placeholder 2"/>
          <p:cNvSpPr>
            <a:spLocks noGrp="true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16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17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18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9" Type="http://schemas.openxmlformats.org/officeDocument/2006/relationships/slideLayout" Target="../slideLayouts/slideLayout10.xml" /><Relationship Id="rId3" Type="http://schemas.openxmlformats.org/officeDocument/2006/relationships/slideLayout" Target="../slideLayouts/slideLayout4.xml" /><Relationship Id="rId8" Type="http://schemas.openxmlformats.org/officeDocument/2006/relationships/slideLayout" Target="../slideLayouts/slideLayout9.xml" /><Relationship Id="rId7" Type="http://schemas.openxmlformats.org/officeDocument/2006/relationships/slideLayout" Target="../slideLayouts/slideLayout8.xml" /><Relationship Id="rId4" Type="http://schemas.openxmlformats.org/officeDocument/2006/relationships/slideLayout" Target="../slideLayouts/slideLayout5.xml" /><Relationship Id="rId5" Type="http://schemas.openxmlformats.org/officeDocument/2006/relationships/slideLayout" Target="../slideLayouts/slideLayout6.xml" /><Relationship Id="rId1" Type="http://schemas.openxmlformats.org/officeDocument/2006/relationships/slideLayout" Target="../slideLayouts/slideLayout2.xml" /><Relationship Id="rId11" Type="http://schemas.openxmlformats.org/officeDocument/2006/relationships/theme" Target="../theme/theme1.xml" /><Relationship Id="rId2" Type="http://schemas.openxmlformats.org/officeDocument/2006/relationships/slideLayout" Target="../slideLayouts/slideLayout3.xml" /><Relationship Id="rId10" Type="http://schemas.openxmlformats.org/officeDocument/2006/relationships/slideLayout" Target="../slideLayouts/slideLayout11.xml" /><Relationship Id="rId6" Type="http://schemas.openxmlformats.org/officeDocument/2006/relationships/slideLayout" Target="../slideLayouts/slideLayout7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true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false" anchor="ctr">
            <a:normAutofit/>
          </a:bodyPr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true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false">
            <a:normAutofit/>
          </a:bodyPr>
          <a:lstStyle/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true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false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true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false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endParaRPr lang="en-US"/>
          </a:p>
        </p:txBody>
      </p:sp>
      <p:sp>
        <p:nvSpPr>
          <p:cNvPr id="6" name="Slide Number Placeholder 5"/>
          <p:cNvSpPr>
            <a:spLocks noGrp="true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false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xStyles>
    <p:titleStyle>
      <a:lvl1pPr algn="ctr" defTabSz="457200" rtl="false" eaLnBrk="true" latinLnBrk="false" hangingPunct="true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false" eaLnBrk="true" latinLnBrk="false" hangingPunct="true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false" eaLnBrk="true" latinLnBrk="false" hangingPunct="true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false" eaLnBrk="true" latinLnBrk="false" hangingPunct="true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false" eaLnBrk="true" latinLnBrk="false" hangingPunct="true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false" eaLnBrk="true" latinLnBrk="false" hangingPunct="true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false" eaLnBrk="true" latinLnBrk="false" hangingPunct="true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false" eaLnBrk="true" latinLnBrk="false" hangingPunct="true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false" eaLnBrk="true" latinLnBrk="false" hangingPunct="true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false" eaLnBrk="true" latinLnBrk="false" hangingPunct="true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true"/>
          <p:nvPr/>
        </p:nvSpPr>
        <p:spPr>
          <a:xfrm>
            <a:off x="4434840" y="27432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false">
                <a:solidFill>
                  <a:srgbClr val="505050"/>
                </a:solidFill>
                <a:latin typeface="Times New Roman"/>
              </a:defRPr>
            </a:pPr>
            <a:r>
              <a:rPr/>
              <a:t>X</a:t>
            </a:r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4572000" y="530352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291840" y="640080"/>
            <a:ext cx="1280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640080"/>
            <a:ext cx="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" y="640080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722376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0" y="722376"/>
            <a:ext cx="91440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4800" y="722376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29200" y="722376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771900" y="749808"/>
            <a:ext cx="6858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800">
                <a:solidFill>
                  <a:srgbClr val="000000"/>
                </a:solidFill>
                <a:latin typeface="Times New Roman"/>
              </a:defRPr>
            </a:pPr>
            <a:r>
              <a:rPr/>
              <a:t>X Avg Pool</a:t>
            </a: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86300" y="749808"/>
            <a:ext cx="6858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800">
                <a:solidFill>
                  <a:srgbClr val="000000"/>
                </a:solidFill>
                <a:latin typeface="Times New Roman"/>
              </a:defRPr>
            </a:pPr>
            <a:r>
              <a:rPr/>
              <a:t>Y Avg Pool</a:t>
            </a:r>
            <a:endParaRPr/>
          </a:p>
        </p:txBody>
      </p:sp>
      <p:sp>
        <p:nvSpPr>
          <p:cNvPr id="13" name="TextBox 12"/>
          <p:cNvSpPr txBox="true"/>
          <p:nvPr/>
        </p:nvSpPr>
        <p:spPr>
          <a:xfrm>
            <a:off x="3086100" y="768096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true">
                <a:solidFill>
                  <a:srgbClr val="505050"/>
                </a:solidFill>
                <a:latin typeface="Times New Roman"/>
              </a:defRPr>
            </a:pPr>
            <a:r>
              <a:rPr/>
              <a:t>C×H×1</a:t>
            </a:r>
            <a:endParaRPr/>
          </a:p>
        </p:txBody>
      </p:sp>
      <p:sp>
        <p:nvSpPr>
          <p:cNvPr id="14" name="TextBox 13"/>
          <p:cNvSpPr txBox="true"/>
          <p:nvPr/>
        </p:nvSpPr>
        <p:spPr>
          <a:xfrm>
            <a:off x="5417820" y="768096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true">
                <a:solidFill>
                  <a:srgbClr val="505050"/>
                </a:solidFill>
                <a:latin typeface="Times New Roman"/>
              </a:defRPr>
            </a:pPr>
            <a:r>
              <a:rPr/>
              <a:t>C×1×W</a:t>
            </a:r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4114800" y="1024128"/>
            <a:ext cx="0" cy="82296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029200" y="1024128"/>
            <a:ext cx="0" cy="82296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14800" y="1106424"/>
            <a:ext cx="91440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572000" y="1106424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794760" y="1133856"/>
            <a:ext cx="155448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1000">
                <a:solidFill>
                  <a:srgbClr val="000000"/>
                </a:solidFill>
                <a:latin typeface="Times New Roman"/>
              </a:defRPr>
            </a:pPr>
            <a:r>
              <a:rPr/>
              <a:t>Concat + Conv2d</a:t>
            </a:r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4572000" y="1453895"/>
            <a:ext cx="0" cy="10972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794760" y="1563624"/>
            <a:ext cx="155448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1000">
                <a:solidFill>
                  <a:srgbClr val="000000"/>
                </a:solidFill>
                <a:latin typeface="Times New Roman"/>
              </a:defRPr>
            </a:pPr>
            <a:r>
              <a:rPr/>
              <a:t>BatchNorm + Non-linear</a:t>
            </a:r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4572000" y="1883663"/>
            <a:ext cx="0" cy="82297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true"/>
          <p:nvPr/>
        </p:nvSpPr>
        <p:spPr>
          <a:xfrm>
            <a:off x="4434840" y="1901951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true">
                <a:solidFill>
                  <a:srgbClr val="505050"/>
                </a:solidFill>
                <a:latin typeface="Times New Roman"/>
              </a:defRPr>
            </a:pPr>
            <a:r>
              <a:rPr/>
              <a:t>split</a:t>
            </a:r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4114800" y="1965960"/>
            <a:ext cx="91440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114800" y="1965960"/>
            <a:ext cx="0" cy="2743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029200" y="1965960"/>
            <a:ext cx="0" cy="2743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771900" y="1993391"/>
            <a:ext cx="6858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900">
                <a:solidFill>
                  <a:srgbClr val="000000"/>
                </a:solidFill>
                <a:latin typeface="Times New Roman"/>
              </a:defRPr>
            </a:pPr>
            <a:r>
              <a:rPr/>
              <a:t>Conv2d</a:t>
            </a:r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686300" y="1993391"/>
            <a:ext cx="6858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900">
                <a:solidFill>
                  <a:srgbClr val="000000"/>
                </a:solidFill>
                <a:latin typeface="Times New Roman"/>
              </a:defRPr>
            </a:pPr>
            <a:r>
              <a:rPr/>
              <a:t>Conv2d</a:t>
            </a:r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4114800" y="2267711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029200" y="2267711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771900" y="2377439"/>
            <a:ext cx="6858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900">
                <a:solidFill>
                  <a:srgbClr val="000000"/>
                </a:solidFill>
                <a:latin typeface="Times New Roman"/>
              </a:defRPr>
            </a:pPr>
            <a:r>
              <a:rPr/>
              <a:t>Sigmoid</a:t>
            </a:r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686300" y="2377439"/>
            <a:ext cx="6858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900">
                <a:solidFill>
                  <a:srgbClr val="000000"/>
                </a:solidFill>
                <a:latin typeface="Times New Roman"/>
              </a:defRPr>
            </a:pPr>
            <a:r>
              <a:rPr/>
              <a:t>Sigmoid</a:t>
            </a:r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4114800" y="2651759"/>
            <a:ext cx="0" cy="15544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029200" y="2651759"/>
            <a:ext cx="0" cy="15544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true">
            <a:off x="3794760" y="2807207"/>
            <a:ext cx="32004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029200" y="2807207"/>
            <a:ext cx="32004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794760" y="2807207"/>
            <a:ext cx="155448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1000">
                <a:solidFill>
                  <a:srgbClr val="000000"/>
                </a:solidFill>
                <a:latin typeface="Times New Roman"/>
              </a:defRPr>
            </a:pPr>
            <a:r>
              <a:rPr/>
              <a:t>Re-weight</a:t>
            </a:r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4572000" y="3127247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91840" y="640080"/>
            <a:ext cx="0" cy="271119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291840" y="3351275"/>
            <a:ext cx="11658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457700" y="3236975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1200" b="true">
                <a:solidFill>
                  <a:srgbClr val="000000"/>
                </a:solidFill>
              </a:defRPr>
            </a:pPr>
            <a:r>
              <a:rPr/>
              <a:t>+</a:t>
            </a:r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4572000" y="3575303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291840" y="3685031"/>
            <a:ext cx="1280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572000" y="3685031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3794760" y="3794759"/>
            <a:ext cx="1554480" cy="480059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900">
                <a:solidFill>
                  <a:srgbClr val="000000"/>
                </a:solidFill>
                <a:latin typeface="Times New Roman"/>
              </a:defRPr>
            </a:pPr>
            <a:r>
              <a:rPr/>
              <a:t>3×3 Conv+BN+ReLU ×2</a:t>
            </a:r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572000" y="4274819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291840" y="3685031"/>
            <a:ext cx="0" cy="813816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291840" y="4498847"/>
            <a:ext cx="11658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457700" y="4384547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1200" b="true">
                <a:solidFill>
                  <a:srgbClr val="000000"/>
                </a:solidFill>
              </a:defRPr>
            </a:pPr>
            <a:r>
              <a:rPr/>
              <a:t>+</a:t>
            </a:r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4572000" y="4722875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291840" y="4832603"/>
            <a:ext cx="1280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572000" y="4832603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3794760" y="4942331"/>
            <a:ext cx="155448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1000">
                <a:solidFill>
                  <a:srgbClr val="000000"/>
                </a:solidFill>
                <a:latin typeface="Times New Roman"/>
              </a:defRPr>
            </a:pPr>
            <a:r>
              <a:rPr/>
              <a:t>Global Avg Pool</a:t>
            </a:r>
            <a:endParaRPr/>
          </a:p>
        </p:txBody>
      </p:sp>
      <p:sp>
        <p:nvSpPr>
          <p:cNvPr id="54" name="TextBox 53"/>
          <p:cNvSpPr txBox="true"/>
          <p:nvPr/>
        </p:nvSpPr>
        <p:spPr>
          <a:xfrm>
            <a:off x="5440679" y="4969764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true">
                <a:solidFill>
                  <a:srgbClr val="505050"/>
                </a:solidFill>
                <a:latin typeface="Times New Roman"/>
              </a:defRPr>
            </a:pPr>
            <a:r>
              <a:rPr/>
              <a:t>1×1×C</a:t>
            </a:r>
            <a:endParaRPr/>
          </a:p>
        </p:txBody>
      </p:sp>
      <p:cxnSp>
        <p:nvCxnSpPr>
          <p:cNvPr id="55" name="Connector 54"/>
          <p:cNvCxnSpPr/>
          <p:nvPr/>
        </p:nvCxnSpPr>
        <p:spPr>
          <a:xfrm>
            <a:off x="4572000" y="5262371"/>
            <a:ext cx="0" cy="82296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639312" y="5344667"/>
            <a:ext cx="1865376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639312" y="5344667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3364992" y="5372099"/>
            <a:ext cx="5486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700">
                <a:solidFill>
                  <a:srgbClr val="000000"/>
                </a:solidFill>
                <a:latin typeface="Times New Roman"/>
              </a:defRPr>
            </a:pPr>
            <a:r>
              <a:rPr/>
              <a:t>FC+ReLU</a:t>
            </a:r>
            <a:endParaRPr/>
          </a:p>
        </p:txBody>
      </p:sp>
      <p:cxnSp>
        <p:nvCxnSpPr>
          <p:cNvPr id="59" name="Connector 58"/>
          <p:cNvCxnSpPr/>
          <p:nvPr/>
        </p:nvCxnSpPr>
        <p:spPr>
          <a:xfrm>
            <a:off x="3639312" y="5646419"/>
            <a:ext cx="0" cy="7315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261104" y="5344667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3986784" y="5372099"/>
            <a:ext cx="5486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700">
                <a:solidFill>
                  <a:srgbClr val="000000"/>
                </a:solidFill>
                <a:latin typeface="Times New Roman"/>
              </a:defRPr>
            </a:pPr>
            <a:r>
              <a:rPr/>
              <a:t>FC+ReLU</a:t>
            </a:r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4261104" y="5646419"/>
            <a:ext cx="0" cy="7315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882896" y="5344667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4608576" y="5372099"/>
            <a:ext cx="5486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700">
                <a:solidFill>
                  <a:srgbClr val="000000"/>
                </a:solidFill>
                <a:latin typeface="Times New Roman"/>
              </a:defRPr>
            </a:pPr>
            <a:r>
              <a:rPr/>
              <a:t>FC+ReLU</a:t>
            </a:r>
            <a:endParaRPr/>
          </a:p>
        </p:txBody>
      </p:sp>
      <p:cxnSp>
        <p:nvCxnSpPr>
          <p:cNvPr id="65" name="Connector 64"/>
          <p:cNvCxnSpPr/>
          <p:nvPr/>
        </p:nvCxnSpPr>
        <p:spPr>
          <a:xfrm>
            <a:off x="4882896" y="5646419"/>
            <a:ext cx="0" cy="7315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504688" y="5344667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5230368" y="5372099"/>
            <a:ext cx="5486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700">
                <a:solidFill>
                  <a:srgbClr val="000000"/>
                </a:solidFill>
                <a:latin typeface="Times New Roman"/>
              </a:defRPr>
            </a:pPr>
            <a:r>
              <a:rPr/>
              <a:t>FC+ReLU</a:t>
            </a:r>
            <a:endParaRPr/>
          </a:p>
        </p:txBody>
      </p:sp>
      <p:cxnSp>
        <p:nvCxnSpPr>
          <p:cNvPr id="68" name="Connector 67"/>
          <p:cNvCxnSpPr/>
          <p:nvPr/>
        </p:nvCxnSpPr>
        <p:spPr>
          <a:xfrm>
            <a:off x="5504688" y="5646419"/>
            <a:ext cx="0" cy="7315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true"/>
          <p:nvPr/>
        </p:nvSpPr>
        <p:spPr>
          <a:xfrm>
            <a:off x="5824728" y="5390387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true">
                <a:solidFill>
                  <a:srgbClr val="505050"/>
                </a:solidFill>
                <a:latin typeface="Times New Roman"/>
              </a:defRPr>
            </a:pPr>
            <a:r>
              <a:rPr/>
              <a:t>1×1×C/r ×4</a:t>
            </a:r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3639312" y="5719571"/>
            <a:ext cx="1865376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572000" y="5719571"/>
            <a:ext cx="0" cy="4572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4114800" y="5765291"/>
            <a:ext cx="9144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900">
                <a:solidFill>
                  <a:srgbClr val="000000"/>
                </a:solidFill>
                <a:latin typeface="Times New Roman"/>
              </a:defRPr>
            </a:pPr>
            <a:r>
              <a:rPr/>
              <a:t>Concat</a:t>
            </a:r>
            <a:endParaRPr/>
          </a:p>
        </p:txBody>
      </p:sp>
      <p:cxnSp>
        <p:nvCxnSpPr>
          <p:cNvPr id="73" name="Connector 72"/>
          <p:cNvCxnSpPr/>
          <p:nvPr/>
        </p:nvCxnSpPr>
        <p:spPr>
          <a:xfrm>
            <a:off x="4572000" y="6039611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3794760" y="6149339"/>
            <a:ext cx="155448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1000">
                <a:solidFill>
                  <a:srgbClr val="000000"/>
                </a:solidFill>
                <a:latin typeface="Times New Roman"/>
              </a:defRPr>
            </a:pPr>
            <a:r>
              <a:rPr/>
              <a:t>FC + Sigmoid</a:t>
            </a:r>
            <a:endParaRPr/>
          </a:p>
        </p:txBody>
      </p:sp>
      <p:sp>
        <p:nvSpPr>
          <p:cNvPr id="75" name="TextBox 74"/>
          <p:cNvSpPr txBox="true"/>
          <p:nvPr/>
        </p:nvSpPr>
        <p:spPr>
          <a:xfrm>
            <a:off x="5440679" y="6176771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true">
                <a:solidFill>
                  <a:srgbClr val="505050"/>
                </a:solidFill>
                <a:latin typeface="Times New Roman"/>
              </a:defRPr>
            </a:pPr>
            <a:r>
              <a:rPr/>
              <a:t>1×1×C</a:t>
            </a:r>
            <a:endParaRPr/>
          </a:p>
        </p:txBody>
      </p:sp>
      <p:cxnSp>
        <p:nvCxnSpPr>
          <p:cNvPr id="76" name="Connector 75"/>
          <p:cNvCxnSpPr/>
          <p:nvPr/>
        </p:nvCxnSpPr>
        <p:spPr>
          <a:xfrm>
            <a:off x="4572000" y="6469379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291840" y="4832603"/>
            <a:ext cx="0" cy="1860804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291840" y="6693407"/>
            <a:ext cx="11658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4457700" y="6579107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1200" b="true">
                <a:solidFill>
                  <a:srgbClr val="000000"/>
                </a:solidFill>
              </a:defRPr>
            </a:pPr>
            <a:r>
              <a:rPr/>
              <a:t>×</a:t>
            </a:r>
            <a:endParaRPr/>
          </a:p>
        </p:txBody>
      </p:sp>
      <p:sp>
        <p:nvSpPr>
          <p:cNvPr id="80" name="TextBox 79"/>
          <p:cNvSpPr txBox="true"/>
          <p:nvPr/>
        </p:nvSpPr>
        <p:spPr>
          <a:xfrm>
            <a:off x="4759452" y="6597395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false">
                <a:solidFill>
                  <a:srgbClr val="505050"/>
                </a:solidFill>
                <a:latin typeface="Times New Roman"/>
              </a:defRPr>
            </a:pPr>
            <a:r>
              <a:rPr/>
              <a:t>Scale</a:t>
            </a:r>
            <a:endParaRPr/>
          </a:p>
        </p:txBody>
      </p:sp>
      <p:cxnSp>
        <p:nvCxnSpPr>
          <p:cNvPr id="81" name="Connector 80"/>
          <p:cNvCxnSpPr/>
          <p:nvPr/>
        </p:nvCxnSpPr>
        <p:spPr>
          <a:xfrm>
            <a:off x="4572000" y="6917435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true"/>
          <p:nvPr/>
        </p:nvSpPr>
        <p:spPr>
          <a:xfrm>
            <a:off x="4434840" y="7027163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false">
                <a:solidFill>
                  <a:srgbClr val="505050"/>
                </a:solidFill>
                <a:latin typeface="Times New Roman"/>
              </a:defRPr>
            </a:pPr>
            <a:r>
              <a:rPr/>
              <a:t>X̃</a:t>
            </a:r>
            <a:endParaRPr/>
          </a:p>
        </p:txBody>
      </p:sp>
      <p:sp>
        <p:nvSpPr>
          <p:cNvPr id="83" name="TextBox 82"/>
          <p:cNvSpPr txBox="true"/>
          <p:nvPr/>
        </p:nvSpPr>
        <p:spPr>
          <a:xfrm>
            <a:off x="3794760" y="7301483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false">
                <a:solidFill>
                  <a:srgbClr val="505050"/>
                </a:solidFill>
                <a:latin typeface="Times New Roman"/>
              </a:defRPr>
            </a:pPr>
            <a:r>
              <a:rPr/>
              <a:t>SAE Module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"/>
          <p:cNvGrpSpPr/>
          <p:nvPr/>
        </p:nvGrpSpPr>
        <p:grpSpPr>
          <a:xfrm rot="0" flipH="false" flipV="false">
            <a:off x="2878667" y="127625"/>
            <a:ext cx="4213456" cy="6531108"/>
            <a:chOff x="2982872" y="240974"/>
            <a:chExt cx="4213456" cy="6531108"/>
          </a:xfrm>
        </p:grpSpPr>
        <p:sp>
          <p:nvSpPr>
            <p:cNvPr id="86" name="TextBox 1"/>
            <p:cNvSpPr txBox="true"/>
            <p:nvPr/>
          </p:nvSpPr>
          <p:spPr>
            <a:xfrm>
              <a:off x="4434840" y="274320"/>
              <a:ext cx="13716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200" i="false">
                  <a:solidFill>
                    <a:srgbClr val="505050"/>
                  </a:solidFill>
                  <a:latin typeface="Times New Roman"/>
                </a:defRPr>
              </a:pPr>
              <a:r>
                <a:rPr/>
                <a:t>X</a:t>
              </a:r>
              <a:endParaRPr/>
            </a:p>
          </p:txBody>
        </p:sp>
        <p:cxnSp>
          <p:nvCxnSpPr>
            <p:cNvPr id="87" name="Connector 2"/>
            <p:cNvCxnSpPr/>
            <p:nvPr/>
          </p:nvCxnSpPr>
          <p:spPr>
            <a:xfrm>
              <a:off x="4572000" y="530352"/>
              <a:ext cx="0" cy="10972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3"/>
            <p:cNvCxnSpPr/>
            <p:nvPr/>
          </p:nvCxnSpPr>
          <p:spPr>
            <a:xfrm>
              <a:off x="3291840" y="640080"/>
              <a:ext cx="128016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4"/>
            <p:cNvCxnSpPr/>
            <p:nvPr/>
          </p:nvCxnSpPr>
          <p:spPr>
            <a:xfrm>
              <a:off x="3291840" y="640080"/>
              <a:ext cx="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5"/>
            <p:cNvCxnSpPr/>
            <p:nvPr/>
          </p:nvCxnSpPr>
          <p:spPr>
            <a:xfrm>
              <a:off x="4572000" y="640080"/>
              <a:ext cx="0" cy="10972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or 6"/>
            <p:cNvCxnSpPr/>
            <p:nvPr/>
          </p:nvCxnSpPr>
          <p:spPr>
            <a:xfrm>
              <a:off x="4572000" y="722376"/>
              <a:ext cx="0" cy="27432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or 7"/>
            <p:cNvCxnSpPr/>
            <p:nvPr/>
          </p:nvCxnSpPr>
          <p:spPr>
            <a:xfrm>
              <a:off x="4114800" y="722376"/>
              <a:ext cx="91440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or 8"/>
            <p:cNvCxnSpPr/>
            <p:nvPr/>
          </p:nvCxnSpPr>
          <p:spPr>
            <a:xfrm>
              <a:off x="4114800" y="722376"/>
              <a:ext cx="0" cy="27432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"/>
            <p:cNvCxnSpPr/>
            <p:nvPr/>
          </p:nvCxnSpPr>
          <p:spPr>
            <a:xfrm>
              <a:off x="5029200" y="722376"/>
              <a:ext cx="0" cy="27432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ectangle 10"/>
            <p:cNvSpPr/>
            <p:nvPr/>
          </p:nvSpPr>
          <p:spPr>
            <a:xfrm>
              <a:off x="3771900" y="749808"/>
              <a:ext cx="685800" cy="27432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8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X Avg Pool</a:t>
              </a:r>
              <a:endParaRPr/>
            </a:p>
          </p:txBody>
        </p:sp>
        <p:sp>
          <p:nvSpPr>
            <p:cNvPr id="96" name="Rectangle 11"/>
            <p:cNvSpPr/>
            <p:nvPr/>
          </p:nvSpPr>
          <p:spPr>
            <a:xfrm>
              <a:off x="4686300" y="749808"/>
              <a:ext cx="685800" cy="27432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8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Y Avg Pool</a:t>
              </a:r>
              <a:endParaRPr/>
            </a:p>
          </p:txBody>
        </p:sp>
        <p:sp>
          <p:nvSpPr>
            <p:cNvPr id="97" name="TextBox 12"/>
            <p:cNvSpPr txBox="true"/>
            <p:nvPr/>
          </p:nvSpPr>
          <p:spPr>
            <a:xfrm>
              <a:off x="3086100" y="768096"/>
              <a:ext cx="13716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800" i="true">
                  <a:solidFill>
                    <a:srgbClr val="505050"/>
                  </a:solidFill>
                  <a:latin typeface="Times New Roman"/>
                </a:defRPr>
              </a:pPr>
              <a:r>
                <a:rPr/>
                <a:t>C×H×1</a:t>
              </a:r>
              <a:endParaRPr/>
            </a:p>
          </p:txBody>
        </p:sp>
        <p:sp>
          <p:nvSpPr>
            <p:cNvPr id="98" name="TextBox 13"/>
            <p:cNvSpPr txBox="true"/>
            <p:nvPr/>
          </p:nvSpPr>
          <p:spPr>
            <a:xfrm>
              <a:off x="5417820" y="768096"/>
              <a:ext cx="13716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800" i="true">
                  <a:solidFill>
                    <a:srgbClr val="505050"/>
                  </a:solidFill>
                  <a:latin typeface="Times New Roman"/>
                </a:defRPr>
              </a:pPr>
              <a:r>
                <a:rPr/>
                <a:t>C×1×W</a:t>
              </a:r>
              <a:endParaRPr/>
            </a:p>
          </p:txBody>
        </p:sp>
        <p:cxnSp>
          <p:nvCxnSpPr>
            <p:cNvPr id="99" name="Connector 14"/>
            <p:cNvCxnSpPr/>
            <p:nvPr/>
          </p:nvCxnSpPr>
          <p:spPr>
            <a:xfrm>
              <a:off x="4114800" y="1024128"/>
              <a:ext cx="0" cy="82296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15"/>
            <p:cNvCxnSpPr/>
            <p:nvPr/>
          </p:nvCxnSpPr>
          <p:spPr>
            <a:xfrm>
              <a:off x="5029200" y="1024128"/>
              <a:ext cx="0" cy="82296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6"/>
            <p:cNvCxnSpPr/>
            <p:nvPr/>
          </p:nvCxnSpPr>
          <p:spPr>
            <a:xfrm>
              <a:off x="4114800" y="1106424"/>
              <a:ext cx="91440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7"/>
            <p:cNvCxnSpPr/>
            <p:nvPr/>
          </p:nvCxnSpPr>
          <p:spPr>
            <a:xfrm>
              <a:off x="4572000" y="1106424"/>
              <a:ext cx="0" cy="27432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Rectangle 18"/>
            <p:cNvSpPr/>
            <p:nvPr/>
          </p:nvSpPr>
          <p:spPr>
            <a:xfrm>
              <a:off x="3794760" y="1133856"/>
              <a:ext cx="1554480" cy="32004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10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Concat + Conv2d</a:t>
              </a:r>
              <a:endParaRPr/>
            </a:p>
          </p:txBody>
        </p:sp>
        <p:cxnSp>
          <p:nvCxnSpPr>
            <p:cNvPr id="104" name="Connector 19"/>
            <p:cNvCxnSpPr/>
            <p:nvPr/>
          </p:nvCxnSpPr>
          <p:spPr>
            <a:xfrm>
              <a:off x="4572000" y="1453895"/>
              <a:ext cx="0" cy="109729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Rectangle 20"/>
            <p:cNvSpPr/>
            <p:nvPr/>
          </p:nvSpPr>
          <p:spPr>
            <a:xfrm>
              <a:off x="3794760" y="1563624"/>
              <a:ext cx="1554480" cy="32004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10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BatchNorm + Non-linear</a:t>
              </a:r>
              <a:endParaRPr/>
            </a:p>
          </p:txBody>
        </p:sp>
        <p:cxnSp>
          <p:nvCxnSpPr>
            <p:cNvPr id="106" name="Connector 21"/>
            <p:cNvCxnSpPr/>
            <p:nvPr/>
          </p:nvCxnSpPr>
          <p:spPr>
            <a:xfrm>
              <a:off x="4572000" y="1883663"/>
              <a:ext cx="0" cy="82297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22"/>
            <p:cNvSpPr txBox="true"/>
            <p:nvPr/>
          </p:nvSpPr>
          <p:spPr>
            <a:xfrm rot="0" flipH="false" flipV="false">
              <a:off x="4407408" y="1947672"/>
              <a:ext cx="13716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800" i="true">
                  <a:solidFill>
                    <a:srgbClr val="505050"/>
                  </a:solidFill>
                  <a:latin typeface="Times New Roman"/>
                </a:defRPr>
              </a:pPr>
              <a:r>
                <a:rPr/>
                <a:t>split</a:t>
              </a:r>
              <a:endParaRPr/>
            </a:p>
          </p:txBody>
        </p:sp>
        <p:cxnSp>
          <p:nvCxnSpPr>
            <p:cNvPr id="108" name="Connector 23"/>
            <p:cNvCxnSpPr/>
            <p:nvPr/>
          </p:nvCxnSpPr>
          <p:spPr>
            <a:xfrm>
              <a:off x="4114800" y="1965960"/>
              <a:ext cx="91440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or 24"/>
            <p:cNvCxnSpPr/>
            <p:nvPr/>
          </p:nvCxnSpPr>
          <p:spPr>
            <a:xfrm>
              <a:off x="4114800" y="1965960"/>
              <a:ext cx="0" cy="27431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nector 25"/>
            <p:cNvCxnSpPr/>
            <p:nvPr/>
          </p:nvCxnSpPr>
          <p:spPr>
            <a:xfrm>
              <a:off x="5029200" y="1965960"/>
              <a:ext cx="0" cy="27431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Rectangle 26"/>
            <p:cNvSpPr/>
            <p:nvPr/>
          </p:nvSpPr>
          <p:spPr>
            <a:xfrm>
              <a:off x="3771900" y="1993391"/>
              <a:ext cx="685800" cy="27432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9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Conv2d</a:t>
              </a:r>
              <a:endParaRPr/>
            </a:p>
          </p:txBody>
        </p:sp>
        <p:sp>
          <p:nvSpPr>
            <p:cNvPr id="112" name="Rectangle 27"/>
            <p:cNvSpPr/>
            <p:nvPr/>
          </p:nvSpPr>
          <p:spPr>
            <a:xfrm>
              <a:off x="4686300" y="1993391"/>
              <a:ext cx="685800" cy="27432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9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Conv2d</a:t>
              </a:r>
              <a:endParaRPr/>
            </a:p>
          </p:txBody>
        </p:sp>
        <p:cxnSp>
          <p:nvCxnSpPr>
            <p:cNvPr id="113" name="Connector 28"/>
            <p:cNvCxnSpPr/>
            <p:nvPr/>
          </p:nvCxnSpPr>
          <p:spPr>
            <a:xfrm>
              <a:off x="4114800" y="2267711"/>
              <a:ext cx="0" cy="10972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ctor 29"/>
            <p:cNvCxnSpPr/>
            <p:nvPr/>
          </p:nvCxnSpPr>
          <p:spPr>
            <a:xfrm>
              <a:off x="5029200" y="2267711"/>
              <a:ext cx="0" cy="10972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Rectangle 30"/>
            <p:cNvSpPr/>
            <p:nvPr/>
          </p:nvSpPr>
          <p:spPr>
            <a:xfrm>
              <a:off x="3771900" y="2377439"/>
              <a:ext cx="685800" cy="27432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9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Sigmoid</a:t>
              </a:r>
              <a:endParaRPr/>
            </a:p>
          </p:txBody>
        </p:sp>
        <p:sp>
          <p:nvSpPr>
            <p:cNvPr id="116" name="Rectangle 31"/>
            <p:cNvSpPr/>
            <p:nvPr/>
          </p:nvSpPr>
          <p:spPr>
            <a:xfrm>
              <a:off x="4686300" y="2377439"/>
              <a:ext cx="685800" cy="27432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9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Sigmoid</a:t>
              </a:r>
              <a:endParaRPr/>
            </a:p>
          </p:txBody>
        </p:sp>
        <p:cxnSp>
          <p:nvCxnSpPr>
            <p:cNvPr id="117" name="Connector 32"/>
            <p:cNvCxnSpPr/>
            <p:nvPr/>
          </p:nvCxnSpPr>
          <p:spPr>
            <a:xfrm>
              <a:off x="4114800" y="2651759"/>
              <a:ext cx="0" cy="15544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or 33"/>
            <p:cNvCxnSpPr/>
            <p:nvPr/>
          </p:nvCxnSpPr>
          <p:spPr>
            <a:xfrm>
              <a:off x="5029200" y="2651759"/>
              <a:ext cx="0" cy="15544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or 34"/>
            <p:cNvCxnSpPr/>
            <p:nvPr/>
          </p:nvCxnSpPr>
          <p:spPr>
            <a:xfrm flipH="true">
              <a:off x="3794760" y="2807207"/>
              <a:ext cx="32004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nector 35"/>
            <p:cNvCxnSpPr/>
            <p:nvPr/>
          </p:nvCxnSpPr>
          <p:spPr>
            <a:xfrm>
              <a:off x="5029200" y="2807207"/>
              <a:ext cx="32004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Rectangle 36"/>
            <p:cNvSpPr/>
            <p:nvPr/>
          </p:nvSpPr>
          <p:spPr>
            <a:xfrm>
              <a:off x="3794760" y="2807207"/>
              <a:ext cx="1554480" cy="32004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10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Re-weight</a:t>
              </a:r>
              <a:endParaRPr/>
            </a:p>
          </p:txBody>
        </p:sp>
        <p:cxnSp>
          <p:nvCxnSpPr>
            <p:cNvPr id="122" name="Connector 37"/>
            <p:cNvCxnSpPr/>
            <p:nvPr/>
          </p:nvCxnSpPr>
          <p:spPr>
            <a:xfrm>
              <a:off x="4572000" y="3127247"/>
              <a:ext cx="0" cy="10972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or 38"/>
            <p:cNvCxnSpPr/>
            <p:nvPr/>
          </p:nvCxnSpPr>
          <p:spPr>
            <a:xfrm>
              <a:off x="3291840" y="640080"/>
              <a:ext cx="0" cy="2711195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or 39"/>
            <p:cNvCxnSpPr/>
            <p:nvPr/>
          </p:nvCxnSpPr>
          <p:spPr>
            <a:xfrm>
              <a:off x="3291840" y="3351275"/>
              <a:ext cx="116586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Oval 40"/>
            <p:cNvSpPr/>
            <p:nvPr/>
          </p:nvSpPr>
          <p:spPr>
            <a:xfrm>
              <a:off x="4457700" y="3236975"/>
              <a:ext cx="228600" cy="2286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1200" b="true">
                  <a:solidFill>
                    <a:srgbClr val="000000"/>
                  </a:solidFill>
                </a:defRPr>
              </a:pPr>
              <a:r>
                <a:rPr/>
                <a:t>+</a:t>
              </a:r>
              <a:endParaRPr/>
            </a:p>
          </p:txBody>
        </p:sp>
        <p:cxnSp>
          <p:nvCxnSpPr>
            <p:cNvPr id="126" name="Connector 41"/>
            <p:cNvCxnSpPr/>
            <p:nvPr/>
          </p:nvCxnSpPr>
          <p:spPr>
            <a:xfrm rot="0" flipH="false" flipV="false">
              <a:off x="4572000" y="3483864"/>
              <a:ext cx="0" cy="10972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42"/>
            <p:cNvCxnSpPr/>
            <p:nvPr/>
          </p:nvCxnSpPr>
          <p:spPr>
            <a:xfrm rot="0" flipH="false" flipV="false">
              <a:off x="3291840" y="3593592"/>
              <a:ext cx="128016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43"/>
            <p:cNvCxnSpPr/>
            <p:nvPr/>
          </p:nvCxnSpPr>
          <p:spPr>
            <a:xfrm rot="0" flipH="false" flipV="false">
              <a:off x="4572000" y="3593592"/>
              <a:ext cx="0" cy="10972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Rectangle 44"/>
            <p:cNvSpPr/>
            <p:nvPr/>
          </p:nvSpPr>
          <p:spPr>
            <a:xfrm rot="0" flipH="false" flipV="false">
              <a:off x="3794760" y="3703320"/>
              <a:ext cx="1554480" cy="480059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900">
                  <a:solidFill>
                    <a:srgbClr val="000000">
                      <a:alpha val="100000"/>
                    </a:srgbClr>
                  </a:solidFill>
                  <a:latin typeface="Times New Roman"/>
                  <a:ea typeface="宋体"/>
                  <a:cs typeface="+mn-cs"/>
                </a:defRPr>
              </a:pPr>
              <a:r>
                <a:rPr lang="en-US"/>
                <a:t>(</a:t>
              </a:r>
              <a:r>
                <a:rPr/>
                <a:t>3</a:t>
              </a:r>
              <a:r>
                <a:rPr/>
                <a:t>×</a:t>
              </a:r>
              <a:r>
                <a:rPr/>
                <a:t>3 Conv+BN+ReLU) </a:t>
              </a:r>
              <a:r>
                <a:rPr/>
                <a:t>×</a:t>
              </a:r>
              <a:r>
                <a:rPr/>
                <a:t>2</a:t>
              </a:r>
              <a:endParaRPr/>
            </a:p>
          </p:txBody>
        </p:sp>
        <p:cxnSp>
          <p:nvCxnSpPr>
            <p:cNvPr id="130" name="Connector 45"/>
            <p:cNvCxnSpPr/>
            <p:nvPr/>
          </p:nvCxnSpPr>
          <p:spPr>
            <a:xfrm rot="0" flipH="false" flipV="false">
              <a:off x="4572000" y="4183380"/>
              <a:ext cx="0" cy="10972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46"/>
            <p:cNvCxnSpPr/>
            <p:nvPr/>
          </p:nvCxnSpPr>
          <p:spPr>
            <a:xfrm rot="0" flipH="false" flipV="false">
              <a:off x="3291840" y="3593592"/>
              <a:ext cx="0" cy="813816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47"/>
            <p:cNvCxnSpPr/>
            <p:nvPr/>
          </p:nvCxnSpPr>
          <p:spPr>
            <a:xfrm rot="0" flipH="false" flipV="false">
              <a:off x="3291840" y="4407408"/>
              <a:ext cx="116586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Oval 48"/>
            <p:cNvSpPr/>
            <p:nvPr/>
          </p:nvSpPr>
          <p:spPr>
            <a:xfrm rot="0" flipH="false" flipV="false">
              <a:off x="4457700" y="4293108"/>
              <a:ext cx="228600" cy="2286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1200" b="true">
                  <a:solidFill>
                    <a:srgbClr val="000000"/>
                  </a:solidFill>
                </a:defRPr>
              </a:pPr>
              <a:r>
                <a:rPr/>
                <a:t>+</a:t>
              </a:r>
              <a:endParaRPr/>
            </a:p>
          </p:txBody>
        </p:sp>
        <p:cxnSp>
          <p:nvCxnSpPr>
            <p:cNvPr id="134" name="Connector 49"/>
            <p:cNvCxnSpPr/>
            <p:nvPr/>
          </p:nvCxnSpPr>
          <p:spPr>
            <a:xfrm rot="0" flipH="false" flipV="false">
              <a:off x="4572000" y="4553711"/>
              <a:ext cx="0" cy="10972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ctor 50"/>
            <p:cNvCxnSpPr/>
            <p:nvPr/>
          </p:nvCxnSpPr>
          <p:spPr>
            <a:xfrm rot="0" flipH="false" flipV="false">
              <a:off x="3291840" y="4663439"/>
              <a:ext cx="128016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ctor 51"/>
            <p:cNvCxnSpPr/>
            <p:nvPr/>
          </p:nvCxnSpPr>
          <p:spPr>
            <a:xfrm rot="0" flipH="false" flipV="false">
              <a:off x="4572000" y="4663439"/>
              <a:ext cx="0" cy="10972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Rectangle 52"/>
            <p:cNvSpPr/>
            <p:nvPr/>
          </p:nvSpPr>
          <p:spPr>
            <a:xfrm rot="0" flipH="false" flipV="false">
              <a:off x="3794760" y="4773167"/>
              <a:ext cx="1554480" cy="32004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10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Global Avg Pool</a:t>
              </a:r>
              <a:endParaRPr/>
            </a:p>
          </p:txBody>
        </p:sp>
        <p:sp>
          <p:nvSpPr>
            <p:cNvPr id="138" name="TextBox 53"/>
            <p:cNvSpPr txBox="true"/>
            <p:nvPr/>
          </p:nvSpPr>
          <p:spPr>
            <a:xfrm rot="0" flipH="false" flipV="false">
              <a:off x="5440679" y="4800600"/>
              <a:ext cx="13716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900" i="true">
                  <a:solidFill>
                    <a:srgbClr val="505050"/>
                  </a:solidFill>
                  <a:latin typeface="Times New Roman"/>
                </a:defRPr>
              </a:pPr>
              <a:r>
                <a:rPr/>
                <a:t>1×1×C</a:t>
              </a:r>
              <a:endParaRPr/>
            </a:p>
          </p:txBody>
        </p:sp>
        <p:cxnSp>
          <p:nvCxnSpPr>
            <p:cNvPr id="139" name="Connector 54"/>
            <p:cNvCxnSpPr/>
            <p:nvPr/>
          </p:nvCxnSpPr>
          <p:spPr>
            <a:xfrm rot="0" flipH="false" flipV="false">
              <a:off x="4572000" y="5093207"/>
              <a:ext cx="0" cy="82296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ctor 55"/>
            <p:cNvCxnSpPr/>
            <p:nvPr/>
          </p:nvCxnSpPr>
          <p:spPr>
            <a:xfrm rot="0" flipH="false" flipV="false">
              <a:off x="3639312" y="5175503"/>
              <a:ext cx="1865376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 56"/>
            <p:cNvCxnSpPr/>
            <p:nvPr/>
          </p:nvCxnSpPr>
          <p:spPr>
            <a:xfrm rot="0" flipH="false" flipV="false">
              <a:off x="3639312" y="5175503"/>
              <a:ext cx="0" cy="27432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57"/>
            <p:cNvSpPr/>
            <p:nvPr/>
          </p:nvSpPr>
          <p:spPr>
            <a:xfrm rot="0" flipH="false" flipV="false">
              <a:off x="3364992" y="5202935"/>
              <a:ext cx="548640" cy="27432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7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FC+ReLU</a:t>
              </a:r>
              <a:endParaRPr/>
            </a:p>
          </p:txBody>
        </p:sp>
        <p:cxnSp>
          <p:nvCxnSpPr>
            <p:cNvPr id="143" name="Connector 58"/>
            <p:cNvCxnSpPr/>
            <p:nvPr/>
          </p:nvCxnSpPr>
          <p:spPr>
            <a:xfrm rot="0" flipH="false" flipV="false">
              <a:off x="3639312" y="5477255"/>
              <a:ext cx="0" cy="73152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nector 59"/>
            <p:cNvCxnSpPr/>
            <p:nvPr/>
          </p:nvCxnSpPr>
          <p:spPr>
            <a:xfrm rot="0" flipH="false" flipV="false">
              <a:off x="4261104" y="5175503"/>
              <a:ext cx="0" cy="27432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Rectangle 60"/>
            <p:cNvSpPr/>
            <p:nvPr/>
          </p:nvSpPr>
          <p:spPr>
            <a:xfrm rot="0" flipH="false" flipV="false">
              <a:off x="3986784" y="5202935"/>
              <a:ext cx="548640" cy="27432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7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FC+ReLU</a:t>
              </a:r>
              <a:endParaRPr/>
            </a:p>
          </p:txBody>
        </p:sp>
        <p:cxnSp>
          <p:nvCxnSpPr>
            <p:cNvPr id="146" name="Connector 61"/>
            <p:cNvCxnSpPr/>
            <p:nvPr/>
          </p:nvCxnSpPr>
          <p:spPr>
            <a:xfrm rot="0" flipH="false" flipV="false">
              <a:off x="4261104" y="5477255"/>
              <a:ext cx="0" cy="73152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ctor 62"/>
            <p:cNvCxnSpPr/>
            <p:nvPr/>
          </p:nvCxnSpPr>
          <p:spPr>
            <a:xfrm rot="0" flipH="false" flipV="false">
              <a:off x="4882896" y="5175503"/>
              <a:ext cx="0" cy="27432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Rectangle 63"/>
            <p:cNvSpPr/>
            <p:nvPr/>
          </p:nvSpPr>
          <p:spPr>
            <a:xfrm rot="0" flipH="false" flipV="false">
              <a:off x="4608576" y="5202935"/>
              <a:ext cx="548640" cy="27432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7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FC+ReLU</a:t>
              </a:r>
              <a:endParaRPr/>
            </a:p>
          </p:txBody>
        </p:sp>
        <p:cxnSp>
          <p:nvCxnSpPr>
            <p:cNvPr id="149" name="Connector 64"/>
            <p:cNvCxnSpPr/>
            <p:nvPr/>
          </p:nvCxnSpPr>
          <p:spPr>
            <a:xfrm rot="0" flipH="false" flipV="false">
              <a:off x="4882896" y="5477255"/>
              <a:ext cx="0" cy="73152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nector 65"/>
            <p:cNvCxnSpPr/>
            <p:nvPr/>
          </p:nvCxnSpPr>
          <p:spPr>
            <a:xfrm rot="0" flipH="false" flipV="false">
              <a:off x="5504688" y="5175503"/>
              <a:ext cx="0" cy="27432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Rectangle 66"/>
            <p:cNvSpPr/>
            <p:nvPr/>
          </p:nvSpPr>
          <p:spPr>
            <a:xfrm rot="0" flipH="false" flipV="false">
              <a:off x="5230368" y="5202935"/>
              <a:ext cx="548640" cy="27432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7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FC+ReLU</a:t>
              </a:r>
              <a:endParaRPr/>
            </a:p>
          </p:txBody>
        </p:sp>
        <p:cxnSp>
          <p:nvCxnSpPr>
            <p:cNvPr id="152" name="Connector 67"/>
            <p:cNvCxnSpPr/>
            <p:nvPr/>
          </p:nvCxnSpPr>
          <p:spPr>
            <a:xfrm rot="0" flipH="false" flipV="false">
              <a:off x="5504688" y="5477255"/>
              <a:ext cx="0" cy="73152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TextBox 68"/>
            <p:cNvSpPr txBox="true"/>
            <p:nvPr/>
          </p:nvSpPr>
          <p:spPr>
            <a:xfrm rot="0" flipH="false" flipV="false">
              <a:off x="5824728" y="5221223"/>
              <a:ext cx="13716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800" i="true">
                  <a:solidFill>
                    <a:srgbClr val="505050"/>
                  </a:solidFill>
                  <a:latin typeface="Times New Roman"/>
                </a:defRPr>
              </a:pPr>
              <a:r>
                <a:rPr/>
                <a:t>1×1×C/r ×4</a:t>
              </a:r>
              <a:endParaRPr/>
            </a:p>
          </p:txBody>
        </p:sp>
        <p:cxnSp>
          <p:nvCxnSpPr>
            <p:cNvPr id="154" name="Connector 69"/>
            <p:cNvCxnSpPr/>
            <p:nvPr/>
          </p:nvCxnSpPr>
          <p:spPr>
            <a:xfrm rot="0" flipH="false" flipV="false">
              <a:off x="3639312" y="5550407"/>
              <a:ext cx="1865376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Connector 70"/>
            <p:cNvCxnSpPr/>
            <p:nvPr/>
          </p:nvCxnSpPr>
          <p:spPr>
            <a:xfrm rot="0" flipH="false" flipV="false">
              <a:off x="4572000" y="5550407"/>
              <a:ext cx="0" cy="4572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Rectangle 71"/>
            <p:cNvSpPr/>
            <p:nvPr/>
          </p:nvSpPr>
          <p:spPr>
            <a:xfrm rot="0" flipH="false" flipV="false">
              <a:off x="4114800" y="5596127"/>
              <a:ext cx="914400" cy="27432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9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Concat</a:t>
              </a:r>
              <a:endParaRPr/>
            </a:p>
          </p:txBody>
        </p:sp>
        <p:cxnSp>
          <p:nvCxnSpPr>
            <p:cNvPr id="157" name="Connector 72"/>
            <p:cNvCxnSpPr/>
            <p:nvPr/>
          </p:nvCxnSpPr>
          <p:spPr>
            <a:xfrm rot="0" flipH="false" flipV="false">
              <a:off x="4572000" y="5870447"/>
              <a:ext cx="0" cy="10972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Rectangle 73"/>
            <p:cNvSpPr/>
            <p:nvPr/>
          </p:nvSpPr>
          <p:spPr>
            <a:xfrm rot="0" flipH="false" flipV="false">
              <a:off x="3794760" y="5980175"/>
              <a:ext cx="1554480" cy="32004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1000">
                  <a:solidFill>
                    <a:srgbClr val="000000"/>
                  </a:solidFill>
                  <a:latin typeface="Times New Roman"/>
                </a:defRPr>
              </a:pPr>
              <a:r>
                <a:rPr/>
                <a:t>FC + Sigmoid</a:t>
              </a:r>
              <a:endParaRPr/>
            </a:p>
          </p:txBody>
        </p:sp>
        <p:sp>
          <p:nvSpPr>
            <p:cNvPr id="159" name="TextBox 74"/>
            <p:cNvSpPr txBox="true"/>
            <p:nvPr/>
          </p:nvSpPr>
          <p:spPr>
            <a:xfrm rot="0" flipH="false" flipV="false">
              <a:off x="5440679" y="6007607"/>
              <a:ext cx="13716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900" i="true">
                  <a:solidFill>
                    <a:srgbClr val="505050"/>
                  </a:solidFill>
                  <a:latin typeface="Times New Roman"/>
                </a:defRPr>
              </a:pPr>
              <a:r>
                <a:rPr/>
                <a:t>1×1×C</a:t>
              </a:r>
              <a:endParaRPr/>
            </a:p>
          </p:txBody>
        </p:sp>
        <p:cxnSp>
          <p:nvCxnSpPr>
            <p:cNvPr id="160" name="Connector 75"/>
            <p:cNvCxnSpPr/>
            <p:nvPr/>
          </p:nvCxnSpPr>
          <p:spPr>
            <a:xfrm rot="0" flipH="false" flipV="false">
              <a:off x="4572000" y="6300215"/>
              <a:ext cx="0" cy="109728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nector 76"/>
            <p:cNvCxnSpPr/>
            <p:nvPr/>
          </p:nvCxnSpPr>
          <p:spPr>
            <a:xfrm rot="0" flipH="false" flipV="false">
              <a:off x="3291840" y="4663439"/>
              <a:ext cx="0" cy="1860804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or 77"/>
            <p:cNvCxnSpPr/>
            <p:nvPr/>
          </p:nvCxnSpPr>
          <p:spPr>
            <a:xfrm rot="0" flipH="false" flipV="false">
              <a:off x="3291840" y="6524243"/>
              <a:ext cx="116586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Oval 78"/>
            <p:cNvSpPr/>
            <p:nvPr/>
          </p:nvSpPr>
          <p:spPr>
            <a:xfrm rot="0" flipH="false" flipV="false">
              <a:off x="4457700" y="6409943"/>
              <a:ext cx="228600" cy="2286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algn="ctr">
                <a:defRPr sz="1200" b="true">
                  <a:solidFill>
                    <a:srgbClr val="000000"/>
                  </a:solidFill>
                </a:defRPr>
              </a:pPr>
              <a:r>
                <a:rPr/>
                <a:t>×</a:t>
              </a:r>
              <a:endParaRPr/>
            </a:p>
          </p:txBody>
        </p:sp>
        <p:sp>
          <p:nvSpPr>
            <p:cNvPr id="164" name="TextBox 79"/>
            <p:cNvSpPr txBox="true"/>
            <p:nvPr/>
          </p:nvSpPr>
          <p:spPr>
            <a:xfrm rot="0" flipH="false" flipV="false">
              <a:off x="4759452" y="6428231"/>
              <a:ext cx="13716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000" i="false">
                  <a:solidFill>
                    <a:srgbClr val="505050"/>
                  </a:solidFill>
                  <a:latin typeface="Times New Roman"/>
                </a:defRPr>
              </a:pPr>
              <a:r>
                <a:rPr/>
                <a:t>Scale</a:t>
              </a:r>
              <a:endParaRPr/>
            </a:p>
          </p:txBody>
        </p:sp>
        <p:sp>
          <p:nvSpPr>
            <p:cNvPr id="165" name=""/>
            <p:cNvSpPr/>
            <p:nvPr/>
          </p:nvSpPr>
          <p:spPr>
            <a:xfrm rot="0">
              <a:off x="2982872" y="240974"/>
              <a:ext cx="3126153" cy="3282461"/>
            </a:xfrm>
            <a:prstGeom prst="roundRect">
              <a:avLst/>
            </a:prstGeom>
            <a:noFill/>
            <a:ln w="12700">
              <a:solidFill>
                <a:srgbClr val="5C5C5C">
                  <a:alpha val="100000"/>
                </a:srgbClr>
              </a:solidFill>
              <a:prstDash val="sysDash"/>
              <a:miter lim="800000"/>
            </a:ln>
          </p:spPr>
          <p:txBody>
            <a:bodyPr anchor="ctr"/>
            <a:p>
              <a:pPr algn="ctr"/>
              <a:endParaRPr/>
            </a:p>
          </p:txBody>
        </p:sp>
        <p:sp>
          <p:nvSpPr>
            <p:cNvPr id="166" name=""/>
            <p:cNvSpPr txBox="true"/>
            <p:nvPr/>
          </p:nvSpPr>
          <p:spPr>
            <a:xfrm rot="0" flipH="false" flipV="false">
              <a:off x="4942840" y="274320"/>
              <a:ext cx="863600" cy="273050"/>
            </a:xfrm>
            <a:prstGeom prst="rect">
              <a:avLst/>
            </a:prstGeom>
            <a:ln w="6350">
              <a:prstDash val="solid"/>
            </a:ln>
          </p:spPr>
          <p:txBody>
            <a:bodyPr wrap="square">
              <a:spAutoFit/>
            </a:bodyPr>
            <a:lstStyle/>
            <a:p>
              <a:pPr/>
              <a:r>
                <a:rPr lang="zh-CN" sz="1200"/>
                <a:t>坐标注意力</a:t>
              </a:r>
              <a:endParaRPr/>
            </a:p>
          </p:txBody>
        </p:sp>
        <p:sp>
          <p:nvSpPr>
            <p:cNvPr id="167" name=""/>
            <p:cNvSpPr/>
            <p:nvPr/>
          </p:nvSpPr>
          <p:spPr>
            <a:xfrm rot="0" flipH="false" flipV="false">
              <a:off x="3004247" y="4590289"/>
              <a:ext cx="3785173" cy="2181793"/>
            </a:xfrm>
            <a:prstGeom prst="roundRect">
              <a:avLst/>
            </a:prstGeom>
            <a:noFill/>
            <a:ln w="12700">
              <a:solidFill>
                <a:srgbClr val="5C5C5C">
                  <a:alpha val="100000"/>
                </a:srgbClr>
              </a:solidFill>
              <a:prstDash val="sysDash"/>
              <a:miter lim="800000"/>
            </a:ln>
          </p:spPr>
          <p:txBody>
            <a:bodyPr anchor="ctr"/>
            <a:p>
              <a:pPr algn="ctr"/>
              <a:endParaRPr/>
            </a:p>
          </p:txBody>
        </p:sp>
      </p:grpSp>
      <p:sp>
        <p:nvSpPr>
          <p:cNvPr id="168" name=""/>
          <p:cNvSpPr txBox="true"/>
          <p:nvPr/>
        </p:nvSpPr>
        <p:spPr>
          <a:xfrm rot="0" flipH="false" flipV="false">
            <a:off x="6193598" y="4539168"/>
            <a:ext cx="342900" cy="393700"/>
          </a:xfrm>
          <a:prstGeom prst="rect">
            <a:avLst/>
          </a:prstGeom>
          <a:ln w="12700">
            <a:prstDash val="solid"/>
          </a:ln>
        </p:spPr>
        <p:txBody>
          <a:bodyPr wrap="none">
            <a:spAutoFit/>
          </a:bodyPr>
          <a:p>
            <a:pPr/>
            <a:r>
              <a:rPr lang="en-US" sz="1000"/>
              <a:t>SE</a:t>
            </a:r>
            <a:endParaRPr/>
          </a:p>
          <a:p>
            <a:pPr/>
            <a:endParaRPr lang="en-US"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2026-01-23T12:30:52Z</dcterms:created>
  <dcterms:modified xsi:type="dcterms:W3CDTF">2026-01-23T12:30:52Z</dcterms:modified>
</cp:coreProperties>
</file>