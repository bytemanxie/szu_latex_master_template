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34840" y="2743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0">
                <a:solidFill>
                  <a:srgbClr val="505050"/>
                </a:solidFill>
                <a:latin typeface="Times New Roman"/>
              </a:defRPr>
            </a:pPr>
            <a:r>
              <a:t>X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0" y="530352"/>
            <a:ext cx="0" cy="10972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291840" y="640080"/>
            <a:ext cx="12801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640080"/>
            <a:ext cx="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0" y="640080"/>
            <a:ext cx="0" cy="10972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722376"/>
            <a:ext cx="0" cy="2743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722376"/>
            <a:ext cx="9144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14800" y="722376"/>
            <a:ext cx="0" cy="2743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029200" y="722376"/>
            <a:ext cx="0" cy="2743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771900" y="749808"/>
            <a:ext cx="68580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000000"/>
                </a:solidFill>
                <a:latin typeface="Times New Roman"/>
              </a:defRPr>
            </a:pPr>
            <a:r>
              <a:t>X Avg Pool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749808"/>
            <a:ext cx="68580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000000"/>
                </a:solidFill>
                <a:latin typeface="Times New Roman"/>
              </a:defRPr>
            </a:pPr>
            <a:r>
              <a:t>Y Avg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6100" y="768096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505050"/>
                </a:solidFill>
                <a:latin typeface="Times New Roman"/>
              </a:defRPr>
            </a:pPr>
            <a:r>
              <a:t>C×H×1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7820" y="768096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505050"/>
                </a:solidFill>
                <a:latin typeface="Times New Roman"/>
              </a:defRPr>
            </a:pPr>
            <a:r>
              <a:t>C×1×W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0" y="1024128"/>
            <a:ext cx="0" cy="8229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29200" y="1024128"/>
            <a:ext cx="0" cy="8229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114800" y="1106424"/>
            <a:ext cx="9144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1106424"/>
            <a:ext cx="0" cy="2743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794760" y="1133856"/>
            <a:ext cx="155448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0000"/>
                </a:solidFill>
                <a:latin typeface="Times New Roman"/>
              </a:defRPr>
            </a:pPr>
            <a:r>
              <a:t>Concat + Conv2d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0" y="1453895"/>
            <a:ext cx="0" cy="10972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794760" y="1563624"/>
            <a:ext cx="155448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0000"/>
                </a:solidFill>
                <a:latin typeface="Times New Roman"/>
              </a:defRPr>
            </a:pPr>
            <a:r>
              <a:t>BatchNorm + Non-linear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0" y="1883663"/>
            <a:ext cx="0" cy="82297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34840" y="1901951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505050"/>
                </a:solidFill>
                <a:latin typeface="Times New Roman"/>
              </a:defRPr>
            </a:pPr>
            <a:r>
              <a:t>split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0" y="1965960"/>
            <a:ext cx="9144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114800" y="1965960"/>
            <a:ext cx="0" cy="27431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29200" y="1965960"/>
            <a:ext cx="0" cy="27431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771900" y="1993391"/>
            <a:ext cx="68580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  <a:latin typeface="Times New Roman"/>
              </a:defRPr>
            </a:pPr>
            <a:r>
              <a:t>Conv2d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86300" y="1993391"/>
            <a:ext cx="68580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  <a:latin typeface="Times New Roman"/>
              </a:defRPr>
            </a:pPr>
            <a:r>
              <a:t>Conv2d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114800" y="2267711"/>
            <a:ext cx="0" cy="10972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29200" y="2267711"/>
            <a:ext cx="0" cy="10972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771900" y="2377439"/>
            <a:ext cx="68580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  <a:latin typeface="Times New Roman"/>
              </a:defRPr>
            </a:pPr>
            <a:r>
              <a:t>Sigmoid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86300" y="2377439"/>
            <a:ext cx="68580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  <a:latin typeface="Times New Roman"/>
              </a:defRPr>
            </a:pPr>
            <a:r>
              <a:t>Sigmoid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14800" y="2651759"/>
            <a:ext cx="0" cy="15544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029200" y="2651759"/>
            <a:ext cx="0" cy="15544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3794760" y="2807207"/>
            <a:ext cx="3200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029200" y="2807207"/>
            <a:ext cx="3200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794760" y="2807207"/>
            <a:ext cx="155448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0000"/>
                </a:solidFill>
                <a:latin typeface="Times New Roman"/>
              </a:defRPr>
            </a:pPr>
            <a:r>
              <a:t>Re-weight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72000" y="3127247"/>
            <a:ext cx="0" cy="10972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291840" y="640080"/>
            <a:ext cx="0" cy="2711195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291840" y="3351275"/>
            <a:ext cx="11658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4457700" y="3236975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+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72000" y="3575303"/>
            <a:ext cx="0" cy="10972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291840" y="3685031"/>
            <a:ext cx="12801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72000" y="3685031"/>
            <a:ext cx="0" cy="10972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3794760" y="3794759"/>
            <a:ext cx="1554480" cy="48005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  <a:latin typeface="Times New Roman"/>
              </a:defRPr>
            </a:pPr>
            <a:r>
              <a:t>3×3 Conv+BN+ReLU ×2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572000" y="4274819"/>
            <a:ext cx="0" cy="10972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291840" y="3685031"/>
            <a:ext cx="0" cy="81381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291840" y="4498847"/>
            <a:ext cx="11658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4457700" y="4384547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+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572000" y="4722875"/>
            <a:ext cx="0" cy="10972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291840" y="4832603"/>
            <a:ext cx="12801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572000" y="4832603"/>
            <a:ext cx="0" cy="10972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794760" y="4942331"/>
            <a:ext cx="155448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0000"/>
                </a:solidFill>
                <a:latin typeface="Times New Roman"/>
              </a:defRPr>
            </a:pPr>
            <a:r>
              <a:t>Global Avg Pool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79" y="4969764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05050"/>
                </a:solidFill>
                <a:latin typeface="Times New Roman"/>
              </a:defRPr>
            </a:pPr>
            <a:r>
              <a:t>1×1×C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572000" y="5262371"/>
            <a:ext cx="0" cy="8229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639312" y="5344667"/>
            <a:ext cx="1865376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639312" y="5344667"/>
            <a:ext cx="0" cy="2743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3364992" y="5372099"/>
            <a:ext cx="54864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000000"/>
                </a:solidFill>
                <a:latin typeface="Times New Roman"/>
              </a:defRPr>
            </a:pPr>
            <a:r>
              <a:t>FC+ReLU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639312" y="5646419"/>
            <a:ext cx="0" cy="7315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261104" y="5344667"/>
            <a:ext cx="0" cy="2743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3986784" y="5372099"/>
            <a:ext cx="54864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000000"/>
                </a:solidFill>
                <a:latin typeface="Times New Roman"/>
              </a:defRPr>
            </a:pPr>
            <a:r>
              <a:t>FC+ReLU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261104" y="5646419"/>
            <a:ext cx="0" cy="7315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882896" y="5344667"/>
            <a:ext cx="0" cy="2743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4608576" y="5372099"/>
            <a:ext cx="54864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000000"/>
                </a:solidFill>
                <a:latin typeface="Times New Roman"/>
              </a:defRPr>
            </a:pPr>
            <a:r>
              <a:t>FC+ReLU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4882896" y="5646419"/>
            <a:ext cx="0" cy="7315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504688" y="5344667"/>
            <a:ext cx="0" cy="2743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5230368" y="5372099"/>
            <a:ext cx="54864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000000"/>
                </a:solidFill>
                <a:latin typeface="Times New Roman"/>
              </a:defRPr>
            </a:pPr>
            <a:r>
              <a:t>FC+ReLU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504688" y="5646419"/>
            <a:ext cx="0" cy="7315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824728" y="5390387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505050"/>
                </a:solidFill>
                <a:latin typeface="Times New Roman"/>
              </a:defRPr>
            </a:pPr>
            <a:r>
              <a:t>1×1×C/r ×4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639312" y="5719571"/>
            <a:ext cx="1865376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572000" y="5719571"/>
            <a:ext cx="0" cy="457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4114800" y="5765291"/>
            <a:ext cx="91440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  <a:latin typeface="Times New Roman"/>
              </a:defRPr>
            </a:pPr>
            <a:r>
              <a:t>Concat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4572000" y="6039611"/>
            <a:ext cx="0" cy="10972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3794760" y="6149339"/>
            <a:ext cx="155448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0000"/>
                </a:solidFill>
                <a:latin typeface="Times New Roman"/>
              </a:defRPr>
            </a:pPr>
            <a:r>
              <a:t>FC + Sigmoid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40679" y="6176771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05050"/>
                </a:solidFill>
                <a:latin typeface="Times New Roman"/>
              </a:defRPr>
            </a:pPr>
            <a:r>
              <a:t>1×1×C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4572000" y="6469379"/>
            <a:ext cx="0" cy="10972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291840" y="4832603"/>
            <a:ext cx="0" cy="186080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291840" y="6693407"/>
            <a:ext cx="11658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4457700" y="6579107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×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59452" y="6597395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0">
                <a:solidFill>
                  <a:srgbClr val="505050"/>
                </a:solidFill>
                <a:latin typeface="Times New Roman"/>
              </a:defRPr>
            </a:pPr>
            <a:r>
              <a:t>Scale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4572000" y="6917435"/>
            <a:ext cx="0" cy="10972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434840" y="7027163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0">
                <a:solidFill>
                  <a:srgbClr val="505050"/>
                </a:solidFill>
                <a:latin typeface="Times New Roman"/>
              </a:defRPr>
            </a:pPr>
            <a:r>
              <a:t>X̃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94760" y="7301483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0">
                <a:solidFill>
                  <a:srgbClr val="505050"/>
                </a:solidFill>
                <a:latin typeface="Times New Roman"/>
              </a:defRPr>
            </a:pPr>
            <a:r>
              <a:t>SAE Module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